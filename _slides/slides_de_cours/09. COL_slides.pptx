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52"/>
  </p:notesMasterIdLst>
  <p:handoutMasterIdLst>
    <p:handoutMasterId r:id="rId53"/>
  </p:handoutMasterIdLst>
  <p:sldIdLst>
    <p:sldId id="568" r:id="rId2"/>
    <p:sldId id="605" r:id="rId3"/>
    <p:sldId id="569" r:id="rId4"/>
    <p:sldId id="570" r:id="rId5"/>
    <p:sldId id="606" r:id="rId6"/>
    <p:sldId id="571" r:id="rId7"/>
    <p:sldId id="572" r:id="rId8"/>
    <p:sldId id="617" r:id="rId9"/>
    <p:sldId id="573" r:id="rId10"/>
    <p:sldId id="574" r:id="rId11"/>
    <p:sldId id="607" r:id="rId12"/>
    <p:sldId id="575" r:id="rId13"/>
    <p:sldId id="576" r:id="rId14"/>
    <p:sldId id="608" r:id="rId15"/>
    <p:sldId id="577" r:id="rId16"/>
    <p:sldId id="578" r:id="rId17"/>
    <p:sldId id="579" r:id="rId18"/>
    <p:sldId id="580" r:id="rId19"/>
    <p:sldId id="581" r:id="rId20"/>
    <p:sldId id="609" r:id="rId21"/>
    <p:sldId id="582" r:id="rId22"/>
    <p:sldId id="583" r:id="rId23"/>
    <p:sldId id="584" r:id="rId24"/>
    <p:sldId id="585" r:id="rId25"/>
    <p:sldId id="586" r:id="rId26"/>
    <p:sldId id="610" r:id="rId27"/>
    <p:sldId id="587" r:id="rId28"/>
    <p:sldId id="588" r:id="rId29"/>
    <p:sldId id="589" r:id="rId30"/>
    <p:sldId id="590" r:id="rId31"/>
    <p:sldId id="591" r:id="rId32"/>
    <p:sldId id="592" r:id="rId33"/>
    <p:sldId id="611" r:id="rId34"/>
    <p:sldId id="593" r:id="rId35"/>
    <p:sldId id="594" r:id="rId36"/>
    <p:sldId id="595" r:id="rId37"/>
    <p:sldId id="615" r:id="rId38"/>
    <p:sldId id="613" r:id="rId39"/>
    <p:sldId id="614" r:id="rId40"/>
    <p:sldId id="616" r:id="rId41"/>
    <p:sldId id="618" r:id="rId58"/>
    <p:sldId id="596" r:id="rId42"/>
    <p:sldId id="597" r:id="rId43"/>
    <p:sldId id="598" r:id="rId44"/>
    <p:sldId id="599" r:id="rId45"/>
    <p:sldId id="600" r:id="rId46"/>
    <p:sldId id="612" r:id="rId47"/>
    <p:sldId id="601" r:id="rId48"/>
    <p:sldId id="602" r:id="rId49"/>
    <p:sldId id="603" r:id="rId50"/>
    <p:sldId id="604" r:id="rId5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D4D986EC-B8DC-590B-84A8-B659C0B3F42E}">
          <p14:sldIdLst>
            <p14:sldId id="568"/>
            <p14:sldId id="605"/>
          </p14:sldIdLst>
        </p14:section>
        <p14:section name="1. Une structure qui grandit" id="{38AB28A7-9C63-58BF-B96F-587C5974705D}">
          <p14:sldIdLst>
            <p14:sldId id="569"/>
            <p14:sldId id="570"/>
            <p14:sldId id="606"/>
            <p14:sldId id="571"/>
            <p14:sldId id="572"/>
            <p14:sldId id="617"/>
            <p14:sldId id="573"/>
          </p14:sldIdLst>
        </p14:section>
        <p14:section name="2. Les listes" id="{690DE017-966A-5BEB-A4BA-FDAA92A2ABC7}">
          <p14:sldIdLst>
            <p14:sldId id="574"/>
            <p14:sldId id="607"/>
            <p14:sldId id="575"/>
            <p14:sldId id="576"/>
            <p14:sldId id="608"/>
            <p14:sldId id="577"/>
            <p14:sldId id="578"/>
            <p14:sldId id="579"/>
            <p14:sldId id="580"/>
          </p14:sldIdLst>
        </p14:section>
        <p14:section name="3. Les ensembles" id="{2FBBDB92-D970-5BCC-844B-7DA4B53061A1}">
          <p14:sldIdLst>
            <p14:sldId id="581"/>
            <p14:sldId id="609"/>
            <p14:sldId id="582"/>
            <p14:sldId id="583"/>
            <p14:sldId id="584"/>
            <p14:sldId id="585"/>
          </p14:sldIdLst>
        </p14:section>
        <p14:section name="4. Les tables associatives" id="{881EEF56-EB0E-5449-8FE9-5C499869E00D}">
          <p14:sldIdLst>
            <p14:sldId id="586"/>
            <p14:sldId id="610"/>
            <p14:sldId id="587"/>
            <p14:sldId id="588"/>
            <p14:sldId id="589"/>
            <p14:sldId id="590"/>
          </p14:sldIdLst>
        </p14:section>
        <p14:section name="5. Passer un comportement" id="{944DEE0D-9327-5A3D-A712-B8F70EA5FD18}">
          <p14:sldIdLst>
            <p14:sldId id="591"/>
            <p14:sldId id="592"/>
            <p14:sldId id="611"/>
            <p14:sldId id="593"/>
            <p14:sldId id="594"/>
            <p14:sldId id="595"/>
            <p14:sldId id="615"/>
            <p14:sldId id="613"/>
            <p14:sldId id="614"/>
            <p14:sldId id="616"/>
          </p14:sldIdLst>
        </p14:section>
        <p14:section name="6. Collections emboîtées" id="{2477776D-2F26-5E12-9AC6-12B9CF17AA20}">
          <p14:sldIdLst>
            <p14:sldId id="596"/>
            <p14:sldId id="597"/>
            <p14:sldId id="598"/>
            <p14:sldId id="599"/>
          </p14:sldIdLst>
        </p14:section>
        <p14:section name="7. Les files à deux bouts" id="{6EBA4C4A-44E2-570B-80CB-ECAE1D8101E8}">
          <p14:sldIdLst>
            <p14:sldId id="600"/>
            <p14:sldId id="612"/>
            <p14:sldId id="601"/>
            <p14:sldId id="602"/>
            <p14:sldId id="603"/>
            <p14:sldId id="60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1D1F22"/>
    <a:srgbClr val="38FF4F"/>
    <a:srgbClr val="FFDF8B"/>
    <a:srgbClr val="802C31"/>
    <a:srgbClr val="AE6B68"/>
    <a:srgbClr val="9A5239"/>
    <a:srgbClr val="6DC3FB"/>
    <a:srgbClr val="0675AE"/>
    <a:srgbClr val="2868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455"/>
    <p:restoredTop sz="96301"/>
  </p:normalViewPr>
  <p:slideViewPr>
    <p:cSldViewPr snapToGrid="0">
      <p:cViewPr varScale="1">
        <p:scale>
          <a:sx n="122" d="100"/>
          <a:sy n="122" d="100"/>
        </p:scale>
        <p:origin x="1392" y="200"/>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handoutMaster" Target="handoutMasters/handout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 Id="rId58"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22/10/2026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22/10/2026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Un tableau a </a:t>
            </a:r>
            <a:r>
              <a:rPr dirty="0" err="1"/>
              <a:t>une</a:t>
            </a:r>
            <a:r>
              <a:rPr dirty="0"/>
              <a:t> taille fixe, </a:t>
            </a:r>
            <a:r>
              <a:rPr dirty="0" err="1"/>
              <a:t>choisie</a:t>
            </a:r>
            <a:r>
              <a:rPr dirty="0"/>
              <a:t> à </a:t>
            </a:r>
            <a:r>
              <a:rPr dirty="0" err="1"/>
              <a:t>sa</a:t>
            </a:r>
            <a:r>
              <a:rPr dirty="0"/>
              <a:t> </a:t>
            </a:r>
            <a:r>
              <a:rPr dirty="0" err="1"/>
              <a:t>création</a:t>
            </a:r>
            <a:r>
              <a:rPr dirty="0"/>
              <a:t>. Le module TAB </a:t>
            </a:r>
            <a:r>
              <a:rPr dirty="0" err="1"/>
              <a:t>l'avait</a:t>
            </a:r>
            <a:r>
              <a:rPr dirty="0"/>
              <a:t> </a:t>
            </a:r>
            <a:r>
              <a:rPr dirty="0" err="1"/>
              <a:t>annoncé</a:t>
            </a:r>
            <a:r>
              <a:rPr dirty="0"/>
              <a:t> : </a:t>
            </a:r>
            <a:r>
              <a:rPr dirty="0" err="1"/>
              <a:t>quand</a:t>
            </a:r>
            <a:r>
              <a:rPr dirty="0"/>
              <a:t> </a:t>
            </a:r>
            <a:r>
              <a:rPr dirty="0" err="1"/>
              <a:t>cette</a:t>
            </a:r>
            <a:r>
              <a:rPr dirty="0"/>
              <a:t> </a:t>
            </a:r>
            <a:r>
              <a:rPr dirty="0" err="1"/>
              <a:t>limite</a:t>
            </a:r>
            <a:r>
              <a:rPr dirty="0"/>
              <a:t> </a:t>
            </a:r>
            <a:r>
              <a:rPr dirty="0" err="1"/>
              <a:t>devient</a:t>
            </a:r>
            <a:r>
              <a:rPr dirty="0"/>
              <a:t> </a:t>
            </a:r>
            <a:r>
              <a:rPr dirty="0" err="1"/>
              <a:t>gênante</a:t>
            </a:r>
            <a:r>
              <a:rPr dirty="0"/>
              <a:t>, il faut </a:t>
            </a:r>
            <a:r>
              <a:rPr dirty="0" err="1"/>
              <a:t>une</a:t>
            </a:r>
            <a:r>
              <a:rPr dirty="0"/>
              <a:t> collection. Une collection </a:t>
            </a:r>
            <a:r>
              <a:rPr dirty="0" err="1"/>
              <a:t>grandit</a:t>
            </a:r>
            <a:r>
              <a:rPr dirty="0"/>
              <a:t> toute </a:t>
            </a:r>
            <a:r>
              <a:rPr dirty="0" err="1"/>
              <a:t>seule</a:t>
            </a:r>
            <a:r>
              <a:rPr dirty="0"/>
              <a:t>, et </a:t>
            </a:r>
            <a:r>
              <a:rPr dirty="0" err="1"/>
              <a:t>chacune</a:t>
            </a:r>
            <a:r>
              <a:rPr dirty="0"/>
              <a:t> </a:t>
            </a:r>
            <a:r>
              <a:rPr dirty="0" err="1"/>
              <a:t>tient</a:t>
            </a:r>
            <a:r>
              <a:rPr dirty="0"/>
              <a:t> </a:t>
            </a:r>
            <a:r>
              <a:rPr dirty="0" err="1"/>
              <a:t>une</a:t>
            </a:r>
            <a:r>
              <a:rPr dirty="0"/>
              <a:t> </a:t>
            </a:r>
            <a:r>
              <a:rPr dirty="0" err="1"/>
              <a:t>promesse</a:t>
            </a:r>
            <a:r>
              <a:rPr dirty="0"/>
              <a:t> </a:t>
            </a:r>
            <a:r>
              <a:rPr dirty="0" err="1"/>
              <a:t>différente</a:t>
            </a:r>
            <a:r>
              <a:rPr dirty="0"/>
              <a:t>.</a:t>
            </a:r>
          </a:p>
          <a:p>
            <a:r>
              <a:rPr dirty="0"/>
              <a:t>Ce module </a:t>
            </a:r>
            <a:r>
              <a:rPr dirty="0" err="1"/>
              <a:t>répond</a:t>
            </a:r>
            <a:r>
              <a:rPr dirty="0"/>
              <a:t> à deux questions. Comment ranger des </a:t>
            </a:r>
            <a:r>
              <a:rPr dirty="0" err="1"/>
              <a:t>objets</a:t>
            </a:r>
            <a:r>
              <a:rPr dirty="0"/>
              <a:t> dans </a:t>
            </a:r>
            <a:r>
              <a:rPr dirty="0" err="1"/>
              <a:t>une</a:t>
            </a:r>
            <a:r>
              <a:rPr dirty="0"/>
              <a:t> structure qui </a:t>
            </a:r>
            <a:r>
              <a:rPr dirty="0" err="1"/>
              <a:t>grandit</a:t>
            </a:r>
            <a:r>
              <a:rPr dirty="0"/>
              <a:t>, et </a:t>
            </a:r>
            <a:r>
              <a:rPr dirty="0" err="1"/>
              <a:t>laquelle</a:t>
            </a:r>
            <a:r>
              <a:rPr dirty="0"/>
              <a:t> </a:t>
            </a:r>
            <a:r>
              <a:rPr dirty="0" err="1"/>
              <a:t>choisir</a:t>
            </a:r>
            <a:r>
              <a:rPr dirty="0"/>
              <a:t>. La </a:t>
            </a:r>
            <a:r>
              <a:rPr dirty="0" err="1"/>
              <a:t>seconde</a:t>
            </a:r>
            <a:r>
              <a:rPr dirty="0"/>
              <a:t> compte plus </a:t>
            </a:r>
            <a:r>
              <a:rPr dirty="0" err="1"/>
              <a:t>que</a:t>
            </a:r>
            <a:r>
              <a:rPr dirty="0"/>
              <a:t> la première : la </a:t>
            </a:r>
            <a:r>
              <a:rPr dirty="0" err="1"/>
              <a:t>syntaxe</a:t>
            </a:r>
            <a:r>
              <a:rPr dirty="0"/>
              <a:t> </a:t>
            </a:r>
            <a:r>
              <a:rPr dirty="0" err="1"/>
              <a:t>s'apprend</a:t>
            </a:r>
            <a:r>
              <a:rPr dirty="0"/>
              <a:t> </a:t>
            </a:r>
            <a:r>
              <a:rPr dirty="0" err="1"/>
              <a:t>en</a:t>
            </a:r>
            <a:r>
              <a:rPr dirty="0"/>
              <a:t> </a:t>
            </a:r>
            <a:r>
              <a:rPr dirty="0" err="1"/>
              <a:t>une</a:t>
            </a:r>
            <a:r>
              <a:rPr dirty="0"/>
              <a:t> </a:t>
            </a:r>
            <a:r>
              <a:rPr dirty="0" err="1"/>
              <a:t>heure</a:t>
            </a:r>
            <a:r>
              <a:rPr dirty="0"/>
              <a:t>, le bon choix </a:t>
            </a:r>
            <a:r>
              <a:rPr dirty="0" err="1"/>
              <a:t>évite</a:t>
            </a:r>
            <a:r>
              <a:rPr dirty="0"/>
              <a:t> des </a:t>
            </a:r>
            <a:r>
              <a:rPr dirty="0" err="1"/>
              <a:t>dizaines</a:t>
            </a:r>
            <a:r>
              <a:rPr dirty="0"/>
              <a:t> de </a:t>
            </a:r>
            <a:r>
              <a:rPr dirty="0" err="1"/>
              <a:t>lignes</a:t>
            </a:r>
            <a:r>
              <a:rPr dirty="0"/>
              <a:t> de </a:t>
            </a:r>
            <a:r>
              <a:rPr dirty="0" err="1"/>
              <a:t>vérifications</a:t>
            </a:r>
            <a:r>
              <a:rPr dirty="0"/>
              <a:t>.</a:t>
            </a:r>
          </a:p>
          <a:p>
            <a:r>
              <a:rPr dirty="0"/>
              <a:t>Le module est le plus </a:t>
            </a:r>
            <a:r>
              <a:rPr dirty="0" err="1"/>
              <a:t>fourni</a:t>
            </a:r>
            <a:r>
              <a:rPr dirty="0"/>
              <a:t> du </a:t>
            </a:r>
            <a:r>
              <a:rPr dirty="0" err="1"/>
              <a:t>recueil</a:t>
            </a:r>
            <a:r>
              <a:rPr dirty="0"/>
              <a:t>, avec sept </a:t>
            </a:r>
            <a:r>
              <a:rPr dirty="0" err="1"/>
              <a:t>exercices</a:t>
            </a:r>
            <a:r>
              <a:rPr dirty="0"/>
              <a:t>. Le fil rouge </a:t>
            </a:r>
            <a:r>
              <a:rPr dirty="0" err="1"/>
              <a:t>en</a:t>
            </a:r>
            <a:r>
              <a:rPr dirty="0"/>
              <a:t> </a:t>
            </a:r>
            <a:r>
              <a:rPr dirty="0" err="1"/>
              <a:t>dépend</a:t>
            </a:r>
            <a:r>
              <a:rPr dirty="0"/>
              <a:t> </a:t>
            </a:r>
            <a:r>
              <a:rPr dirty="0" err="1"/>
              <a:t>aussi</a:t>
            </a:r>
            <a:r>
              <a:rPr dirty="0"/>
              <a:t> : le jeu de </a:t>
            </a:r>
            <a:r>
              <a:rPr dirty="0" err="1"/>
              <a:t>bataille</a:t>
            </a:r>
            <a:r>
              <a:rPr dirty="0"/>
              <a:t> de </a:t>
            </a:r>
            <a:r>
              <a:rPr dirty="0" err="1"/>
              <a:t>GameHub</a:t>
            </a:r>
            <a:r>
              <a:rPr dirty="0"/>
              <a:t> range </a:t>
            </a:r>
            <a:r>
              <a:rPr dirty="0" err="1"/>
              <a:t>ses</a:t>
            </a:r>
            <a:r>
              <a:rPr dirty="0"/>
              <a:t> cartes dans des collections.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 module compte sept sections : 1. Une structure qui </a:t>
            </a:r>
            <a:r>
              <a:rPr dirty="0" err="1"/>
              <a:t>grandit</a:t>
            </a:r>
            <a:r>
              <a:rPr dirty="0"/>
              <a:t> ; 2. Les </a:t>
            </a:r>
            <a:r>
              <a:rPr dirty="0" err="1"/>
              <a:t>listes</a:t>
            </a:r>
            <a:r>
              <a:rPr dirty="0"/>
              <a:t> ; 3. Les ensembles ; 4. Les tables </a:t>
            </a:r>
            <a:r>
              <a:rPr dirty="0" err="1"/>
              <a:t>associatives</a:t>
            </a:r>
            <a:r>
              <a:rPr dirty="0"/>
              <a:t> ; 5. Passer un </a:t>
            </a:r>
            <a:r>
              <a:rPr dirty="0" err="1"/>
              <a:t>comportement</a:t>
            </a:r>
            <a:r>
              <a:rPr dirty="0"/>
              <a:t> ; 6. Collections </a:t>
            </a:r>
            <a:r>
              <a:rPr dirty="0" err="1"/>
              <a:t>emboîtées</a:t>
            </a:r>
            <a:r>
              <a:rPr dirty="0"/>
              <a:t> ; 7. Les files à deux bouts.</a:t>
            </a:r>
          </a:p>
          <a:p>
            <a:r>
              <a:rPr dirty="0" err="1"/>
              <a:t>Chaque</a:t>
            </a:r>
            <a:r>
              <a:rPr dirty="0"/>
              <a:t> </a:t>
            </a:r>
            <a:r>
              <a:rPr dirty="0" err="1"/>
              <a:t>intercalaire</a:t>
            </a:r>
            <a:r>
              <a:rPr dirty="0"/>
              <a:t> </a:t>
            </a:r>
            <a:r>
              <a:rPr dirty="0" err="1"/>
              <a:t>porte</a:t>
            </a:r>
            <a:r>
              <a:rPr dirty="0"/>
              <a:t> le </a:t>
            </a:r>
            <a:r>
              <a:rPr dirty="0" err="1"/>
              <a:t>numéro</a:t>
            </a:r>
            <a:r>
              <a:rPr dirty="0"/>
              <a:t> de </a:t>
            </a:r>
            <a:r>
              <a:rPr dirty="0" err="1"/>
              <a:t>sa</a:t>
            </a:r>
            <a:r>
              <a:rPr dirty="0"/>
              <a:t> section, et </a:t>
            </a:r>
            <a:r>
              <a:rPr dirty="0" err="1"/>
              <a:t>chaque</a:t>
            </a:r>
            <a:r>
              <a:rPr dirty="0"/>
              <a:t> page </a:t>
            </a:r>
            <a:r>
              <a:rPr dirty="0" err="1"/>
              <a:t>rappelle</a:t>
            </a:r>
            <a:r>
              <a:rPr dirty="0"/>
              <a:t> </a:t>
            </a:r>
            <a:r>
              <a:rPr dirty="0" err="1"/>
              <a:t>en</a:t>
            </a:r>
            <a:r>
              <a:rPr dirty="0"/>
              <a:t> bas à droite la section </a:t>
            </a:r>
            <a:r>
              <a:rPr dirty="0" err="1"/>
              <a:t>en</a:t>
            </a:r>
            <a:r>
              <a:rPr dirty="0"/>
              <a:t> </a:t>
            </a:r>
            <a:r>
              <a:rPr dirty="0" err="1"/>
              <a:t>cours</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La </a:t>
            </a:r>
            <a:r>
              <a:rPr dirty="0" err="1"/>
              <a:t>démonstration</a:t>
            </a:r>
            <a:r>
              <a:rPr dirty="0"/>
              <a:t> part </a:t>
            </a:r>
            <a:r>
              <a:rPr dirty="0" err="1"/>
              <a:t>d'une</a:t>
            </a:r>
            <a:r>
              <a:rPr dirty="0"/>
              <a:t> </a:t>
            </a:r>
            <a:r>
              <a:rPr dirty="0" err="1"/>
              <a:t>liste</a:t>
            </a:r>
            <a:r>
              <a:rPr dirty="0"/>
              <a:t> </a:t>
            </a:r>
            <a:r>
              <a:rPr dirty="0" err="1"/>
              <a:t>d'invités</a:t>
            </a:r>
            <a:r>
              <a:rPr dirty="0"/>
              <a:t> </a:t>
            </a:r>
            <a:r>
              <a:rPr dirty="0" err="1"/>
              <a:t>où</a:t>
            </a:r>
            <a:r>
              <a:rPr dirty="0"/>
              <a:t> le </a:t>
            </a:r>
            <a:r>
              <a:rPr dirty="0" err="1"/>
              <a:t>même</a:t>
            </a:r>
            <a:r>
              <a:rPr dirty="0"/>
              <a:t> nom figure deux </a:t>
            </a:r>
            <a:r>
              <a:rPr dirty="0" err="1"/>
              <a:t>fois</a:t>
            </a:r>
            <a:r>
              <a:rPr dirty="0"/>
              <a:t>. Une première correction est </a:t>
            </a:r>
            <a:r>
              <a:rPr dirty="0" err="1"/>
              <a:t>proposée</a:t>
            </a:r>
            <a:r>
              <a:rPr dirty="0"/>
              <a:t>, </a:t>
            </a:r>
            <a:r>
              <a:rPr dirty="0" err="1"/>
              <a:t>puis</a:t>
            </a:r>
            <a:r>
              <a:rPr dirty="0"/>
              <a:t> </a:t>
            </a:r>
            <a:r>
              <a:rPr dirty="0" err="1"/>
              <a:t>une</a:t>
            </a:r>
            <a:r>
              <a:rPr dirty="0"/>
              <a:t> </a:t>
            </a:r>
            <a:r>
              <a:rPr dirty="0" err="1"/>
              <a:t>seconde</a:t>
            </a:r>
            <a:r>
              <a:rPr dirty="0"/>
              <a:t>, beaucoup plus </a:t>
            </a:r>
            <a:r>
              <a:rPr dirty="0" err="1"/>
              <a:t>courte</a:t>
            </a:r>
            <a:r>
              <a:rPr dirty="0"/>
              <a:t>, qui ne </a:t>
            </a:r>
            <a:r>
              <a:rPr dirty="0" err="1"/>
              <a:t>tient</a:t>
            </a:r>
            <a:r>
              <a:rPr dirty="0"/>
              <a:t> </a:t>
            </a:r>
            <a:r>
              <a:rPr dirty="0" err="1"/>
              <a:t>qu'en</a:t>
            </a:r>
            <a:r>
              <a:rPr dirty="0"/>
              <a:t> un mot </a:t>
            </a:r>
            <a:r>
              <a:rPr dirty="0" err="1"/>
              <a:t>changé</a:t>
            </a:r>
            <a:r>
              <a:rPr dirty="0"/>
              <a:t>. Le </a:t>
            </a:r>
            <a:r>
              <a:rPr dirty="0" err="1"/>
              <a:t>même</a:t>
            </a:r>
            <a:r>
              <a:rPr dirty="0"/>
              <a:t> </a:t>
            </a:r>
            <a:r>
              <a:rPr dirty="0" err="1"/>
              <a:t>remède</a:t>
            </a:r>
            <a:r>
              <a:rPr dirty="0"/>
              <a:t> </a:t>
            </a:r>
            <a:r>
              <a:rPr dirty="0" err="1"/>
              <a:t>sert</a:t>
            </a:r>
            <a:r>
              <a:rPr dirty="0"/>
              <a:t> ensuite à un deuxième </a:t>
            </a:r>
            <a:r>
              <a:rPr dirty="0" err="1"/>
              <a:t>problème</a:t>
            </a:r>
            <a:r>
              <a:rPr dirty="0"/>
              <a:t>.</a:t>
            </a:r>
          </a:p>
          <a:p>
            <a:r>
              <a:rPr dirty="0" err="1"/>
              <a:t>Retenez</a:t>
            </a:r>
            <a:r>
              <a:rPr dirty="0"/>
              <a:t> la </a:t>
            </a:r>
            <a:r>
              <a:rPr dirty="0" err="1"/>
              <a:t>méthode</a:t>
            </a:r>
            <a:r>
              <a:rPr dirty="0"/>
              <a:t> </a:t>
            </a:r>
            <a:r>
              <a:rPr dirty="0" err="1"/>
              <a:t>plutôt</a:t>
            </a:r>
            <a:r>
              <a:rPr dirty="0"/>
              <a:t> </a:t>
            </a:r>
            <a:r>
              <a:rPr dirty="0" err="1"/>
              <a:t>que</a:t>
            </a:r>
            <a:r>
              <a:rPr dirty="0"/>
              <a:t> la </a:t>
            </a:r>
            <a:r>
              <a:rPr dirty="0" err="1"/>
              <a:t>syntaxe</a:t>
            </a:r>
            <a:r>
              <a:rPr dirty="0"/>
              <a:t> : on ne </a:t>
            </a:r>
            <a:r>
              <a:rPr dirty="0" err="1"/>
              <a:t>choisit</a:t>
            </a:r>
            <a:r>
              <a:rPr dirty="0"/>
              <a:t> pas </a:t>
            </a:r>
            <a:r>
              <a:rPr dirty="0" err="1"/>
              <a:t>une</a:t>
            </a:r>
            <a:r>
              <a:rPr dirty="0"/>
              <a:t> collection par habitude, on la </a:t>
            </a:r>
            <a:r>
              <a:rPr dirty="0" err="1"/>
              <a:t>choisit</a:t>
            </a:r>
            <a:r>
              <a:rPr dirty="0"/>
              <a:t> sur la </a:t>
            </a:r>
            <a:r>
              <a:rPr dirty="0" err="1"/>
              <a:t>promesse</a:t>
            </a:r>
            <a:r>
              <a:rPr dirty="0"/>
              <a:t> </a:t>
            </a:r>
            <a:r>
              <a:rPr dirty="0" err="1"/>
              <a:t>qu'elle</a:t>
            </a:r>
            <a:r>
              <a:rPr dirty="0"/>
              <a:t> </a:t>
            </a:r>
            <a:r>
              <a:rPr dirty="0" err="1"/>
              <a:t>tient</a:t>
            </a:r>
            <a:r>
              <a:rPr dirty="0"/>
              <a:t>. Et </a:t>
            </a:r>
            <a:r>
              <a:rPr dirty="0" err="1"/>
              <a:t>quand</a:t>
            </a:r>
            <a:r>
              <a:rPr dirty="0"/>
              <a:t> la structure </a:t>
            </a:r>
            <a:r>
              <a:rPr dirty="0" err="1"/>
              <a:t>porte</a:t>
            </a:r>
            <a:r>
              <a:rPr dirty="0"/>
              <a:t> </a:t>
            </a:r>
            <a:r>
              <a:rPr dirty="0" err="1"/>
              <a:t>une</a:t>
            </a:r>
            <a:r>
              <a:rPr dirty="0"/>
              <a:t> </a:t>
            </a:r>
            <a:r>
              <a:rPr dirty="0" err="1"/>
              <a:t>règle</a:t>
            </a:r>
            <a:r>
              <a:rPr dirty="0"/>
              <a:t>, </a:t>
            </a:r>
            <a:r>
              <a:rPr dirty="0" err="1"/>
              <a:t>personne</a:t>
            </a:r>
            <a:r>
              <a:rPr dirty="0"/>
              <a:t> </a:t>
            </a:r>
            <a:r>
              <a:rPr dirty="0" err="1"/>
              <a:t>n'a</a:t>
            </a:r>
            <a:r>
              <a:rPr dirty="0"/>
              <a:t> plus </a:t>
            </a:r>
            <a:r>
              <a:rPr dirty="0" err="1"/>
              <a:t>besoin</a:t>
            </a:r>
            <a:r>
              <a:rPr dirty="0"/>
              <a:t> </a:t>
            </a:r>
            <a:r>
              <a:rPr dirty="0" err="1"/>
              <a:t>d'y</a:t>
            </a:r>
            <a:r>
              <a:rPr dirty="0"/>
              <a:t> </a:t>
            </a:r>
            <a:r>
              <a:rPr dirty="0" err="1"/>
              <a:t>penser</a:t>
            </a:r>
            <a:r>
              <a:rPr dirty="0"/>
              <a:t>.</a:t>
            </a:r>
          </a:p>
          <a:p>
            <a:r>
              <a:rPr dirty="0"/>
              <a:t>Le </a:t>
            </a:r>
            <a:r>
              <a:rPr dirty="0" err="1"/>
              <a:t>reste</a:t>
            </a:r>
            <a:r>
              <a:rPr dirty="0"/>
              <a:t> de </a:t>
            </a:r>
            <a:r>
              <a:rPr dirty="0" err="1"/>
              <a:t>ce</a:t>
            </a:r>
            <a:r>
              <a:rPr dirty="0"/>
              <a:t> module </a:t>
            </a:r>
            <a:r>
              <a:rPr dirty="0" err="1"/>
              <a:t>donne</a:t>
            </a:r>
            <a:r>
              <a:rPr dirty="0"/>
              <a:t> la </a:t>
            </a:r>
            <a:r>
              <a:rPr dirty="0" err="1"/>
              <a:t>syntaxe</a:t>
            </a:r>
            <a:r>
              <a:rPr dirty="0"/>
              <a:t> de </a:t>
            </a:r>
            <a:r>
              <a:rPr dirty="0" err="1"/>
              <a:t>ce</a:t>
            </a:r>
            <a:r>
              <a:rPr dirty="0"/>
              <a:t> qui </a:t>
            </a:r>
            <a:r>
              <a:rPr dirty="0" err="1"/>
              <a:t>vient</a:t>
            </a:r>
            <a:r>
              <a:rPr dirty="0"/>
              <a:t> d'être </a:t>
            </a:r>
            <a:r>
              <a:rPr dirty="0" err="1"/>
              <a:t>montré</a:t>
            </a:r>
            <a:r>
              <a:rPr dirty="0"/>
              <a:t>, et </a:t>
            </a:r>
            <a:r>
              <a:rPr dirty="0" err="1"/>
              <a:t>ce</a:t>
            </a:r>
            <a:r>
              <a:rPr dirty="0"/>
              <a:t> </a:t>
            </a:r>
            <a:r>
              <a:rPr dirty="0" err="1"/>
              <a:t>que</a:t>
            </a:r>
            <a:r>
              <a:rPr dirty="0"/>
              <a:t> la </a:t>
            </a:r>
            <a:r>
              <a:rPr dirty="0" err="1"/>
              <a:t>démonstration</a:t>
            </a:r>
            <a:r>
              <a:rPr dirty="0"/>
              <a:t> </a:t>
            </a:r>
            <a:r>
              <a:rPr dirty="0" err="1"/>
              <a:t>n'a</a:t>
            </a:r>
            <a:r>
              <a:rPr dirty="0"/>
              <a:t> pas </a:t>
            </a:r>
            <a:r>
              <a:rPr dirty="0" err="1"/>
              <a:t>eu</a:t>
            </a:r>
            <a:r>
              <a:rPr dirty="0"/>
              <a:t> le temps de </a:t>
            </a:r>
            <a:r>
              <a:rPr dirty="0" err="1"/>
              <a:t>montrer</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Une collection </a:t>
            </a:r>
            <a:r>
              <a:rPr dirty="0" err="1"/>
              <a:t>rassemble</a:t>
            </a:r>
            <a:r>
              <a:rPr dirty="0"/>
              <a:t> des </a:t>
            </a:r>
            <a:r>
              <a:rPr dirty="0" err="1"/>
              <a:t>objets</a:t>
            </a:r>
            <a:r>
              <a:rPr dirty="0"/>
              <a:t> dans </a:t>
            </a:r>
            <a:r>
              <a:rPr dirty="0" err="1"/>
              <a:t>une</a:t>
            </a:r>
            <a:r>
              <a:rPr dirty="0"/>
              <a:t> </a:t>
            </a:r>
            <a:r>
              <a:rPr dirty="0" err="1"/>
              <a:t>seule</a:t>
            </a:r>
            <a:r>
              <a:rPr dirty="0"/>
              <a:t> structure, qui </a:t>
            </a:r>
            <a:r>
              <a:rPr dirty="0" err="1"/>
              <a:t>grandit</a:t>
            </a:r>
            <a:r>
              <a:rPr dirty="0"/>
              <a:t> et </a:t>
            </a:r>
            <a:r>
              <a:rPr dirty="0" err="1"/>
              <a:t>rétrécit</a:t>
            </a:r>
            <a:r>
              <a:rPr dirty="0"/>
              <a:t> au fil des </a:t>
            </a:r>
            <a:r>
              <a:rPr dirty="0" err="1"/>
              <a:t>ajouts</a:t>
            </a:r>
            <a:r>
              <a:rPr dirty="0"/>
              <a:t> et des </a:t>
            </a:r>
            <a:r>
              <a:rPr dirty="0" err="1"/>
              <a:t>retraits</a:t>
            </a:r>
            <a:r>
              <a:rPr dirty="0"/>
              <a:t>. </a:t>
            </a:r>
            <a:r>
              <a:rPr dirty="0" err="1"/>
              <a:t>C'est</a:t>
            </a:r>
            <a:r>
              <a:rPr dirty="0"/>
              <a:t> tout </a:t>
            </a:r>
            <a:r>
              <a:rPr dirty="0" err="1"/>
              <a:t>ce</a:t>
            </a:r>
            <a:r>
              <a:rPr dirty="0"/>
              <a:t> </a:t>
            </a:r>
            <a:r>
              <a:rPr dirty="0" err="1"/>
              <a:t>que</a:t>
            </a:r>
            <a:r>
              <a:rPr dirty="0"/>
              <a:t> </a:t>
            </a:r>
            <a:r>
              <a:rPr dirty="0" err="1"/>
              <a:t>promet</a:t>
            </a:r>
            <a:r>
              <a:rPr dirty="0"/>
              <a:t> </a:t>
            </a:r>
            <a:r>
              <a:rPr dirty="0" err="1"/>
              <a:t>l'interface</a:t>
            </a:r>
            <a:r>
              <a:rPr dirty="0"/>
              <a:t> Collection.</a:t>
            </a:r>
          </a:p>
          <a:p>
            <a:r>
              <a:rPr dirty="0" err="1"/>
              <a:t>Chaque</a:t>
            </a:r>
            <a:r>
              <a:rPr dirty="0"/>
              <a:t> </a:t>
            </a:r>
            <a:r>
              <a:rPr dirty="0" err="1"/>
              <a:t>sorte</a:t>
            </a:r>
            <a:r>
              <a:rPr dirty="0"/>
              <a:t> de collection </a:t>
            </a:r>
            <a:r>
              <a:rPr dirty="0" err="1"/>
              <a:t>ajoute</a:t>
            </a:r>
            <a:r>
              <a:rPr dirty="0"/>
              <a:t> </a:t>
            </a:r>
            <a:r>
              <a:rPr dirty="0" err="1"/>
              <a:t>sa</a:t>
            </a:r>
            <a:r>
              <a:rPr dirty="0"/>
              <a:t> propre </a:t>
            </a:r>
            <a:r>
              <a:rPr dirty="0" err="1"/>
              <a:t>promesse</a:t>
            </a:r>
            <a:r>
              <a:rPr dirty="0"/>
              <a:t>. Une </a:t>
            </a:r>
            <a:r>
              <a:rPr dirty="0" err="1"/>
              <a:t>liste</a:t>
            </a:r>
            <a:r>
              <a:rPr dirty="0"/>
              <a:t> garde un </a:t>
            </a:r>
            <a:r>
              <a:rPr dirty="0" err="1"/>
              <a:t>ordre</a:t>
            </a:r>
            <a:r>
              <a:rPr dirty="0"/>
              <a:t> et des positions ; un ensemble refuse les </a:t>
            </a:r>
            <a:r>
              <a:rPr dirty="0" err="1"/>
              <a:t>doublons</a:t>
            </a:r>
            <a:r>
              <a:rPr dirty="0"/>
              <a:t> ; </a:t>
            </a:r>
            <a:r>
              <a:rPr dirty="0" err="1"/>
              <a:t>une</a:t>
            </a:r>
            <a:r>
              <a:rPr dirty="0"/>
              <a:t> table range par </a:t>
            </a:r>
            <a:r>
              <a:rPr dirty="0" err="1"/>
              <a:t>clé</a:t>
            </a:r>
            <a:r>
              <a:rPr dirty="0"/>
              <a:t> ; </a:t>
            </a:r>
            <a:r>
              <a:rPr dirty="0" err="1"/>
              <a:t>une</a:t>
            </a:r>
            <a:r>
              <a:rPr dirty="0"/>
              <a:t> file à deux bouts ne </a:t>
            </a:r>
            <a:r>
              <a:rPr dirty="0" err="1"/>
              <a:t>s'ouvre</a:t>
            </a:r>
            <a:r>
              <a:rPr dirty="0"/>
              <a:t> </a:t>
            </a:r>
            <a:r>
              <a:rPr dirty="0" err="1"/>
              <a:t>que</a:t>
            </a:r>
            <a:r>
              <a:rPr dirty="0"/>
              <a:t> par </a:t>
            </a:r>
            <a:r>
              <a:rPr dirty="0" err="1"/>
              <a:t>ses</a:t>
            </a:r>
            <a:r>
              <a:rPr dirty="0"/>
              <a:t> </a:t>
            </a:r>
            <a:r>
              <a:rPr dirty="0" err="1"/>
              <a:t>extrémités</a:t>
            </a:r>
            <a:r>
              <a:rPr dirty="0"/>
              <a:t>. Les sections </a:t>
            </a:r>
            <a:r>
              <a:rPr dirty="0" err="1"/>
              <a:t>suivantes</a:t>
            </a:r>
            <a:r>
              <a:rPr dirty="0"/>
              <a:t> les </a:t>
            </a:r>
            <a:r>
              <a:rPr dirty="0" err="1"/>
              <a:t>présentent</a:t>
            </a:r>
            <a:r>
              <a:rPr dirty="0"/>
              <a:t> </a:t>
            </a:r>
            <a:r>
              <a:rPr dirty="0" err="1"/>
              <a:t>une</a:t>
            </a:r>
            <a:r>
              <a:rPr dirty="0"/>
              <a:t> à </a:t>
            </a:r>
            <a:r>
              <a:rPr dirty="0" err="1"/>
              <a:t>une</a:t>
            </a:r>
            <a:r>
              <a:rPr dirty="0"/>
              <a:t>, </a:t>
            </a:r>
            <a:r>
              <a:rPr dirty="0" err="1"/>
              <a:t>chacune</a:t>
            </a:r>
            <a:r>
              <a:rPr dirty="0"/>
              <a:t> avec son illustration.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latin typeface="Consolas"/>
              </a:rPr>
              <a:t>List&lt;String&gt;</a:t>
            </a:r>
            <a:r>
              <a:rPr dirty="0"/>
              <a:t> se lit « </a:t>
            </a:r>
            <a:r>
              <a:rPr dirty="0" err="1"/>
              <a:t>une</a:t>
            </a:r>
            <a:r>
              <a:rPr dirty="0"/>
              <a:t> </a:t>
            </a:r>
            <a:r>
              <a:rPr dirty="0" err="1"/>
              <a:t>liste</a:t>
            </a:r>
            <a:r>
              <a:rPr dirty="0"/>
              <a:t> de </a:t>
            </a:r>
            <a:r>
              <a:rPr dirty="0">
                <a:latin typeface="Consolas"/>
              </a:rPr>
              <a:t>String</a:t>
            </a:r>
            <a:r>
              <a:rPr dirty="0"/>
              <a:t> ». Le type entre chevrons est un </a:t>
            </a:r>
            <a:r>
              <a:rPr dirty="0" err="1"/>
              <a:t>paramètre</a:t>
            </a:r>
            <a:r>
              <a:rPr dirty="0"/>
              <a:t> : la </a:t>
            </a:r>
            <a:r>
              <a:rPr dirty="0" err="1"/>
              <a:t>même</a:t>
            </a:r>
            <a:r>
              <a:rPr dirty="0"/>
              <a:t> interface </a:t>
            </a:r>
            <a:r>
              <a:rPr dirty="0">
                <a:latin typeface="Consolas"/>
              </a:rPr>
              <a:t>List</a:t>
            </a:r>
            <a:r>
              <a:rPr dirty="0"/>
              <a:t> </a:t>
            </a:r>
            <a:r>
              <a:rPr dirty="0" err="1"/>
              <a:t>sert</a:t>
            </a:r>
            <a:r>
              <a:rPr dirty="0"/>
              <a:t> pour des </a:t>
            </a:r>
            <a:r>
              <a:rPr dirty="0" err="1"/>
              <a:t>chaînes</a:t>
            </a:r>
            <a:r>
              <a:rPr dirty="0"/>
              <a:t>, des </a:t>
            </a:r>
            <a:r>
              <a:rPr dirty="0" err="1"/>
              <a:t>nombres</a:t>
            </a:r>
            <a:r>
              <a:rPr dirty="0"/>
              <a:t> </a:t>
            </a:r>
            <a:r>
              <a:rPr dirty="0" err="1"/>
              <a:t>ou</a:t>
            </a:r>
            <a:r>
              <a:rPr dirty="0"/>
              <a:t> des livres, et le </a:t>
            </a:r>
            <a:r>
              <a:rPr dirty="0" err="1"/>
              <a:t>compilateur</a:t>
            </a:r>
            <a:r>
              <a:rPr dirty="0"/>
              <a:t> </a:t>
            </a:r>
            <a:r>
              <a:rPr dirty="0" err="1"/>
              <a:t>vérifie</a:t>
            </a:r>
            <a:r>
              <a:rPr dirty="0"/>
              <a:t> à </a:t>
            </a:r>
            <a:r>
              <a:rPr dirty="0" err="1"/>
              <a:t>chaque</a:t>
            </a:r>
            <a:r>
              <a:rPr dirty="0"/>
              <a:t> </a:t>
            </a:r>
            <a:r>
              <a:rPr dirty="0" err="1"/>
              <a:t>ajout</a:t>
            </a:r>
            <a:r>
              <a:rPr dirty="0"/>
              <a:t> </a:t>
            </a:r>
            <a:r>
              <a:rPr dirty="0" err="1"/>
              <a:t>que</a:t>
            </a:r>
            <a:r>
              <a:rPr dirty="0"/>
              <a:t> </a:t>
            </a:r>
            <a:r>
              <a:rPr dirty="0" err="1"/>
              <a:t>l'élément</a:t>
            </a:r>
            <a:r>
              <a:rPr dirty="0"/>
              <a:t> est du bon type. </a:t>
            </a:r>
            <a:r>
              <a:rPr dirty="0" err="1"/>
              <a:t>L'erreur</a:t>
            </a:r>
            <a:r>
              <a:rPr dirty="0"/>
              <a:t> </a:t>
            </a:r>
            <a:r>
              <a:rPr dirty="0" err="1"/>
              <a:t>apparaît</a:t>
            </a:r>
            <a:r>
              <a:rPr dirty="0"/>
              <a:t> </a:t>
            </a:r>
            <a:r>
              <a:rPr dirty="0" err="1"/>
              <a:t>donc</a:t>
            </a:r>
            <a:r>
              <a:rPr dirty="0"/>
              <a:t> à la compilation, pas à </a:t>
            </a:r>
            <a:r>
              <a:rPr dirty="0" err="1"/>
              <a:t>l'exécution</a:t>
            </a:r>
            <a:r>
              <a:rPr dirty="0"/>
              <a:t>.</a:t>
            </a:r>
          </a:p>
          <a:p>
            <a:r>
              <a:rPr dirty="0"/>
              <a:t>À droite du </a:t>
            </a:r>
            <a:r>
              <a:rPr dirty="0">
                <a:latin typeface="Consolas"/>
              </a:rPr>
              <a:t>new</a:t>
            </a:r>
            <a:r>
              <a:rPr dirty="0"/>
              <a:t>, les chevrons vides, </a:t>
            </a:r>
            <a:r>
              <a:rPr dirty="0" err="1"/>
              <a:t>appelés</a:t>
            </a:r>
            <a:r>
              <a:rPr dirty="0"/>
              <a:t> </a:t>
            </a:r>
            <a:r>
              <a:rPr dirty="0" err="1"/>
              <a:t>diamant</a:t>
            </a:r>
            <a:r>
              <a:rPr dirty="0"/>
              <a:t>, </a:t>
            </a:r>
            <a:r>
              <a:rPr dirty="0" err="1"/>
              <a:t>évitent</a:t>
            </a:r>
            <a:r>
              <a:rPr dirty="0"/>
              <a:t> de </a:t>
            </a:r>
            <a:r>
              <a:rPr dirty="0" err="1"/>
              <a:t>répéter</a:t>
            </a:r>
            <a:r>
              <a:rPr dirty="0"/>
              <a:t> le type : le </a:t>
            </a:r>
            <a:r>
              <a:rPr dirty="0" err="1"/>
              <a:t>compilateur</a:t>
            </a:r>
            <a:r>
              <a:rPr dirty="0"/>
              <a:t> le </a:t>
            </a:r>
            <a:r>
              <a:rPr dirty="0" err="1"/>
              <a:t>déduit</a:t>
            </a:r>
            <a:r>
              <a:rPr dirty="0"/>
              <a:t> de la </a:t>
            </a:r>
            <a:r>
              <a:rPr dirty="0" err="1"/>
              <a:t>déclaration</a:t>
            </a:r>
            <a:r>
              <a:rPr dirty="0"/>
              <a:t>.</a:t>
            </a:r>
          </a:p>
          <a:p>
            <a:r>
              <a:rPr dirty="0"/>
              <a:t>Vous </a:t>
            </a:r>
            <a:r>
              <a:rPr dirty="0" err="1"/>
              <a:t>apprenez</a:t>
            </a:r>
            <a:r>
              <a:rPr dirty="0"/>
              <a:t> </a:t>
            </a:r>
            <a:r>
              <a:rPr dirty="0" err="1"/>
              <a:t>ici</a:t>
            </a:r>
            <a:r>
              <a:rPr dirty="0"/>
              <a:t> à </a:t>
            </a:r>
            <a:r>
              <a:rPr b="1" dirty="0"/>
              <a:t>lire</a:t>
            </a:r>
            <a:r>
              <a:rPr dirty="0"/>
              <a:t> </a:t>
            </a:r>
            <a:r>
              <a:rPr dirty="0" err="1"/>
              <a:t>cette</a:t>
            </a:r>
            <a:r>
              <a:rPr dirty="0"/>
              <a:t> notation. </a:t>
            </a:r>
            <a:r>
              <a:rPr dirty="0" err="1"/>
              <a:t>L'écriture</a:t>
            </a:r>
            <a:r>
              <a:rPr dirty="0"/>
              <a:t> </a:t>
            </a:r>
            <a:r>
              <a:rPr dirty="0" err="1"/>
              <a:t>d'une</a:t>
            </a:r>
            <a:r>
              <a:rPr dirty="0"/>
              <a:t> </a:t>
            </a:r>
            <a:r>
              <a:rPr dirty="0" err="1"/>
              <a:t>classe</a:t>
            </a:r>
            <a:r>
              <a:rPr dirty="0"/>
              <a:t> qui </a:t>
            </a:r>
            <a:r>
              <a:rPr dirty="0" err="1"/>
              <a:t>reçoit</a:t>
            </a:r>
            <a:r>
              <a:rPr dirty="0"/>
              <a:t> un type </a:t>
            </a:r>
            <a:r>
              <a:rPr dirty="0" err="1"/>
              <a:t>en</a:t>
            </a:r>
            <a:r>
              <a:rPr dirty="0"/>
              <a:t> </a:t>
            </a:r>
            <a:r>
              <a:rPr dirty="0" err="1"/>
              <a:t>paramètre</a:t>
            </a:r>
            <a:r>
              <a:rPr dirty="0"/>
              <a:t>, </a:t>
            </a:r>
            <a:r>
              <a:rPr dirty="0" err="1"/>
              <a:t>comme</a:t>
            </a:r>
            <a:r>
              <a:rPr dirty="0"/>
              <a:t> </a:t>
            </a:r>
            <a:r>
              <a:rPr dirty="0">
                <a:latin typeface="Consolas"/>
              </a:rPr>
              <a:t>List</a:t>
            </a:r>
            <a:r>
              <a:rPr dirty="0"/>
              <a:t> le fait, sera </a:t>
            </a:r>
            <a:r>
              <a:rPr dirty="0" err="1"/>
              <a:t>détaillée</a:t>
            </a:r>
            <a:r>
              <a:rPr dirty="0"/>
              <a:t> au module GEN.</a:t>
            </a:r>
          </a:p>
          <a:p>
            <a:r>
              <a:rPr lang="fr-BE" dirty="0"/>
              <a:t>Le code complet, à exécuter : demos, classe demo.col.slides.LesOperationsDUneListe.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 module POO a </a:t>
            </a:r>
            <a:r>
              <a:rPr dirty="0" err="1"/>
              <a:t>présenté</a:t>
            </a:r>
            <a:r>
              <a:rPr dirty="0"/>
              <a:t> les classes </a:t>
            </a:r>
            <a:r>
              <a:rPr dirty="0" err="1"/>
              <a:t>enveloppes</a:t>
            </a:r>
            <a:r>
              <a:rPr dirty="0"/>
              <a:t>, </a:t>
            </a:r>
            <a:r>
              <a:rPr dirty="0">
                <a:latin typeface="Consolas"/>
              </a:rPr>
              <a:t>Integer</a:t>
            </a:r>
            <a:r>
              <a:rPr dirty="0"/>
              <a:t> pour </a:t>
            </a:r>
            <a:r>
              <a:rPr dirty="0">
                <a:latin typeface="Consolas"/>
              </a:rPr>
              <a:t>int</a:t>
            </a:r>
            <a:r>
              <a:rPr dirty="0"/>
              <a:t>, </a:t>
            </a:r>
            <a:r>
              <a:rPr dirty="0">
                <a:latin typeface="Consolas"/>
              </a:rPr>
              <a:t>Double</a:t>
            </a:r>
            <a:r>
              <a:rPr dirty="0"/>
              <a:t> pour </a:t>
            </a:r>
            <a:r>
              <a:rPr dirty="0">
                <a:latin typeface="Consolas"/>
              </a:rPr>
              <a:t>double</a:t>
            </a:r>
            <a:r>
              <a:rPr dirty="0"/>
              <a:t>, </a:t>
            </a:r>
            <a:r>
              <a:rPr dirty="0">
                <a:latin typeface="Consolas"/>
              </a:rPr>
              <a:t>Character</a:t>
            </a:r>
            <a:r>
              <a:rPr dirty="0"/>
              <a:t> pour </a:t>
            </a:r>
            <a:r>
              <a:rPr dirty="0">
                <a:latin typeface="Consolas"/>
              </a:rPr>
              <a:t>char</a:t>
            </a:r>
            <a:r>
              <a:rPr dirty="0"/>
              <a:t>, et la conversion </a:t>
            </a:r>
            <a:r>
              <a:rPr dirty="0" err="1"/>
              <a:t>automatique</a:t>
            </a:r>
            <a:r>
              <a:rPr dirty="0"/>
              <a:t> entre les deux, </a:t>
            </a:r>
            <a:r>
              <a:rPr dirty="0" err="1"/>
              <a:t>appelée</a:t>
            </a:r>
            <a:r>
              <a:rPr dirty="0"/>
              <a:t> autoboxing. Elles </a:t>
            </a:r>
            <a:r>
              <a:rPr dirty="0" err="1"/>
              <a:t>prennent</a:t>
            </a:r>
            <a:r>
              <a:rPr dirty="0"/>
              <a:t> </a:t>
            </a:r>
            <a:r>
              <a:rPr dirty="0" err="1"/>
              <a:t>ici</a:t>
            </a:r>
            <a:r>
              <a:rPr dirty="0"/>
              <a:t> </a:t>
            </a:r>
            <a:r>
              <a:rPr dirty="0" err="1"/>
              <a:t>leur</a:t>
            </a:r>
            <a:r>
              <a:rPr dirty="0"/>
              <a:t> raison d'être : </a:t>
            </a:r>
            <a:r>
              <a:rPr dirty="0" err="1"/>
              <a:t>une</a:t>
            </a:r>
            <a:r>
              <a:rPr dirty="0"/>
              <a:t> collection ne range </a:t>
            </a:r>
            <a:r>
              <a:rPr dirty="0" err="1"/>
              <a:t>que</a:t>
            </a:r>
            <a:r>
              <a:rPr dirty="0"/>
              <a:t> des </a:t>
            </a:r>
            <a:r>
              <a:rPr dirty="0" err="1"/>
              <a:t>objets</a:t>
            </a:r>
            <a:r>
              <a:rPr dirty="0"/>
              <a:t>, et </a:t>
            </a:r>
            <a:r>
              <a:rPr dirty="0">
                <a:latin typeface="Consolas"/>
              </a:rPr>
              <a:t>List&lt;int&gt;</a:t>
            </a:r>
            <a:r>
              <a:rPr dirty="0"/>
              <a:t> ne compile pas.</a:t>
            </a:r>
          </a:p>
          <a:p>
            <a:r>
              <a:rPr dirty="0"/>
              <a:t>En pratique, vous </a:t>
            </a:r>
            <a:r>
              <a:rPr dirty="0" err="1"/>
              <a:t>écrivez</a:t>
            </a:r>
            <a:r>
              <a:rPr dirty="0"/>
              <a:t> </a:t>
            </a:r>
            <a:r>
              <a:rPr dirty="0">
                <a:latin typeface="Consolas"/>
              </a:rPr>
              <a:t>Integer</a:t>
            </a:r>
            <a:r>
              <a:rPr dirty="0"/>
              <a:t> entre les chevrons et vous </a:t>
            </a:r>
            <a:r>
              <a:rPr dirty="0" err="1"/>
              <a:t>oubliez</a:t>
            </a:r>
            <a:r>
              <a:rPr dirty="0"/>
              <a:t> la </a:t>
            </a:r>
            <a:r>
              <a:rPr dirty="0" err="1"/>
              <a:t>différence</a:t>
            </a:r>
            <a:r>
              <a:rPr dirty="0"/>
              <a:t>. Deux exceptions à </a:t>
            </a:r>
            <a:r>
              <a:rPr dirty="0" err="1"/>
              <a:t>cette</a:t>
            </a:r>
            <a:r>
              <a:rPr dirty="0"/>
              <a:t> </a:t>
            </a:r>
            <a:r>
              <a:rPr dirty="0" err="1"/>
              <a:t>tranquillité</a:t>
            </a:r>
            <a:r>
              <a:rPr dirty="0"/>
              <a:t>. Comparer deux </a:t>
            </a:r>
            <a:r>
              <a:rPr dirty="0">
                <a:latin typeface="Consolas"/>
              </a:rPr>
              <a:t>Integer</a:t>
            </a:r>
            <a:r>
              <a:rPr dirty="0"/>
              <a:t> avec </a:t>
            </a:r>
            <a:r>
              <a:rPr dirty="0">
                <a:latin typeface="Consolas"/>
              </a:rPr>
              <a:t>==</a:t>
            </a:r>
            <a:r>
              <a:rPr dirty="0"/>
              <a:t> compare deux </a:t>
            </a:r>
            <a:r>
              <a:rPr dirty="0" err="1"/>
              <a:t>objets</a:t>
            </a:r>
            <a:r>
              <a:rPr dirty="0"/>
              <a:t>, pas deux </a:t>
            </a:r>
            <a:r>
              <a:rPr dirty="0" err="1"/>
              <a:t>nombres</a:t>
            </a:r>
            <a:r>
              <a:rPr dirty="0"/>
              <a:t> : </a:t>
            </a:r>
            <a:r>
              <a:rPr dirty="0" err="1"/>
              <a:t>écrivez</a:t>
            </a:r>
            <a:r>
              <a:rPr dirty="0"/>
              <a:t> </a:t>
            </a:r>
            <a:r>
              <a:rPr dirty="0">
                <a:latin typeface="Consolas"/>
              </a:rPr>
              <a:t>equals</a:t>
            </a:r>
            <a:r>
              <a:rPr dirty="0"/>
              <a:t>, </a:t>
            </a:r>
            <a:r>
              <a:rPr dirty="0" err="1"/>
              <a:t>ou</a:t>
            </a:r>
            <a:r>
              <a:rPr dirty="0"/>
              <a:t> </a:t>
            </a:r>
            <a:r>
              <a:rPr dirty="0" err="1"/>
              <a:t>convertissez</a:t>
            </a:r>
            <a:r>
              <a:rPr dirty="0"/>
              <a:t> </a:t>
            </a:r>
            <a:r>
              <a:rPr dirty="0" err="1"/>
              <a:t>d'abord</a:t>
            </a:r>
            <a:r>
              <a:rPr dirty="0"/>
              <a:t> </a:t>
            </a:r>
            <a:r>
              <a:rPr dirty="0" err="1"/>
              <a:t>en</a:t>
            </a:r>
            <a:r>
              <a:rPr dirty="0"/>
              <a:t> </a:t>
            </a:r>
            <a:r>
              <a:rPr dirty="0">
                <a:latin typeface="Consolas"/>
              </a:rPr>
              <a:t>int</a:t>
            </a:r>
            <a:r>
              <a:rPr dirty="0"/>
              <a:t>. Et un </a:t>
            </a:r>
            <a:r>
              <a:rPr dirty="0">
                <a:latin typeface="Consolas"/>
              </a:rPr>
              <a:t>Integer</a:t>
            </a:r>
            <a:r>
              <a:rPr dirty="0"/>
              <a:t> </a:t>
            </a:r>
            <a:r>
              <a:rPr dirty="0" err="1"/>
              <a:t>peut</a:t>
            </a:r>
            <a:r>
              <a:rPr dirty="0"/>
              <a:t> </a:t>
            </a:r>
            <a:r>
              <a:rPr dirty="0" err="1"/>
              <a:t>valoir</a:t>
            </a:r>
            <a:r>
              <a:rPr dirty="0"/>
              <a:t> </a:t>
            </a:r>
            <a:r>
              <a:rPr dirty="0">
                <a:latin typeface="Consolas"/>
              </a:rPr>
              <a:t>null</a:t>
            </a:r>
            <a:r>
              <a:rPr dirty="0"/>
              <a:t>, </a:t>
            </a:r>
            <a:r>
              <a:rPr dirty="0" err="1"/>
              <a:t>ce</a:t>
            </a:r>
            <a:r>
              <a:rPr dirty="0"/>
              <a:t> </a:t>
            </a:r>
            <a:r>
              <a:rPr dirty="0" err="1"/>
              <a:t>qu'un</a:t>
            </a:r>
            <a:r>
              <a:rPr dirty="0"/>
              <a:t> </a:t>
            </a:r>
            <a:r>
              <a:rPr dirty="0">
                <a:latin typeface="Consolas"/>
              </a:rPr>
              <a:t>int</a:t>
            </a:r>
            <a:r>
              <a:rPr dirty="0"/>
              <a:t> ne </a:t>
            </a:r>
            <a:r>
              <a:rPr dirty="0" err="1"/>
              <a:t>peut</a:t>
            </a:r>
            <a:r>
              <a:rPr dirty="0"/>
              <a:t> pas : la conversion </a:t>
            </a:r>
            <a:r>
              <a:rPr dirty="0" err="1"/>
              <a:t>échoue</a:t>
            </a:r>
            <a:r>
              <a:rPr dirty="0"/>
              <a:t> </a:t>
            </a:r>
            <a:r>
              <a:rPr dirty="0" err="1"/>
              <a:t>alors</a:t>
            </a:r>
            <a:r>
              <a:rPr dirty="0"/>
              <a:t> à </a:t>
            </a:r>
            <a:r>
              <a:rPr dirty="0" err="1"/>
              <a:t>l'exécution</a:t>
            </a:r>
            <a:r>
              <a:rPr dirty="0"/>
              <a:t>. La slide 4.3 montre </a:t>
            </a:r>
            <a:r>
              <a:rPr dirty="0" err="1"/>
              <a:t>où</a:t>
            </a:r>
            <a:r>
              <a:rPr dirty="0"/>
              <a:t> </a:t>
            </a:r>
            <a:r>
              <a:rPr dirty="0" err="1"/>
              <a:t>ce</a:t>
            </a:r>
            <a:r>
              <a:rPr dirty="0"/>
              <a:t> </a:t>
            </a:r>
            <a:r>
              <a:rPr dirty="0" err="1"/>
              <a:t>cas</a:t>
            </a:r>
            <a:r>
              <a:rPr dirty="0"/>
              <a:t> se </a:t>
            </a:r>
            <a:r>
              <a:rPr dirty="0" err="1"/>
              <a:t>présente</a:t>
            </a:r>
            <a:r>
              <a:rPr dirty="0"/>
              <a:t>.</a:t>
            </a:r>
          </a:p>
          <a:p>
            <a:r>
              <a:rPr lang="fr-BE" dirty="0"/>
              <a:t>Le code complet, à exécuter : demos, classe demo.col.slides.LesOperationsDUneListe.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La carte de la famille, avant </a:t>
            </a:r>
            <a:r>
              <a:rPr dirty="0" err="1"/>
              <a:t>d'entrer</a:t>
            </a:r>
            <a:r>
              <a:rPr dirty="0"/>
              <a:t> dans le </a:t>
            </a:r>
            <a:r>
              <a:rPr dirty="0" err="1"/>
              <a:t>détail</a:t>
            </a:r>
            <a:r>
              <a:rPr dirty="0"/>
              <a:t>. En haut, deux interfaces </a:t>
            </a:r>
            <a:r>
              <a:rPr dirty="0" err="1"/>
              <a:t>racines</a:t>
            </a:r>
            <a:r>
              <a:rPr dirty="0"/>
              <a:t> : Collection, pour tout </a:t>
            </a:r>
            <a:r>
              <a:rPr dirty="0" err="1"/>
              <a:t>ce</a:t>
            </a:r>
            <a:r>
              <a:rPr dirty="0"/>
              <a:t> qui </a:t>
            </a:r>
            <a:r>
              <a:rPr dirty="0" err="1"/>
              <a:t>rassemble</a:t>
            </a:r>
            <a:r>
              <a:rPr dirty="0"/>
              <a:t> des </a:t>
            </a:r>
            <a:r>
              <a:rPr dirty="0" err="1"/>
              <a:t>éléments</a:t>
            </a:r>
            <a:r>
              <a:rPr dirty="0"/>
              <a:t>, et Map, pour </a:t>
            </a:r>
            <a:r>
              <a:rPr dirty="0" err="1"/>
              <a:t>ce</a:t>
            </a:r>
            <a:r>
              <a:rPr dirty="0"/>
              <a:t> qui range des couples </a:t>
            </a:r>
            <a:r>
              <a:rPr dirty="0" err="1"/>
              <a:t>clé-valeur</a:t>
            </a:r>
            <a:r>
              <a:rPr dirty="0"/>
              <a:t>. Map </a:t>
            </a:r>
            <a:r>
              <a:rPr dirty="0" err="1"/>
              <a:t>n'hérite</a:t>
            </a:r>
            <a:r>
              <a:rPr dirty="0"/>
              <a:t> pas de Collection : </a:t>
            </a:r>
            <a:r>
              <a:rPr dirty="0" err="1"/>
              <a:t>une</a:t>
            </a:r>
            <a:r>
              <a:rPr dirty="0"/>
              <a:t> table </a:t>
            </a:r>
            <a:r>
              <a:rPr dirty="0" err="1"/>
              <a:t>n'est</a:t>
            </a:r>
            <a:r>
              <a:rPr dirty="0"/>
              <a:t> pas </a:t>
            </a:r>
            <a:r>
              <a:rPr dirty="0" err="1"/>
              <a:t>une</a:t>
            </a:r>
            <a:r>
              <a:rPr dirty="0"/>
              <a:t> suite </a:t>
            </a:r>
            <a:r>
              <a:rPr dirty="0" err="1"/>
              <a:t>d'éléments</a:t>
            </a:r>
            <a:r>
              <a:rPr dirty="0"/>
              <a:t>, et </a:t>
            </a:r>
            <a:r>
              <a:rPr dirty="0" err="1"/>
              <a:t>n'a</a:t>
            </a:r>
            <a:r>
              <a:rPr dirty="0"/>
              <a:t> pas de </a:t>
            </a:r>
            <a:r>
              <a:rPr dirty="0" err="1"/>
              <a:t>méthode</a:t>
            </a:r>
            <a:r>
              <a:rPr dirty="0"/>
              <a:t> add.</a:t>
            </a:r>
          </a:p>
          <a:p>
            <a:r>
              <a:rPr dirty="0"/>
              <a:t>Sous Collection, trois interfaces </a:t>
            </a:r>
            <a:r>
              <a:rPr dirty="0" err="1"/>
              <a:t>ajoutent</a:t>
            </a:r>
            <a:r>
              <a:rPr dirty="0"/>
              <a:t> </a:t>
            </a:r>
            <a:r>
              <a:rPr dirty="0" err="1"/>
              <a:t>chacune</a:t>
            </a:r>
            <a:r>
              <a:rPr dirty="0"/>
              <a:t> </a:t>
            </a:r>
            <a:r>
              <a:rPr dirty="0" err="1"/>
              <a:t>leur</a:t>
            </a:r>
            <a:r>
              <a:rPr dirty="0"/>
              <a:t> </a:t>
            </a:r>
            <a:r>
              <a:rPr dirty="0" err="1"/>
              <a:t>promesse</a:t>
            </a:r>
            <a:r>
              <a:rPr dirty="0"/>
              <a:t> : List garde des positions et </a:t>
            </a:r>
            <a:r>
              <a:rPr dirty="0" err="1"/>
              <a:t>accepte</a:t>
            </a:r>
            <a:r>
              <a:rPr dirty="0"/>
              <a:t> les </a:t>
            </a:r>
            <a:r>
              <a:rPr dirty="0" err="1"/>
              <a:t>doublons</a:t>
            </a:r>
            <a:r>
              <a:rPr dirty="0"/>
              <a:t>, Set refuse les </a:t>
            </a:r>
            <a:r>
              <a:rPr dirty="0" err="1"/>
              <a:t>doublons</a:t>
            </a:r>
            <a:r>
              <a:rPr dirty="0"/>
              <a:t>, Deque ne </a:t>
            </a:r>
            <a:r>
              <a:rPr dirty="0" err="1"/>
              <a:t>s'ouvre</a:t>
            </a:r>
            <a:r>
              <a:rPr dirty="0"/>
              <a:t> </a:t>
            </a:r>
            <a:r>
              <a:rPr dirty="0" err="1"/>
              <a:t>que</a:t>
            </a:r>
            <a:r>
              <a:rPr dirty="0"/>
              <a:t> par </a:t>
            </a:r>
            <a:r>
              <a:rPr dirty="0" err="1"/>
              <a:t>ses</a:t>
            </a:r>
            <a:r>
              <a:rPr dirty="0"/>
              <a:t> deux bouts. Ce </a:t>
            </a:r>
            <a:r>
              <a:rPr dirty="0" err="1"/>
              <a:t>sont</a:t>
            </a:r>
            <a:r>
              <a:rPr dirty="0"/>
              <a:t> les sections 2, 3 et 8.</a:t>
            </a:r>
          </a:p>
          <a:p>
            <a:r>
              <a:rPr dirty="0"/>
              <a:t>En bas, les classes qui </a:t>
            </a:r>
            <a:r>
              <a:rPr dirty="0" err="1"/>
              <a:t>tiennent</a:t>
            </a:r>
            <a:r>
              <a:rPr dirty="0"/>
              <a:t> </a:t>
            </a:r>
            <a:r>
              <a:rPr dirty="0" err="1"/>
              <a:t>ces</a:t>
            </a:r>
            <a:r>
              <a:rPr dirty="0"/>
              <a:t> </a:t>
            </a:r>
            <a:r>
              <a:rPr dirty="0" err="1"/>
              <a:t>promesses</a:t>
            </a:r>
            <a:r>
              <a:rPr dirty="0"/>
              <a:t>. Les traits </a:t>
            </a:r>
            <a:r>
              <a:rPr dirty="0" err="1"/>
              <a:t>pointillés</a:t>
            </a:r>
            <a:r>
              <a:rPr dirty="0"/>
              <a:t> </a:t>
            </a:r>
            <a:r>
              <a:rPr dirty="0" err="1"/>
              <a:t>disent</a:t>
            </a:r>
            <a:r>
              <a:rPr dirty="0"/>
              <a:t> « </a:t>
            </a:r>
            <a:r>
              <a:rPr dirty="0" err="1"/>
              <a:t>implémente</a:t>
            </a:r>
            <a:r>
              <a:rPr dirty="0"/>
              <a:t> ». </a:t>
            </a:r>
            <a:r>
              <a:rPr dirty="0" err="1"/>
              <a:t>Plusieurs</a:t>
            </a:r>
            <a:r>
              <a:rPr dirty="0"/>
              <a:t> classes pour </a:t>
            </a:r>
            <a:r>
              <a:rPr dirty="0" err="1"/>
              <a:t>une</a:t>
            </a:r>
            <a:r>
              <a:rPr dirty="0"/>
              <a:t> </a:t>
            </a:r>
            <a:r>
              <a:rPr dirty="0" err="1"/>
              <a:t>même</a:t>
            </a:r>
            <a:r>
              <a:rPr dirty="0"/>
              <a:t> interface : </a:t>
            </a:r>
            <a:r>
              <a:rPr dirty="0" err="1"/>
              <a:t>elles</a:t>
            </a:r>
            <a:r>
              <a:rPr dirty="0"/>
              <a:t> </a:t>
            </a:r>
            <a:r>
              <a:rPr dirty="0" err="1"/>
              <a:t>tiennent</a:t>
            </a:r>
            <a:r>
              <a:rPr dirty="0"/>
              <a:t> la </a:t>
            </a:r>
            <a:r>
              <a:rPr dirty="0" err="1"/>
              <a:t>même</a:t>
            </a:r>
            <a:r>
              <a:rPr dirty="0"/>
              <a:t> </a:t>
            </a:r>
            <a:r>
              <a:rPr dirty="0" err="1"/>
              <a:t>promesse</a:t>
            </a:r>
            <a:r>
              <a:rPr dirty="0"/>
              <a:t>, avec des </a:t>
            </a:r>
            <a:r>
              <a:rPr dirty="0" err="1"/>
              <a:t>fonctionnements</a:t>
            </a:r>
            <a:r>
              <a:rPr dirty="0"/>
              <a:t> internes </a:t>
            </a:r>
            <a:r>
              <a:rPr dirty="0" err="1"/>
              <a:t>différents</a:t>
            </a:r>
            <a:r>
              <a:rPr dirty="0"/>
              <a:t>, </a:t>
            </a:r>
            <a:r>
              <a:rPr dirty="0" err="1"/>
              <a:t>donc</a:t>
            </a:r>
            <a:r>
              <a:rPr dirty="0"/>
              <a:t> des </a:t>
            </a:r>
            <a:r>
              <a:rPr dirty="0" err="1"/>
              <a:t>rapidités</a:t>
            </a:r>
            <a:r>
              <a:rPr dirty="0"/>
              <a:t> </a:t>
            </a:r>
            <a:r>
              <a:rPr dirty="0" err="1"/>
              <a:t>différentes</a:t>
            </a:r>
            <a:r>
              <a:rPr dirty="0"/>
              <a:t> </a:t>
            </a:r>
            <a:r>
              <a:rPr dirty="0" err="1"/>
              <a:t>selon</a:t>
            </a:r>
            <a:r>
              <a:rPr dirty="0"/>
              <a:t> </a:t>
            </a:r>
            <a:r>
              <a:rPr dirty="0" err="1"/>
              <a:t>l'usage</a:t>
            </a:r>
            <a:r>
              <a:rPr dirty="0"/>
              <a:t>.</a:t>
            </a:r>
          </a:p>
          <a:p>
            <a:r>
              <a:rPr dirty="0"/>
              <a:t>La slide </a:t>
            </a:r>
            <a:r>
              <a:rPr dirty="0" err="1"/>
              <a:t>suivante</a:t>
            </a:r>
            <a:r>
              <a:rPr dirty="0"/>
              <a:t> </a:t>
            </a:r>
            <a:r>
              <a:rPr dirty="0" err="1"/>
              <a:t>en</a:t>
            </a:r>
            <a:r>
              <a:rPr dirty="0"/>
              <a:t> tire la </a:t>
            </a:r>
            <a:r>
              <a:rPr dirty="0" err="1"/>
              <a:t>règle</a:t>
            </a:r>
            <a:r>
              <a:rPr dirty="0"/>
              <a:t> : on </a:t>
            </a:r>
            <a:r>
              <a:rPr dirty="0" err="1"/>
              <a:t>déclare</a:t>
            </a:r>
            <a:r>
              <a:rPr dirty="0"/>
              <a:t> la variable avec </a:t>
            </a:r>
            <a:r>
              <a:rPr dirty="0" err="1"/>
              <a:t>l'interface</a:t>
            </a:r>
            <a:r>
              <a:rPr dirty="0"/>
              <a:t>, </a:t>
            </a:r>
            <a:r>
              <a:rPr dirty="0" err="1"/>
              <a:t>en</a:t>
            </a:r>
            <a:r>
              <a:rPr dirty="0"/>
              <a:t> haut de la carte, et on </a:t>
            </a:r>
            <a:r>
              <a:rPr dirty="0" err="1"/>
              <a:t>choisit</a:t>
            </a:r>
            <a:r>
              <a:rPr dirty="0"/>
              <a:t> la </a:t>
            </a:r>
            <a:r>
              <a:rPr dirty="0" err="1"/>
              <a:t>classe</a:t>
            </a:r>
            <a:r>
              <a:rPr dirty="0"/>
              <a:t>, </a:t>
            </a:r>
            <a:r>
              <a:rPr dirty="0" err="1"/>
              <a:t>en</a:t>
            </a:r>
            <a:r>
              <a:rPr dirty="0"/>
              <a:t> bas, au moment du new.</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latin typeface="Consolas"/>
              </a:rPr>
              <a:t>List</a:t>
            </a:r>
            <a:r>
              <a:rPr dirty="0"/>
              <a:t>, </a:t>
            </a:r>
            <a:r>
              <a:rPr dirty="0">
                <a:latin typeface="Consolas"/>
              </a:rPr>
              <a:t>Set</a:t>
            </a:r>
            <a:r>
              <a:rPr dirty="0"/>
              <a:t> et </a:t>
            </a:r>
            <a:r>
              <a:rPr dirty="0">
                <a:latin typeface="Consolas"/>
              </a:rPr>
              <a:t>Map</a:t>
            </a:r>
            <a:r>
              <a:rPr dirty="0"/>
              <a:t> </a:t>
            </a:r>
            <a:r>
              <a:rPr dirty="0" err="1"/>
              <a:t>sont</a:t>
            </a:r>
            <a:r>
              <a:rPr dirty="0"/>
              <a:t> des interfaces. </a:t>
            </a:r>
            <a:r>
              <a:rPr dirty="0" err="1">
                <a:latin typeface="Consolas"/>
              </a:rPr>
              <a:t>ArrayList</a:t>
            </a:r>
            <a:r>
              <a:rPr dirty="0"/>
              <a:t>, </a:t>
            </a:r>
            <a:r>
              <a:rPr dirty="0">
                <a:latin typeface="Consolas"/>
              </a:rPr>
              <a:t>HashSet</a:t>
            </a:r>
            <a:r>
              <a:rPr dirty="0"/>
              <a:t> et </a:t>
            </a:r>
            <a:r>
              <a:rPr dirty="0">
                <a:latin typeface="Consolas"/>
              </a:rPr>
              <a:t>HashMap</a:t>
            </a:r>
            <a:r>
              <a:rPr dirty="0"/>
              <a:t> </a:t>
            </a:r>
            <a:r>
              <a:rPr dirty="0" err="1"/>
              <a:t>sont</a:t>
            </a:r>
            <a:r>
              <a:rPr dirty="0"/>
              <a:t> des classes qui les </a:t>
            </a:r>
            <a:r>
              <a:rPr dirty="0" err="1"/>
              <a:t>implémentent</a:t>
            </a:r>
            <a:r>
              <a:rPr dirty="0"/>
              <a:t>. On </a:t>
            </a:r>
            <a:r>
              <a:rPr dirty="0" err="1"/>
              <a:t>déclare</a:t>
            </a:r>
            <a:r>
              <a:rPr dirty="0"/>
              <a:t> la variable avec </a:t>
            </a:r>
            <a:r>
              <a:rPr dirty="0" err="1"/>
              <a:t>l'interface</a:t>
            </a:r>
            <a:r>
              <a:rPr dirty="0"/>
              <a:t>, et on </a:t>
            </a:r>
            <a:r>
              <a:rPr dirty="0" err="1"/>
              <a:t>choisit</a:t>
            </a:r>
            <a:r>
              <a:rPr dirty="0"/>
              <a:t> la </a:t>
            </a:r>
            <a:r>
              <a:rPr dirty="0" err="1"/>
              <a:t>classe</a:t>
            </a:r>
            <a:r>
              <a:rPr dirty="0"/>
              <a:t> au moment du </a:t>
            </a:r>
            <a:r>
              <a:rPr dirty="0">
                <a:latin typeface="Consolas"/>
              </a:rPr>
              <a:t>new</a:t>
            </a:r>
            <a:r>
              <a:rPr dirty="0"/>
              <a:t>.</a:t>
            </a:r>
          </a:p>
          <a:p>
            <a:r>
              <a:rPr dirty="0" err="1"/>
              <a:t>C'est</a:t>
            </a:r>
            <a:r>
              <a:rPr dirty="0"/>
              <a:t> le </a:t>
            </a:r>
            <a:r>
              <a:rPr dirty="0" err="1"/>
              <a:t>principe</a:t>
            </a:r>
            <a:r>
              <a:rPr dirty="0"/>
              <a:t> du module ITF, à la slide 4.4 : le type le plus </a:t>
            </a:r>
            <a:r>
              <a:rPr dirty="0" err="1"/>
              <a:t>faible</a:t>
            </a:r>
            <a:r>
              <a:rPr dirty="0"/>
              <a:t> qui </a:t>
            </a:r>
            <a:r>
              <a:rPr dirty="0" err="1"/>
              <a:t>suffit</a:t>
            </a:r>
            <a:r>
              <a:rPr dirty="0"/>
              <a:t>. Le </a:t>
            </a:r>
            <a:r>
              <a:rPr dirty="0" err="1"/>
              <a:t>reste</a:t>
            </a:r>
            <a:r>
              <a:rPr dirty="0"/>
              <a:t> du </a:t>
            </a:r>
            <a:r>
              <a:rPr dirty="0" err="1"/>
              <a:t>programme</a:t>
            </a:r>
            <a:r>
              <a:rPr dirty="0"/>
              <a:t> ne </a:t>
            </a:r>
            <a:r>
              <a:rPr dirty="0" err="1"/>
              <a:t>connaît</a:t>
            </a:r>
            <a:r>
              <a:rPr dirty="0"/>
              <a:t> </a:t>
            </a:r>
            <a:r>
              <a:rPr dirty="0" err="1"/>
              <a:t>que</a:t>
            </a:r>
            <a:r>
              <a:rPr dirty="0"/>
              <a:t> la </a:t>
            </a:r>
            <a:r>
              <a:rPr dirty="0" err="1"/>
              <a:t>promesse</a:t>
            </a:r>
            <a:r>
              <a:rPr dirty="0"/>
              <a:t>, et </a:t>
            </a:r>
            <a:r>
              <a:rPr dirty="0" err="1"/>
              <a:t>l'implémentation</a:t>
            </a:r>
            <a:r>
              <a:rPr dirty="0"/>
              <a:t> </a:t>
            </a:r>
            <a:r>
              <a:rPr dirty="0" err="1"/>
              <a:t>peut</a:t>
            </a:r>
            <a:r>
              <a:rPr dirty="0"/>
              <a:t> changer sans </a:t>
            </a:r>
            <a:r>
              <a:rPr dirty="0" err="1"/>
              <a:t>qu'il</a:t>
            </a:r>
            <a:r>
              <a:rPr dirty="0"/>
              <a:t> le </a:t>
            </a:r>
            <a:r>
              <a:rPr dirty="0" err="1"/>
              <a:t>sache</a:t>
            </a:r>
            <a:r>
              <a:rPr dirty="0"/>
              <a:t>. La </a:t>
            </a:r>
            <a:r>
              <a:rPr dirty="0" err="1"/>
              <a:t>démonstration</a:t>
            </a:r>
            <a:r>
              <a:rPr dirty="0"/>
              <a:t> </a:t>
            </a:r>
            <a:r>
              <a:rPr dirty="0" err="1"/>
              <a:t>l'a</a:t>
            </a:r>
            <a:r>
              <a:rPr dirty="0"/>
              <a:t> fait deux </a:t>
            </a:r>
            <a:r>
              <a:rPr dirty="0" err="1"/>
              <a:t>fois</a:t>
            </a:r>
            <a:r>
              <a:rPr dirty="0"/>
              <a:t>.</a:t>
            </a:r>
          </a:p>
          <a:p>
            <a:r>
              <a:rPr dirty="0" err="1"/>
              <a:t>Toutes</a:t>
            </a:r>
            <a:r>
              <a:rPr dirty="0"/>
              <a:t> </a:t>
            </a:r>
            <a:r>
              <a:rPr dirty="0" err="1"/>
              <a:t>ces</a:t>
            </a:r>
            <a:r>
              <a:rPr dirty="0"/>
              <a:t> interfaces et </a:t>
            </a:r>
            <a:r>
              <a:rPr dirty="0" err="1"/>
              <a:t>ces</a:t>
            </a:r>
            <a:r>
              <a:rPr dirty="0"/>
              <a:t> classes </a:t>
            </a:r>
            <a:r>
              <a:rPr dirty="0" err="1"/>
              <a:t>vivent</a:t>
            </a:r>
            <a:r>
              <a:rPr dirty="0"/>
              <a:t> dans le package </a:t>
            </a:r>
            <a:r>
              <a:rPr dirty="0" err="1">
                <a:latin typeface="Consolas"/>
              </a:rPr>
              <a:t>java.util</a:t>
            </a:r>
            <a:r>
              <a:rPr dirty="0"/>
              <a:t>, </a:t>
            </a:r>
            <a:r>
              <a:rPr dirty="0" err="1"/>
              <a:t>qu'il</a:t>
            </a:r>
            <a:r>
              <a:rPr dirty="0"/>
              <a:t> faut importer.</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Une </a:t>
            </a:r>
            <a:r>
              <a:rPr dirty="0" err="1"/>
              <a:t>liste</a:t>
            </a:r>
            <a:r>
              <a:rPr dirty="0"/>
              <a:t>, List </a:t>
            </a:r>
            <a:r>
              <a:rPr dirty="0" err="1"/>
              <a:t>en</a:t>
            </a:r>
            <a:r>
              <a:rPr dirty="0"/>
              <a:t> Java, est </a:t>
            </a:r>
            <a:r>
              <a:rPr dirty="0" err="1"/>
              <a:t>une</a:t>
            </a:r>
            <a:r>
              <a:rPr dirty="0"/>
              <a:t> collection </a:t>
            </a:r>
            <a:r>
              <a:rPr dirty="0" err="1"/>
              <a:t>ordonnée</a:t>
            </a:r>
            <a:r>
              <a:rPr dirty="0"/>
              <a:t> : </a:t>
            </a:r>
            <a:r>
              <a:rPr dirty="0" err="1"/>
              <a:t>chaque</a:t>
            </a:r>
            <a:r>
              <a:rPr dirty="0"/>
              <a:t> </a:t>
            </a:r>
            <a:r>
              <a:rPr dirty="0" err="1"/>
              <a:t>élément</a:t>
            </a:r>
            <a:r>
              <a:rPr dirty="0"/>
              <a:t> y </a:t>
            </a:r>
            <a:r>
              <a:rPr dirty="0" err="1"/>
              <a:t>occupe</a:t>
            </a:r>
            <a:r>
              <a:rPr dirty="0"/>
              <a:t> </a:t>
            </a:r>
            <a:r>
              <a:rPr dirty="0" err="1"/>
              <a:t>une</a:t>
            </a:r>
            <a:r>
              <a:rPr dirty="0"/>
              <a:t> position, et </a:t>
            </a:r>
            <a:r>
              <a:rPr dirty="0" err="1"/>
              <a:t>l'ordre</a:t>
            </a:r>
            <a:r>
              <a:rPr dirty="0"/>
              <a:t> dans </a:t>
            </a:r>
            <a:r>
              <a:rPr dirty="0" err="1"/>
              <a:t>lequel</a:t>
            </a:r>
            <a:r>
              <a:rPr dirty="0"/>
              <a:t> on les a </a:t>
            </a:r>
            <a:r>
              <a:rPr dirty="0" err="1"/>
              <a:t>rangés</a:t>
            </a:r>
            <a:r>
              <a:rPr dirty="0"/>
              <a:t> est </a:t>
            </a:r>
            <a:r>
              <a:rPr dirty="0" err="1"/>
              <a:t>conservé</a:t>
            </a:r>
            <a:r>
              <a:rPr dirty="0"/>
              <a:t>. Comme un tableau, les positions </a:t>
            </a:r>
            <a:r>
              <a:rPr dirty="0" err="1"/>
              <a:t>commencent</a:t>
            </a:r>
            <a:r>
              <a:rPr dirty="0"/>
              <a:t> à 0.</a:t>
            </a:r>
          </a:p>
          <a:p>
            <a:r>
              <a:rPr dirty="0"/>
              <a:t>Elle </a:t>
            </a:r>
            <a:r>
              <a:rPr dirty="0" err="1"/>
              <a:t>accepte</a:t>
            </a:r>
            <a:r>
              <a:rPr dirty="0"/>
              <a:t> les </a:t>
            </a:r>
            <a:r>
              <a:rPr dirty="0" err="1"/>
              <a:t>doublons</a:t>
            </a:r>
            <a:r>
              <a:rPr dirty="0"/>
              <a:t> : sur </a:t>
            </a:r>
            <a:r>
              <a:rPr dirty="0" err="1"/>
              <a:t>l'illustration</a:t>
            </a:r>
            <a:r>
              <a:rPr dirty="0"/>
              <a:t>, la </a:t>
            </a:r>
            <a:r>
              <a:rPr dirty="0" err="1"/>
              <a:t>même</a:t>
            </a:r>
            <a:r>
              <a:rPr dirty="0"/>
              <a:t> </a:t>
            </a:r>
            <a:r>
              <a:rPr dirty="0" err="1"/>
              <a:t>valeur</a:t>
            </a:r>
            <a:r>
              <a:rPr dirty="0"/>
              <a:t>, </a:t>
            </a:r>
            <a:r>
              <a:rPr dirty="0" err="1"/>
              <a:t>en</a:t>
            </a:r>
            <a:r>
              <a:rPr dirty="0"/>
              <a:t> jaune, figure aux positions 0 et 3.</a:t>
            </a:r>
          </a:p>
          <a:p>
            <a:r>
              <a:rPr dirty="0" err="1"/>
              <a:t>C'est</a:t>
            </a:r>
            <a:r>
              <a:rPr dirty="0"/>
              <a:t> la collection la plus </a:t>
            </a:r>
            <a:r>
              <a:rPr dirty="0" err="1"/>
              <a:t>proche</a:t>
            </a:r>
            <a:r>
              <a:rPr dirty="0"/>
              <a:t> du tableau, sans </a:t>
            </a:r>
            <a:r>
              <a:rPr dirty="0" err="1"/>
              <a:t>sa</a:t>
            </a:r>
            <a:r>
              <a:rPr dirty="0"/>
              <a:t> taille fixe. On la </a:t>
            </a:r>
            <a:r>
              <a:rPr dirty="0" err="1"/>
              <a:t>choisit</a:t>
            </a:r>
            <a:r>
              <a:rPr dirty="0"/>
              <a:t> </a:t>
            </a:r>
            <a:r>
              <a:rPr dirty="0" err="1"/>
              <a:t>quand</a:t>
            </a:r>
            <a:r>
              <a:rPr dirty="0"/>
              <a:t> </a:t>
            </a:r>
            <a:r>
              <a:rPr dirty="0" err="1"/>
              <a:t>l'ordre</a:t>
            </a:r>
            <a:r>
              <a:rPr dirty="0"/>
              <a:t> compte, </a:t>
            </a:r>
            <a:r>
              <a:rPr dirty="0" err="1"/>
              <a:t>ou</a:t>
            </a:r>
            <a:r>
              <a:rPr dirty="0"/>
              <a:t> </a:t>
            </a:r>
            <a:r>
              <a:rPr dirty="0" err="1"/>
              <a:t>quand</a:t>
            </a:r>
            <a:r>
              <a:rPr dirty="0"/>
              <a:t> on </a:t>
            </a:r>
            <a:r>
              <a:rPr dirty="0" err="1"/>
              <a:t>retrouve</a:t>
            </a:r>
            <a:r>
              <a:rPr dirty="0"/>
              <a:t> un </a:t>
            </a:r>
            <a:r>
              <a:rPr dirty="0" err="1"/>
              <a:t>élément</a:t>
            </a:r>
            <a:r>
              <a:rPr dirty="0"/>
              <a:t> par </a:t>
            </a:r>
            <a:r>
              <a:rPr dirty="0" err="1"/>
              <a:t>sa</a:t>
            </a:r>
            <a:r>
              <a:rPr dirty="0"/>
              <a:t> position : </a:t>
            </a:r>
            <a:r>
              <a:rPr dirty="0" err="1"/>
              <a:t>une</a:t>
            </a:r>
            <a:r>
              <a:rPr dirty="0"/>
              <a:t> </a:t>
            </a:r>
            <a:r>
              <a:rPr dirty="0" err="1"/>
              <a:t>liste</a:t>
            </a:r>
            <a:r>
              <a:rPr dirty="0"/>
              <a:t> de lecture, les coups </a:t>
            </a:r>
            <a:r>
              <a:rPr dirty="0" err="1"/>
              <a:t>d'une</a:t>
            </a:r>
            <a:r>
              <a:rPr dirty="0"/>
              <a:t> </a:t>
            </a:r>
            <a:r>
              <a:rPr dirty="0" err="1"/>
              <a:t>partie</a:t>
            </a:r>
            <a:r>
              <a:rPr dirty="0"/>
              <a:t>, les </a:t>
            </a:r>
            <a:r>
              <a:rPr dirty="0" err="1"/>
              <a:t>lignes</a:t>
            </a:r>
            <a:r>
              <a:rPr dirty="0"/>
              <a:t> d'un </a:t>
            </a:r>
            <a:r>
              <a:rPr dirty="0" err="1"/>
              <a:t>fichier</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Une </a:t>
            </a:r>
            <a:r>
              <a:rPr dirty="0" err="1"/>
              <a:t>liste</a:t>
            </a:r>
            <a:r>
              <a:rPr dirty="0"/>
              <a:t> est le </a:t>
            </a:r>
            <a:r>
              <a:rPr dirty="0" err="1"/>
              <a:t>remplaçant</a:t>
            </a:r>
            <a:r>
              <a:rPr dirty="0"/>
              <a:t> direct du tableau : des positions </a:t>
            </a:r>
            <a:r>
              <a:rPr dirty="0" err="1"/>
              <a:t>numérotées</a:t>
            </a:r>
            <a:r>
              <a:rPr dirty="0"/>
              <a:t> à </a:t>
            </a:r>
            <a:r>
              <a:rPr dirty="0" err="1"/>
              <a:t>partir</a:t>
            </a:r>
            <a:r>
              <a:rPr dirty="0"/>
              <a:t> de 0, </a:t>
            </a:r>
            <a:r>
              <a:rPr dirty="0" err="1"/>
              <a:t>comme</a:t>
            </a:r>
            <a:r>
              <a:rPr dirty="0"/>
              <a:t> </a:t>
            </a:r>
            <a:r>
              <a:rPr dirty="0">
                <a:latin typeface="Consolas"/>
              </a:rPr>
              <a:t>t[0]</a:t>
            </a:r>
            <a:r>
              <a:rPr dirty="0"/>
              <a:t>, </a:t>
            </a:r>
            <a:r>
              <a:rPr dirty="0" err="1"/>
              <a:t>mais</a:t>
            </a:r>
            <a:r>
              <a:rPr dirty="0"/>
              <a:t> sans taille fixe. La </a:t>
            </a:r>
            <a:r>
              <a:rPr dirty="0" err="1"/>
              <a:t>méthode</a:t>
            </a:r>
            <a:r>
              <a:rPr dirty="0"/>
              <a:t> </a:t>
            </a:r>
            <a:r>
              <a:rPr dirty="0">
                <a:latin typeface="Consolas"/>
              </a:rPr>
              <a:t>add</a:t>
            </a:r>
            <a:r>
              <a:rPr dirty="0"/>
              <a:t> </a:t>
            </a:r>
            <a:r>
              <a:rPr dirty="0" err="1"/>
              <a:t>ajoute</a:t>
            </a:r>
            <a:r>
              <a:rPr dirty="0"/>
              <a:t> à la fin, </a:t>
            </a:r>
            <a:r>
              <a:rPr dirty="0" err="1"/>
              <a:t>ou</a:t>
            </a:r>
            <a:r>
              <a:rPr dirty="0"/>
              <a:t> à la position </a:t>
            </a:r>
            <a:r>
              <a:rPr dirty="0" err="1"/>
              <a:t>demandée</a:t>
            </a:r>
            <a:r>
              <a:rPr dirty="0"/>
              <a:t> </a:t>
            </a:r>
            <a:r>
              <a:rPr dirty="0" err="1"/>
              <a:t>si</a:t>
            </a:r>
            <a:r>
              <a:rPr dirty="0"/>
              <a:t> on la </a:t>
            </a:r>
            <a:r>
              <a:rPr dirty="0" err="1"/>
              <a:t>donne</a:t>
            </a:r>
            <a:r>
              <a:rPr dirty="0"/>
              <a:t>.</a:t>
            </a:r>
          </a:p>
          <a:p>
            <a:r>
              <a:rPr dirty="0"/>
              <a:t>La </a:t>
            </a:r>
            <a:r>
              <a:rPr dirty="0" err="1"/>
              <a:t>méthode</a:t>
            </a:r>
            <a:r>
              <a:rPr dirty="0"/>
              <a:t> </a:t>
            </a:r>
            <a:r>
              <a:rPr dirty="0">
                <a:latin typeface="Consolas"/>
              </a:rPr>
              <a:t>get</a:t>
            </a:r>
            <a:r>
              <a:rPr dirty="0"/>
              <a:t> </a:t>
            </a:r>
            <a:r>
              <a:rPr dirty="0" err="1"/>
              <a:t>lève</a:t>
            </a:r>
            <a:r>
              <a:rPr dirty="0"/>
              <a:t> </a:t>
            </a:r>
            <a:r>
              <a:rPr dirty="0" err="1"/>
              <a:t>une</a:t>
            </a:r>
            <a:r>
              <a:rPr dirty="0"/>
              <a:t> </a:t>
            </a:r>
            <a:r>
              <a:rPr dirty="0" err="1">
                <a:latin typeface="Consolas"/>
              </a:rPr>
              <a:t>IndexOutOfBoundsException</a:t>
            </a:r>
            <a:r>
              <a:rPr dirty="0"/>
              <a:t> pour </a:t>
            </a:r>
            <a:r>
              <a:rPr dirty="0" err="1"/>
              <a:t>une</a:t>
            </a:r>
            <a:r>
              <a:rPr dirty="0"/>
              <a:t> position qui </a:t>
            </a:r>
            <a:r>
              <a:rPr dirty="0" err="1"/>
              <a:t>n'existe</a:t>
            </a:r>
            <a:r>
              <a:rPr dirty="0"/>
              <a:t> pas, </a:t>
            </a:r>
            <a:r>
              <a:rPr dirty="0" err="1"/>
              <a:t>comme</a:t>
            </a:r>
            <a:r>
              <a:rPr dirty="0"/>
              <a:t> un tableau. La </a:t>
            </a:r>
            <a:r>
              <a:rPr dirty="0" err="1"/>
              <a:t>méthode</a:t>
            </a:r>
            <a:r>
              <a:rPr dirty="0"/>
              <a:t> </a:t>
            </a:r>
            <a:r>
              <a:rPr dirty="0">
                <a:latin typeface="Consolas"/>
              </a:rPr>
              <a:t>set(</a:t>
            </a:r>
            <a:r>
              <a:rPr dirty="0" err="1">
                <a:latin typeface="Consolas"/>
              </a:rPr>
              <a:t>i</a:t>
            </a:r>
            <a:r>
              <a:rPr dirty="0">
                <a:latin typeface="Consolas"/>
              </a:rPr>
              <a:t>, </a:t>
            </a:r>
            <a:r>
              <a:rPr dirty="0" err="1">
                <a:latin typeface="Consolas"/>
              </a:rPr>
              <a:t>valeur</a:t>
            </a:r>
            <a:r>
              <a:rPr dirty="0">
                <a:latin typeface="Consolas"/>
              </a:rPr>
              <a:t>)</a:t>
            </a:r>
            <a:r>
              <a:rPr dirty="0"/>
              <a:t> </a:t>
            </a:r>
            <a:r>
              <a:rPr dirty="0" err="1"/>
              <a:t>remplace</a:t>
            </a:r>
            <a:r>
              <a:rPr dirty="0"/>
              <a:t> </a:t>
            </a:r>
            <a:r>
              <a:rPr dirty="0" err="1"/>
              <a:t>l'élément</a:t>
            </a:r>
            <a:r>
              <a:rPr dirty="0"/>
              <a:t> </a:t>
            </a:r>
            <a:r>
              <a:rPr dirty="0" err="1"/>
              <a:t>d'une</a:t>
            </a:r>
            <a:r>
              <a:rPr dirty="0"/>
              <a:t> position, et </a:t>
            </a:r>
            <a:r>
              <a:rPr dirty="0" err="1">
                <a:latin typeface="Consolas"/>
              </a:rPr>
              <a:t>indexOf</a:t>
            </a:r>
            <a:r>
              <a:rPr dirty="0"/>
              <a:t> </a:t>
            </a:r>
            <a:r>
              <a:rPr dirty="0" err="1"/>
              <a:t>retourne</a:t>
            </a:r>
            <a:r>
              <a:rPr dirty="0"/>
              <a:t> la position d'un </a:t>
            </a:r>
            <a:r>
              <a:rPr dirty="0" err="1"/>
              <a:t>élément</a:t>
            </a:r>
            <a:r>
              <a:rPr dirty="0"/>
              <a:t>, </a:t>
            </a:r>
            <a:r>
              <a:rPr dirty="0" err="1"/>
              <a:t>ou</a:t>
            </a:r>
            <a:r>
              <a:rPr dirty="0"/>
              <a:t> -1 s'il est absent.</a:t>
            </a:r>
          </a:p>
          <a:p>
            <a:r>
              <a:rPr dirty="0"/>
              <a:t>Un </a:t>
            </a:r>
            <a:r>
              <a:rPr dirty="0" err="1"/>
              <a:t>piège</a:t>
            </a:r>
            <a:r>
              <a:rPr dirty="0"/>
              <a:t>, </a:t>
            </a:r>
            <a:r>
              <a:rPr dirty="0" err="1"/>
              <a:t>réservé</a:t>
            </a:r>
            <a:r>
              <a:rPr dirty="0"/>
              <a:t> aux </a:t>
            </a:r>
            <a:r>
              <a:rPr dirty="0" err="1"/>
              <a:t>listes</a:t>
            </a:r>
            <a:r>
              <a:rPr dirty="0"/>
              <a:t> </a:t>
            </a:r>
            <a:r>
              <a:rPr dirty="0" err="1"/>
              <a:t>d'</a:t>
            </a:r>
            <a:r>
              <a:rPr dirty="0" err="1">
                <a:latin typeface="Consolas"/>
              </a:rPr>
              <a:t>Integer</a:t>
            </a:r>
            <a:r>
              <a:rPr dirty="0"/>
              <a:t>. La </a:t>
            </a:r>
            <a:r>
              <a:rPr dirty="0" err="1"/>
              <a:t>méthode</a:t>
            </a:r>
            <a:r>
              <a:rPr dirty="0"/>
              <a:t> </a:t>
            </a:r>
            <a:r>
              <a:rPr dirty="0">
                <a:latin typeface="Consolas"/>
              </a:rPr>
              <a:t>remove</a:t>
            </a:r>
            <a:r>
              <a:rPr dirty="0"/>
              <a:t> </a:t>
            </a:r>
            <a:r>
              <a:rPr dirty="0" err="1"/>
              <a:t>existe</a:t>
            </a:r>
            <a:r>
              <a:rPr dirty="0"/>
              <a:t> </a:t>
            </a:r>
            <a:r>
              <a:rPr dirty="0" err="1"/>
              <a:t>en</a:t>
            </a:r>
            <a:r>
              <a:rPr dirty="0"/>
              <a:t> deux versions : </a:t>
            </a:r>
            <a:r>
              <a:rPr dirty="0">
                <a:latin typeface="Consolas"/>
              </a:rPr>
              <a:t>remove(int)</a:t>
            </a:r>
            <a:r>
              <a:rPr dirty="0"/>
              <a:t> retire la position, </a:t>
            </a:r>
            <a:r>
              <a:rPr dirty="0">
                <a:latin typeface="Consolas"/>
              </a:rPr>
              <a:t>remove(Object)</a:t>
            </a:r>
            <a:r>
              <a:rPr dirty="0"/>
              <a:t> retire </a:t>
            </a:r>
            <a:r>
              <a:rPr dirty="0" err="1"/>
              <a:t>l'élément</a:t>
            </a:r>
            <a:r>
              <a:rPr dirty="0"/>
              <a:t>. Sur </a:t>
            </a:r>
            <a:r>
              <a:rPr dirty="0" err="1"/>
              <a:t>une</a:t>
            </a:r>
            <a:r>
              <a:rPr dirty="0"/>
              <a:t> </a:t>
            </a:r>
            <a:r>
              <a:rPr dirty="0">
                <a:latin typeface="Consolas"/>
              </a:rPr>
              <a:t>List&lt;Integer&gt;</a:t>
            </a:r>
            <a:r>
              <a:rPr dirty="0"/>
              <a:t>, </a:t>
            </a:r>
            <a:r>
              <a:rPr dirty="0">
                <a:latin typeface="Consolas"/>
              </a:rPr>
              <a:t>remove(2)</a:t>
            </a:r>
            <a:r>
              <a:rPr dirty="0"/>
              <a:t> retire </a:t>
            </a:r>
            <a:r>
              <a:rPr dirty="0" err="1"/>
              <a:t>donc</a:t>
            </a:r>
            <a:r>
              <a:rPr dirty="0"/>
              <a:t> </a:t>
            </a:r>
            <a:r>
              <a:rPr dirty="0" err="1"/>
              <a:t>l'élément</a:t>
            </a:r>
            <a:r>
              <a:rPr dirty="0"/>
              <a:t> </a:t>
            </a:r>
            <a:r>
              <a:rPr dirty="0" err="1"/>
              <a:t>en</a:t>
            </a:r>
            <a:r>
              <a:rPr dirty="0"/>
              <a:t> position 2, pas le </a:t>
            </a:r>
            <a:r>
              <a:rPr dirty="0" err="1"/>
              <a:t>nombre</a:t>
            </a:r>
            <a:r>
              <a:rPr dirty="0"/>
              <a:t> 2.</a:t>
            </a:r>
          </a:p>
          <a:p>
            <a:r>
              <a:rPr lang="fr-BE" dirty="0"/>
              <a:t>Le code complet, à exécuter : demos, classe demo.col.slides.LesOperationsDUneListe.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La boucle </a:t>
            </a:r>
            <a:r>
              <a:rPr dirty="0">
                <a:latin typeface="Consolas"/>
              </a:rPr>
              <a:t>for</a:t>
            </a:r>
            <a:r>
              <a:rPr dirty="0"/>
              <a:t> </a:t>
            </a:r>
            <a:r>
              <a:rPr dirty="0" err="1"/>
              <a:t>améliorée</a:t>
            </a:r>
            <a:r>
              <a:rPr dirty="0"/>
              <a:t>, </a:t>
            </a:r>
            <a:r>
              <a:rPr dirty="0" err="1"/>
              <a:t>vue</a:t>
            </a:r>
            <a:r>
              <a:rPr dirty="0"/>
              <a:t> au module TAB pour les tableaux, </a:t>
            </a:r>
            <a:r>
              <a:rPr dirty="0" err="1"/>
              <a:t>accepte</a:t>
            </a:r>
            <a:r>
              <a:rPr dirty="0"/>
              <a:t> </a:t>
            </a:r>
            <a:r>
              <a:rPr dirty="0" err="1"/>
              <a:t>n'importe</a:t>
            </a:r>
            <a:r>
              <a:rPr dirty="0"/>
              <a:t> quelle collection : </a:t>
            </a:r>
            <a:r>
              <a:rPr dirty="0" err="1"/>
              <a:t>une</a:t>
            </a:r>
            <a:r>
              <a:rPr dirty="0"/>
              <a:t> </a:t>
            </a:r>
            <a:r>
              <a:rPr dirty="0" err="1"/>
              <a:t>liste</a:t>
            </a:r>
            <a:r>
              <a:rPr dirty="0"/>
              <a:t>, un ensemble, et les </a:t>
            </a:r>
            <a:r>
              <a:rPr dirty="0" err="1"/>
              <a:t>vues</a:t>
            </a:r>
            <a:r>
              <a:rPr dirty="0"/>
              <a:t> </a:t>
            </a:r>
            <a:r>
              <a:rPr dirty="0" err="1"/>
              <a:t>d'une</a:t>
            </a:r>
            <a:r>
              <a:rPr dirty="0"/>
              <a:t> table </a:t>
            </a:r>
            <a:r>
              <a:rPr dirty="0" err="1"/>
              <a:t>présentées</a:t>
            </a:r>
            <a:r>
              <a:rPr dirty="0"/>
              <a:t> à la section 4. Elle </a:t>
            </a:r>
            <a:r>
              <a:rPr dirty="0" err="1"/>
              <a:t>parcourt</a:t>
            </a:r>
            <a:r>
              <a:rPr dirty="0"/>
              <a:t> les </a:t>
            </a:r>
            <a:r>
              <a:rPr dirty="0" err="1"/>
              <a:t>éléments</a:t>
            </a:r>
            <a:r>
              <a:rPr dirty="0"/>
              <a:t> dans </a:t>
            </a:r>
            <a:r>
              <a:rPr dirty="0" err="1"/>
              <a:t>l'ordre</a:t>
            </a:r>
            <a:r>
              <a:rPr dirty="0"/>
              <a:t> </a:t>
            </a:r>
            <a:r>
              <a:rPr dirty="0" err="1"/>
              <a:t>que</a:t>
            </a:r>
            <a:r>
              <a:rPr dirty="0"/>
              <a:t> la collection </a:t>
            </a:r>
            <a:r>
              <a:rPr dirty="0" err="1"/>
              <a:t>garantit</a:t>
            </a:r>
            <a:r>
              <a:rPr dirty="0"/>
              <a:t>, s'il y </a:t>
            </a:r>
            <a:r>
              <a:rPr dirty="0" err="1"/>
              <a:t>en</a:t>
            </a:r>
            <a:r>
              <a:rPr dirty="0"/>
              <a:t> a un.</a:t>
            </a:r>
          </a:p>
          <a:p>
            <a:r>
              <a:rPr dirty="0" err="1"/>
              <a:t>Contrairement</a:t>
            </a:r>
            <a:r>
              <a:rPr dirty="0"/>
              <a:t> à un tableau, </a:t>
            </a:r>
            <a:r>
              <a:rPr dirty="0" err="1"/>
              <a:t>dont</a:t>
            </a:r>
            <a:r>
              <a:rPr dirty="0"/>
              <a:t> </a:t>
            </a:r>
            <a:r>
              <a:rPr dirty="0" err="1"/>
              <a:t>l'affichage</a:t>
            </a:r>
            <a:r>
              <a:rPr dirty="0"/>
              <a:t> </a:t>
            </a:r>
            <a:r>
              <a:rPr dirty="0" err="1"/>
              <a:t>produisait</a:t>
            </a:r>
            <a:r>
              <a:rPr dirty="0"/>
              <a:t> un code </a:t>
            </a:r>
            <a:r>
              <a:rPr dirty="0" err="1"/>
              <a:t>illisible</a:t>
            </a:r>
            <a:r>
              <a:rPr dirty="0"/>
              <a:t> au module TAB, </a:t>
            </a:r>
            <a:r>
              <a:rPr dirty="0" err="1"/>
              <a:t>une</a:t>
            </a:r>
            <a:r>
              <a:rPr dirty="0"/>
              <a:t> collection </a:t>
            </a:r>
            <a:r>
              <a:rPr dirty="0" err="1"/>
              <a:t>s'affiche</a:t>
            </a:r>
            <a:r>
              <a:rPr dirty="0"/>
              <a:t> entre crochets, </a:t>
            </a:r>
            <a:r>
              <a:rPr dirty="0" err="1"/>
              <a:t>éléments</a:t>
            </a:r>
            <a:r>
              <a:rPr dirty="0"/>
              <a:t> </a:t>
            </a:r>
            <a:r>
              <a:rPr dirty="0" err="1"/>
              <a:t>séparés</a:t>
            </a:r>
            <a:r>
              <a:rPr dirty="0"/>
              <a:t> par des virgules. </a:t>
            </a:r>
            <a:r>
              <a:rPr dirty="0" err="1"/>
              <a:t>C'est</a:t>
            </a:r>
            <a:r>
              <a:rPr dirty="0"/>
              <a:t> commode pour </a:t>
            </a:r>
            <a:r>
              <a:rPr dirty="0" err="1"/>
              <a:t>vérifier</a:t>
            </a:r>
            <a:r>
              <a:rPr dirty="0"/>
              <a:t> </a:t>
            </a:r>
            <a:r>
              <a:rPr dirty="0" err="1"/>
              <a:t>ce</a:t>
            </a:r>
            <a:r>
              <a:rPr dirty="0"/>
              <a:t> </a:t>
            </a:r>
            <a:r>
              <a:rPr dirty="0" err="1"/>
              <a:t>que</a:t>
            </a:r>
            <a:r>
              <a:rPr dirty="0"/>
              <a:t> </a:t>
            </a:r>
            <a:r>
              <a:rPr dirty="0" err="1"/>
              <a:t>contient</a:t>
            </a:r>
            <a:r>
              <a:rPr dirty="0"/>
              <a:t> </a:t>
            </a:r>
            <a:r>
              <a:rPr dirty="0" err="1"/>
              <a:t>une</a:t>
            </a:r>
            <a:r>
              <a:rPr dirty="0"/>
              <a:t> structure </a:t>
            </a:r>
            <a:r>
              <a:rPr dirty="0" err="1"/>
              <a:t>en</a:t>
            </a:r>
            <a:r>
              <a:rPr dirty="0"/>
              <a:t> </a:t>
            </a:r>
            <a:r>
              <a:rPr dirty="0" err="1"/>
              <a:t>cours</a:t>
            </a:r>
            <a:r>
              <a:rPr dirty="0"/>
              <a:t> de mise au point.</a:t>
            </a:r>
          </a:p>
          <a:p>
            <a:r>
              <a:rPr lang="fr-BE" dirty="0"/>
              <a:t>Le code complet, à exécuter : demos, classe demo.col.slides.LesOperationsDUneListe.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La boucle for-each </a:t>
            </a:r>
            <a:r>
              <a:rPr dirty="0" err="1"/>
              <a:t>accepte</a:t>
            </a:r>
            <a:r>
              <a:rPr dirty="0"/>
              <a:t> tout </a:t>
            </a:r>
            <a:r>
              <a:rPr dirty="0" err="1"/>
              <a:t>objet</a:t>
            </a:r>
            <a:r>
              <a:rPr dirty="0"/>
              <a:t> qui </a:t>
            </a:r>
            <a:r>
              <a:rPr dirty="0" err="1"/>
              <a:t>implémente</a:t>
            </a:r>
            <a:r>
              <a:rPr dirty="0"/>
              <a:t> </a:t>
            </a:r>
            <a:r>
              <a:rPr dirty="0" err="1"/>
              <a:t>l'interface</a:t>
            </a:r>
            <a:r>
              <a:rPr dirty="0"/>
              <a:t> </a:t>
            </a:r>
            <a:r>
              <a:rPr dirty="0" err="1"/>
              <a:t>Iterable</a:t>
            </a:r>
            <a:r>
              <a:rPr dirty="0"/>
              <a:t>, </a:t>
            </a:r>
            <a:r>
              <a:rPr dirty="0" err="1"/>
              <a:t>dont</a:t>
            </a:r>
            <a:r>
              <a:rPr dirty="0"/>
              <a:t> </a:t>
            </a:r>
            <a:r>
              <a:rPr dirty="0" err="1"/>
              <a:t>hérite</a:t>
            </a:r>
            <a:r>
              <a:rPr dirty="0"/>
              <a:t> Collection. Cette interface ne </a:t>
            </a:r>
            <a:r>
              <a:rPr dirty="0" err="1"/>
              <a:t>promet</a:t>
            </a:r>
            <a:r>
              <a:rPr dirty="0"/>
              <a:t> </a:t>
            </a:r>
            <a:r>
              <a:rPr dirty="0" err="1"/>
              <a:t>qu'une</a:t>
            </a:r>
            <a:r>
              <a:rPr dirty="0"/>
              <a:t> chose : savoir </a:t>
            </a:r>
            <a:r>
              <a:rPr dirty="0" err="1"/>
              <a:t>fournir</a:t>
            </a:r>
            <a:r>
              <a:rPr dirty="0"/>
              <a:t> un Iterator, un </a:t>
            </a:r>
            <a:r>
              <a:rPr dirty="0" err="1"/>
              <a:t>objet</a:t>
            </a:r>
            <a:r>
              <a:rPr dirty="0"/>
              <a:t> qui </a:t>
            </a:r>
            <a:r>
              <a:rPr dirty="0" err="1"/>
              <a:t>parcourt</a:t>
            </a:r>
            <a:r>
              <a:rPr dirty="0"/>
              <a:t> les </a:t>
            </a:r>
            <a:r>
              <a:rPr dirty="0" err="1"/>
              <a:t>éléments</a:t>
            </a:r>
            <a:r>
              <a:rPr dirty="0"/>
              <a:t> un par un, </a:t>
            </a:r>
            <a:r>
              <a:rPr dirty="0" err="1"/>
              <a:t>en</a:t>
            </a:r>
            <a:r>
              <a:rPr dirty="0"/>
              <a:t> </a:t>
            </a:r>
            <a:r>
              <a:rPr dirty="0" err="1"/>
              <a:t>répondant</a:t>
            </a:r>
            <a:r>
              <a:rPr dirty="0"/>
              <a:t> à deux questions : </a:t>
            </a:r>
            <a:r>
              <a:rPr dirty="0" err="1"/>
              <a:t>hasNext</a:t>
            </a:r>
            <a:r>
              <a:rPr dirty="0"/>
              <a:t>(), </a:t>
            </a:r>
            <a:r>
              <a:rPr dirty="0" err="1"/>
              <a:t>reste</a:t>
            </a:r>
            <a:r>
              <a:rPr dirty="0"/>
              <a:t>-t-il un </a:t>
            </a:r>
            <a:r>
              <a:rPr dirty="0" err="1"/>
              <a:t>élément</a:t>
            </a:r>
            <a:r>
              <a:rPr dirty="0"/>
              <a:t> ? et next(), </a:t>
            </a:r>
            <a:r>
              <a:rPr dirty="0" err="1"/>
              <a:t>lequel</a:t>
            </a:r>
            <a:r>
              <a:rPr dirty="0"/>
              <a:t> ?</a:t>
            </a:r>
          </a:p>
          <a:p>
            <a:r>
              <a:rPr dirty="0"/>
              <a:t>Le code de la slide est, à peu de chose près, </a:t>
            </a:r>
            <a:r>
              <a:rPr dirty="0" err="1"/>
              <a:t>ce</a:t>
            </a:r>
            <a:r>
              <a:rPr dirty="0"/>
              <a:t> </a:t>
            </a:r>
            <a:r>
              <a:rPr dirty="0" err="1"/>
              <a:t>que</a:t>
            </a:r>
            <a:r>
              <a:rPr dirty="0"/>
              <a:t> le </a:t>
            </a:r>
            <a:r>
              <a:rPr dirty="0" err="1"/>
              <a:t>compilateur</a:t>
            </a:r>
            <a:r>
              <a:rPr dirty="0"/>
              <a:t> </a:t>
            </a:r>
            <a:r>
              <a:rPr dirty="0" err="1"/>
              <a:t>écrit</a:t>
            </a:r>
            <a:r>
              <a:rPr dirty="0"/>
              <a:t> pour vous </a:t>
            </a:r>
            <a:r>
              <a:rPr dirty="0" err="1"/>
              <a:t>quand</a:t>
            </a:r>
            <a:r>
              <a:rPr dirty="0"/>
              <a:t> il rencontre </a:t>
            </a:r>
            <a:r>
              <a:rPr dirty="0" err="1"/>
              <a:t>une</a:t>
            </a:r>
            <a:r>
              <a:rPr dirty="0"/>
              <a:t> boucle for-each sur </a:t>
            </a:r>
            <a:r>
              <a:rPr dirty="0" err="1"/>
              <a:t>une</a:t>
            </a:r>
            <a:r>
              <a:rPr dirty="0"/>
              <a:t> collection. Vous </a:t>
            </a:r>
            <a:r>
              <a:rPr dirty="0" err="1"/>
              <a:t>n'aurez</a:t>
            </a:r>
            <a:r>
              <a:rPr dirty="0"/>
              <a:t> </a:t>
            </a:r>
            <a:r>
              <a:rPr dirty="0" err="1"/>
              <a:t>presque</a:t>
            </a:r>
            <a:r>
              <a:rPr dirty="0"/>
              <a:t> jamais à </a:t>
            </a:r>
            <a:r>
              <a:rPr dirty="0" err="1"/>
              <a:t>l'écrire</a:t>
            </a:r>
            <a:r>
              <a:rPr dirty="0"/>
              <a:t> vous-</a:t>
            </a:r>
            <a:r>
              <a:rPr dirty="0" err="1"/>
              <a:t>même</a:t>
            </a:r>
            <a:r>
              <a:rPr dirty="0"/>
              <a:t>.</a:t>
            </a:r>
          </a:p>
          <a:p>
            <a:r>
              <a:rPr dirty="0"/>
              <a:t>Il faut </a:t>
            </a:r>
            <a:r>
              <a:rPr dirty="0" err="1"/>
              <a:t>pourtant</a:t>
            </a:r>
            <a:r>
              <a:rPr dirty="0"/>
              <a:t> le </a:t>
            </a:r>
            <a:r>
              <a:rPr dirty="0" err="1"/>
              <a:t>connaître</a:t>
            </a:r>
            <a:r>
              <a:rPr dirty="0"/>
              <a:t> pour un </a:t>
            </a:r>
            <a:r>
              <a:rPr dirty="0" err="1"/>
              <a:t>cas</a:t>
            </a:r>
            <a:r>
              <a:rPr dirty="0"/>
              <a:t> précis, qui </a:t>
            </a:r>
            <a:r>
              <a:rPr dirty="0" err="1"/>
              <a:t>revient</a:t>
            </a:r>
            <a:r>
              <a:rPr dirty="0"/>
              <a:t> à la section 5 : </a:t>
            </a:r>
            <a:r>
              <a:rPr dirty="0" err="1"/>
              <a:t>retirer</a:t>
            </a:r>
            <a:r>
              <a:rPr dirty="0"/>
              <a:t> des </a:t>
            </a:r>
            <a:r>
              <a:rPr dirty="0" err="1"/>
              <a:t>éléments</a:t>
            </a:r>
            <a:r>
              <a:rPr dirty="0"/>
              <a:t> pendant un </a:t>
            </a:r>
            <a:r>
              <a:rPr dirty="0" err="1"/>
              <a:t>parcours</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Les deux classes </a:t>
            </a:r>
            <a:r>
              <a:rPr dirty="0" err="1"/>
              <a:t>tiennent</a:t>
            </a:r>
            <a:r>
              <a:rPr dirty="0"/>
              <a:t> </a:t>
            </a:r>
            <a:r>
              <a:rPr dirty="0" err="1"/>
              <a:t>exactement</a:t>
            </a:r>
            <a:r>
              <a:rPr dirty="0"/>
              <a:t> la </a:t>
            </a:r>
            <a:r>
              <a:rPr dirty="0" err="1"/>
              <a:t>même</a:t>
            </a:r>
            <a:r>
              <a:rPr dirty="0"/>
              <a:t> </a:t>
            </a:r>
            <a:r>
              <a:rPr dirty="0" err="1"/>
              <a:t>promesse</a:t>
            </a:r>
            <a:r>
              <a:rPr dirty="0"/>
              <a:t> : </a:t>
            </a:r>
            <a:r>
              <a:rPr dirty="0" err="1"/>
              <a:t>celle</a:t>
            </a:r>
            <a:r>
              <a:rPr dirty="0"/>
              <a:t> de </a:t>
            </a:r>
            <a:r>
              <a:rPr dirty="0">
                <a:latin typeface="Consolas"/>
              </a:rPr>
              <a:t>List</a:t>
            </a:r>
            <a:r>
              <a:rPr dirty="0"/>
              <a:t>. Un </a:t>
            </a:r>
            <a:r>
              <a:rPr dirty="0" err="1"/>
              <a:t>programme</a:t>
            </a:r>
            <a:r>
              <a:rPr dirty="0"/>
              <a:t> qui </a:t>
            </a:r>
            <a:r>
              <a:rPr dirty="0" err="1"/>
              <a:t>déclare</a:t>
            </a:r>
            <a:r>
              <a:rPr dirty="0"/>
              <a:t> </a:t>
            </a:r>
            <a:r>
              <a:rPr dirty="0" err="1"/>
              <a:t>ses</a:t>
            </a:r>
            <a:r>
              <a:rPr dirty="0"/>
              <a:t> variables avec </a:t>
            </a:r>
            <a:r>
              <a:rPr dirty="0" err="1"/>
              <a:t>l'interface</a:t>
            </a:r>
            <a:r>
              <a:rPr dirty="0"/>
              <a:t> </a:t>
            </a:r>
            <a:r>
              <a:rPr dirty="0" err="1"/>
              <a:t>fonctionne</a:t>
            </a:r>
            <a:r>
              <a:rPr dirty="0"/>
              <a:t> avec </a:t>
            </a:r>
            <a:r>
              <a:rPr dirty="0" err="1"/>
              <a:t>l'une</a:t>
            </a:r>
            <a:r>
              <a:rPr dirty="0"/>
              <a:t> </a:t>
            </a:r>
            <a:r>
              <a:rPr dirty="0" err="1"/>
              <a:t>comme</a:t>
            </a:r>
            <a:r>
              <a:rPr dirty="0"/>
              <a:t> avec </a:t>
            </a:r>
            <a:r>
              <a:rPr dirty="0" err="1"/>
              <a:t>l'autre</a:t>
            </a:r>
            <a:r>
              <a:rPr dirty="0"/>
              <a:t>, et le test de COL.5 le </a:t>
            </a:r>
            <a:r>
              <a:rPr dirty="0" err="1"/>
              <a:t>vérifie</a:t>
            </a:r>
            <a:r>
              <a:rPr dirty="0"/>
              <a:t> </a:t>
            </a:r>
            <a:r>
              <a:rPr dirty="0" err="1"/>
              <a:t>justement</a:t>
            </a:r>
            <a:r>
              <a:rPr dirty="0"/>
              <a:t> sur </a:t>
            </a:r>
            <a:r>
              <a:rPr dirty="0" err="1"/>
              <a:t>une</a:t>
            </a:r>
            <a:r>
              <a:rPr dirty="0"/>
              <a:t> </a:t>
            </a:r>
            <a:r>
              <a:rPr dirty="0">
                <a:latin typeface="Consolas"/>
              </a:rPr>
              <a:t>LinkedList</a:t>
            </a:r>
            <a:r>
              <a:rPr dirty="0"/>
              <a:t>.</a:t>
            </a:r>
          </a:p>
          <a:p>
            <a:r>
              <a:rPr dirty="0"/>
              <a:t>Elles </a:t>
            </a:r>
            <a:r>
              <a:rPr dirty="0" err="1"/>
              <a:t>diffèrent</a:t>
            </a:r>
            <a:r>
              <a:rPr dirty="0"/>
              <a:t> par </a:t>
            </a:r>
            <a:r>
              <a:rPr dirty="0" err="1"/>
              <a:t>leur</a:t>
            </a:r>
            <a:r>
              <a:rPr dirty="0"/>
              <a:t> </a:t>
            </a:r>
            <a:r>
              <a:rPr dirty="0" err="1"/>
              <a:t>fonctionnement</a:t>
            </a:r>
            <a:r>
              <a:rPr dirty="0"/>
              <a:t> interne, </a:t>
            </a:r>
            <a:r>
              <a:rPr dirty="0" err="1"/>
              <a:t>donc</a:t>
            </a:r>
            <a:r>
              <a:rPr dirty="0"/>
              <a:t> par </a:t>
            </a:r>
            <a:r>
              <a:rPr dirty="0" err="1"/>
              <a:t>leur</a:t>
            </a:r>
            <a:r>
              <a:rPr dirty="0"/>
              <a:t> </a:t>
            </a:r>
            <a:r>
              <a:rPr dirty="0" err="1"/>
              <a:t>rapidité</a:t>
            </a:r>
            <a:r>
              <a:rPr dirty="0"/>
              <a:t> </a:t>
            </a:r>
            <a:r>
              <a:rPr dirty="0" err="1"/>
              <a:t>selon</a:t>
            </a:r>
            <a:r>
              <a:rPr dirty="0"/>
              <a:t> </a:t>
            </a:r>
            <a:r>
              <a:rPr dirty="0" err="1"/>
              <a:t>l'usage</a:t>
            </a:r>
            <a:r>
              <a:rPr dirty="0"/>
              <a:t>. </a:t>
            </a:r>
            <a:r>
              <a:rPr dirty="0" err="1">
                <a:latin typeface="Consolas"/>
              </a:rPr>
              <a:t>ArrayList</a:t>
            </a:r>
            <a:r>
              <a:rPr dirty="0"/>
              <a:t> range </a:t>
            </a:r>
            <a:r>
              <a:rPr dirty="0" err="1"/>
              <a:t>ses</a:t>
            </a:r>
            <a:r>
              <a:rPr dirty="0"/>
              <a:t> </a:t>
            </a:r>
            <a:r>
              <a:rPr dirty="0" err="1"/>
              <a:t>éléments</a:t>
            </a:r>
            <a:r>
              <a:rPr dirty="0"/>
              <a:t> dans un tableau </a:t>
            </a:r>
            <a:r>
              <a:rPr dirty="0" err="1"/>
              <a:t>qu'elle</a:t>
            </a:r>
            <a:r>
              <a:rPr dirty="0"/>
              <a:t> </a:t>
            </a:r>
            <a:r>
              <a:rPr dirty="0" err="1"/>
              <a:t>agrandit</a:t>
            </a:r>
            <a:r>
              <a:rPr dirty="0"/>
              <a:t> </a:t>
            </a:r>
            <a:r>
              <a:rPr dirty="0" err="1"/>
              <a:t>elle-même</a:t>
            </a:r>
            <a:r>
              <a:rPr dirty="0"/>
              <a:t>, </a:t>
            </a:r>
            <a:r>
              <a:rPr dirty="0" err="1"/>
              <a:t>ce</a:t>
            </a:r>
            <a:r>
              <a:rPr dirty="0"/>
              <a:t> qui rend </a:t>
            </a:r>
            <a:r>
              <a:rPr dirty="0">
                <a:latin typeface="Consolas"/>
              </a:rPr>
              <a:t>get(</a:t>
            </a:r>
            <a:r>
              <a:rPr dirty="0" err="1">
                <a:latin typeface="Consolas"/>
              </a:rPr>
              <a:t>i</a:t>
            </a:r>
            <a:r>
              <a:rPr dirty="0">
                <a:latin typeface="Consolas"/>
              </a:rPr>
              <a:t>)</a:t>
            </a:r>
            <a:r>
              <a:rPr dirty="0"/>
              <a:t> </a:t>
            </a:r>
            <a:r>
              <a:rPr dirty="0" err="1"/>
              <a:t>immédiat</a:t>
            </a:r>
            <a:r>
              <a:rPr dirty="0"/>
              <a:t>. </a:t>
            </a:r>
            <a:r>
              <a:rPr dirty="0">
                <a:latin typeface="Consolas"/>
              </a:rPr>
              <a:t>LinkedList</a:t>
            </a:r>
            <a:r>
              <a:rPr dirty="0"/>
              <a:t> </a:t>
            </a:r>
            <a:r>
              <a:rPr dirty="0" err="1"/>
              <a:t>chaîne</a:t>
            </a:r>
            <a:r>
              <a:rPr dirty="0"/>
              <a:t> </a:t>
            </a:r>
            <a:r>
              <a:rPr dirty="0" err="1"/>
              <a:t>ses</a:t>
            </a:r>
            <a:r>
              <a:rPr dirty="0"/>
              <a:t> </a:t>
            </a:r>
            <a:r>
              <a:rPr dirty="0" err="1"/>
              <a:t>éléments</a:t>
            </a:r>
            <a:r>
              <a:rPr dirty="0"/>
              <a:t> les </a:t>
            </a:r>
            <a:r>
              <a:rPr dirty="0" err="1"/>
              <a:t>uns</a:t>
            </a:r>
            <a:r>
              <a:rPr dirty="0"/>
              <a:t> aux </a:t>
            </a:r>
            <a:r>
              <a:rPr dirty="0" err="1"/>
              <a:t>autres</a:t>
            </a:r>
            <a:r>
              <a:rPr dirty="0"/>
              <a:t>, </a:t>
            </a:r>
            <a:r>
              <a:rPr dirty="0" err="1"/>
              <a:t>ce</a:t>
            </a:r>
            <a:r>
              <a:rPr dirty="0"/>
              <a:t> qui rend les </a:t>
            </a:r>
            <a:r>
              <a:rPr dirty="0" err="1"/>
              <a:t>ajouts</a:t>
            </a:r>
            <a:r>
              <a:rPr dirty="0"/>
              <a:t> et </a:t>
            </a:r>
            <a:r>
              <a:rPr dirty="0" err="1"/>
              <a:t>retraits</a:t>
            </a:r>
            <a:r>
              <a:rPr dirty="0"/>
              <a:t> aux deux bouts </a:t>
            </a:r>
            <a:r>
              <a:rPr dirty="0" err="1"/>
              <a:t>immédiats</a:t>
            </a:r>
            <a:r>
              <a:rPr dirty="0"/>
              <a:t>, </a:t>
            </a:r>
            <a:r>
              <a:rPr dirty="0" err="1"/>
              <a:t>mais</a:t>
            </a:r>
            <a:r>
              <a:rPr dirty="0"/>
              <a:t> </a:t>
            </a:r>
            <a:r>
              <a:rPr dirty="0">
                <a:latin typeface="Consolas"/>
              </a:rPr>
              <a:t>get(</a:t>
            </a:r>
            <a:r>
              <a:rPr dirty="0" err="1">
                <a:latin typeface="Consolas"/>
              </a:rPr>
              <a:t>i</a:t>
            </a:r>
            <a:r>
              <a:rPr dirty="0">
                <a:latin typeface="Consolas"/>
              </a:rPr>
              <a:t>)</a:t>
            </a:r>
            <a:r>
              <a:rPr dirty="0"/>
              <a:t> lent. </a:t>
            </a:r>
            <a:r>
              <a:rPr dirty="0" err="1"/>
              <a:t>Prenez</a:t>
            </a:r>
            <a:r>
              <a:rPr dirty="0"/>
              <a:t> </a:t>
            </a:r>
            <a:r>
              <a:rPr dirty="0" err="1">
                <a:latin typeface="Consolas"/>
              </a:rPr>
              <a:t>ArrayList</a:t>
            </a:r>
            <a:r>
              <a:rPr dirty="0"/>
              <a:t> </a:t>
            </a:r>
            <a:r>
              <a:rPr dirty="0" err="1"/>
              <a:t>sauf</a:t>
            </a:r>
            <a:r>
              <a:rPr dirty="0"/>
              <a:t> raison </a:t>
            </a:r>
            <a:r>
              <a:rPr dirty="0" err="1"/>
              <a:t>précise</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deux noms ne diffèrent que d'une lettre, et la confusion est classique. </a:t>
            </a:r>
            <a:r>
              <a:rPr>
                <a:latin typeface="Consolas"/>
              </a:rPr>
              <a:t>Collection</a:t>
            </a:r>
            <a:r>
              <a:t> est l'interface mère de </a:t>
            </a:r>
            <a:r>
              <a:rPr>
                <a:latin typeface="Consolas"/>
              </a:rPr>
              <a:t>List</a:t>
            </a:r>
            <a:r>
              <a:t> et de </a:t>
            </a:r>
            <a:r>
              <a:rPr>
                <a:latin typeface="Consolas"/>
              </a:rPr>
              <a:t>Set</a:t>
            </a:r>
            <a:r>
              <a:t> : elle déclare </a:t>
            </a:r>
            <a:r>
              <a:rPr>
                <a:latin typeface="Consolas"/>
              </a:rPr>
              <a:t>add</a:t>
            </a:r>
            <a:r>
              <a:t>, </a:t>
            </a:r>
            <a:r>
              <a:rPr>
                <a:latin typeface="Consolas"/>
              </a:rPr>
              <a:t>remove</a:t>
            </a:r>
            <a:r>
              <a:t>, </a:t>
            </a:r>
            <a:r>
              <a:rPr>
                <a:latin typeface="Consolas"/>
              </a:rPr>
              <a:t>size</a:t>
            </a:r>
            <a:r>
              <a:t>, </a:t>
            </a:r>
            <a:r>
              <a:rPr>
                <a:latin typeface="Consolas"/>
              </a:rPr>
              <a:t>contains</a:t>
            </a:r>
            <a:r>
              <a:t>. </a:t>
            </a:r>
            <a:r>
              <a:rPr>
                <a:latin typeface="Consolas"/>
              </a:rPr>
              <a:t>Collections</a:t>
            </a:r>
            <a:r>
              <a:t>, au pluriel, est une classe utilitaire, comme </a:t>
            </a:r>
            <a:r>
              <a:rPr>
                <a:latin typeface="Consolas"/>
              </a:rPr>
              <a:t>Math</a:t>
            </a:r>
            <a:r>
              <a:t> : uniquement des méthodes statiques.</a:t>
            </a:r>
          </a:p>
          <a:p>
            <a:r>
              <a:t>Les méthodes </a:t>
            </a:r>
            <a:r>
              <a:rPr>
                <a:latin typeface="Consolas"/>
              </a:rPr>
              <a:t>sort</a:t>
            </a:r>
            <a:r>
              <a:t> et </a:t>
            </a:r>
            <a:r>
              <a:rPr>
                <a:latin typeface="Consolas"/>
              </a:rPr>
              <a:t>shuffle</a:t>
            </a:r>
            <a:r>
              <a:t> reçoivent une </a:t>
            </a:r>
            <a:r>
              <a:rPr>
                <a:latin typeface="Consolas"/>
              </a:rPr>
              <a:t>List</a:t>
            </a:r>
            <a:r>
              <a:t>, parce qu'un ensemble n'a pas de positions à réordonner. Elles modifient la liste reçue et ne retournent rien. Le fil rouge emploie </a:t>
            </a:r>
            <a:r>
              <a:rPr>
                <a:latin typeface="Consolas"/>
              </a:rPr>
              <a:t>shuffle</a:t>
            </a:r>
            <a:r>
              <a:t> pour battre les cartes dès G.21.</a:t>
            </a:r>
          </a:p>
          <a:p>
            <a:r>
              <a:t>Les méthodes </a:t>
            </a:r>
            <a:r>
              <a:rPr>
                <a:latin typeface="Consolas"/>
              </a:rPr>
              <a:t>min</a:t>
            </a:r>
            <a:r>
              <a:t> et </a:t>
            </a:r>
            <a:r>
              <a:rPr>
                <a:latin typeface="Consolas"/>
              </a:rPr>
              <a:t>max</a:t>
            </a:r>
            <a:r>
              <a:t> retournent le plus petit et le plus grand élément, </a:t>
            </a:r>
            <a:r>
              <a:rPr>
                <a:latin typeface="Consolas"/>
              </a:rPr>
              <a:t>frequency</a:t>
            </a:r>
            <a:r>
              <a:t> compte les apparitions d'une valeur. La Javadoc de </a:t>
            </a:r>
            <a:r>
              <a:rPr>
                <a:latin typeface="Consolas"/>
              </a:rPr>
              <a:t>Collections</a:t>
            </a:r>
            <a:r>
              <a:t> en contient une vingtaine d'autres.</a:t>
            </a:r>
          </a:p>
          <a:p>
            <a:r>
              <a:rPr lang="fr-BE" dirty="0"/>
              <a:t>Le code complet, à exécuter : demos, classe demo.col.slides.CollectionEtCollections.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première version de ce programme écrivait </a:t>
            </a:r>
            <a:r>
              <a:rPr>
                <a:latin typeface="Consolas"/>
              </a:rPr>
              <a:t>hasard.nextInt(1001)</a:t>
            </a:r>
            <a:r>
              <a:t>. Le lecteur devait deviner d'où sortait 1001, et pourquoi pas 1000. La réponse tient au module ENU : </a:t>
            </a:r>
            <a:r>
              <a:rPr>
                <a:latin typeface="Consolas"/>
              </a:rPr>
              <a:t>nextInt(n)</a:t>
            </a:r>
            <a:r>
              <a:t> retourne un entier de 0 inclus à </a:t>
            </a:r>
            <a:r>
              <a:rPr>
                <a:latin typeface="Consolas"/>
              </a:rPr>
              <a:t>n</a:t>
            </a:r>
            <a:r>
              <a:t> exclu, et il faut donc compter les valeurs de l'intervalle.</a:t>
            </a:r>
          </a:p>
          <a:p>
            <a:r>
              <a:t>Avec deux constantes, le calcul se lit au lieu de se deviner. Le gain le plus utile est ailleurs : les mêmes constantes servent au message. Le jour où l'intervalle change, le programme ne peut plus annoncer 0 à 1000 en tirant jusqu'à 500.</a:t>
            </a:r>
          </a:p>
          <a:p>
            <a:r>
              <a:t>Les squelettes de COL.1 et COL.6 vous donnent ces constantes : servez-vous en partout. C'est la règle CC-NOM.7 du mémento Clean Code.</a:t>
            </a:r>
          </a:p>
          <a:p>
            <a:r>
              <a:rPr lang="fr-BE" dirty="0"/>
              <a:t>Le code complet, à exécuter : demos, classe demo.col.slides.NommerSesBornes.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COL.1</a:t>
            </a:r>
            <a:r>
              <a:t> oppose deux manières d'obtenir des nombres triés : trier une liste, ou les ranger dans une structure qui reste triée. La seconde a été montrée pendant la démonstration. Lisez bien la consigne de la première méthode : la liste reçue ne doit pas être modifiée, et la méthode de tri vue à la slide 2.5 modifie celle qu'elle reçoit.</a:t>
            </a:r>
          </a:p>
          <a:p>
            <a:r>
              <a:rPr>
                <a:latin typeface="Consolas"/>
              </a:rPr>
              <a:t>COL.3</a:t>
            </a:r>
            <a:r>
              <a:t> remplit une liste à partir d'un </a:t>
            </a:r>
            <a:r>
              <a:rPr>
                <a:latin typeface="Consolas"/>
              </a:rPr>
              <a:t>Scanner</a:t>
            </a:r>
            <a:r>
              <a:t>. La classe fournie </a:t>
            </a:r>
            <a:r>
              <a:rPr>
                <a:latin typeface="Consolas"/>
              </a:rPr>
              <a:t>SourceDeTexte</a:t>
            </a:r>
            <a:r>
              <a:t> vous le donne déjà ouvert : l'exercice porte sur les collections, pas sur les fichiers. Remarquez que le test passe à votre méthode un </a:t>
            </a:r>
            <a:r>
              <a:rPr>
                <a:latin typeface="Consolas"/>
              </a:rPr>
              <a:t>Scanner</a:t>
            </a:r>
            <a:r>
              <a:t> construit sur une simple chaîne.</a:t>
            </a:r>
          </a:p>
          <a:p>
            <a:r>
              <a:t>Les deux exercices finissent sur une question d'ordre. Elles valent la peine d'être posées à voix haute.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ensemble, Set en Java, ne contient jamais deux fois la même valeur, comme un ensemble au sens mathématique : sur l'illustration, chaque teinte n'apparaît qu'une fois.</a:t>
            </a:r>
          </a:p>
          <a:p>
            <a:r>
              <a:t>Il n'a pas de positions. On ne lui demande pas son troisième élément, on lui demande si une valeur y est.</a:t>
            </a:r>
          </a:p>
          <a:p>
            <a:r>
              <a:t>On le choisit quand l'unicité est la règle : les auteurs d'une bibliothèque, les cours suivis par un étudiant, les numéros déjà tirés.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ensemble ne contient jamais deux fois la même valeur. Ajouter une valeur présente ne lève aucune erreur : rien ne se passe, et </a:t>
            </a:r>
            <a:r>
              <a:rPr>
                <a:latin typeface="Consolas"/>
              </a:rPr>
              <a:t>add</a:t>
            </a:r>
            <a:r>
              <a:t> retourne </a:t>
            </a:r>
            <a:r>
              <a:rPr>
                <a:latin typeface="Consolas"/>
              </a:rPr>
              <a:t>false</a:t>
            </a:r>
            <a:r>
              <a:t> pour le signaler. C'est ce que la démonstration a exploité.</a:t>
            </a:r>
          </a:p>
          <a:p>
            <a:r>
              <a:t>Un ensemble n'a pas de positions. On l'interroge avec </a:t>
            </a:r>
            <a:r>
              <a:rPr>
                <a:latin typeface="Consolas"/>
              </a:rPr>
              <a:t>contains</a:t>
            </a:r>
            <a:r>
              <a:t>, on le parcourt avec la boucle </a:t>
            </a:r>
            <a:r>
              <a:rPr>
                <a:latin typeface="Consolas"/>
              </a:rPr>
              <a:t>for</a:t>
            </a:r>
            <a:r>
              <a:t>, mais on ne demande jamais « le troisième élément ». Ce n'est pas une limite : c'est ce qui lui permet d'autres services, que COL.6 vous fera découvrir.</a:t>
            </a:r>
          </a:p>
          <a:p>
            <a:r>
              <a:rPr lang="fr-BE" dirty="0"/>
              <a:t>Le code complet, à exécuter : demos, classe demo.col.slides.CeQuUnEnsembleRefuse.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ENU l'avait annoncé en présentant les records : la question de l'égalité reviendrait. La voici. Pour savoir si une valeur est déjà présente, un </a:t>
            </a:r>
            <a:r>
              <a:rPr>
                <a:latin typeface="Consolas"/>
              </a:rPr>
              <a:t>HashSet</a:t>
            </a:r>
            <a:r>
              <a:t> appelle </a:t>
            </a:r>
            <a:r>
              <a:rPr>
                <a:latin typeface="Consolas"/>
              </a:rPr>
              <a:t>hashCode</a:t>
            </a:r>
            <a:r>
              <a:t> puis </a:t>
            </a:r>
            <a:r>
              <a:rPr>
                <a:latin typeface="Consolas"/>
              </a:rPr>
              <a:t>equals</a:t>
            </a:r>
            <a:r>
              <a:t> sur ses éléments.</a:t>
            </a:r>
          </a:p>
          <a:p>
            <a:r>
              <a:rPr>
                <a:latin typeface="Consolas"/>
              </a:rPr>
              <a:t>String</a:t>
            </a:r>
            <a:r>
              <a:t> et </a:t>
            </a:r>
            <a:r>
              <a:rPr>
                <a:latin typeface="Consolas"/>
              </a:rPr>
              <a:t>Integer</a:t>
            </a:r>
            <a:r>
              <a:t> les définissent comme on s'y attend : deux chaînes de mêmes lettres sont égales. Un record les définit aussi, en comparant ses composants. Les deux exemplaires ci-dessus ne comptent donc qu'une fois.</a:t>
            </a:r>
          </a:p>
          <a:p>
            <a:r>
              <a:t>Avec une classe ordinaire qui ne redéfinit rien, </a:t>
            </a:r>
            <a:r>
              <a:rPr>
                <a:latin typeface="Consolas"/>
              </a:rPr>
              <a:t>equals</a:t>
            </a:r>
            <a:r>
              <a:t> compare les références : deux objets construits séparément sont différents, même avec les mêmes valeurs, et l'ensemble en garde deux. Écrire </a:t>
            </a:r>
            <a:r>
              <a:rPr>
                <a:latin typeface="Consolas"/>
              </a:rPr>
              <a:t>equals</a:t>
            </a:r>
            <a:r>
              <a:t> et </a:t>
            </a:r>
            <a:r>
              <a:rPr>
                <a:latin typeface="Consolas"/>
              </a:rPr>
              <a:t>hashCode</a:t>
            </a:r>
            <a:r>
              <a:t> à la main est possible, toujours ensemble, et IntelliJ les génère. Ce cours ne vous le demandera pas : un record suffit dans tous les exercices. Les deux sont liées par un contrat : deux objets égaux au sens d'equals doivent avoir le même hashCode, sans quoi un HashSet les rangerait dans deux cases et ne verrait jamais le doublon. L'inverse n'est pas exigé.</a:t>
            </a:r>
          </a:p>
          <a:p>
            <a:r>
              <a:t>La même règle vaut pour les clés d'une table, à la section 4.</a:t>
            </a:r>
          </a:p>
          <a:p>
            <a:r>
              <a:rPr lang="fr-BE" dirty="0"/>
              <a:t>Le code complet, à exécuter : demos, classe demo.col.slides.CeQuUnEnsembleRefuse.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a:xfrm>
            <a:off x="685800" y="4379530"/>
            <a:ext cx="5486400" cy="3600450"/>
          </a:xfrm>
        </p:spPr>
        <p:txBody>
          <a:bodyPr/>
          <a:lstStyle/>
          <a:p>
            <a:r>
              <a:rPr dirty="0"/>
              <a:t>Les ensembles et les tables existent chacun </a:t>
            </a:r>
            <a:r>
              <a:rPr dirty="0" err="1"/>
              <a:t>en</a:t>
            </a:r>
            <a:r>
              <a:rPr dirty="0"/>
              <a:t> deux </a:t>
            </a:r>
            <a:r>
              <a:rPr dirty="0" err="1"/>
              <a:t>implémentations</a:t>
            </a:r>
            <a:r>
              <a:rPr dirty="0"/>
              <a:t> </a:t>
            </a:r>
            <a:r>
              <a:rPr dirty="0" err="1"/>
              <a:t>principales</a:t>
            </a:r>
            <a:r>
              <a:rPr dirty="0"/>
              <a:t>, et la </a:t>
            </a:r>
            <a:r>
              <a:rPr dirty="0" err="1"/>
              <a:t>différence</a:t>
            </a:r>
            <a:r>
              <a:rPr dirty="0"/>
              <a:t> est la </a:t>
            </a:r>
            <a:r>
              <a:rPr dirty="0" err="1"/>
              <a:t>même</a:t>
            </a:r>
            <a:r>
              <a:rPr dirty="0"/>
              <a:t> des deux </a:t>
            </a:r>
            <a:r>
              <a:rPr dirty="0" err="1"/>
              <a:t>côtés</a:t>
            </a:r>
            <a:r>
              <a:rPr dirty="0"/>
              <a:t>.</a:t>
            </a:r>
          </a:p>
          <a:p>
            <a:r>
              <a:rPr dirty="0"/>
              <a:t>Les classes </a:t>
            </a:r>
            <a:r>
              <a:rPr dirty="0">
                <a:latin typeface="Consolas"/>
              </a:rPr>
              <a:t>Hash</a:t>
            </a:r>
            <a:r>
              <a:rPr dirty="0"/>
              <a:t> </a:t>
            </a:r>
            <a:r>
              <a:rPr dirty="0" err="1"/>
              <a:t>rangent</a:t>
            </a:r>
            <a:r>
              <a:rPr dirty="0"/>
              <a:t> les </a:t>
            </a:r>
            <a:r>
              <a:rPr dirty="0" err="1"/>
              <a:t>éléments</a:t>
            </a:r>
            <a:r>
              <a:rPr dirty="0"/>
              <a:t> </a:t>
            </a:r>
            <a:r>
              <a:rPr dirty="0" err="1"/>
              <a:t>selon</a:t>
            </a:r>
            <a:r>
              <a:rPr dirty="0"/>
              <a:t> </a:t>
            </a:r>
            <a:r>
              <a:rPr dirty="0" err="1"/>
              <a:t>leur</a:t>
            </a:r>
            <a:r>
              <a:rPr dirty="0"/>
              <a:t> code de </a:t>
            </a:r>
            <a:r>
              <a:rPr dirty="0" err="1"/>
              <a:t>hachage</a:t>
            </a:r>
            <a:r>
              <a:rPr dirty="0"/>
              <a:t>, </a:t>
            </a:r>
            <a:r>
              <a:rPr dirty="0" err="1"/>
              <a:t>ce</a:t>
            </a:r>
            <a:r>
              <a:rPr dirty="0"/>
              <a:t> qui les rend très </a:t>
            </a:r>
            <a:r>
              <a:rPr dirty="0" err="1"/>
              <a:t>rapides</a:t>
            </a:r>
            <a:r>
              <a:rPr dirty="0"/>
              <a:t> </a:t>
            </a:r>
            <a:r>
              <a:rPr dirty="0" err="1"/>
              <a:t>mais</a:t>
            </a:r>
            <a:r>
              <a:rPr dirty="0"/>
              <a:t> ne </a:t>
            </a:r>
            <a:r>
              <a:rPr dirty="0" err="1"/>
              <a:t>garantit</a:t>
            </a:r>
            <a:r>
              <a:rPr dirty="0"/>
              <a:t> </a:t>
            </a:r>
            <a:r>
              <a:rPr dirty="0" err="1"/>
              <a:t>aucun</a:t>
            </a:r>
            <a:r>
              <a:rPr dirty="0"/>
              <a:t> </a:t>
            </a:r>
            <a:r>
              <a:rPr dirty="0" err="1"/>
              <a:t>ordre</a:t>
            </a:r>
            <a:r>
              <a:rPr dirty="0"/>
              <a:t> de </a:t>
            </a:r>
            <a:r>
              <a:rPr dirty="0" err="1"/>
              <a:t>parcours</a:t>
            </a:r>
            <a:r>
              <a:rPr dirty="0"/>
              <a:t>. Les classes </a:t>
            </a:r>
            <a:r>
              <a:rPr dirty="0">
                <a:latin typeface="Consolas"/>
              </a:rPr>
              <a:t>Tree</a:t>
            </a:r>
            <a:r>
              <a:rPr dirty="0"/>
              <a:t> les </a:t>
            </a:r>
            <a:r>
              <a:rPr dirty="0" err="1"/>
              <a:t>rangent</a:t>
            </a:r>
            <a:r>
              <a:rPr dirty="0"/>
              <a:t> dans un </a:t>
            </a:r>
            <a:r>
              <a:rPr dirty="0" err="1"/>
              <a:t>arbre</a:t>
            </a:r>
            <a:r>
              <a:rPr dirty="0"/>
              <a:t> </a:t>
            </a:r>
            <a:r>
              <a:rPr dirty="0" err="1"/>
              <a:t>trié</a:t>
            </a:r>
            <a:r>
              <a:rPr dirty="0"/>
              <a:t> : le </a:t>
            </a:r>
            <a:r>
              <a:rPr dirty="0" err="1"/>
              <a:t>parcours</a:t>
            </a:r>
            <a:r>
              <a:rPr dirty="0"/>
              <a:t> se fait </a:t>
            </a:r>
            <a:r>
              <a:rPr dirty="0" err="1"/>
              <a:t>toujours</a:t>
            </a:r>
            <a:r>
              <a:rPr dirty="0"/>
              <a:t> dans </a:t>
            </a:r>
            <a:r>
              <a:rPr dirty="0" err="1"/>
              <a:t>l'ordre</a:t>
            </a:r>
            <a:r>
              <a:rPr dirty="0"/>
              <a:t>, au prix d'un peu de </a:t>
            </a:r>
            <a:r>
              <a:rPr dirty="0" err="1"/>
              <a:t>vitesse</a:t>
            </a:r>
            <a:r>
              <a:rPr dirty="0"/>
              <a:t>.</a:t>
            </a:r>
          </a:p>
          <a:p>
            <a:r>
              <a:rPr dirty="0"/>
              <a:t>Savoir se comparer est le </a:t>
            </a:r>
            <a:r>
              <a:rPr dirty="0" err="1"/>
              <a:t>cas</a:t>
            </a:r>
            <a:r>
              <a:rPr dirty="0"/>
              <a:t> des </a:t>
            </a:r>
            <a:r>
              <a:rPr dirty="0" err="1"/>
              <a:t>chaînes</a:t>
            </a:r>
            <a:r>
              <a:rPr dirty="0"/>
              <a:t>, des </a:t>
            </a:r>
            <a:r>
              <a:rPr dirty="0" err="1"/>
              <a:t>nombres</a:t>
            </a:r>
            <a:r>
              <a:rPr dirty="0"/>
              <a:t>, des dates et des </a:t>
            </a:r>
            <a:r>
              <a:rPr dirty="0" err="1"/>
              <a:t>énumérations</a:t>
            </a:r>
            <a:r>
              <a:rPr dirty="0"/>
              <a:t>, </a:t>
            </a:r>
            <a:r>
              <a:rPr dirty="0" err="1"/>
              <a:t>dont</a:t>
            </a:r>
            <a:r>
              <a:rPr dirty="0"/>
              <a:t> </a:t>
            </a:r>
            <a:r>
              <a:rPr dirty="0" err="1"/>
              <a:t>l'ordre</a:t>
            </a:r>
            <a:r>
              <a:rPr dirty="0"/>
              <a:t> est </a:t>
            </a:r>
            <a:r>
              <a:rPr dirty="0" err="1"/>
              <a:t>celui</a:t>
            </a:r>
            <a:r>
              <a:rPr dirty="0"/>
              <a:t> de </a:t>
            </a:r>
            <a:r>
              <a:rPr dirty="0" err="1"/>
              <a:t>déclaration</a:t>
            </a:r>
            <a:r>
              <a:rPr dirty="0"/>
              <a:t>, </a:t>
            </a:r>
            <a:r>
              <a:rPr dirty="0" err="1"/>
              <a:t>comme</a:t>
            </a:r>
            <a:r>
              <a:rPr dirty="0"/>
              <a:t> le </a:t>
            </a:r>
            <a:r>
              <a:rPr dirty="0" err="1"/>
              <a:t>montrait</a:t>
            </a:r>
            <a:r>
              <a:rPr dirty="0"/>
              <a:t> ENU.1. Pour </a:t>
            </a:r>
            <a:r>
              <a:rPr dirty="0" err="1"/>
              <a:t>vos</a:t>
            </a:r>
            <a:r>
              <a:rPr dirty="0"/>
              <a:t> </a:t>
            </a:r>
            <a:r>
              <a:rPr dirty="0" err="1"/>
              <a:t>propres</a:t>
            </a:r>
            <a:r>
              <a:rPr dirty="0"/>
              <a:t> classes, il </a:t>
            </a:r>
            <a:r>
              <a:rPr dirty="0" err="1"/>
              <a:t>faudrait</a:t>
            </a:r>
            <a:r>
              <a:rPr dirty="0"/>
              <a:t> </a:t>
            </a:r>
            <a:r>
              <a:rPr dirty="0" err="1"/>
              <a:t>leur</a:t>
            </a:r>
            <a:r>
              <a:rPr dirty="0"/>
              <a:t> </a:t>
            </a:r>
            <a:r>
              <a:rPr dirty="0" err="1"/>
              <a:t>apprendre</a:t>
            </a:r>
            <a:r>
              <a:rPr dirty="0"/>
              <a:t> à se comparer, </a:t>
            </a:r>
            <a:r>
              <a:rPr dirty="0" err="1"/>
              <a:t>ce</a:t>
            </a:r>
            <a:r>
              <a:rPr dirty="0"/>
              <a:t> </a:t>
            </a:r>
            <a:r>
              <a:rPr dirty="0" err="1"/>
              <a:t>que</a:t>
            </a:r>
            <a:r>
              <a:rPr dirty="0"/>
              <a:t> </a:t>
            </a:r>
            <a:r>
              <a:rPr dirty="0" err="1"/>
              <a:t>ce</a:t>
            </a:r>
            <a:r>
              <a:rPr dirty="0"/>
              <a:t> </a:t>
            </a:r>
            <a:r>
              <a:rPr dirty="0" err="1"/>
              <a:t>cours</a:t>
            </a:r>
            <a:r>
              <a:rPr dirty="0"/>
              <a:t> ne </a:t>
            </a:r>
            <a:r>
              <a:rPr dirty="0" err="1"/>
              <a:t>demande</a:t>
            </a:r>
            <a:r>
              <a:rPr dirty="0"/>
              <a:t> pas : un </a:t>
            </a:r>
            <a:r>
              <a:rPr dirty="0" err="1">
                <a:latin typeface="Consolas"/>
              </a:rPr>
              <a:t>TreeSet</a:t>
            </a:r>
            <a:r>
              <a:rPr dirty="0"/>
              <a:t> de records sans </a:t>
            </a:r>
            <a:r>
              <a:rPr dirty="0" err="1"/>
              <a:t>ordre</a:t>
            </a:r>
            <a:r>
              <a:rPr dirty="0"/>
              <a:t> </a:t>
            </a:r>
            <a:r>
              <a:rPr dirty="0" err="1"/>
              <a:t>lève</a:t>
            </a:r>
            <a:r>
              <a:rPr dirty="0"/>
              <a:t> </a:t>
            </a:r>
            <a:r>
              <a:rPr dirty="0" err="1"/>
              <a:t>une</a:t>
            </a:r>
            <a:r>
              <a:rPr dirty="0"/>
              <a:t> exception au premier </a:t>
            </a:r>
            <a:r>
              <a:rPr dirty="0" err="1"/>
              <a:t>ajout</a:t>
            </a:r>
            <a:r>
              <a:rPr dirty="0"/>
              <a:t>.</a:t>
            </a:r>
          </a:p>
          <a:p>
            <a:r>
              <a:rPr dirty="0"/>
              <a:t>Une </a:t>
            </a:r>
            <a:r>
              <a:rPr dirty="0" err="1"/>
              <a:t>troisième</a:t>
            </a:r>
            <a:r>
              <a:rPr dirty="0"/>
              <a:t> </a:t>
            </a:r>
            <a:r>
              <a:rPr dirty="0" err="1"/>
              <a:t>implémentation</a:t>
            </a:r>
            <a:r>
              <a:rPr dirty="0"/>
              <a:t> </a:t>
            </a:r>
            <a:r>
              <a:rPr dirty="0" err="1"/>
              <a:t>existe</a:t>
            </a:r>
            <a:r>
              <a:rPr dirty="0"/>
              <a:t>, </a:t>
            </a:r>
            <a:r>
              <a:rPr dirty="0" err="1">
                <a:latin typeface="Consolas"/>
              </a:rPr>
              <a:t>LinkedHashSet</a:t>
            </a:r>
            <a:r>
              <a:rPr dirty="0"/>
              <a:t> et </a:t>
            </a:r>
            <a:r>
              <a:rPr dirty="0" err="1">
                <a:latin typeface="Consolas"/>
              </a:rPr>
              <a:t>LinkedHashMap</a:t>
            </a:r>
            <a:r>
              <a:rPr dirty="0"/>
              <a:t>, qui garde </a:t>
            </a:r>
            <a:r>
              <a:rPr dirty="0" err="1"/>
              <a:t>l'ordre</a:t>
            </a:r>
            <a:r>
              <a:rPr dirty="0"/>
              <a:t> </a:t>
            </a:r>
            <a:r>
              <a:rPr dirty="0" err="1"/>
              <a:t>d'ajout</a:t>
            </a:r>
            <a:r>
              <a:rPr dirty="0"/>
              <a:t>. Vous ne la </a:t>
            </a:r>
            <a:r>
              <a:rPr dirty="0" err="1"/>
              <a:t>croiserez</a:t>
            </a:r>
            <a:r>
              <a:rPr dirty="0"/>
              <a:t> pas dans les </a:t>
            </a:r>
            <a:r>
              <a:rPr dirty="0" err="1"/>
              <a:t>exercices</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COL.6</a:t>
            </a:r>
            <a:r>
              <a:t> fait constater les deux services d'un ensemble : il ne garde qu'un exemplaire de chaque valeur, et il répond très vite à </a:t>
            </a:r>
            <a:r>
              <a:rPr>
                <a:latin typeface="Consolas"/>
              </a:rPr>
              <a:t>contains</a:t>
            </a:r>
            <a:r>
              <a:t>. La première question demande pourquoi une liste ne le peut pas : cherchez avant de lire la Javadoc.</a:t>
            </a:r>
          </a:p>
          <a:p>
            <a:r>
              <a:t>Le squelette du </a:t>
            </a:r>
            <a:r>
              <a:rPr>
                <a:latin typeface="Consolas"/>
              </a:rPr>
              <a:t>Programme</a:t>
            </a:r>
            <a:r>
              <a:t> vous donne cette fois trois constantes : le nombre de tirages et les deux bornes. Même règle qu'à la slide 2.6, et le même calcul. Le résultat de la deuxième question surprend presque toujours.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table associative, Map en Java, range des couples : sur l'illustration, chaque disque du haut est une clé, reliée à sa valeur en dessous.</a:t>
            </a:r>
          </a:p>
          <a:p>
            <a:r>
              <a:t>On ne la parcourt pas pour chercher : on donne la clé, et la table retourne la valeur. Les clés sont uniques, comme les éléments d'un ensemble ; les valeurs peuvent se répéter, comme la valeur jaune ici.</a:t>
            </a:r>
          </a:p>
          <a:p>
            <a:r>
              <a:t>On la choisit chaque fois qu'on retrouve une information par un identifiant : un dictionnaire, un annuaire, un stock par référence.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table associative, </a:t>
            </a:r>
            <a:r>
              <a:rPr>
                <a:latin typeface="Consolas"/>
              </a:rPr>
              <a:t>Map</a:t>
            </a:r>
            <a:r>
              <a:t> en Java, range des couples clé et valeur. On y range avec </a:t>
            </a:r>
            <a:r>
              <a:rPr>
                <a:latin typeface="Consolas"/>
              </a:rPr>
              <a:t>put</a:t>
            </a:r>
            <a:r>
              <a:t>, on retrouve avec </a:t>
            </a:r>
            <a:r>
              <a:rPr>
                <a:latin typeface="Consolas"/>
              </a:rPr>
              <a:t>get</a:t>
            </a:r>
            <a:r>
              <a:t> en donnant la clé, et on ne parcourt jamais pour chercher. Un dictionnaire, un annuaire, un stock par référence : tout ce qui se consulte par un identifiant est une table.</a:t>
            </a:r>
          </a:p>
          <a:p>
            <a:r>
              <a:t>Les clés sont uniques, comme les éléments d'un ensemble, et pour la même raison : elles sont comparées par </a:t>
            </a:r>
            <a:r>
              <a:rPr>
                <a:latin typeface="Consolas"/>
              </a:rPr>
              <a:t>equals</a:t>
            </a:r>
            <a:r>
              <a:t> et </a:t>
            </a:r>
            <a:r>
              <a:rPr>
                <a:latin typeface="Consolas"/>
              </a:rPr>
              <a:t>hashCode</a:t>
            </a:r>
            <a:r>
              <a:t>, ou rangées dans un arbre pour une </a:t>
            </a:r>
            <a:r>
              <a:rPr>
                <a:latin typeface="Consolas"/>
              </a:rPr>
              <a:t>TreeMap</a:t>
            </a:r>
            <a:r>
              <a:t>. Un second </a:t>
            </a:r>
            <a:r>
              <a:rPr>
                <a:latin typeface="Consolas"/>
              </a:rPr>
              <a:t>put</a:t>
            </a:r>
            <a:r>
              <a:t> avec la même clé remplace la valeur. Les valeurs, elles, peuvent se répéter.</a:t>
            </a:r>
          </a:p>
          <a:p>
            <a:r>
              <a:t>Remarquez qu'une table n'est pas une </a:t>
            </a:r>
            <a:r>
              <a:rPr>
                <a:latin typeface="Consolas"/>
              </a:rPr>
              <a:t>Collection</a:t>
            </a:r>
            <a:r>
              <a:t> : l'interface </a:t>
            </a:r>
            <a:r>
              <a:rPr>
                <a:latin typeface="Consolas"/>
              </a:rPr>
              <a:t>Map</a:t>
            </a:r>
            <a:r>
              <a:t> n'hérite pas de </a:t>
            </a:r>
            <a:r>
              <a:rPr>
                <a:latin typeface="Consolas"/>
              </a:rPr>
              <a:t>Collection</a:t>
            </a:r>
            <a:r>
              <a:t>, et n'a pas de méthode </a:t>
            </a:r>
            <a:r>
              <a:rPr>
                <a:latin typeface="Consolas"/>
              </a:rPr>
              <a:t>add</a:t>
            </a:r>
            <a:r>
              <a:t>.</a:t>
            </a:r>
          </a:p>
          <a:p>
            <a:r>
              <a:rPr lang="fr-BE" dirty="0"/>
              <a:t>Le code complet, à exécuter : demos, classe demo.col.slides.RangerEtRetrouverParCle.</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clé inconnue n'est pas une erreur pour une table : </a:t>
            </a:r>
            <a:r>
              <a:rPr>
                <a:latin typeface="Consolas"/>
              </a:rPr>
              <a:t>get</a:t>
            </a:r>
            <a:r>
              <a:t> retourne simplement </a:t>
            </a:r>
            <a:r>
              <a:rPr>
                <a:latin typeface="Consolas"/>
              </a:rPr>
              <a:t>null</a:t>
            </a:r>
            <a:r>
              <a:t>. C'est au programme de le prévoir.</a:t>
            </a:r>
          </a:p>
          <a:p>
            <a:r>
              <a:t>La dernière ligne est le cas annoncé à la slide 1.4. La valeur </a:t>
            </a:r>
            <a:r>
              <a:rPr>
                <a:latin typeface="Consolas"/>
              </a:rPr>
              <a:t>null</a:t>
            </a:r>
            <a:r>
              <a:t> ne peut pas être convertie en </a:t>
            </a:r>
            <a:r>
              <a:rPr>
                <a:latin typeface="Consolas"/>
              </a:rPr>
              <a:t>int</a:t>
            </a:r>
            <a:r>
              <a:t>, et la conversion automatique échoue à l'exécution, par une </a:t>
            </a:r>
            <a:r>
              <a:rPr>
                <a:latin typeface="Consolas"/>
              </a:rPr>
              <a:t>NullPointerException</a:t>
            </a:r>
            <a:r>
              <a:t> qui ne désigne pas clairement la cause.</a:t>
            </a:r>
          </a:p>
          <a:p>
            <a:r>
              <a:t>La méthode </a:t>
            </a:r>
            <a:r>
              <a:rPr>
                <a:latin typeface="Consolas"/>
              </a:rPr>
              <a:t>getOrDefault</a:t>
            </a:r>
            <a:r>
              <a:t> évite le problème : elle retourne la valeur si la clé existe, et la valeur par défaut fournie sinon. Elle sert souvent quand une absence a un sens naturel, zéro pour un compte, une liste vide pour un ensemble de résultats.</a:t>
            </a:r>
          </a:p>
          <a:p>
            <a:r>
              <a:rPr lang="fr-BE" dirty="0"/>
              <a:t>Le code complet, à exécuter : demos, classe demo.col.slides.RangerEtRetrouverParCle.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table ne se parcourt pas directement, mais elle offre trois vues. La méthode </a:t>
            </a:r>
            <a:r>
              <a:rPr>
                <a:latin typeface="Consolas"/>
              </a:rPr>
              <a:t>keySet</a:t>
            </a:r>
            <a:r>
              <a:t> retourne l'ensemble des clés, </a:t>
            </a:r>
            <a:r>
              <a:rPr>
                <a:latin typeface="Consolas"/>
              </a:rPr>
              <a:t>values</a:t>
            </a:r>
            <a:r>
              <a:t> la collection des valeurs, et </a:t>
            </a:r>
            <a:r>
              <a:rPr>
                <a:latin typeface="Consolas"/>
              </a:rPr>
              <a:t>entrySet</a:t>
            </a:r>
            <a:r>
              <a:t> l'ensemble des couples.</a:t>
            </a:r>
          </a:p>
          <a:p>
            <a:r>
              <a:t>Chaque couple est un objet de type </a:t>
            </a:r>
            <a:r>
              <a:rPr>
                <a:latin typeface="Consolas"/>
              </a:rPr>
              <a:t>Map.Entry</a:t>
            </a:r>
            <a:r>
              <a:t>, avec ses deux accesseurs </a:t>
            </a:r>
            <a:r>
              <a:rPr>
                <a:latin typeface="Consolas"/>
              </a:rPr>
              <a:t>getKey</a:t>
            </a:r>
            <a:r>
              <a:t> et </a:t>
            </a:r>
            <a:r>
              <a:rPr>
                <a:latin typeface="Consolas"/>
              </a:rPr>
              <a:t>getValue</a:t>
            </a:r>
            <a:r>
              <a:t>. Quand on a besoin des deux à la fois, c'est la vue à préférer : parcourir les clés puis appeler </a:t>
            </a:r>
            <a:r>
              <a:rPr>
                <a:latin typeface="Consolas"/>
              </a:rPr>
              <a:t>get</a:t>
            </a:r>
            <a:r>
              <a:t> pour chacune refait une recherche à chaque tour.</a:t>
            </a:r>
          </a:p>
          <a:p>
            <a:r>
              <a:t>Ces vues suivent l'ordre de la table : aucun pour une </a:t>
            </a:r>
            <a:r>
              <a:rPr>
                <a:latin typeface="Consolas"/>
              </a:rPr>
              <a:t>HashMap</a:t>
            </a:r>
            <a:r>
              <a:t>, l'ordre des clés pour une </a:t>
            </a:r>
            <a:r>
              <a:rPr>
                <a:latin typeface="Consolas"/>
              </a:rPr>
              <a:t>TreeMap</a:t>
            </a:r>
            <a:r>
              <a:t>.</a:t>
            </a:r>
          </a:p>
          <a:p>
            <a:r>
              <a:rPr lang="fr-BE" dirty="0"/>
              <a:t>Le code complet, à exécuter : demos, classe demo.col.slides.RangerEtRetrouverParCle.</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COL.2</a:t>
            </a:r>
            <a:r>
              <a:t> range des fiches par nom, puis pose la question qui fait l'exercice : peut-on obtenir les fiches dans l'ordre des noms ? Répondez d'abord sans changer de table, puis en en changeant. La seconde réponse ne demande qu'une ligne, et le test passe toujours.</a:t>
            </a:r>
          </a:p>
          <a:p>
            <a:r>
              <a:rPr>
                <a:latin typeface="Consolas"/>
              </a:rPr>
              <a:t>COL.4</a:t>
            </a:r>
            <a:r>
              <a:t> est l'usage le plus courant d'une table : accumuler un décompte. La méthode </a:t>
            </a:r>
            <a:r>
              <a:rPr>
                <a:latin typeface="Consolas"/>
              </a:rPr>
              <a:t>getOrDefault</a:t>
            </a:r>
            <a:r>
              <a:t> de la slide 4.3 y fait gagner trois lignes. La question de l'ordre y revient, et cette fois elle se règle dans </a:t>
            </a:r>
            <a:r>
              <a:rPr>
                <a:latin typeface="Consolas"/>
              </a:rPr>
              <a:t>rapport</a:t>
            </a:r>
            <a:r>
              <a:t>.</a:t>
            </a:r>
          </a:p>
          <a:p>
            <a:r>
              <a:t>Les deux exercices finissent sur une question de conception. Celle de </a:t>
            </a:r>
            <a:r>
              <a:rPr>
                <a:latin typeface="Consolas"/>
              </a:rPr>
              <a:t>COL.2</a:t>
            </a:r>
            <a:r>
              <a:t> sur </a:t>
            </a:r>
            <a:r>
              <a:rPr>
                <a:latin typeface="Consolas"/>
              </a:rPr>
              <a:t>chercher</a:t>
            </a:r>
            <a:r>
              <a:t>, qui retourne </a:t>
            </a:r>
            <a:r>
              <a:rPr>
                <a:latin typeface="Consolas"/>
              </a:rPr>
              <a:t>null</a:t>
            </a:r>
            <a:r>
              <a:t>, trouvera sa réponse en </a:t>
            </a:r>
            <a:r>
              <a:rPr>
                <a:latin typeface="Consolas"/>
              </a:rPr>
              <a:t>COL.7</a:t>
            </a:r>
            <a:r>
              <a:t>.</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ITF l'avait annoncé : vous utiliseriez des méthodes par défaut sans le savoir, dès ce module. Vous venez de le faire avec </a:t>
            </a:r>
            <a:r>
              <a:rPr>
                <a:latin typeface="Consolas"/>
              </a:rPr>
              <a:t>getOrDefault</a:t>
            </a:r>
            <a:r>
              <a:t>.</a:t>
            </a:r>
          </a:p>
          <a:p>
            <a:r>
              <a:t>Le problème qu'elles ont résolu est celui de la slide 6.3 d'ITF, à l'échelle du monde. Ajouter une méthode abstraite à </a:t>
            </a:r>
            <a:r>
              <a:rPr>
                <a:latin typeface="Consolas"/>
              </a:rPr>
              <a:t>Map</a:t>
            </a:r>
            <a:r>
              <a:t> aurait cassé toutes les classes qui l'implémentent, y compris celles écrites hors du JDK. Une méthode par défaut contient son propre code : chaque table l'a reçue d'office.</a:t>
            </a:r>
          </a:p>
          <a:p>
            <a:r>
              <a:t>Deux de ces méthodes ont une particularité, qui fait le sujet de cette section : elles reçoivent un comportement en paramètre.</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Retirer un élément d'une collection pendant qu'une boucle for-each la parcourt lève une ConcurrentModificationException. L'itérateur caché dans la boucle détecte que la collection a changé sous ses pieds, et refuse de continuer plutôt que de sauter un élément en silence.</a:t>
            </a:r>
          </a:p>
          <a:p>
            <a:r>
              <a:t>Le premier remède écrit l'itérateur explicitement, et lui demande de retirer l'élément qu'il vient de fournir, ce qu'il sait faire sans se perdre.</a:t>
            </a:r>
          </a:p>
          <a:p>
            <a:r>
              <a:t>Le second, plus court, est la méthode removeIf, qui fait exactement ce travail : c'est la slide suivante. La première question de COL.5 vous fait constater le problème avec une boucle : faites-le avant de lire ceci.</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méthode </a:t>
            </a:r>
            <a:r>
              <a:rPr>
                <a:latin typeface="Consolas"/>
              </a:rPr>
              <a:t>removeIf</a:t>
            </a:r>
            <a:r>
              <a:t> parcourt la collection et appelle </a:t>
            </a:r>
            <a:r>
              <a:rPr>
                <a:latin typeface="Consolas"/>
              </a:rPr>
              <a:t>test</a:t>
            </a:r>
            <a:r>
              <a:t> sur chaque élément. Ceux pour lesquels </a:t>
            </a:r>
            <a:r>
              <a:rPr>
                <a:latin typeface="Consolas"/>
              </a:rPr>
              <a:t>test</a:t>
            </a:r>
            <a:r>
              <a:t> retourne </a:t>
            </a:r>
            <a:r>
              <a:rPr>
                <a:latin typeface="Consolas"/>
              </a:rPr>
              <a:t>true</a:t>
            </a:r>
            <a:r>
              <a:t> sont retirés. Elle ignore tout du critère : elle sait seulement qu'on lui a donné un objet capable de répondre oui ou non.</a:t>
            </a:r>
          </a:p>
          <a:p>
            <a:r>
              <a:rPr>
                <a:latin typeface="Consolas"/>
              </a:rPr>
              <a:t>Predicate</a:t>
            </a:r>
            <a:r>
              <a:t> est une interface fonctionnelle, au sens de la slide 6.5 d'ITF : une seule méthode abstraite. Elle appartient au package </a:t>
            </a:r>
            <a:r>
              <a:rPr>
                <a:latin typeface="Consolas"/>
              </a:rPr>
              <a:t>java.util.function</a:t>
            </a:r>
            <a:r>
              <a:t>, qui en contient d'autres, dont </a:t>
            </a:r>
            <a:r>
              <a:rPr>
                <a:latin typeface="Consolas"/>
              </a:rPr>
              <a:t>Function</a:t>
            </a:r>
            <a:r>
              <a:t>, à la section suivante.</a:t>
            </a:r>
          </a:p>
          <a:p>
            <a:r>
              <a:t>Le </a:t>
            </a:r>
            <a:r>
              <a:rPr>
                <a:latin typeface="Consolas"/>
              </a:rPr>
              <a:t>? super E</a:t>
            </a:r>
            <a:r>
              <a:t> se lit « un critère qui sait tester des </a:t>
            </a:r>
            <a:r>
              <a:rPr>
                <a:latin typeface="Consolas"/>
              </a:rPr>
              <a:t>E</a:t>
            </a:r>
            <a:r>
              <a:t> ». Il autorise par exemple un critère écrit pour des </a:t>
            </a:r>
            <a:r>
              <a:rPr>
                <a:latin typeface="Consolas"/>
              </a:rPr>
              <a:t>Object</a:t>
            </a:r>
            <a:r>
              <a:t> sur une liste de </a:t>
            </a:r>
            <a:r>
              <a:rPr>
                <a:latin typeface="Consolas"/>
              </a:rPr>
              <a:t>String</a:t>
            </a:r>
            <a:r>
              <a:t>. Son écriture sera détaillée au module GEN.</a:t>
            </a:r>
          </a:p>
          <a:p>
            <a:r>
              <a:rPr lang="fr-BE" dirty="0"/>
              <a:t>Le code complet, à exécuter : demos, classe demo.col.slides.UneMethodeQuiRecoitUnCritere.</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Vous connaissez déjà tout ce qui est écrit ici. Une classe qui implémente une interface, une méthode redéfinie, et un objet passé en paramètre à une méthode qui ne connaît que l'interface. C'est la slide 1.6 d'ITF, avec une interface que le JDK a écrite à votre place.</a:t>
            </a:r>
          </a:p>
          <a:p>
            <a:r>
              <a:t>La classe porte un nom qui dit ce qu'elle teste. On peut la réutiliser, et la tester séparément. Le critère, lui, est une constante nommée : la règle de la slide 2.6 vaut partout.</a:t>
            </a:r>
          </a:p>
          <a:p>
            <a:r>
              <a:rPr lang="fr-BE" dirty="0"/>
              <a:t>Le code complet, à exécuter : demos, classe demo.col.slides.UneMethodeQuiRecoitUnCritere.</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COL.5</a:t>
            </a:r>
            <a:r>
              <a:t> applique exactement la slide précédente, sur des nombres pairs. La classe </a:t>
            </a:r>
            <a:r>
              <a:rPr>
                <a:latin typeface="Consolas"/>
              </a:rPr>
              <a:t>EstPair</a:t>
            </a:r>
            <a:r>
              <a:t> est testée seule, puis employée par deux méthodes, dont une qui compte sans rien supprimer.</a:t>
            </a:r>
          </a:p>
          <a:p>
            <a:r>
              <a:t>La première question vous fait essayer de supprimer les pairs autrement, avec une boucle. Faites-le vraiment : ce que vous obtiendrez explique pourquoi </a:t>
            </a:r>
            <a:r>
              <a:rPr>
                <a:latin typeface="Consolas"/>
              </a:rPr>
              <a:t>removeIf</a:t>
            </a:r>
            <a:r>
              <a:t> existe.</a:t>
            </a:r>
          </a:p>
          <a:p>
            <a:r>
              <a:t>Le squelette du </a:t>
            </a:r>
            <a:r>
              <a:rPr>
                <a:latin typeface="Consolas"/>
              </a:rPr>
              <a:t>Programme</a:t>
            </a:r>
            <a:r>
              <a:t> vous donne de nouveau trois constantes.</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seule question, deux réponses : comment Java sait-il dans quel ordre ranger mes objets ? Un TreeSet, une TreeMap et le tri d'une liste ont tous besoin de savoir, pour deux éléments, lequel vient avant l'autre. Soit la classe le définit elle-même, c'est son ordre naturel ; soit on fournit un ordre de l'extérieur, un parmi d'autres.</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TreeSet ou une TreeMap doit savoir, pour deux éléments quelconques, lequel vient avant l'autre. Les chaînes, les nombres, les dates et les énumérations le savent déjà, parce que leurs classes implémentent l'interface Comparable. Une classe que vous écrivez peut faire de même.</a:t>
            </a:r>
          </a:p>
          <a:p>
            <a:r>
              <a:t>L'interface ne déclare qu'une méthode, compareTo, et son résultat se lit par son signe : négatif si l'objet vient avant l'autre, zéro s'ils sont au même rang, positif s'il vient après. Pour comparer deux nombres, Integer.compare fait le travail. Évitez la soustraction numero - autre.numero, qu'on voit souvent : elle déborde pour de très grands écarts, et retourne alors le mauvais signe.</a:t>
            </a:r>
          </a:p>
          <a:p>
            <a:r>
              <a:t>C'est l'ordre naturel de la classe, celui qu'un TreeSet et Collections.sort emploient quand on ne leur dit rien. Attention : un TreeSet considère comme doublons deux éléments dont compareTo retourne zéro, même s'ils ne sont pas égaux au sens d'equals.</a:t>
            </a:r>
          </a:p>
          <a:p>
            <a:r>
              <a:t>Pour un autre ordre, on le fournit de l'extérieur, avec un Comparator : c'est la slide suivante.</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Comparator est une autre interface fonctionnelle de java.util : sa méthode compare reçoit les deux éléments, et retourne un nombre dont le signe se lit comme celui de compareTo.</a:t>
            </a:r>
          </a:p>
          <a:p>
            <a:r>
              <a:t>La différence est dans la place. Comparable est implémentée par la classe elle-même, et donne son ordre ; un Comparator est un objet à part, et donne un ordre parmi d'autres. On peut en écrire autant qu'on veut pour la même classe : par titre, par longueur, par année. C'est aussi la seule solution pour une classe qu'on ne peut pas modifier.</a:t>
            </a:r>
          </a:p>
          <a:p>
            <a:r>
              <a:t>On le passe à sort, pour trier une liste, ou au constructeur d'un TreeSet ou d'une TreeMap, pour qu'ils rangent selon cet ordre. C'est le mécanisme de la section 5 : un comportement passé en paramètre, comme le Predicate de removeIf.</a:t>
            </a:r>
          </a:p>
          <a:p>
            <a:r>
              <a:t>Au module LAM, ce même comparateur s'écrira en une ligne, sans classe.</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deux mécanismes répondent à la même question, et le choix se fait sur une seule idée : l'ordre appartient-il à la classe, ou à l'usage qu'on en fait ?</a:t>
            </a:r>
          </a:p>
          <a:p>
            <a:r>
              <a:t>Comparable convient quand il existe un ordre évident, qu'on voudra presque toujours : les numéros d'exemplaire, les dates, l'ordre alphabétique d'un nom. La classe le définit une fois pour toutes, et un TreeSet ou Collections.sort l'emploient sans qu'on leur dise rien.</a:t>
            </a:r>
          </a:p>
          <a:p>
            <a:r>
              <a:t>Comparator convient dans tous les autres cas : un ordre ponctuel (trier par longueur pour un affichage), plusieurs ordres pour la même classe (par titre, par année), ou une classe qu'on ne peut pas modifier, comme String.</a:t>
            </a:r>
          </a:p>
          <a:p>
            <a:r>
              <a:t>Les deux coexistent sans problème : une classe peut avoir son ordre naturel, et des comparateurs pour les autres besoins.</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collection peut contenir des collections. </a:t>
            </a:r>
            <a:r>
              <a:rPr>
                <a:latin typeface="Consolas"/>
              </a:rPr>
              <a:t>Map&lt;String, List&lt;String&gt;&gt;</a:t>
            </a:r>
            <a:r>
              <a:t> se lit en partant de l'extérieur : une table, dont les clés sont des chaînes, et dont chaque valeur est une liste de chaînes. Ici, les titres de chaque auteur.</a:t>
            </a:r>
          </a:p>
          <a:p>
            <a:r>
              <a:t>La déclaration documente la structure à elle seule. Sans lire une ligne de plus, on sait qu'un auteur a plusieurs titres, et qu'ils sont ordonnés.</a:t>
            </a:r>
          </a:p>
          <a:p>
            <a:r>
              <a:t>La table, en revanche, ne crée rien d'elle-même. Tant qu'aucun titre de Zola n'a été rangé, il n'existe aucune liste pour Zola, et </a:t>
            </a:r>
            <a:r>
              <a:rPr>
                <a:latin typeface="Consolas"/>
              </a:rPr>
              <a:t>get</a:t>
            </a:r>
            <a:r>
              <a:t> retourne </a:t>
            </a:r>
            <a:r>
              <a:rPr>
                <a:latin typeface="Consolas"/>
              </a:rPr>
              <a:t>null</a:t>
            </a:r>
            <a:r>
              <a:t>. Ajouter un titre demande donc deux étapes : obtenir la liste, en la créant si elle n'existe pas encore, puis y ajouter.</a:t>
            </a:r>
          </a:p>
          <a:p>
            <a:r>
              <a:rPr lang="fr-BE" dirty="0"/>
              <a:t>Le code complet, à exécuter : demos, classe demo.col.slides.LireUnTypeEmboite.</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méthode </a:t>
            </a:r>
            <a:r>
              <a:rPr>
                <a:latin typeface="Consolas"/>
              </a:rPr>
              <a:t>computeIfAbsent</a:t>
            </a:r>
            <a:r>
              <a:t> fait les deux étapes de la slide précédente en une. Si la clé a déjà une valeur, elle la retourne. Sinon, elle appelle la méthode </a:t>
            </a:r>
            <a:r>
              <a:rPr>
                <a:latin typeface="Consolas"/>
              </a:rPr>
              <a:t>apply</a:t>
            </a:r>
            <a:r>
              <a:t> de l'objet reçu, range le résultat dans la table, et le retourne. On ajoute ensuite le titre à la liste obtenue, qu'elle soit ancienne ou neuve.</a:t>
            </a:r>
          </a:p>
          <a:p>
            <a:r>
              <a:rPr>
                <a:latin typeface="Consolas"/>
              </a:rPr>
              <a:t>Function&lt;T, R&gt;</a:t>
            </a:r>
            <a:r>
              <a:t> est une interface fonctionnelle de </a:t>
            </a:r>
            <a:r>
              <a:rPr>
                <a:latin typeface="Consolas"/>
              </a:rPr>
              <a:t>java.util.function</a:t>
            </a:r>
            <a:r>
              <a:t>, comme </a:t>
            </a:r>
            <a:r>
              <a:rPr>
                <a:latin typeface="Consolas"/>
              </a:rPr>
              <a:t>Predicate</a:t>
            </a:r>
            <a:r>
              <a:t> : sa méthode </a:t>
            </a:r>
            <a:r>
              <a:rPr>
                <a:latin typeface="Consolas"/>
              </a:rPr>
              <a:t>apply</a:t>
            </a:r>
            <a:r>
              <a:t> reçoit un </a:t>
            </a:r>
            <a:r>
              <a:rPr>
                <a:latin typeface="Consolas"/>
              </a:rPr>
              <a:t>T</a:t>
            </a:r>
            <a:r>
              <a:t> et retourne un </a:t>
            </a:r>
            <a:r>
              <a:rPr>
                <a:latin typeface="Consolas"/>
              </a:rPr>
              <a:t>R</a:t>
            </a:r>
            <a:r>
              <a:t>. Le mécanisme est celui de la section 5. La méthode </a:t>
            </a:r>
            <a:r>
              <a:rPr>
                <a:latin typeface="Consolas"/>
              </a:rPr>
              <a:t>removeIf</a:t>
            </a:r>
            <a:r>
              <a:t> recevait un objet qui sait tester, </a:t>
            </a:r>
            <a:r>
              <a:rPr>
                <a:latin typeface="Consolas"/>
              </a:rPr>
              <a:t>computeIfAbsent</a:t>
            </a:r>
            <a:r>
              <a:t> reçoit un objet qui sait fabriquer.</a:t>
            </a:r>
          </a:p>
          <a:p>
            <a:r>
              <a:t>La méthode </a:t>
            </a:r>
            <a:r>
              <a:rPr>
                <a:latin typeface="Consolas"/>
              </a:rPr>
              <a:t>apply</a:t>
            </a:r>
            <a:r>
              <a:t> reçoit la clé, ici le nom de l'auteur. Elle n'en a pas besoin pour créer une liste vide, mais l'interface le lui donne.</a:t>
            </a:r>
          </a:p>
          <a:p>
            <a:r>
              <a:rPr lang="fr-BE" dirty="0"/>
              <a:t>Le code complet, à exécuter : demos, classe demo.col.slides.LireUnTypeEmboite.</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COL.7</a:t>
            </a:r>
            <a:r>
              <a:t> emboîte une table et des ensembles : à chaque étudiant, les cours qu'il suit. Le fascicule explique les deux décisions de conception, un ensemble plutôt qu'une liste, un ensemble vide plutôt que </a:t>
            </a:r>
            <a:r>
              <a:rPr>
                <a:latin typeface="Consolas"/>
              </a:rPr>
              <a:t>null</a:t>
            </a:r>
            <a:r>
              <a:t>. Comparez la seconde avec le </a:t>
            </a:r>
            <a:r>
              <a:rPr>
                <a:latin typeface="Consolas"/>
              </a:rPr>
              <a:t>chercher</a:t>
            </a:r>
            <a:r>
              <a:t> de </a:t>
            </a:r>
            <a:r>
              <a:rPr>
                <a:latin typeface="Consolas"/>
              </a:rPr>
              <a:t>COL.2</a:t>
            </a:r>
            <a:r>
              <a:t>.</a:t>
            </a:r>
          </a:p>
          <a:p>
            <a:r>
              <a:t>Vous y écrivez aussi une classe </a:t>
            </a:r>
            <a:r>
              <a:rPr>
                <a:latin typeface="Consolas"/>
              </a:rPr>
              <a:t>NouvelEnsemble</a:t>
            </a:r>
            <a:r>
              <a:t>, sur le modèle de la slide précédente. La première question vous demande d'écrire la même méthode sans </a:t>
            </a:r>
            <a:r>
              <a:rPr>
                <a:latin typeface="Consolas"/>
              </a:rPr>
              <a:t>computeIfAbsent</a:t>
            </a:r>
            <a:r>
              <a:t> : faites-le, pour mesurer ce qu'elle épargne.</a:t>
            </a:r>
          </a:p>
          <a:p>
            <a:r>
              <a:t>La dernière question porte sur ce que </a:t>
            </a:r>
            <a:r>
              <a:rPr>
                <a:latin typeface="Consolas"/>
              </a:rPr>
              <a:t>coursDe</a:t>
            </a:r>
            <a:r>
              <a:t> livre à son appelant. Elle renvoie au mémento Clean Code, et à la fin de la démonstration.</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file à deux bouts, Deque en Java, est une suite d'éléments qu'on ne touche que par ses extrémités : on ajoute et on retire au début ou à la fin, jamais au milieu, comme le montrent les deux flèches.</a:t>
            </a:r>
          </a:p>
          <a:p>
            <a:r>
              <a:t>C'est le modèle d'une file d'attente, qu'on sert par un bout et qu'on allonge par l'autre, ou d'une pioche de cartes, qu'on prend par-dessus et qu'on complète par-dessous.</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a:t>
            </a:r>
            <a:r>
              <a:rPr>
                <a:latin typeface="Consolas"/>
              </a:rPr>
              <a:t>Deque</a:t>
            </a:r>
            <a:r>
              <a:t>, file à double entrée, se prononce « dèque ». C'est une liste qu'on ne manipule que par ses deux bouts. Ce n'est pas une limite gênante : beaucoup de problèmes n'ont besoin de rien d'autre, et la structure le dit alors clairement.</a:t>
            </a:r>
          </a:p>
          <a:p>
            <a:r>
              <a:t>Une file d'attente ajoute à la fin et sert au début. Une pioche de cartes prend au-dessus et, au jeu de bataille, remet les cartes gagnées en dessous. C'est le rôle qu'elle jouera dans le fil rouge.</a:t>
            </a:r>
          </a:p>
          <a:p>
            <a:r>
              <a:rPr>
                <a:latin typeface="Consolas"/>
              </a:rPr>
              <a:t>ArrayDeque</a:t>
            </a:r>
            <a:r>
              <a:t> est l'implémentation à préférer. </a:t>
            </a:r>
            <a:r>
              <a:rPr>
                <a:latin typeface="Consolas"/>
              </a:rPr>
              <a:t>LinkedList</a:t>
            </a:r>
            <a:r>
              <a:t>, vue à la slide 2.4, implémente aussi </a:t>
            </a:r>
            <a:r>
              <a:rPr>
                <a:latin typeface="Consolas"/>
              </a:rPr>
              <a:t>Deque</a:t>
            </a:r>
            <a:r>
              <a:t>, mais elle est plus lente pour cet usage.</a:t>
            </a:r>
          </a:p>
          <a:p>
            <a:r>
              <a:rPr lang="fr-BE" dirty="0"/>
              <a:t>Le code complet, à exécuter : demos, classe demo.col.slides.UneFileADeuxBouts.</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méthodes existent par paires symétriques : </a:t>
            </a:r>
            <a:r>
              <a:rPr>
                <a:latin typeface="Consolas"/>
              </a:rPr>
              <a:t>addFirst</a:t>
            </a:r>
            <a:r>
              <a:t> et </a:t>
            </a:r>
            <a:r>
              <a:rPr>
                <a:latin typeface="Consolas"/>
              </a:rPr>
              <a:t>addLast</a:t>
            </a:r>
            <a:r>
              <a:t>, </a:t>
            </a:r>
            <a:r>
              <a:rPr>
                <a:latin typeface="Consolas"/>
              </a:rPr>
              <a:t>pollFirst</a:t>
            </a:r>
            <a:r>
              <a:t> et </a:t>
            </a:r>
            <a:r>
              <a:rPr>
                <a:latin typeface="Consolas"/>
              </a:rPr>
              <a:t>pollLast</a:t>
            </a:r>
            <a:r>
              <a:t>, </a:t>
            </a:r>
            <a:r>
              <a:rPr>
                <a:latin typeface="Consolas"/>
              </a:rPr>
              <a:t>peekFirst</a:t>
            </a:r>
            <a:r>
              <a:t> et </a:t>
            </a:r>
            <a:r>
              <a:rPr>
                <a:latin typeface="Consolas"/>
              </a:rPr>
              <a:t>peekLast</a:t>
            </a:r>
            <a:r>
              <a:t>.</a:t>
            </a:r>
          </a:p>
          <a:p>
            <a:r>
              <a:t>Il existe une seconde famille, </a:t>
            </a:r>
            <a:r>
              <a:rPr>
                <a:latin typeface="Consolas"/>
              </a:rPr>
              <a:t>removeFirst</a:t>
            </a:r>
            <a:r>
              <a:t> et </a:t>
            </a:r>
            <a:r>
              <a:rPr>
                <a:latin typeface="Consolas"/>
              </a:rPr>
              <a:t>getFirst</a:t>
            </a:r>
            <a:r>
              <a:t>, qui font la même chose mais lèvent une exception sur une file vide au lieu de retourner </a:t>
            </a:r>
            <a:r>
              <a:rPr>
                <a:latin typeface="Consolas"/>
              </a:rPr>
              <a:t>null</a:t>
            </a:r>
            <a:r>
              <a:t>. Les deux familles se valent. Ce qui compte est de vérifier que la file n'est pas vide avant de puiser, comme dans la boucle ci-dessus.</a:t>
            </a:r>
          </a:p>
          <a:p>
            <a:r>
              <a:t>Le jeu de bataille tient tout entier dans cette boucle : tant qu'aucune pioche n'est vide, chaque joueur prend sa première carte, et le gagnant remet les deux à la fin de la sienne.</a:t>
            </a:r>
          </a:p>
          <a:p>
            <a:r>
              <a:rPr lang="fr-BE" dirty="0"/>
              <a:t>Le code complet, à exécuter : demos, classe demo.col.slides.UneFileADeuxBouts.</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quatrième partie de GameHub écrit un jeu de bataille, et elle s'appuie sur ce module de bout en bout.</a:t>
            </a:r>
          </a:p>
          <a:p>
            <a:r>
              <a:rPr>
                <a:latin typeface="Consolas"/>
              </a:rPr>
              <a:t>G.21</a:t>
            </a:r>
            <a:r>
              <a:t> reprend le </a:t>
            </a:r>
            <a:r>
              <a:rPr>
                <a:latin typeface="Consolas"/>
              </a:rPr>
              <a:t>Deck</a:t>
            </a:r>
            <a:r>
              <a:t> d'</a:t>
            </a:r>
            <a:r>
              <a:rPr>
                <a:latin typeface="Consolas"/>
              </a:rPr>
              <a:t>ENU.3</a:t>
            </a:r>
            <a:r>
              <a:t>, qui rangeait ses cartes dans un tableau, et le passe à une </a:t>
            </a:r>
            <a:r>
              <a:rPr>
                <a:latin typeface="Consolas"/>
              </a:rPr>
              <a:t>List</a:t>
            </a:r>
            <a:r>
              <a:t>. Trois choses changent : le champ, le constructeur, et le mélange, qui se réduit à </a:t>
            </a:r>
            <a:r>
              <a:rPr>
                <a:latin typeface="Consolas"/>
              </a:rPr>
              <a:t>Collections.shuffle</a:t>
            </a:r>
            <a:r>
              <a:t>. C'est la slide 2.5.</a:t>
            </a:r>
          </a:p>
          <a:p>
            <a:r>
              <a:rPr>
                <a:latin typeface="Consolas"/>
              </a:rPr>
              <a:t>G.22</a:t>
            </a:r>
            <a:r>
              <a:t> donne une valeur à chaque carte. L'ordre de déclaration de l'énumération </a:t>
            </a:r>
            <a:r>
              <a:rPr>
                <a:latin typeface="Consolas"/>
              </a:rPr>
              <a:t>Valeur</a:t>
            </a:r>
            <a:r>
              <a:t> décide de la force des cartes, ce que montrait </a:t>
            </a:r>
            <a:r>
              <a:rPr>
                <a:latin typeface="Consolas"/>
              </a:rPr>
              <a:t>ENU.1</a:t>
            </a:r>
            <a:r>
              <a:t>. </a:t>
            </a:r>
            <a:r>
              <a:rPr>
                <a:latin typeface="Consolas"/>
              </a:rPr>
              <a:t>G.23</a:t>
            </a:r>
            <a:r>
              <a:t> écrit une première version du jeu, où les cartes égales sont simplement jetées, et distribue le paquet dans deux </a:t>
            </a:r>
            <a:r>
              <a:rPr>
                <a:latin typeface="Consolas"/>
              </a:rPr>
              <a:t>Deque</a:t>
            </a:r>
            <a:r>
              <a:t>.</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trois incréments suivants écrivent la méthode jouer, en trois temps. La mise en place crée les deux pioches, des ArrayDeque, et une liste pour les cartes retirées. La boucle est celle de la slide 8.3 : pollFirst pour piocher, addLast pour remettre. Le résultat se lit dans l'état des deux pioches à la sortie.</a:t>
            </a:r>
          </a:p>
          <a:p>
            <a:r>
              <a:rPr>
                <a:latin typeface="Consolas"/>
              </a:rPr>
              <a:t>G.27</a:t>
            </a:r>
            <a:r>
              <a:t> traite enfin la bataille elle-même, quand deux cartes sont égales. Les cartes déposées s'accumulent dans une liste, le pot, que le gagnant ramasse.</a:t>
            </a:r>
          </a:p>
          <a:p>
            <a:r>
              <a:t>Vous aurez employé dans ce seul jeu une liste, deux files à deux bouts, une méthode de </a:t>
            </a:r>
            <a:r>
              <a:rPr>
                <a:latin typeface="Consolas"/>
              </a:rPr>
              <a:t>Collections</a:t>
            </a:r>
            <a:r>
              <a:t> et une énumération ordonnée. C'est un bon test de ce que vous avez retenu.</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COL.8 met en pratique toute la section : un record qui reçoit son ordre naturel par compareTo, deux comparateurs pour les autres ordres, et trois méthodes qui trient une copie de la liste.</a:t>
            </a:r>
          </a:p>
          <a:p>
            <a:r>
              <a:t>Le piège à faire découvrir est dans la première question de l'énoncé : un TreeSet range ses éléments avec le comparateur, et considère comme doublons deux livres pour lesquels il retourne 0. Un comparateur par auteur seul ne garderait qu'un livre par auteur. Le second critère, le titre, n'est pas un détail.</a:t>
            </a:r>
          </a:p>
          <a:p>
            <a:r>
              <a:t>Pour les années, Integer.compare plutôt qu'une soustraction : la note de bas de page du support montre le débordement. Au module LAM, ces deux comparateurs tiendront chacun en une ligne.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6.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 Id="rId3"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7.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 Id="rId3"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8.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8.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 Id="rId3" Type="http://schemas.openxmlformats.org/officeDocument/2006/relationships/image" Target="../media/image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9.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 Id="rId3" Type="http://schemas.openxmlformats.org/officeDocument/2006/relationships/image" Target="../media/image10.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 Id="rId3" Type="http://schemas.openxmlformats.org/officeDocument/2006/relationships/image" Target="../media/image10.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Module COL</a:t>
            </a:r>
          </a:p>
          <a:p>
            <a:r>
              <a:t>Collections</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Au programme</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grpSp>
        <p:nvGrpSpPr>
          <p:cNvPr id="17" name="Section 1"/>
          <p:cNvGrpSpPr/>
          <p:nvPr/>
        </p:nvGrpSpPr>
        <p:grpSpPr>
          <a:xfrm>
            <a:off x="640080" y="1463040"/>
            <a:ext cx="5394960" cy="914400"/>
            <a:chOff x="640080" y="1463040"/>
            <a:chExt cx="5394960" cy="914400"/>
          </a:xfrm>
        </p:grpSpPr>
        <p:sp>
          <p:nvSpPr>
            <p:cNvPr id="24" name="Sommaire du module"/>
            <p:cNvSpPr/>
            <p:nvPr/>
          </p:nvSpPr>
          <p:spPr>
            <a:xfrm>
              <a:off x="64008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ommaire du module, texte"/>
            <p:cNvSpPr txBox="1"/>
            <p:nvPr/>
          </p:nvSpPr>
          <p:spPr>
            <a:xfrm>
              <a:off x="822959" y="1463040"/>
              <a:ext cx="5029200" cy="914400"/>
            </a:xfrm>
            <a:prstGeom prst="rect">
              <a:avLst/>
            </a:prstGeom>
            <a:noFill/>
          </p:spPr>
          <p:txBody>
            <a:bodyPr wrap="none" anchor="ctr">
              <a:spAutoFit/>
            </a:bodyPr>
            <a:lstStyle/>
            <a:p>
              <a:r>
                <a:rPr sz="3000" b="1">
                  <a:solidFill>
                    <a:schemeClr val="accent4"/>
                  </a:solidFill>
                </a:rPr>
                <a:t>1   </a:t>
              </a:r>
              <a:r>
                <a:rPr sz="2600">
                  <a:solidFill>
                    <a:srgbClr val="FFFFFF"/>
                  </a:solidFill>
                </a:rPr>
                <a:t>Une structure qui grandit</a:t>
              </a:r>
            </a:p>
          </p:txBody>
        </p:sp>
      </p:grpSp>
      <p:grpSp>
        <p:nvGrpSpPr>
          <p:cNvPr id="18" name="Section 2"/>
          <p:cNvGrpSpPr/>
          <p:nvPr/>
        </p:nvGrpSpPr>
        <p:grpSpPr>
          <a:xfrm>
            <a:off x="640080" y="2560320"/>
            <a:ext cx="5394960" cy="914400"/>
            <a:chOff x="640080" y="2560320"/>
            <a:chExt cx="5394960" cy="914400"/>
          </a:xfrm>
        </p:grpSpPr>
        <p:sp>
          <p:nvSpPr>
            <p:cNvPr id="5" name="Sommaire du module"/>
            <p:cNvSpPr/>
            <p:nvPr/>
          </p:nvSpPr>
          <p:spPr>
            <a:xfrm>
              <a:off x="64008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ommaire du module, texte"/>
            <p:cNvSpPr txBox="1"/>
            <p:nvPr/>
          </p:nvSpPr>
          <p:spPr>
            <a:xfrm>
              <a:off x="822959" y="2560320"/>
              <a:ext cx="5029200" cy="914400"/>
            </a:xfrm>
            <a:prstGeom prst="rect">
              <a:avLst/>
            </a:prstGeom>
            <a:noFill/>
          </p:spPr>
          <p:txBody>
            <a:bodyPr wrap="none" anchor="ctr">
              <a:spAutoFit/>
            </a:bodyPr>
            <a:lstStyle/>
            <a:p>
              <a:r>
                <a:rPr sz="3000" b="1">
                  <a:solidFill>
                    <a:schemeClr val="accent4"/>
                  </a:solidFill>
                </a:rPr>
                <a:t>2   </a:t>
              </a:r>
              <a:r>
                <a:rPr sz="2600">
                  <a:solidFill>
                    <a:srgbClr val="FFFFFF"/>
                  </a:solidFill>
                </a:rPr>
                <a:t>Les listes</a:t>
              </a:r>
            </a:p>
          </p:txBody>
        </p:sp>
      </p:grpSp>
      <p:grpSp>
        <p:nvGrpSpPr>
          <p:cNvPr id="19" name="Section 3"/>
          <p:cNvGrpSpPr/>
          <p:nvPr/>
        </p:nvGrpSpPr>
        <p:grpSpPr>
          <a:xfrm>
            <a:off x="640080" y="3657600"/>
            <a:ext cx="5394960" cy="914400"/>
            <a:chOff x="640080" y="3657600"/>
            <a:chExt cx="5394960" cy="914400"/>
          </a:xfrm>
        </p:grpSpPr>
        <p:sp>
          <p:nvSpPr>
            <p:cNvPr id="7" name="Sommaire du module"/>
            <p:cNvSpPr/>
            <p:nvPr/>
          </p:nvSpPr>
          <p:spPr>
            <a:xfrm>
              <a:off x="640080" y="365760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ommaire du module, texte"/>
            <p:cNvSpPr txBox="1"/>
            <p:nvPr/>
          </p:nvSpPr>
          <p:spPr>
            <a:xfrm>
              <a:off x="822959" y="3657600"/>
              <a:ext cx="5029200" cy="914400"/>
            </a:xfrm>
            <a:prstGeom prst="rect">
              <a:avLst/>
            </a:prstGeom>
            <a:noFill/>
          </p:spPr>
          <p:txBody>
            <a:bodyPr wrap="none" anchor="ctr">
              <a:spAutoFit/>
            </a:bodyPr>
            <a:lstStyle/>
            <a:p>
              <a:r>
                <a:rPr sz="3000" b="1">
                  <a:solidFill>
                    <a:schemeClr val="accent4"/>
                  </a:solidFill>
                </a:rPr>
                <a:t>3   </a:t>
              </a:r>
              <a:r>
                <a:rPr sz="2600">
                  <a:solidFill>
                    <a:srgbClr val="FFFFFF"/>
                  </a:solidFill>
                </a:rPr>
                <a:t>Les ensembles</a:t>
              </a:r>
            </a:p>
          </p:txBody>
        </p:sp>
      </p:grpSp>
      <p:grpSp>
        <p:nvGrpSpPr>
          <p:cNvPr id="20" name="Section 4"/>
          <p:cNvGrpSpPr/>
          <p:nvPr/>
        </p:nvGrpSpPr>
        <p:grpSpPr>
          <a:xfrm>
            <a:off x="640080" y="4754879"/>
            <a:ext cx="5394960" cy="914400"/>
            <a:chOff x="640080" y="4754879"/>
            <a:chExt cx="5394960" cy="914400"/>
          </a:xfrm>
        </p:grpSpPr>
        <p:sp>
          <p:nvSpPr>
            <p:cNvPr id="9" name="Sommaire du module"/>
            <p:cNvSpPr/>
            <p:nvPr/>
          </p:nvSpPr>
          <p:spPr>
            <a:xfrm>
              <a:off x="640080" y="4754879"/>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ommaire du module, texte"/>
            <p:cNvSpPr txBox="1"/>
            <p:nvPr/>
          </p:nvSpPr>
          <p:spPr>
            <a:xfrm>
              <a:off x="822959" y="4754879"/>
              <a:ext cx="5029200" cy="914400"/>
            </a:xfrm>
            <a:prstGeom prst="rect">
              <a:avLst/>
            </a:prstGeom>
            <a:noFill/>
          </p:spPr>
          <p:txBody>
            <a:bodyPr wrap="none" anchor="ctr">
              <a:spAutoFit/>
            </a:bodyPr>
            <a:lstStyle/>
            <a:p>
              <a:r>
                <a:rPr sz="3000" b="1" dirty="0">
                  <a:solidFill>
                    <a:schemeClr val="accent4"/>
                  </a:solidFill>
                </a:rPr>
                <a:t>4   </a:t>
              </a:r>
              <a:r>
                <a:rPr sz="2600" dirty="0">
                  <a:solidFill>
                    <a:srgbClr val="FFFFFF"/>
                  </a:solidFill>
                </a:rPr>
                <a:t>Les tables </a:t>
              </a:r>
              <a:r>
                <a:rPr sz="2600" dirty="0" err="1">
                  <a:solidFill>
                    <a:srgbClr val="FFFFFF"/>
                  </a:solidFill>
                </a:rPr>
                <a:t>associatives</a:t>
              </a:r>
              <a:endParaRPr sz="2600" dirty="0">
                <a:solidFill>
                  <a:srgbClr val="FFFFFF"/>
                </a:solidFill>
              </a:endParaRPr>
            </a:p>
          </p:txBody>
        </p:sp>
      </p:grpSp>
      <p:grpSp>
        <p:nvGrpSpPr>
          <p:cNvPr id="21" name="Section 5"/>
          <p:cNvGrpSpPr/>
          <p:nvPr/>
        </p:nvGrpSpPr>
        <p:grpSpPr>
          <a:xfrm>
            <a:off x="6217920" y="1463040"/>
            <a:ext cx="5394960" cy="914400"/>
            <a:chOff x="6217920" y="1463040"/>
            <a:chExt cx="5394960" cy="914400"/>
          </a:xfrm>
        </p:grpSpPr>
        <p:sp>
          <p:nvSpPr>
            <p:cNvPr id="11" name="Sommaire du module"/>
            <p:cNvSpPr/>
            <p:nvPr/>
          </p:nvSpPr>
          <p:spPr>
            <a:xfrm>
              <a:off x="621792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ommaire du module, texte"/>
            <p:cNvSpPr txBox="1"/>
            <p:nvPr/>
          </p:nvSpPr>
          <p:spPr>
            <a:xfrm>
              <a:off x="6400800" y="1463040"/>
              <a:ext cx="5029200" cy="914400"/>
            </a:xfrm>
            <a:prstGeom prst="rect">
              <a:avLst/>
            </a:prstGeom>
            <a:noFill/>
          </p:spPr>
          <p:txBody>
            <a:bodyPr wrap="none" anchor="ctr">
              <a:spAutoFit/>
            </a:bodyPr>
            <a:lstStyle/>
            <a:p>
              <a:r>
                <a:rPr sz="3000" b="1">
                  <a:solidFill>
                    <a:schemeClr val="accent4"/>
                  </a:solidFill>
                </a:rPr>
                <a:t>5   </a:t>
              </a:r>
              <a:r>
                <a:rPr sz="2600">
                  <a:solidFill>
                    <a:srgbClr val="FFFFFF"/>
                  </a:solidFill>
                </a:rPr>
                <a:t>Passer un comportement</a:t>
              </a:r>
            </a:p>
          </p:txBody>
        </p:sp>
      </p:grpSp>
      <p:grpSp>
        <p:nvGrpSpPr>
          <p:cNvPr id="22" name="Section 6"/>
          <p:cNvGrpSpPr/>
          <p:nvPr/>
        </p:nvGrpSpPr>
        <p:grpSpPr>
          <a:xfrm>
            <a:off x="6217920" y="2560320"/>
            <a:ext cx="5394960" cy="914400"/>
            <a:chOff x="6217920" y="2560320"/>
            <a:chExt cx="5394960" cy="914400"/>
          </a:xfrm>
        </p:grpSpPr>
        <p:sp>
          <p:nvSpPr>
            <p:cNvPr id="13" name="Sommaire du module"/>
            <p:cNvSpPr/>
            <p:nvPr/>
          </p:nvSpPr>
          <p:spPr>
            <a:xfrm>
              <a:off x="621792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ommaire du module, texte"/>
            <p:cNvSpPr txBox="1"/>
            <p:nvPr/>
          </p:nvSpPr>
          <p:spPr>
            <a:xfrm>
              <a:off x="6400800" y="2560320"/>
              <a:ext cx="5029200" cy="914400"/>
            </a:xfrm>
            <a:prstGeom prst="rect">
              <a:avLst/>
            </a:prstGeom>
            <a:noFill/>
          </p:spPr>
          <p:txBody>
            <a:bodyPr wrap="none" anchor="ctr">
              <a:spAutoFit/>
            </a:bodyPr>
            <a:lstStyle/>
            <a:p>
              <a:r>
                <a:rPr sz="3000" b="1">
                  <a:solidFill>
                    <a:schemeClr val="accent4"/>
                  </a:solidFill>
                </a:rPr>
                <a:t>6   </a:t>
              </a:r>
              <a:r>
                <a:rPr sz="2600">
                  <a:solidFill>
                    <a:srgbClr val="FFFFFF"/>
                  </a:solidFill>
                </a:rPr>
                <a:t>Comparer et trier</a:t>
              </a:r>
            </a:p>
          </p:txBody>
        </p:sp>
      </p:grpSp>
      <p:grpSp>
        <p:nvGrpSpPr>
          <p:cNvPr id="23" name="Section 7"/>
          <p:cNvGrpSpPr/>
          <p:nvPr/>
        </p:nvGrpSpPr>
        <p:grpSpPr>
          <a:xfrm>
            <a:off x="6217920" y="3657600"/>
            <a:ext cx="5394960" cy="914400"/>
            <a:chOff x="6217920" y="3657600"/>
            <a:chExt cx="5394960" cy="914400"/>
          </a:xfrm>
        </p:grpSpPr>
        <p:sp>
          <p:nvSpPr>
            <p:cNvPr id="25" name="Sommaire du module"/>
            <p:cNvSpPr/>
            <p:nvPr/>
          </p:nvSpPr>
          <p:spPr>
            <a:xfrm>
              <a:off x="6217920" y="365760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Sommaire du module, texte"/>
            <p:cNvSpPr txBox="1"/>
            <p:nvPr/>
          </p:nvSpPr>
          <p:spPr>
            <a:xfrm>
              <a:off x="6400800" y="3657600"/>
              <a:ext cx="5029200" cy="914400"/>
            </a:xfrm>
            <a:prstGeom prst="rect">
              <a:avLst/>
            </a:prstGeom>
            <a:noFill/>
          </p:spPr>
          <p:txBody>
            <a:bodyPr wrap="none" anchor="ctr">
              <a:spAutoFit/>
            </a:bodyPr>
            <a:lstStyle/>
            <a:p>
              <a:r>
                <a:rPr sz="3000" b="1">
                  <a:solidFill>
                    <a:schemeClr val="accent4"/>
                  </a:solidFill>
                </a:rPr>
                <a:t>7   </a:t>
              </a:r>
              <a:r>
                <a:rPr sz="2600">
                  <a:solidFill>
                    <a:srgbClr val="FFFFFF"/>
                  </a:solidFill>
                </a:rPr>
                <a:t>Collections emboîtées</a:t>
              </a:r>
            </a:p>
          </p:txBody>
        </p:sp>
      </p:grpSp>
      <p:grpSp>
        <p:nvGrpSpPr>
          <p:cNvPr id="27" name="Section 8"/>
          <p:cNvGrpSpPr/>
          <p:nvPr/>
        </p:nvGrpSpPr>
        <p:grpSpPr>
          <a:xfrm>
            <a:off x="6217920" y="4754879"/>
            <a:ext cx="5394960" cy="914400"/>
            <a:chOff x="6217920" y="3657600"/>
            <a:chExt cx="5394960" cy="914400"/>
          </a:xfrm>
        </p:grpSpPr>
        <p:sp>
          <p:nvSpPr>
            <p:cNvPr id="15" name="Sommaire du module"/>
            <p:cNvSpPr/>
            <p:nvPr/>
          </p:nvSpPr>
          <p:spPr>
            <a:xfrm>
              <a:off x="6217920" y="365760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Sommaire du module, texte"/>
            <p:cNvSpPr txBox="1"/>
            <p:nvPr/>
          </p:nvSpPr>
          <p:spPr>
            <a:xfrm>
              <a:off x="6400800" y="3657600"/>
              <a:ext cx="5029200" cy="914400"/>
            </a:xfrm>
            <a:prstGeom prst="rect">
              <a:avLst/>
            </a:prstGeom>
            <a:noFill/>
          </p:spPr>
          <p:txBody>
            <a:bodyPr wrap="none" anchor="ctr">
              <a:spAutoFit/>
            </a:bodyPr>
            <a:lstStyle/>
            <a:p>
              <a:r>
                <a:rPr sz="3000" b="1" dirty="0">
                  <a:solidFill>
                    <a:schemeClr val="accent4"/>
                  </a:solidFill>
                </a:rPr>
                <a:t>8   </a:t>
              </a:r>
              <a:r>
                <a:rPr sz="2600" dirty="0">
                  <a:solidFill>
                    <a:srgbClr val="FFFFFF"/>
                  </a:solidFill>
                </a:rPr>
                <a:t>Les files à deux bouts</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left)">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left)">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left)">
                                      <p:cBhvr>
                                        <p:cTn id="27" dur="5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wipe(left)">
                                      <p:cBhvr>
                                        <p:cTn id="32" dur="500"/>
                                        <p:tgtEl>
                                          <p:spTgt spid="2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wipe(left)">
                                      <p:cBhvr>
                                        <p:cTn id="37" dur="500"/>
                                        <p:tgtEl>
                                          <p:spTgt spid="2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wipe(left)">
                                      <p:cBhvr>
                                        <p:cTn id="4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422613E8-3CD9-9130-9D9E-FB85931733FB}"/>
              </a:ext>
            </a:extLst>
          </p:cNvPr>
          <p:cNvPicPr>
            <a:picLocks noChangeAspect="1"/>
          </p:cNvPicPr>
          <p:nvPr/>
        </p:nvPicPr>
        <p:blipFill>
          <a:blip r:embed="rId3"/>
          <a:stretch>
            <a:fillRect/>
          </a:stretch>
        </p:blipFill>
        <p:spPr>
          <a:xfrm>
            <a:off x="-3244" y="0"/>
            <a:ext cx="12198488" cy="6858000"/>
          </a:xfrm>
          <a:prstGeom prst="rect">
            <a:avLst/>
          </a:prstGeom>
        </p:spPr>
      </p:pic>
      <p:sp>
        <p:nvSpPr>
          <p:cNvPr id="4" name="ZoneTexte 3">
            <a:extLst>
              <a:ext uri="{FF2B5EF4-FFF2-40B4-BE49-F238E27FC236}">
                <a16:creationId xmlns:a16="http://schemas.microsoft.com/office/drawing/2014/main" id="{88140D2F-722A-02CE-8FDD-BF412DAA2485}"/>
              </a:ext>
            </a:extLst>
          </p:cNvPr>
          <p:cNvSpPr txBox="1"/>
          <p:nvPr/>
        </p:nvSpPr>
        <p:spPr>
          <a:xfrm>
            <a:off x="838200" y="946800"/>
            <a:ext cx="9857211"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1. Une structure qui grandit</a:t>
            </a:r>
            <a:endParaRPr lang="fr-FR" sz="1600" b="1" dirty="0">
              <a:ln w="0"/>
              <a:effectLst>
                <a:outerShdw blurRad="38100" dist="19050" dir="2700000" algn="tl" rotWithShape="0">
                  <a:schemeClr val="dk1">
                    <a:alpha val="40000"/>
                  </a:schemeClr>
                </a:outerShdw>
              </a:effectLst>
              <a:cs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Démonstration</a:t>
            </a:r>
          </a:p>
        </p:txBody>
      </p:sp>
      <p:sp>
        <p:nvSpPr>
          <p:cNvPr id="3" name="Rounded Rectangle 2"/>
          <p:cNvSpPr/>
          <p:nvPr/>
        </p:nvSpPr>
        <p:spPr>
          <a:xfrm>
            <a:off x="1463040" y="1828800"/>
            <a:ext cx="9235440" cy="3291840"/>
          </a:xfrm>
          <a:prstGeom prst="roundRect">
            <a:avLst>
              <a:gd name="adj" fmla="val 2777"/>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920240" y="2514600"/>
            <a:ext cx="1920240" cy="1920240"/>
          </a:xfrm>
          <a:prstGeom prst="rect">
            <a:avLst/>
          </a:prstGeom>
        </p:spPr>
      </p:pic>
      <p:sp>
        <p:nvSpPr>
          <p:cNvPr id="5" name="TextBox 4"/>
          <p:cNvSpPr txBox="1"/>
          <p:nvPr/>
        </p:nvSpPr>
        <p:spPr>
          <a:xfrm>
            <a:off x="4206240" y="2103120"/>
            <a:ext cx="6217920" cy="2743200"/>
          </a:xfrm>
          <a:prstGeom prst="rect">
            <a:avLst/>
          </a:prstGeom>
          <a:noFill/>
        </p:spPr>
        <p:txBody>
          <a:bodyPr wrap="square" anchor="ctr">
            <a:spAutoFit/>
          </a:bodyPr>
          <a:lstStyle/>
          <a:p>
            <a:r>
              <a:rPr sz="1800" b="1">
                <a:solidFill>
                  <a:schemeClr val="accent4"/>
                </a:solidFill>
              </a:rPr>
              <a:t>Démonstration</a:t>
            </a:r>
          </a:p>
          <a:p>
            <a:r>
              <a:rPr sz="3000">
                <a:solidFill>
                  <a:srgbClr val="FFFFFF"/>
                </a:solidFill>
              </a:rPr>
              <a:t>Choisir une collection en se trompant d'abord</a:t>
            </a:r>
          </a:p>
          <a:p>
            <a:pPr>
              <a:spcBef>
                <a:spcPts val="1200"/>
              </a:spcBef>
            </a:pPr>
            <a:r>
              <a:rPr sz="1400">
                <a:solidFill>
                  <a:srgbClr val="BCBEC4"/>
                </a:solidFill>
              </a:rPr>
              <a:t>Déroulé : Demo_COL</a:t>
            </a:r>
          </a:p>
        </p:txBody>
      </p:sp>
      <p:sp>
        <p:nvSpPr>
          <p:cNvPr id="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1. Une structure qui grandit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collection</a:t>
            </a:r>
          </a:p>
        </p:txBody>
      </p:sp>
      <p:sp>
        <p:nvSpPr>
          <p:cNvPr id="3" name="Content Placeholder 2"/>
          <p:cNvSpPr>
            <a:spLocks noGrp="1"/>
          </p:cNvSpPr>
          <p:nvPr>
            <p:ph idx="1"/>
          </p:nvPr>
        </p:nvSpPr>
        <p:spPr>
          <a:xfrm>
            <a:off x="640080" y="1371600"/>
            <a:ext cx="5600000" cy="1671319"/>
          </a:xfrm>
        </p:spPr>
        <p:txBody>
          <a:bodyPr>
            <a:normAutofit fontScale="77500" lnSpcReduction="20000"/>
          </a:bodyPr>
          <a:lstStyle/>
          <a:p>
            <a:pPr marL="0" indent="0">
              <a:spcAft>
                <a:spcPts val="1000"/>
              </a:spcAft>
              <a:buNone/>
            </a:pPr>
            <a:r>
              <a:rPr sz="2800"/>
              <a:t>Des objets rassemblés dans une seule structure</a:t>
            </a:r>
          </a:p>
          <a:p>
            <a:pPr marL="0" indent="0">
              <a:spcAft>
                <a:spcPts val="1000"/>
              </a:spcAft>
              <a:buNone/>
            </a:pPr>
            <a:r>
              <a:rPr sz="2800"/>
              <a:t>Elle grandit et rétrécit au fil des ajouts</a:t>
            </a:r>
          </a:p>
          <a:p>
            <a:pPr marL="0" indent="0">
              <a:spcAft>
                <a:spcPts val="1000"/>
              </a:spcAft>
              <a:buNone/>
            </a:pPr>
            <a:r>
              <a:rPr sz="2800"/>
              <a:t>Chaque sorte ajoute sa promesse : un ordre, l'unicité, une clé, deux bouts</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1. Une structure qui grandit</a:t>
            </a:r>
          </a:p>
        </p:txBody>
      </p:sp>
      <p:sp>
        <p:nvSpPr>
          <p:cNvPr id="7" name="Rounded Rectangle 6"/>
          <p:cNvSpPr/>
          <p:nvPr/>
        </p:nvSpPr>
        <p:spPr>
          <a:xfrm>
            <a:off x="6700000" y="2700000"/>
            <a:ext cx="3600000" cy="2000000"/>
          </a:xfrm>
          <a:prstGeom prst="roundRect">
            <a:avLst/>
          </a:prstGeom>
          <a:solidFill>
            <a:srgbClr val="F0883A"/>
          </a:solidFill>
          <a:ln w="31750">
            <a:solidFill>
              <a:srgbClr val="F5C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7370000" y="2970000"/>
            <a:ext cx="460000" cy="460000"/>
          </a:xfrm>
          <a:prstGeom prst="ellipse">
            <a:avLst/>
          </a:prstGeom>
          <a:solidFill>
            <a:srgbClr val="E9B48C"/>
          </a:solidFill>
          <a:ln w="19050">
            <a:solidFill>
              <a:srgbClr val="F5C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270000" y="2920000"/>
            <a:ext cx="460000" cy="460000"/>
          </a:xfrm>
          <a:prstGeom prst="ellipse">
            <a:avLst/>
          </a:prstGeom>
          <a:solidFill>
            <a:srgbClr val="F5C242"/>
          </a:solidFill>
          <a:ln w="19050">
            <a:solidFill>
              <a:srgbClr val="F5C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9370000" y="3070000"/>
            <a:ext cx="460000" cy="460000"/>
          </a:xfrm>
          <a:prstGeom prst="ellipse">
            <a:avLst/>
          </a:prstGeom>
          <a:solidFill>
            <a:srgbClr val="A9C4E2"/>
          </a:solidFill>
          <a:ln w="19050">
            <a:solidFill>
              <a:srgbClr val="F5C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470000" y="3870000"/>
            <a:ext cx="460000" cy="460000"/>
          </a:xfrm>
          <a:prstGeom prst="ellipse">
            <a:avLst/>
          </a:prstGeom>
          <a:solidFill>
            <a:srgbClr val="F5C242"/>
          </a:solidFill>
          <a:ln w="19050">
            <a:solidFill>
              <a:srgbClr val="F5C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570000" y="3820000"/>
            <a:ext cx="460000" cy="460000"/>
          </a:xfrm>
          <a:prstGeom prst="ellipse">
            <a:avLst/>
          </a:prstGeom>
          <a:solidFill>
            <a:srgbClr val="B0D29B"/>
          </a:solidFill>
          <a:ln w="19050">
            <a:solidFill>
              <a:srgbClr val="F5C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1" animBg="1"/>
      <p:bldP spid="8" grpId="0" animBg="1"/>
      <p:bldP spid="9" grpId="0" animBg="1"/>
      <p:bldP spid="10" grpId="0" animBg="1"/>
      <p:bldP spid="11" grpId="0" animBg="1"/>
      <p:bldP spid="1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8"/>
            <a:ext cx="10515600" cy="1179894"/>
          </a:xfrm>
        </p:spPr>
        <p:txBody>
          <a:bodyPr>
            <a:noAutofit/>
          </a:bodyPr>
          <a:lstStyle/>
          <a:p>
            <a:r>
              <a:rPr sz="4000"/>
              <a:t>Ce qu'on écrit entre chevrons</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dirty="0"/>
              <a:t>Le type entre chevrons </a:t>
            </a:r>
            <a:r>
              <a:rPr lang="nl-BE" sz="2800" dirty="0"/>
              <a:t>(</a:t>
            </a:r>
            <a:r>
              <a:rPr lang="nl-BE" sz="2400" dirty="0">
                <a:solidFill>
                  <a:schemeClr val="accent4"/>
                </a:solidFill>
                <a:latin typeface="Consolas" panose="020B0609020204030204" pitchFamily="49" charset="0"/>
                <a:cs typeface="Consolas" panose="020B0609020204030204" pitchFamily="49" charset="0"/>
              </a:rPr>
              <a:t>&lt;</a:t>
            </a:r>
            <a:r>
              <a:rPr lang="nl-BE" sz="2800" dirty="0"/>
              <a:t> et </a:t>
            </a:r>
            <a:r>
              <a:rPr lang="nl-BE" sz="2400" dirty="0">
                <a:solidFill>
                  <a:schemeClr val="accent4"/>
                </a:solidFill>
                <a:latin typeface="Consolas" panose="020B0609020204030204" pitchFamily="49" charset="0"/>
                <a:cs typeface="Consolas" panose="020B0609020204030204" pitchFamily="49" charset="0"/>
              </a:rPr>
              <a:t>&gt;</a:t>
            </a:r>
            <a:r>
              <a:rPr lang="nl-BE" sz="2800" dirty="0"/>
              <a:t>) </a:t>
            </a:r>
            <a:r>
              <a:rPr sz="2800" dirty="0"/>
              <a:t>est </a:t>
            </a:r>
            <a:r>
              <a:rPr sz="2800" dirty="0" err="1"/>
              <a:t>celui</a:t>
            </a:r>
            <a:r>
              <a:rPr sz="2800" dirty="0"/>
              <a:t> des </a:t>
            </a:r>
            <a:r>
              <a:rPr sz="2800" dirty="0" err="1"/>
              <a:t>éléments</a:t>
            </a:r>
            <a:r>
              <a:rPr lang="nl-BE" sz="2800" dirty="0"/>
              <a:t> de la collection</a:t>
            </a:r>
            <a:endParaRPr sz="2800" dirty="0"/>
          </a:p>
          <a:p>
            <a:pPr marL="0" indent="0">
              <a:spcAft>
                <a:spcPts val="1000"/>
              </a:spcAft>
              <a:buNone/>
            </a:pPr>
            <a:r>
              <a:rPr sz="2800" dirty="0"/>
              <a:t>Le </a:t>
            </a:r>
            <a:r>
              <a:rPr sz="2800" dirty="0" err="1"/>
              <a:t>compilateur</a:t>
            </a:r>
            <a:r>
              <a:rPr sz="2800" dirty="0"/>
              <a:t> refuse tout </a:t>
            </a:r>
            <a:r>
              <a:rPr sz="2800" dirty="0" err="1"/>
              <a:t>autre</a:t>
            </a:r>
            <a:r>
              <a:rPr sz="2800" dirty="0"/>
              <a:t> type à </a:t>
            </a:r>
            <a:r>
              <a:rPr sz="2800" dirty="0" err="1"/>
              <a:t>l'entrée</a:t>
            </a:r>
            <a:endParaRPr sz="2800" dirty="0"/>
          </a:p>
          <a:p>
            <a:pPr marL="0" indent="0">
              <a:spcAft>
                <a:spcPts val="1000"/>
              </a:spcAft>
              <a:buNone/>
            </a:pPr>
            <a:r>
              <a:rPr sz="2800" dirty="0"/>
              <a:t>Et il </a:t>
            </a:r>
            <a:r>
              <a:rPr sz="2800" dirty="0" err="1"/>
              <a:t>connaît</a:t>
            </a:r>
            <a:r>
              <a:rPr sz="2800" dirty="0"/>
              <a:t> le type de </a:t>
            </a:r>
            <a:r>
              <a:rPr sz="2800" dirty="0" err="1"/>
              <a:t>ce</a:t>
            </a:r>
            <a:r>
              <a:rPr sz="2800" dirty="0"/>
              <a:t> qui sort</a:t>
            </a:r>
          </a:p>
        </p:txBody>
      </p:sp>
      <p:sp>
        <p:nvSpPr>
          <p:cNvPr id="4" name="Code"/>
          <p:cNvSpPr txBox="1"/>
          <p:nvPr/>
        </p:nvSpPr>
        <p:spPr>
          <a:xfrm>
            <a:off x="1822450" y="3307080"/>
            <a:ext cx="85471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List&lt;String&gt; titres = </a:t>
            </a:r>
            <a:r>
              <a:rPr sz="1800">
                <a:solidFill>
                  <a:srgbClr val="CF8E6D"/>
                </a:solidFill>
                <a:latin typeface="Consolas"/>
              </a:rPr>
              <a:t>new</a:t>
            </a:r>
            <a:r>
              <a:rPr sz="1800">
                <a:solidFill>
                  <a:srgbClr val="BCBEC4"/>
                </a:solidFill>
                <a:latin typeface="Consolas"/>
              </a:rPr>
              <a:t> ArrayList&lt;&gt;();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titres.</a:t>
            </a:r>
            <a:r>
              <a:rPr sz="1800">
                <a:solidFill>
                  <a:srgbClr val="56A8F5"/>
                </a:solidFill>
                <a:latin typeface="Consolas"/>
              </a:rPr>
              <a:t>add</a:t>
            </a:r>
            <a:r>
              <a:rPr sz="1800">
                <a:solidFill>
                  <a:srgbClr val="BCBEC4"/>
                </a:solidFill>
                <a:latin typeface="Consolas"/>
              </a:rPr>
              <a:t>(</a:t>
            </a:r>
            <a:r>
              <a:rPr sz="1800">
                <a:solidFill>
                  <a:srgbClr val="6AAB73"/>
                </a:solidFill>
                <a:latin typeface="Consolas"/>
              </a:rPr>
              <a:t>"Germinal"</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titres.</a:t>
            </a:r>
            <a:r>
              <a:rPr sz="1800">
                <a:solidFill>
                  <a:srgbClr val="56A8F5"/>
                </a:solidFill>
                <a:latin typeface="Consolas"/>
              </a:rPr>
              <a:t>add</a:t>
            </a:r>
            <a:r>
              <a:rPr sz="1800">
                <a:solidFill>
                  <a:srgbClr val="BCBEC4"/>
                </a:solidFill>
                <a:latin typeface="Consolas"/>
              </a:rPr>
              <a:t>(</a:t>
            </a:r>
            <a:r>
              <a:rPr sz="1800">
                <a:solidFill>
                  <a:srgbClr val="2AACB8"/>
                </a:solidFill>
                <a:latin typeface="Consolas"/>
              </a:rPr>
              <a:t>42</a:t>
            </a:r>
            <a:r>
              <a:rPr sz="1800">
                <a:solidFill>
                  <a:srgbClr val="BCBEC4"/>
                </a:solidFill>
                <a:latin typeface="Consolas"/>
              </a:rPr>
              <a:t>);                  </a:t>
            </a:r>
            <a:r>
              <a:rPr sz="1800">
                <a:solidFill>
                  <a:srgbClr val="7A7E85"/>
                </a:solidFill>
                <a:latin typeface="Consolas"/>
              </a:rPr>
              <a:t>// refuse a la compilation</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String premier = titres.</a:t>
            </a:r>
            <a:r>
              <a:rPr sz="1800">
                <a:solidFill>
                  <a:srgbClr val="56A8F5"/>
                </a:solidFill>
                <a:latin typeface="Consolas"/>
              </a:rPr>
              <a:t>get</a:t>
            </a:r>
            <a:r>
              <a:rPr sz="1800">
                <a:solidFill>
                  <a:srgbClr val="BCBEC4"/>
                </a:solidFill>
                <a:latin typeface="Consolas"/>
              </a:rPr>
              <a:t>(</a:t>
            </a:r>
            <a:r>
              <a:rPr sz="1800">
                <a:solidFill>
                  <a:srgbClr val="2AACB8"/>
                </a:solidFill>
                <a:latin typeface="Consolas"/>
              </a:rPr>
              <a:t>0</a:t>
            </a:r>
            <a:r>
              <a:rPr sz="1800">
                <a:solidFill>
                  <a:srgbClr val="BCBEC4"/>
                </a:solidFill>
                <a:latin typeface="Consolas"/>
              </a:rPr>
              <a:t>);  </a:t>
            </a:r>
            <a:r>
              <a:rPr sz="1800">
                <a:solidFill>
                  <a:srgbClr val="7A7E85"/>
                </a:solidFill>
                <a:latin typeface="Consolas"/>
              </a:rPr>
              <a:t>// aucune conversion</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1. Une structure qui grandit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Des objets, pas des types primitifs</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Une collection ne contient que des objets</a:t>
            </a:r>
          </a:p>
          <a:p>
            <a:pPr marL="0" indent="0">
              <a:spcAft>
                <a:spcPts val="1000"/>
              </a:spcAft>
              <a:buNone/>
            </a:pPr>
            <a:r>
              <a:rPr sz="2800"/>
              <a:t>On écrit donc </a:t>
            </a:r>
            <a:r>
              <a:rPr sz="2400">
                <a:solidFill>
                  <a:schemeClr val="accent4"/>
                </a:solidFill>
                <a:latin typeface="Consolas"/>
              </a:rPr>
              <a:t>Integer</a:t>
            </a:r>
            <a:r>
              <a:rPr sz="2800"/>
              <a:t> et non </a:t>
            </a:r>
            <a:r>
              <a:rPr sz="2400">
                <a:solidFill>
                  <a:schemeClr val="accent4"/>
                </a:solidFill>
                <a:latin typeface="Consolas"/>
              </a:rPr>
              <a:t>int</a:t>
            </a:r>
          </a:p>
          <a:p>
            <a:pPr marL="0" indent="0">
              <a:spcAft>
                <a:spcPts val="1000"/>
              </a:spcAft>
              <a:buNone/>
            </a:pPr>
            <a:r>
              <a:rPr sz="2800"/>
              <a:t>La conversion reste automatique, dans les deux sens</a:t>
            </a:r>
          </a:p>
        </p:txBody>
      </p:sp>
      <p:sp>
        <p:nvSpPr>
          <p:cNvPr id="4" name="Code"/>
          <p:cNvSpPr txBox="1"/>
          <p:nvPr/>
        </p:nvSpPr>
        <p:spPr>
          <a:xfrm>
            <a:off x="1403350" y="3307080"/>
            <a:ext cx="93853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List&lt;Integer&gt; annees = </a:t>
            </a:r>
            <a:r>
              <a:rPr sz="1800">
                <a:solidFill>
                  <a:srgbClr val="CF8E6D"/>
                </a:solidFill>
                <a:latin typeface="Consolas"/>
              </a:rPr>
              <a:t>new</a:t>
            </a:r>
            <a:r>
              <a:rPr sz="1800">
                <a:solidFill>
                  <a:srgbClr val="BCBEC4"/>
                </a:solidFill>
                <a:latin typeface="Consolas"/>
              </a:rPr>
              <a:t> ArrayList&lt;&gt;();   </a:t>
            </a:r>
            <a:r>
              <a:rPr sz="1800">
                <a:solidFill>
                  <a:srgbClr val="7A7E85"/>
                </a:solidFill>
                <a:latin typeface="Consolas"/>
              </a:rPr>
              <a:t>// List&lt;int&gt; : refuse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annees.</a:t>
            </a:r>
            <a:r>
              <a:rPr sz="1800">
                <a:solidFill>
                  <a:srgbClr val="56A8F5"/>
                </a:solidFill>
                <a:latin typeface="Consolas"/>
              </a:rPr>
              <a:t>add</a:t>
            </a:r>
            <a:r>
              <a:rPr sz="1800">
                <a:solidFill>
                  <a:srgbClr val="BCBEC4"/>
                </a:solidFill>
                <a:latin typeface="Consolas"/>
              </a:rPr>
              <a:t>(</a:t>
            </a:r>
            <a:r>
              <a:rPr sz="1800">
                <a:solidFill>
                  <a:srgbClr val="2AACB8"/>
                </a:solidFill>
                <a:latin typeface="Consolas"/>
              </a:rPr>
              <a:t>1885</a:t>
            </a:r>
            <a:r>
              <a:rPr sz="1800">
                <a:solidFill>
                  <a:srgbClr val="BCBEC4"/>
                </a:solidFill>
                <a:latin typeface="Consolas"/>
              </a:rPr>
              <a:t>);                </a:t>
            </a:r>
            <a:r>
              <a:rPr sz="1800">
                <a:solidFill>
                  <a:srgbClr val="7A7E85"/>
                </a:solidFill>
                <a:latin typeface="Consolas"/>
              </a:rPr>
              <a:t>// int vers Integer</a:t>
            </a:r>
          </a:p>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premiere = annees.</a:t>
            </a:r>
            <a:r>
              <a:rPr sz="1800">
                <a:solidFill>
                  <a:srgbClr val="56A8F5"/>
                </a:solidFill>
                <a:latin typeface="Consolas"/>
              </a:rPr>
              <a:t>get</a:t>
            </a:r>
            <a:r>
              <a:rPr sz="1800">
                <a:solidFill>
                  <a:srgbClr val="BCBEC4"/>
                </a:solidFill>
                <a:latin typeface="Consolas"/>
              </a:rPr>
              <a:t>(</a:t>
            </a:r>
            <a:r>
              <a:rPr sz="1800">
                <a:solidFill>
                  <a:srgbClr val="2AACB8"/>
                </a:solidFill>
                <a:latin typeface="Consolas"/>
              </a:rPr>
              <a:t>0</a:t>
            </a:r>
            <a:r>
              <a:rPr sz="1800">
                <a:solidFill>
                  <a:srgbClr val="BCBEC4"/>
                </a:solidFill>
                <a:latin typeface="Consolas"/>
              </a:rPr>
              <a:t>);    </a:t>
            </a:r>
            <a:r>
              <a:rPr sz="1800">
                <a:solidFill>
                  <a:srgbClr val="7A7E85"/>
                </a:solidFill>
                <a:latin typeface="Consolas"/>
              </a:rPr>
              <a:t>// Integer vers int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1. Une structure qui grandit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La famille des collections</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8</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1. Une structure qui grandit</a:t>
            </a:r>
          </a:p>
        </p:txBody>
      </p:sp>
      <p:sp>
        <p:nvSpPr>
          <p:cNvPr id="7" name="Rounded Rectangle 6"/>
          <p:cNvSpPr/>
          <p:nvPr/>
        </p:nvSpPr>
        <p:spPr>
          <a:xfrm>
            <a:off x="2980000" y="1640000"/>
            <a:ext cx="2000000" cy="620000"/>
          </a:xfrm>
          <a:prstGeom prst="roundRect">
            <a:avLst/>
          </a:prstGeom>
          <a:solidFill>
            <a:srgbClr val="1E1F22"/>
          </a:solidFill>
          <a:ln w="19050">
            <a:solidFill>
              <a:srgbClr val="F5C242"/>
            </a:solidFill>
          </a:ln>
          <a:effectLst/>
        </p:spPr>
        <p:style>
          <a:lnRef idx="1">
            <a:schemeClr val="accent1"/>
          </a:lnRef>
          <a:fillRef idx="3">
            <a:schemeClr val="accent1"/>
          </a:fillRef>
          <a:effectRef idx="2">
            <a:schemeClr val="accent1"/>
          </a:effectRef>
          <a:fontRef idx="minor">
            <a:schemeClr val="lt1"/>
          </a:fontRef>
        </p:style>
        <p:txBody>
          <a:bodyPr lIns="30000" rIns="30000" rtlCol="0" anchor="ctr"/>
          <a:lstStyle/>
          <a:p>
            <a:pPr algn="ctr"/>
            <a:r>
              <a:rPr sz="1100" i="1">
                <a:solidFill>
                  <a:srgbClr val="DFE1E5"/>
                </a:solidFill>
              </a:rPr>
              <a:t>interface</a:t>
            </a:r>
          </a:p>
          <a:p>
            <a:pPr algn="ctr"/>
            <a:r>
              <a:rPr sz="1700" b="1">
                <a:solidFill>
                  <a:srgbClr val="F5C242"/>
                </a:solidFill>
                <a:latin typeface="Consolas"/>
              </a:rPr>
              <a:t>Collection&lt;E&gt;</a:t>
            </a:r>
          </a:p>
        </p:txBody>
      </p:sp>
      <p:sp>
        <p:nvSpPr>
          <p:cNvPr id="8" name="Rounded Rectangle 7"/>
          <p:cNvSpPr/>
          <p:nvPr/>
        </p:nvSpPr>
        <p:spPr>
          <a:xfrm>
            <a:off x="8600000" y="1640000"/>
            <a:ext cx="2000000" cy="620000"/>
          </a:xfrm>
          <a:prstGeom prst="roundRect">
            <a:avLst/>
          </a:prstGeom>
          <a:solidFill>
            <a:srgbClr val="1E1F22"/>
          </a:solidFill>
          <a:ln w="19050">
            <a:solidFill>
              <a:srgbClr val="F5C242"/>
            </a:solidFill>
          </a:ln>
          <a:effectLst/>
        </p:spPr>
        <p:style>
          <a:lnRef idx="1">
            <a:schemeClr val="accent1"/>
          </a:lnRef>
          <a:fillRef idx="3">
            <a:schemeClr val="accent1"/>
          </a:fillRef>
          <a:effectRef idx="2">
            <a:schemeClr val="accent1"/>
          </a:effectRef>
          <a:fontRef idx="minor">
            <a:schemeClr val="lt1"/>
          </a:fontRef>
        </p:style>
        <p:txBody>
          <a:bodyPr lIns="30000" rIns="30000" rtlCol="0" anchor="ctr"/>
          <a:lstStyle/>
          <a:p>
            <a:pPr algn="ctr"/>
            <a:r>
              <a:rPr sz="1100" i="1">
                <a:solidFill>
                  <a:srgbClr val="DFE1E5"/>
                </a:solidFill>
              </a:rPr>
              <a:t>interface</a:t>
            </a:r>
          </a:p>
          <a:p>
            <a:pPr algn="ctr"/>
            <a:r>
              <a:rPr sz="1700" b="1">
                <a:solidFill>
                  <a:srgbClr val="F5C242"/>
                </a:solidFill>
                <a:latin typeface="Consolas"/>
              </a:rPr>
              <a:t>Map&lt;K, V&gt;</a:t>
            </a:r>
          </a:p>
        </p:txBody>
      </p:sp>
      <p:grpSp>
        <p:nvGrpSpPr>
          <p:cNvPr id="3" name="Groupe 2">
            <a:extLst>
              <a:ext uri="{FF2B5EF4-FFF2-40B4-BE49-F238E27FC236}">
                <a16:creationId xmlns:a16="http://schemas.microsoft.com/office/drawing/2014/main" id="{0851EB56-E487-58AD-9D22-8B8AD11B66E0}"/>
              </a:ext>
            </a:extLst>
          </p:cNvPr>
          <p:cNvGrpSpPr/>
          <p:nvPr/>
        </p:nvGrpSpPr>
        <p:grpSpPr>
          <a:xfrm>
            <a:off x="880000" y="2260000"/>
            <a:ext cx="3100000" cy="1450000"/>
            <a:chOff x="880000" y="2260000"/>
            <a:chExt cx="3100000" cy="1450000"/>
          </a:xfrm>
        </p:grpSpPr>
        <p:sp>
          <p:nvSpPr>
            <p:cNvPr id="9" name="Rounded Rectangle 8"/>
            <p:cNvSpPr/>
            <p:nvPr/>
          </p:nvSpPr>
          <p:spPr>
            <a:xfrm>
              <a:off x="880000" y="3090000"/>
              <a:ext cx="1800000" cy="620000"/>
            </a:xfrm>
            <a:prstGeom prst="roundRect">
              <a:avLst/>
            </a:prstGeom>
            <a:solidFill>
              <a:srgbClr val="1E1F22"/>
            </a:solidFill>
            <a:ln w="19050">
              <a:solidFill>
                <a:srgbClr val="F5C242"/>
              </a:solidFill>
            </a:ln>
            <a:effectLst/>
          </p:spPr>
          <p:style>
            <a:lnRef idx="1">
              <a:schemeClr val="accent1"/>
            </a:lnRef>
            <a:fillRef idx="3">
              <a:schemeClr val="accent1"/>
            </a:fillRef>
            <a:effectRef idx="2">
              <a:schemeClr val="accent1"/>
            </a:effectRef>
            <a:fontRef idx="minor">
              <a:schemeClr val="lt1"/>
            </a:fontRef>
          </p:style>
          <p:txBody>
            <a:bodyPr lIns="30000" rIns="30000" rtlCol="0" anchor="ctr"/>
            <a:lstStyle/>
            <a:p>
              <a:pPr algn="ctr"/>
              <a:r>
                <a:rPr sz="1100" i="1" dirty="0">
                  <a:solidFill>
                    <a:srgbClr val="DFE1E5"/>
                  </a:solidFill>
                </a:rPr>
                <a:t>interface</a:t>
              </a:r>
            </a:p>
            <a:p>
              <a:pPr algn="ctr"/>
              <a:r>
                <a:rPr sz="1700" b="1" dirty="0">
                  <a:solidFill>
                    <a:srgbClr val="F5C242"/>
                  </a:solidFill>
                  <a:latin typeface="Consolas"/>
                </a:rPr>
                <a:t>List&lt;E&gt;</a:t>
              </a:r>
            </a:p>
          </p:txBody>
        </p:sp>
        <p:cxnSp>
          <p:nvCxnSpPr>
            <p:cNvPr id="12" name="Connector 11"/>
            <p:cNvCxnSpPr/>
            <p:nvPr/>
          </p:nvCxnSpPr>
          <p:spPr>
            <a:xfrm flipV="1">
              <a:off x="1780000" y="2260000"/>
              <a:ext cx="2200000" cy="830000"/>
            </a:xfrm>
            <a:prstGeom prst="line">
              <a:avLst/>
            </a:prstGeom>
            <a:ln w="19050">
              <a:solidFill>
                <a:srgbClr val="DFE1E5"/>
              </a:solidFill>
              <a:tailEnd type="triangle" w="med" len="med"/>
            </a:ln>
          </p:spPr>
          <p:style>
            <a:lnRef idx="2">
              <a:schemeClr val="accent1"/>
            </a:lnRef>
            <a:fillRef idx="0">
              <a:schemeClr val="accent1"/>
            </a:fillRef>
            <a:effectRef idx="1">
              <a:schemeClr val="accent1"/>
            </a:effectRef>
            <a:fontRef idx="minor">
              <a:schemeClr val="tx1"/>
            </a:fontRef>
          </p:style>
        </p:cxnSp>
      </p:grpSp>
      <p:grpSp>
        <p:nvGrpSpPr>
          <p:cNvPr id="4" name="Groupe 3">
            <a:extLst>
              <a:ext uri="{FF2B5EF4-FFF2-40B4-BE49-F238E27FC236}">
                <a16:creationId xmlns:a16="http://schemas.microsoft.com/office/drawing/2014/main" id="{FE5FDDEA-DD9F-B1DD-CA25-D871D5B7C1B5}"/>
              </a:ext>
            </a:extLst>
          </p:cNvPr>
          <p:cNvGrpSpPr/>
          <p:nvPr/>
        </p:nvGrpSpPr>
        <p:grpSpPr>
          <a:xfrm>
            <a:off x="3080000" y="2260000"/>
            <a:ext cx="1800000" cy="1450000"/>
            <a:chOff x="3080000" y="2260000"/>
            <a:chExt cx="1800000" cy="1450000"/>
          </a:xfrm>
        </p:grpSpPr>
        <p:sp>
          <p:nvSpPr>
            <p:cNvPr id="10" name="Rounded Rectangle 9"/>
            <p:cNvSpPr/>
            <p:nvPr/>
          </p:nvSpPr>
          <p:spPr>
            <a:xfrm>
              <a:off x="3080000" y="3090000"/>
              <a:ext cx="1800000" cy="620000"/>
            </a:xfrm>
            <a:prstGeom prst="roundRect">
              <a:avLst/>
            </a:prstGeom>
            <a:solidFill>
              <a:srgbClr val="1E1F22"/>
            </a:solidFill>
            <a:ln w="19050">
              <a:solidFill>
                <a:srgbClr val="F5C242"/>
              </a:solidFill>
            </a:ln>
            <a:effectLst/>
          </p:spPr>
          <p:style>
            <a:lnRef idx="1">
              <a:schemeClr val="accent1"/>
            </a:lnRef>
            <a:fillRef idx="3">
              <a:schemeClr val="accent1"/>
            </a:fillRef>
            <a:effectRef idx="2">
              <a:schemeClr val="accent1"/>
            </a:effectRef>
            <a:fontRef idx="minor">
              <a:schemeClr val="lt1"/>
            </a:fontRef>
          </p:style>
          <p:txBody>
            <a:bodyPr lIns="30000" rIns="30000" rtlCol="0" anchor="ctr"/>
            <a:lstStyle/>
            <a:p>
              <a:pPr algn="ctr"/>
              <a:r>
                <a:rPr sz="1100" i="1" dirty="0">
                  <a:solidFill>
                    <a:srgbClr val="DFE1E5"/>
                  </a:solidFill>
                </a:rPr>
                <a:t>interface</a:t>
              </a:r>
            </a:p>
            <a:p>
              <a:pPr algn="ctr"/>
              <a:r>
                <a:rPr sz="1700" b="1" dirty="0">
                  <a:solidFill>
                    <a:srgbClr val="F5C242"/>
                  </a:solidFill>
                  <a:latin typeface="Consolas"/>
                </a:rPr>
                <a:t>Set&lt;E&gt;</a:t>
              </a:r>
            </a:p>
          </p:txBody>
        </p:sp>
        <p:cxnSp>
          <p:nvCxnSpPr>
            <p:cNvPr id="13" name="Connector 12"/>
            <p:cNvCxnSpPr/>
            <p:nvPr/>
          </p:nvCxnSpPr>
          <p:spPr>
            <a:xfrm flipV="1">
              <a:off x="3980000" y="2260000"/>
              <a:ext cx="0" cy="830000"/>
            </a:xfrm>
            <a:prstGeom prst="line">
              <a:avLst/>
            </a:prstGeom>
            <a:ln w="19050">
              <a:solidFill>
                <a:srgbClr val="DFE1E5"/>
              </a:solidFill>
              <a:tailEnd type="triangle" w="med" len="med"/>
            </a:ln>
          </p:spPr>
          <p:style>
            <a:lnRef idx="2">
              <a:schemeClr val="accent1"/>
            </a:lnRef>
            <a:fillRef idx="0">
              <a:schemeClr val="accent1"/>
            </a:fillRef>
            <a:effectRef idx="1">
              <a:schemeClr val="accent1"/>
            </a:effectRef>
            <a:fontRef idx="minor">
              <a:schemeClr val="tx1"/>
            </a:fontRef>
          </p:style>
        </p:cxnSp>
      </p:grpSp>
      <p:grpSp>
        <p:nvGrpSpPr>
          <p:cNvPr id="30" name="Groupe 29">
            <a:extLst>
              <a:ext uri="{FF2B5EF4-FFF2-40B4-BE49-F238E27FC236}">
                <a16:creationId xmlns:a16="http://schemas.microsoft.com/office/drawing/2014/main" id="{7128C482-1809-CE1B-2B44-21651C1A1C93}"/>
              </a:ext>
            </a:extLst>
          </p:cNvPr>
          <p:cNvGrpSpPr/>
          <p:nvPr/>
        </p:nvGrpSpPr>
        <p:grpSpPr>
          <a:xfrm>
            <a:off x="3980000" y="2260000"/>
            <a:ext cx="3100000" cy="1450000"/>
            <a:chOff x="3980000" y="2260000"/>
            <a:chExt cx="3100000" cy="1450000"/>
          </a:xfrm>
        </p:grpSpPr>
        <p:sp>
          <p:nvSpPr>
            <p:cNvPr id="11" name="Rounded Rectangle 10"/>
            <p:cNvSpPr/>
            <p:nvPr/>
          </p:nvSpPr>
          <p:spPr>
            <a:xfrm>
              <a:off x="5280000" y="3090000"/>
              <a:ext cx="1800000" cy="620000"/>
            </a:xfrm>
            <a:prstGeom prst="roundRect">
              <a:avLst/>
            </a:prstGeom>
            <a:solidFill>
              <a:srgbClr val="1E1F22"/>
            </a:solidFill>
            <a:ln w="19050">
              <a:solidFill>
                <a:srgbClr val="F5C242"/>
              </a:solidFill>
            </a:ln>
            <a:effectLst/>
          </p:spPr>
          <p:style>
            <a:lnRef idx="1">
              <a:schemeClr val="accent1"/>
            </a:lnRef>
            <a:fillRef idx="3">
              <a:schemeClr val="accent1"/>
            </a:fillRef>
            <a:effectRef idx="2">
              <a:schemeClr val="accent1"/>
            </a:effectRef>
            <a:fontRef idx="minor">
              <a:schemeClr val="lt1"/>
            </a:fontRef>
          </p:style>
          <p:txBody>
            <a:bodyPr lIns="30000" rIns="30000" rtlCol="0" anchor="ctr"/>
            <a:lstStyle/>
            <a:p>
              <a:pPr algn="ctr"/>
              <a:r>
                <a:rPr sz="1100" i="1">
                  <a:solidFill>
                    <a:srgbClr val="DFE1E5"/>
                  </a:solidFill>
                </a:rPr>
                <a:t>interface</a:t>
              </a:r>
            </a:p>
            <a:p>
              <a:pPr algn="ctr"/>
              <a:r>
                <a:rPr sz="1700" b="1">
                  <a:solidFill>
                    <a:srgbClr val="F5C242"/>
                  </a:solidFill>
                  <a:latin typeface="Consolas"/>
                </a:rPr>
                <a:t>Deque&lt;E&gt;</a:t>
              </a:r>
            </a:p>
          </p:txBody>
        </p:sp>
        <p:cxnSp>
          <p:nvCxnSpPr>
            <p:cNvPr id="14" name="Connector 13"/>
            <p:cNvCxnSpPr/>
            <p:nvPr/>
          </p:nvCxnSpPr>
          <p:spPr>
            <a:xfrm flipH="1" flipV="1">
              <a:off x="3980000" y="2260000"/>
              <a:ext cx="2200000" cy="830000"/>
            </a:xfrm>
            <a:prstGeom prst="line">
              <a:avLst/>
            </a:prstGeom>
            <a:ln w="19050">
              <a:solidFill>
                <a:srgbClr val="DFE1E5"/>
              </a:solidFill>
              <a:tailEnd type="triangle" w="med" len="med"/>
            </a:ln>
          </p:spPr>
          <p:style>
            <a:lnRef idx="2">
              <a:schemeClr val="accent1"/>
            </a:lnRef>
            <a:fillRef idx="0">
              <a:schemeClr val="accent1"/>
            </a:fillRef>
            <a:effectRef idx="1">
              <a:schemeClr val="accent1"/>
            </a:effectRef>
            <a:fontRef idx="minor">
              <a:schemeClr val="tx1"/>
            </a:fontRef>
          </p:style>
        </p:cxnSp>
      </p:grpSp>
      <p:grpSp>
        <p:nvGrpSpPr>
          <p:cNvPr id="31" name="Groupe 30">
            <a:extLst>
              <a:ext uri="{FF2B5EF4-FFF2-40B4-BE49-F238E27FC236}">
                <a16:creationId xmlns:a16="http://schemas.microsoft.com/office/drawing/2014/main" id="{0A4BCE11-4C53-167F-869F-1503D2BAA987}"/>
              </a:ext>
            </a:extLst>
          </p:cNvPr>
          <p:cNvGrpSpPr/>
          <p:nvPr/>
        </p:nvGrpSpPr>
        <p:grpSpPr>
          <a:xfrm>
            <a:off x="270000" y="3710000"/>
            <a:ext cx="2970000" cy="1430000"/>
            <a:chOff x="270000" y="3710000"/>
            <a:chExt cx="2970000" cy="1430000"/>
          </a:xfrm>
        </p:grpSpPr>
        <p:sp>
          <p:nvSpPr>
            <p:cNvPr id="15" name="Rounded Rectangle 14"/>
            <p:cNvSpPr/>
            <p:nvPr/>
          </p:nvSpPr>
          <p:spPr>
            <a:xfrm>
              <a:off x="270000" y="4660000"/>
              <a:ext cx="1420000" cy="480000"/>
            </a:xfrm>
            <a:prstGeom prst="roundRect">
              <a:avLst/>
            </a:prstGeom>
            <a:solidFill>
              <a:srgbClr val="3C3F45"/>
            </a:solidFill>
            <a:ln w="19050">
              <a:solidFill>
                <a:srgbClr val="DFE1E5"/>
              </a:solidFill>
            </a:ln>
            <a:effectLst/>
          </p:spPr>
          <p:style>
            <a:lnRef idx="1">
              <a:schemeClr val="accent1"/>
            </a:lnRef>
            <a:fillRef idx="3">
              <a:schemeClr val="accent1"/>
            </a:fillRef>
            <a:effectRef idx="2">
              <a:schemeClr val="accent1"/>
            </a:effectRef>
            <a:fontRef idx="minor">
              <a:schemeClr val="lt1"/>
            </a:fontRef>
          </p:style>
          <p:txBody>
            <a:bodyPr lIns="30000" rIns="30000" rtlCol="0" anchor="ctr"/>
            <a:lstStyle/>
            <a:p>
              <a:pPr algn="ctr"/>
              <a:r>
                <a:rPr sz="1500" b="0" dirty="0" err="1">
                  <a:solidFill>
                    <a:srgbClr val="DFE1E5"/>
                  </a:solidFill>
                  <a:latin typeface="Consolas"/>
                </a:rPr>
                <a:t>ArrayList</a:t>
              </a:r>
              <a:endParaRPr sz="1500" b="0" dirty="0">
                <a:solidFill>
                  <a:srgbClr val="DFE1E5"/>
                </a:solidFill>
                <a:latin typeface="Consolas"/>
              </a:endParaRPr>
            </a:p>
          </p:txBody>
        </p:sp>
        <p:cxnSp>
          <p:nvCxnSpPr>
            <p:cNvPr id="16" name="Connector 15"/>
            <p:cNvCxnSpPr/>
            <p:nvPr/>
          </p:nvCxnSpPr>
          <p:spPr>
            <a:xfrm flipV="1">
              <a:off x="980000" y="3710000"/>
              <a:ext cx="800000" cy="950000"/>
            </a:xfrm>
            <a:prstGeom prst="line">
              <a:avLst/>
            </a:prstGeom>
            <a:ln w="19050">
              <a:solidFill>
                <a:srgbClr val="DFE1E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820000" y="4660000"/>
              <a:ext cx="1420000" cy="480000"/>
            </a:xfrm>
            <a:prstGeom prst="roundRect">
              <a:avLst/>
            </a:prstGeom>
            <a:solidFill>
              <a:srgbClr val="3C3F45"/>
            </a:solidFill>
            <a:ln w="19050">
              <a:solidFill>
                <a:srgbClr val="DFE1E5"/>
              </a:solidFill>
            </a:ln>
            <a:effectLst/>
          </p:spPr>
          <p:style>
            <a:lnRef idx="1">
              <a:schemeClr val="accent1"/>
            </a:lnRef>
            <a:fillRef idx="3">
              <a:schemeClr val="accent1"/>
            </a:fillRef>
            <a:effectRef idx="2">
              <a:schemeClr val="accent1"/>
            </a:effectRef>
            <a:fontRef idx="minor">
              <a:schemeClr val="lt1"/>
            </a:fontRef>
          </p:style>
          <p:txBody>
            <a:bodyPr lIns="30000" rIns="30000" rtlCol="0" anchor="ctr"/>
            <a:lstStyle/>
            <a:p>
              <a:pPr algn="ctr"/>
              <a:r>
                <a:rPr sz="1500" b="0">
                  <a:solidFill>
                    <a:srgbClr val="DFE1E5"/>
                  </a:solidFill>
                  <a:latin typeface="Consolas"/>
                </a:rPr>
                <a:t>LinkedList</a:t>
              </a:r>
            </a:p>
          </p:txBody>
        </p:sp>
        <p:cxnSp>
          <p:nvCxnSpPr>
            <p:cNvPr id="18" name="Connector 17"/>
            <p:cNvCxnSpPr/>
            <p:nvPr/>
          </p:nvCxnSpPr>
          <p:spPr>
            <a:xfrm flipH="1" flipV="1">
              <a:off x="1780000" y="3710000"/>
              <a:ext cx="750000" cy="950000"/>
            </a:xfrm>
            <a:prstGeom prst="line">
              <a:avLst/>
            </a:prstGeom>
            <a:ln w="19050">
              <a:solidFill>
                <a:srgbClr val="DFE1E5"/>
              </a:solidFill>
              <a:prstDash val="dash"/>
              <a:tailEnd type="triangle" w="med" len="med"/>
            </a:ln>
          </p:spPr>
          <p:style>
            <a:lnRef idx="2">
              <a:schemeClr val="accent1"/>
            </a:lnRef>
            <a:fillRef idx="0">
              <a:schemeClr val="accent1"/>
            </a:fillRef>
            <a:effectRef idx="1">
              <a:schemeClr val="accent1"/>
            </a:effectRef>
            <a:fontRef idx="minor">
              <a:schemeClr val="tx1"/>
            </a:fontRef>
          </p:style>
        </p:cxnSp>
      </p:grpSp>
      <p:grpSp>
        <p:nvGrpSpPr>
          <p:cNvPr id="32" name="Groupe 31">
            <a:extLst>
              <a:ext uri="{FF2B5EF4-FFF2-40B4-BE49-F238E27FC236}">
                <a16:creationId xmlns:a16="http://schemas.microsoft.com/office/drawing/2014/main" id="{81C7FA1E-EB97-4B08-8BA7-B413697AD3EE}"/>
              </a:ext>
            </a:extLst>
          </p:cNvPr>
          <p:cNvGrpSpPr/>
          <p:nvPr/>
        </p:nvGrpSpPr>
        <p:grpSpPr>
          <a:xfrm>
            <a:off x="3370000" y="3710000"/>
            <a:ext cx="2920000" cy="1430000"/>
            <a:chOff x="3370000" y="3710000"/>
            <a:chExt cx="2920000" cy="1430000"/>
          </a:xfrm>
        </p:grpSpPr>
        <p:sp>
          <p:nvSpPr>
            <p:cNvPr id="19" name="Rounded Rectangle 18"/>
            <p:cNvSpPr/>
            <p:nvPr/>
          </p:nvSpPr>
          <p:spPr>
            <a:xfrm>
              <a:off x="3370000" y="4660000"/>
              <a:ext cx="1420000" cy="480000"/>
            </a:xfrm>
            <a:prstGeom prst="roundRect">
              <a:avLst/>
            </a:prstGeom>
            <a:solidFill>
              <a:srgbClr val="3C3F45"/>
            </a:solidFill>
            <a:ln w="19050">
              <a:solidFill>
                <a:srgbClr val="DFE1E5"/>
              </a:solidFill>
            </a:ln>
            <a:effectLst/>
          </p:spPr>
          <p:style>
            <a:lnRef idx="1">
              <a:schemeClr val="accent1"/>
            </a:lnRef>
            <a:fillRef idx="3">
              <a:schemeClr val="accent1"/>
            </a:fillRef>
            <a:effectRef idx="2">
              <a:schemeClr val="accent1"/>
            </a:effectRef>
            <a:fontRef idx="minor">
              <a:schemeClr val="lt1"/>
            </a:fontRef>
          </p:style>
          <p:txBody>
            <a:bodyPr lIns="30000" rIns="30000" rtlCol="0" anchor="ctr"/>
            <a:lstStyle/>
            <a:p>
              <a:pPr algn="ctr"/>
              <a:r>
                <a:rPr sz="1500" b="0" dirty="0">
                  <a:solidFill>
                    <a:srgbClr val="DFE1E5"/>
                  </a:solidFill>
                  <a:latin typeface="Consolas"/>
                </a:rPr>
                <a:t>HashSet</a:t>
              </a:r>
            </a:p>
          </p:txBody>
        </p:sp>
        <p:cxnSp>
          <p:nvCxnSpPr>
            <p:cNvPr id="20" name="Connector 19"/>
            <p:cNvCxnSpPr/>
            <p:nvPr/>
          </p:nvCxnSpPr>
          <p:spPr>
            <a:xfrm flipH="1" flipV="1">
              <a:off x="3980000" y="3710000"/>
              <a:ext cx="100000" cy="950000"/>
            </a:xfrm>
            <a:prstGeom prst="line">
              <a:avLst/>
            </a:prstGeom>
            <a:ln w="19050">
              <a:solidFill>
                <a:srgbClr val="DFE1E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870000" y="4660000"/>
              <a:ext cx="1420000" cy="480000"/>
            </a:xfrm>
            <a:prstGeom prst="roundRect">
              <a:avLst/>
            </a:prstGeom>
            <a:solidFill>
              <a:srgbClr val="3C3F45"/>
            </a:solidFill>
            <a:ln w="19050">
              <a:solidFill>
                <a:srgbClr val="DFE1E5"/>
              </a:solidFill>
            </a:ln>
            <a:effectLst/>
          </p:spPr>
          <p:style>
            <a:lnRef idx="1">
              <a:schemeClr val="accent1"/>
            </a:lnRef>
            <a:fillRef idx="3">
              <a:schemeClr val="accent1"/>
            </a:fillRef>
            <a:effectRef idx="2">
              <a:schemeClr val="accent1"/>
            </a:effectRef>
            <a:fontRef idx="minor">
              <a:schemeClr val="lt1"/>
            </a:fontRef>
          </p:style>
          <p:txBody>
            <a:bodyPr lIns="30000" rIns="30000" rtlCol="0" anchor="ctr"/>
            <a:lstStyle/>
            <a:p>
              <a:pPr algn="ctr"/>
              <a:r>
                <a:rPr sz="1500" b="0">
                  <a:solidFill>
                    <a:srgbClr val="DFE1E5"/>
                  </a:solidFill>
                  <a:latin typeface="Consolas"/>
                </a:rPr>
                <a:t>TreeSet</a:t>
              </a:r>
            </a:p>
          </p:txBody>
        </p:sp>
        <p:cxnSp>
          <p:nvCxnSpPr>
            <p:cNvPr id="22" name="Connector 21"/>
            <p:cNvCxnSpPr/>
            <p:nvPr/>
          </p:nvCxnSpPr>
          <p:spPr>
            <a:xfrm flipH="1" flipV="1">
              <a:off x="3980000" y="3710000"/>
              <a:ext cx="1600000" cy="950000"/>
            </a:xfrm>
            <a:prstGeom prst="line">
              <a:avLst/>
            </a:prstGeom>
            <a:ln w="19050">
              <a:solidFill>
                <a:srgbClr val="DFE1E5"/>
              </a:solidFill>
              <a:prstDash val="dash"/>
              <a:tailEnd type="triangle" w="med" len="med"/>
            </a:ln>
          </p:spPr>
          <p:style>
            <a:lnRef idx="2">
              <a:schemeClr val="accent1"/>
            </a:lnRef>
            <a:fillRef idx="0">
              <a:schemeClr val="accent1"/>
            </a:fillRef>
            <a:effectRef idx="1">
              <a:schemeClr val="accent1"/>
            </a:effectRef>
            <a:fontRef idx="minor">
              <a:schemeClr val="tx1"/>
            </a:fontRef>
          </p:style>
        </p:cxnSp>
      </p:grpSp>
      <p:grpSp>
        <p:nvGrpSpPr>
          <p:cNvPr id="33" name="Groupe 32">
            <a:extLst>
              <a:ext uri="{FF2B5EF4-FFF2-40B4-BE49-F238E27FC236}">
                <a16:creationId xmlns:a16="http://schemas.microsoft.com/office/drawing/2014/main" id="{1A83C9FF-8D2D-0317-C9AE-458D3AEAEDC4}"/>
              </a:ext>
            </a:extLst>
          </p:cNvPr>
          <p:cNvGrpSpPr/>
          <p:nvPr/>
        </p:nvGrpSpPr>
        <p:grpSpPr>
          <a:xfrm>
            <a:off x="6180000" y="3710000"/>
            <a:ext cx="1660000" cy="1430000"/>
            <a:chOff x="6180000" y="3710000"/>
            <a:chExt cx="1660000" cy="1430000"/>
          </a:xfrm>
        </p:grpSpPr>
        <p:sp>
          <p:nvSpPr>
            <p:cNvPr id="23" name="Rounded Rectangle 22"/>
            <p:cNvSpPr/>
            <p:nvPr/>
          </p:nvSpPr>
          <p:spPr>
            <a:xfrm>
              <a:off x="6420000" y="4660000"/>
              <a:ext cx="1420000" cy="480000"/>
            </a:xfrm>
            <a:prstGeom prst="roundRect">
              <a:avLst/>
            </a:prstGeom>
            <a:solidFill>
              <a:srgbClr val="3C3F45"/>
            </a:solidFill>
            <a:ln w="19050">
              <a:solidFill>
                <a:srgbClr val="DFE1E5"/>
              </a:solidFill>
            </a:ln>
            <a:effectLst/>
          </p:spPr>
          <p:style>
            <a:lnRef idx="1">
              <a:schemeClr val="accent1"/>
            </a:lnRef>
            <a:fillRef idx="3">
              <a:schemeClr val="accent1"/>
            </a:fillRef>
            <a:effectRef idx="2">
              <a:schemeClr val="accent1"/>
            </a:effectRef>
            <a:fontRef idx="minor">
              <a:schemeClr val="lt1"/>
            </a:fontRef>
          </p:style>
          <p:txBody>
            <a:bodyPr lIns="30000" rIns="30000" rtlCol="0" anchor="ctr"/>
            <a:lstStyle/>
            <a:p>
              <a:pPr algn="ctr"/>
              <a:r>
                <a:rPr sz="1500" b="0">
                  <a:solidFill>
                    <a:srgbClr val="DFE1E5"/>
                  </a:solidFill>
                  <a:latin typeface="Consolas"/>
                </a:rPr>
                <a:t>ArrayDeque</a:t>
              </a:r>
            </a:p>
          </p:txBody>
        </p:sp>
        <p:cxnSp>
          <p:nvCxnSpPr>
            <p:cNvPr id="24" name="Connector 23"/>
            <p:cNvCxnSpPr/>
            <p:nvPr/>
          </p:nvCxnSpPr>
          <p:spPr>
            <a:xfrm flipH="1" flipV="1">
              <a:off x="6180000" y="3710000"/>
              <a:ext cx="950000" cy="950000"/>
            </a:xfrm>
            <a:prstGeom prst="line">
              <a:avLst/>
            </a:prstGeom>
            <a:ln w="19050">
              <a:solidFill>
                <a:srgbClr val="DFE1E5"/>
              </a:solidFill>
              <a:prstDash val="dash"/>
              <a:tailEnd type="triangle" w="med" len="med"/>
            </a:ln>
          </p:spPr>
          <p:style>
            <a:lnRef idx="2">
              <a:schemeClr val="accent1"/>
            </a:lnRef>
            <a:fillRef idx="0">
              <a:schemeClr val="accent1"/>
            </a:fillRef>
            <a:effectRef idx="1">
              <a:schemeClr val="accent1"/>
            </a:effectRef>
            <a:fontRef idx="minor">
              <a:schemeClr val="tx1"/>
            </a:fontRef>
          </p:style>
        </p:cxnSp>
      </p:grpSp>
      <p:grpSp>
        <p:nvGrpSpPr>
          <p:cNvPr id="34" name="Groupe 33">
            <a:extLst>
              <a:ext uri="{FF2B5EF4-FFF2-40B4-BE49-F238E27FC236}">
                <a16:creationId xmlns:a16="http://schemas.microsoft.com/office/drawing/2014/main" id="{82896F66-E7BA-2347-342E-6232753805FD}"/>
              </a:ext>
            </a:extLst>
          </p:cNvPr>
          <p:cNvGrpSpPr/>
          <p:nvPr/>
        </p:nvGrpSpPr>
        <p:grpSpPr>
          <a:xfrm>
            <a:off x="8140000" y="2260000"/>
            <a:ext cx="2970000" cy="2880000"/>
            <a:chOff x="8140000" y="2260000"/>
            <a:chExt cx="2970000" cy="2880000"/>
          </a:xfrm>
        </p:grpSpPr>
        <p:sp>
          <p:nvSpPr>
            <p:cNvPr id="25" name="Rounded Rectangle 24"/>
            <p:cNvSpPr/>
            <p:nvPr/>
          </p:nvSpPr>
          <p:spPr>
            <a:xfrm>
              <a:off x="8140000" y="4660000"/>
              <a:ext cx="1420000" cy="480000"/>
            </a:xfrm>
            <a:prstGeom prst="roundRect">
              <a:avLst/>
            </a:prstGeom>
            <a:solidFill>
              <a:srgbClr val="3C3F45"/>
            </a:solidFill>
            <a:ln w="19050">
              <a:solidFill>
                <a:srgbClr val="DFE1E5"/>
              </a:solidFill>
            </a:ln>
            <a:effectLst/>
          </p:spPr>
          <p:style>
            <a:lnRef idx="1">
              <a:schemeClr val="accent1"/>
            </a:lnRef>
            <a:fillRef idx="3">
              <a:schemeClr val="accent1"/>
            </a:fillRef>
            <a:effectRef idx="2">
              <a:schemeClr val="accent1"/>
            </a:effectRef>
            <a:fontRef idx="minor">
              <a:schemeClr val="lt1"/>
            </a:fontRef>
          </p:style>
          <p:txBody>
            <a:bodyPr lIns="30000" rIns="30000" rtlCol="0" anchor="ctr"/>
            <a:lstStyle/>
            <a:p>
              <a:pPr algn="ctr"/>
              <a:r>
                <a:rPr sz="1500" b="0" dirty="0">
                  <a:solidFill>
                    <a:srgbClr val="DFE1E5"/>
                  </a:solidFill>
                  <a:latin typeface="Consolas"/>
                </a:rPr>
                <a:t>HashMap</a:t>
              </a:r>
            </a:p>
          </p:txBody>
        </p:sp>
        <p:cxnSp>
          <p:nvCxnSpPr>
            <p:cNvPr id="26" name="Connector 25"/>
            <p:cNvCxnSpPr/>
            <p:nvPr/>
          </p:nvCxnSpPr>
          <p:spPr>
            <a:xfrm flipV="1">
              <a:off x="8850000" y="2260000"/>
              <a:ext cx="750000" cy="2400000"/>
            </a:xfrm>
            <a:prstGeom prst="line">
              <a:avLst/>
            </a:prstGeom>
            <a:ln w="19050">
              <a:solidFill>
                <a:srgbClr val="DFE1E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690000" y="4660000"/>
              <a:ext cx="1420000" cy="480000"/>
            </a:xfrm>
            <a:prstGeom prst="roundRect">
              <a:avLst/>
            </a:prstGeom>
            <a:solidFill>
              <a:srgbClr val="3C3F45"/>
            </a:solidFill>
            <a:ln w="19050">
              <a:solidFill>
                <a:srgbClr val="DFE1E5"/>
              </a:solidFill>
            </a:ln>
            <a:effectLst/>
          </p:spPr>
          <p:style>
            <a:lnRef idx="1">
              <a:schemeClr val="accent1"/>
            </a:lnRef>
            <a:fillRef idx="3">
              <a:schemeClr val="accent1"/>
            </a:fillRef>
            <a:effectRef idx="2">
              <a:schemeClr val="accent1"/>
            </a:effectRef>
            <a:fontRef idx="minor">
              <a:schemeClr val="lt1"/>
            </a:fontRef>
          </p:style>
          <p:txBody>
            <a:bodyPr lIns="30000" rIns="30000" rtlCol="0" anchor="ctr"/>
            <a:lstStyle/>
            <a:p>
              <a:pPr algn="ctr"/>
              <a:r>
                <a:rPr sz="1500" b="0">
                  <a:solidFill>
                    <a:srgbClr val="DFE1E5"/>
                  </a:solidFill>
                  <a:latin typeface="Consolas"/>
                </a:rPr>
                <a:t>TreeMap</a:t>
              </a:r>
            </a:p>
          </p:txBody>
        </p:sp>
        <p:cxnSp>
          <p:nvCxnSpPr>
            <p:cNvPr id="28" name="Connector 27"/>
            <p:cNvCxnSpPr/>
            <p:nvPr/>
          </p:nvCxnSpPr>
          <p:spPr>
            <a:xfrm flipH="1" flipV="1">
              <a:off x="9600000" y="2260000"/>
              <a:ext cx="800000" cy="2400000"/>
            </a:xfrm>
            <a:prstGeom prst="line">
              <a:avLst/>
            </a:prstGeom>
            <a:ln w="19050">
              <a:solidFill>
                <a:srgbClr val="DFE1E5"/>
              </a:solidFill>
              <a:prstDash val="dash"/>
              <a:tailEnd type="triangle" w="med" len="med"/>
            </a:ln>
          </p:spPr>
          <p:style>
            <a:lnRef idx="2">
              <a:schemeClr val="accent1"/>
            </a:lnRef>
            <a:fillRef idx="0">
              <a:schemeClr val="accent1"/>
            </a:fillRef>
            <a:effectRef idx="1">
              <a:schemeClr val="accent1"/>
            </a:effectRef>
            <a:fontRef idx="minor">
              <a:schemeClr val="tx1"/>
            </a:fontRef>
          </p:style>
        </p:cxnSp>
      </p:grpSp>
      <p:sp>
        <p:nvSpPr>
          <p:cNvPr id="29" name="TextBox 28"/>
          <p:cNvSpPr txBox="1"/>
          <p:nvPr/>
        </p:nvSpPr>
        <p:spPr>
          <a:xfrm>
            <a:off x="640080" y="5500000"/>
            <a:ext cx="10900000" cy="400000"/>
          </a:xfrm>
          <a:prstGeom prst="rect">
            <a:avLst/>
          </a:prstGeom>
          <a:noFill/>
        </p:spPr>
        <p:txBody>
          <a:bodyPr wrap="none">
            <a:spAutoFit/>
          </a:bodyPr>
          <a:lstStyle/>
          <a:p>
            <a:pPr algn="ctr"/>
            <a:r>
              <a:rPr sz="1300" i="1" dirty="0">
                <a:solidFill>
                  <a:srgbClr val="DFE1E5"/>
                </a:solidFill>
              </a:rPr>
              <a:t>trait plein : </a:t>
            </a:r>
            <a:r>
              <a:rPr sz="1300" i="1" dirty="0" err="1">
                <a:solidFill>
                  <a:srgbClr val="DFE1E5"/>
                </a:solidFill>
              </a:rPr>
              <a:t>une</a:t>
            </a:r>
            <a:r>
              <a:rPr sz="1300" i="1" dirty="0">
                <a:solidFill>
                  <a:srgbClr val="DFE1E5"/>
                </a:solidFill>
              </a:rPr>
              <a:t> interface </a:t>
            </a:r>
            <a:r>
              <a:rPr sz="1300" i="1" dirty="0" err="1">
                <a:solidFill>
                  <a:srgbClr val="DFE1E5"/>
                </a:solidFill>
              </a:rPr>
              <a:t>en</a:t>
            </a:r>
            <a:r>
              <a:rPr sz="1300" i="1" dirty="0">
                <a:solidFill>
                  <a:srgbClr val="DFE1E5"/>
                </a:solidFill>
              </a:rPr>
              <a:t> </a:t>
            </a:r>
            <a:r>
              <a:rPr sz="1300" i="1" dirty="0" err="1">
                <a:solidFill>
                  <a:srgbClr val="DFE1E5"/>
                </a:solidFill>
              </a:rPr>
              <a:t>étend</a:t>
            </a:r>
            <a:r>
              <a:rPr sz="1300" i="1" dirty="0">
                <a:solidFill>
                  <a:srgbClr val="DFE1E5"/>
                </a:solidFill>
              </a:rPr>
              <a:t> </a:t>
            </a:r>
            <a:r>
              <a:rPr sz="1300" i="1" dirty="0" err="1">
                <a:solidFill>
                  <a:srgbClr val="DFE1E5"/>
                </a:solidFill>
              </a:rPr>
              <a:t>une</a:t>
            </a:r>
            <a:r>
              <a:rPr sz="1300" i="1" dirty="0">
                <a:solidFill>
                  <a:srgbClr val="DFE1E5"/>
                </a:solidFill>
              </a:rPr>
              <a:t> </a:t>
            </a:r>
            <a:r>
              <a:rPr sz="1300" i="1" dirty="0" err="1">
                <a:solidFill>
                  <a:srgbClr val="DFE1E5"/>
                </a:solidFill>
              </a:rPr>
              <a:t>autre</a:t>
            </a:r>
            <a:r>
              <a:rPr sz="1300" i="1" dirty="0">
                <a:solidFill>
                  <a:srgbClr val="DFE1E5"/>
                </a:solidFill>
              </a:rPr>
              <a:t> ; pointillé : </a:t>
            </a:r>
            <a:r>
              <a:rPr sz="1300" i="1" dirty="0" err="1">
                <a:solidFill>
                  <a:srgbClr val="DFE1E5"/>
                </a:solidFill>
              </a:rPr>
              <a:t>une</a:t>
            </a:r>
            <a:r>
              <a:rPr sz="1300" i="1" dirty="0">
                <a:solidFill>
                  <a:srgbClr val="DFE1E5"/>
                </a:solidFill>
              </a:rPr>
              <a:t> </a:t>
            </a:r>
            <a:r>
              <a:rPr sz="1300" i="1" dirty="0" err="1">
                <a:solidFill>
                  <a:srgbClr val="DFE1E5"/>
                </a:solidFill>
              </a:rPr>
              <a:t>classe</a:t>
            </a:r>
            <a:r>
              <a:rPr sz="1300" i="1" dirty="0">
                <a:solidFill>
                  <a:srgbClr val="DFE1E5"/>
                </a:solidFill>
              </a:rPr>
              <a:t> </a:t>
            </a:r>
            <a:r>
              <a:rPr sz="1300" i="1" dirty="0" err="1">
                <a:solidFill>
                  <a:srgbClr val="DFE1E5"/>
                </a:solidFill>
              </a:rPr>
              <a:t>implémente</a:t>
            </a:r>
            <a:r>
              <a:rPr sz="1300" i="1" dirty="0">
                <a:solidFill>
                  <a:srgbClr val="DFE1E5"/>
                </a:solidFill>
              </a:rPr>
              <a:t> </a:t>
            </a:r>
            <a:r>
              <a:rPr sz="1300" i="1" dirty="0" err="1">
                <a:solidFill>
                  <a:srgbClr val="DFE1E5"/>
                </a:solidFill>
              </a:rPr>
              <a:t>l'interface</a:t>
            </a:r>
            <a:r>
              <a:rPr sz="1300" i="1" dirty="0">
                <a:solidFill>
                  <a:srgbClr val="DFE1E5"/>
                </a:solidFill>
              </a:rPr>
              <a:t> ; </a:t>
            </a:r>
            <a:r>
              <a:rPr sz="1300" i="1" dirty="0">
                <a:solidFill>
                  <a:schemeClr val="accent4"/>
                </a:solidFill>
                <a:latin typeface="Consolas"/>
              </a:rPr>
              <a:t>Map</a:t>
            </a:r>
            <a:r>
              <a:rPr sz="1300" i="1" dirty="0">
                <a:solidFill>
                  <a:srgbClr val="DFE1E5"/>
                </a:solidFill>
              </a:rPr>
              <a:t> </a:t>
            </a:r>
            <a:r>
              <a:rPr sz="1300" i="1" dirty="0" err="1">
                <a:solidFill>
                  <a:srgbClr val="DFE1E5"/>
                </a:solidFill>
              </a:rPr>
              <a:t>n'est</a:t>
            </a:r>
            <a:r>
              <a:rPr sz="1300" i="1" dirty="0">
                <a:solidFill>
                  <a:srgbClr val="DFE1E5"/>
                </a:solidFill>
              </a:rPr>
              <a:t> pas </a:t>
            </a:r>
            <a:r>
              <a:rPr sz="1300" i="1" dirty="0" err="1">
                <a:solidFill>
                  <a:srgbClr val="DFE1E5"/>
                </a:solidFill>
              </a:rPr>
              <a:t>une</a:t>
            </a:r>
            <a:r>
              <a:rPr sz="1300" i="1" dirty="0">
                <a:solidFill>
                  <a:srgbClr val="DFE1E5"/>
                </a:solidFill>
              </a:rPr>
              <a:t> Collection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ipe(down)">
                                      <p:cBhvr>
                                        <p:cTn id="14" dur="500"/>
                                        <p:tgtEl>
                                          <p:spTgt spid="3"/>
                                        </p:tgtEl>
                                      </p:cBhvr>
                                    </p:animEffect>
                                  </p:childTnLst>
                                </p:cTn>
                              </p:par>
                            </p:childTnLst>
                          </p:cTn>
                        </p:par>
                        <p:par>
                          <p:cTn id="15" fill="hold">
                            <p:stCondLst>
                              <p:cond delay="500"/>
                            </p:stCondLst>
                            <p:childTnLst>
                              <p:par>
                                <p:cTn id="16" presetID="22" presetClass="entr" presetSubtype="4"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down)">
                                      <p:cBhvr>
                                        <p:cTn id="18" dur="500"/>
                                        <p:tgtEl>
                                          <p:spTgt spid="4"/>
                                        </p:tgtEl>
                                      </p:cBhvr>
                                    </p:animEffect>
                                  </p:childTnLst>
                                </p:cTn>
                              </p:par>
                            </p:childTnLst>
                          </p:cTn>
                        </p:par>
                        <p:par>
                          <p:cTn id="19" fill="hold">
                            <p:stCondLst>
                              <p:cond delay="1000"/>
                            </p:stCondLst>
                            <p:childTnLst>
                              <p:par>
                                <p:cTn id="20" presetID="22" presetClass="entr" presetSubtype="4" fill="hold" nodeType="after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wipe(down)">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wipe(down)">
                                      <p:cBhvr>
                                        <p:cTn id="27" dur="500"/>
                                        <p:tgtEl>
                                          <p:spTgt spid="31"/>
                                        </p:tgtEl>
                                      </p:cBhvr>
                                    </p:animEffect>
                                  </p:childTnLst>
                                </p:cTn>
                              </p:par>
                            </p:childTnLst>
                          </p:cTn>
                        </p:par>
                        <p:par>
                          <p:cTn id="28" fill="hold">
                            <p:stCondLst>
                              <p:cond delay="500"/>
                            </p:stCondLst>
                            <p:childTnLst>
                              <p:par>
                                <p:cTn id="29" presetID="10" presetClass="entr" presetSubtype="0" fill="hold" grpId="0" nodeType="after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500"/>
                                        <p:tgtEl>
                                          <p:spTgt spid="2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32"/>
                                        </p:tgtEl>
                                        <p:attrNameLst>
                                          <p:attrName>style.visibility</p:attrName>
                                        </p:attrNameLst>
                                      </p:cBhvr>
                                      <p:to>
                                        <p:strVal val="visible"/>
                                      </p:to>
                                    </p:set>
                                    <p:animEffect transition="in" filter="wipe(down)">
                                      <p:cBhvr>
                                        <p:cTn id="36" dur="500"/>
                                        <p:tgtEl>
                                          <p:spTgt spid="3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33"/>
                                        </p:tgtEl>
                                        <p:attrNameLst>
                                          <p:attrName>style.visibility</p:attrName>
                                        </p:attrNameLst>
                                      </p:cBhvr>
                                      <p:to>
                                        <p:strVal val="visible"/>
                                      </p:to>
                                    </p:set>
                                    <p:animEffect transition="in" filter="wipe(down)">
                                      <p:cBhvr>
                                        <p:cTn id="41" dur="500"/>
                                        <p:tgtEl>
                                          <p:spTgt spid="33"/>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fade">
                                      <p:cBhvr>
                                        <p:cTn id="46" dur="5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nodeType="clickEffect">
                                  <p:stCondLst>
                                    <p:cond delay="0"/>
                                  </p:stCondLst>
                                  <p:childTnLst>
                                    <p:set>
                                      <p:cBhvr>
                                        <p:cTn id="50" dur="1" fill="hold">
                                          <p:stCondLst>
                                            <p:cond delay="0"/>
                                          </p:stCondLst>
                                        </p:cTn>
                                        <p:tgtEl>
                                          <p:spTgt spid="34"/>
                                        </p:tgtEl>
                                        <p:attrNameLst>
                                          <p:attrName>style.visibility</p:attrName>
                                        </p:attrNameLst>
                                      </p:cBhvr>
                                      <p:to>
                                        <p:strVal val="visible"/>
                                      </p:to>
                                    </p:set>
                                    <p:animEffect transition="in" filter="wipe(down)">
                                      <p:cBhvr>
                                        <p:cTn id="51"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2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Déclarer par l'interface</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À gauche, l'interface : ce que la variable promet</a:t>
            </a:r>
          </a:p>
          <a:p>
            <a:pPr marL="0" indent="0">
              <a:spcAft>
                <a:spcPts val="1000"/>
              </a:spcAft>
              <a:buNone/>
            </a:pPr>
            <a:r>
              <a:rPr sz="2800"/>
              <a:t>À droite, la classe : comment la promesse est tenue</a:t>
            </a:r>
          </a:p>
          <a:p>
            <a:pPr marL="0" indent="0">
              <a:spcAft>
                <a:spcPts val="1000"/>
              </a:spcAft>
              <a:buNone/>
            </a:pPr>
            <a:r>
              <a:rPr sz="2800"/>
              <a:t>Changer d'implémentation ne change qu'un mot</a:t>
            </a:r>
          </a:p>
        </p:txBody>
      </p:sp>
      <p:sp>
        <p:nvSpPr>
          <p:cNvPr id="4" name="Code"/>
          <p:cNvSpPr txBox="1"/>
          <p:nvPr/>
        </p:nvSpPr>
        <p:spPr>
          <a:xfrm>
            <a:off x="2800350" y="3307080"/>
            <a:ext cx="6591300" cy="1097280"/>
          </a:xfrm>
          <a:prstGeom prst="roundRect">
            <a:avLst>
              <a:gd name="adj" fmla="val 8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List&lt;String&gt; titres = </a:t>
            </a:r>
            <a:r>
              <a:rPr sz="1800">
                <a:solidFill>
                  <a:srgbClr val="CF8E6D"/>
                </a:solidFill>
                <a:latin typeface="Consolas"/>
              </a:rPr>
              <a:t>new</a:t>
            </a:r>
            <a:r>
              <a:rPr sz="1800">
                <a:solidFill>
                  <a:srgbClr val="BCBEC4"/>
                </a:solidFill>
                <a:latin typeface="Consolas"/>
              </a:rPr>
              <a:t> ArrayList&lt;&gt;();</a:t>
            </a:r>
          </a:p>
          <a:p>
            <a:pPr>
              <a:lnSpc>
                <a:spcPct val="100000"/>
              </a:lnSpc>
              <a:spcBef>
                <a:spcPts val="0"/>
              </a:spcBef>
              <a:spcAft>
                <a:spcPts val="0"/>
              </a:spcAft>
            </a:pPr>
            <a:r>
              <a:rPr sz="1800">
                <a:solidFill>
                  <a:srgbClr val="BCBEC4"/>
                </a:solidFill>
                <a:latin typeface="Consolas"/>
              </a:rPr>
              <a:t>Set&lt;String&gt; auteurs = </a:t>
            </a:r>
            <a:r>
              <a:rPr sz="1800">
                <a:solidFill>
                  <a:srgbClr val="CF8E6D"/>
                </a:solidFill>
                <a:latin typeface="Consolas"/>
              </a:rPr>
              <a:t>new</a:t>
            </a:r>
            <a:r>
              <a:rPr sz="1800">
                <a:solidFill>
                  <a:srgbClr val="BCBEC4"/>
                </a:solidFill>
                <a:latin typeface="Consolas"/>
              </a:rPr>
              <a:t> HashSet&lt;&gt;();</a:t>
            </a:r>
          </a:p>
          <a:p>
            <a:pPr>
              <a:lnSpc>
                <a:spcPct val="100000"/>
              </a:lnSpc>
              <a:spcBef>
                <a:spcPts val="0"/>
              </a:spcBef>
              <a:spcAft>
                <a:spcPts val="0"/>
              </a:spcAft>
            </a:pPr>
            <a:r>
              <a:rPr sz="1800">
                <a:solidFill>
                  <a:srgbClr val="BCBEC4"/>
                </a:solidFill>
                <a:latin typeface="Consolas"/>
              </a:rPr>
              <a:t>Map&lt;String, Integer&gt; pages = </a:t>
            </a:r>
            <a:r>
              <a:rPr sz="1800">
                <a:solidFill>
                  <a:srgbClr val="CF8E6D"/>
                </a:solidFill>
                <a:latin typeface="Consolas"/>
              </a:rPr>
              <a:t>new</a:t>
            </a:r>
            <a:r>
              <a:rPr sz="1800">
                <a:solidFill>
                  <a:srgbClr val="BCBEC4"/>
                </a:solidFill>
                <a:latin typeface="Consolas"/>
              </a:rPr>
              <a:t> HashMap&lt;&gt;();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1. Une structure qui grandit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91886DB0-5364-89E7-9D54-C6F86EE79D15}"/>
              </a:ext>
            </a:extLst>
          </p:cNvPr>
          <p:cNvPicPr>
            <a:picLocks noChangeAspect="1"/>
          </p:cNvPicPr>
          <p:nvPr/>
        </p:nvPicPr>
        <p:blipFill>
          <a:blip r:embed="rId3"/>
          <a:stretch>
            <a:fillRect/>
          </a:stretch>
        </p:blipFill>
        <p:spPr>
          <a:xfrm>
            <a:off x="-3244" y="0"/>
            <a:ext cx="12198488" cy="6858000"/>
          </a:xfrm>
          <a:prstGeom prst="rect">
            <a:avLst/>
          </a:prstGeom>
        </p:spPr>
      </p:pic>
      <p:sp>
        <p:nvSpPr>
          <p:cNvPr id="4" name="ZoneTexte 3">
            <a:extLst>
              <a:ext uri="{FF2B5EF4-FFF2-40B4-BE49-F238E27FC236}">
                <a16:creationId xmlns:a16="http://schemas.microsoft.com/office/drawing/2014/main" id="{88140D2F-722A-02CE-8FDD-BF412DAA2485}"/>
              </a:ext>
            </a:extLst>
          </p:cNvPr>
          <p:cNvSpPr txBox="1"/>
          <p:nvPr/>
        </p:nvSpPr>
        <p:spPr>
          <a:xfrm>
            <a:off x="838200" y="946800"/>
            <a:ext cx="9127440"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2. Une liste, des positions</a:t>
            </a:r>
            <a:endParaRPr lang="fr-FR" sz="1600" b="1" dirty="0">
              <a:ln w="0"/>
              <a:effectLst>
                <a:outerShdw blurRad="38100" dist="19050" dir="2700000" algn="tl" rotWithShape="0">
                  <a:schemeClr val="dk1">
                    <a:alpha val="40000"/>
                  </a:schemeClr>
                </a:outerShdw>
              </a:effectLst>
              <a:cs typeface="Calibri" panose="020F050202020403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liste</a:t>
            </a:r>
          </a:p>
        </p:txBody>
      </p:sp>
      <p:sp>
        <p:nvSpPr>
          <p:cNvPr id="3" name="Content Placeholder 2"/>
          <p:cNvSpPr>
            <a:spLocks noGrp="1"/>
          </p:cNvSpPr>
          <p:nvPr>
            <p:ph idx="1"/>
          </p:nvPr>
        </p:nvSpPr>
        <p:spPr>
          <a:xfrm>
            <a:off x="640079" y="1371600"/>
            <a:ext cx="9060873" cy="1671319"/>
          </a:xfrm>
        </p:spPr>
        <p:txBody>
          <a:bodyPr>
            <a:normAutofit lnSpcReduction="10000"/>
          </a:bodyPr>
          <a:lstStyle/>
          <a:p>
            <a:pPr marL="0" indent="0">
              <a:spcAft>
                <a:spcPts val="1000"/>
              </a:spcAft>
              <a:buNone/>
            </a:pPr>
            <a:r>
              <a:rPr sz="2800" dirty="0"/>
              <a:t>Une collection </a:t>
            </a:r>
            <a:r>
              <a:rPr sz="2800" dirty="0" err="1"/>
              <a:t>ordonnée</a:t>
            </a:r>
            <a:r>
              <a:rPr sz="2800" dirty="0"/>
              <a:t> : </a:t>
            </a:r>
            <a:r>
              <a:rPr sz="2800" dirty="0" err="1"/>
              <a:t>chaque</a:t>
            </a:r>
            <a:r>
              <a:rPr sz="2800" dirty="0"/>
              <a:t> </a:t>
            </a:r>
            <a:r>
              <a:rPr sz="2800" dirty="0" err="1"/>
              <a:t>élément</a:t>
            </a:r>
            <a:r>
              <a:rPr sz="2800" dirty="0"/>
              <a:t> a </a:t>
            </a:r>
            <a:r>
              <a:rPr sz="2800" dirty="0" err="1"/>
              <a:t>une</a:t>
            </a:r>
            <a:r>
              <a:rPr sz="2800" dirty="0"/>
              <a:t> position</a:t>
            </a:r>
          </a:p>
          <a:p>
            <a:pPr marL="0" indent="0">
              <a:spcAft>
                <a:spcPts val="1000"/>
              </a:spcAft>
              <a:buNone/>
            </a:pPr>
            <a:r>
              <a:rPr sz="2800" dirty="0"/>
              <a:t>Les positions </a:t>
            </a:r>
            <a:r>
              <a:rPr sz="2800" dirty="0" err="1"/>
              <a:t>sont</a:t>
            </a:r>
            <a:r>
              <a:rPr sz="2800" dirty="0"/>
              <a:t> </a:t>
            </a:r>
            <a:r>
              <a:rPr sz="2800" dirty="0" err="1"/>
              <a:t>numérotées</a:t>
            </a:r>
            <a:r>
              <a:rPr sz="2800" dirty="0"/>
              <a:t> à </a:t>
            </a:r>
            <a:r>
              <a:rPr sz="2800" dirty="0" err="1"/>
              <a:t>partir</a:t>
            </a:r>
            <a:r>
              <a:rPr sz="2800" dirty="0"/>
              <a:t> de 0</a:t>
            </a:r>
          </a:p>
          <a:p>
            <a:pPr marL="0" indent="0">
              <a:spcAft>
                <a:spcPts val="1000"/>
              </a:spcAft>
              <a:buNone/>
            </a:pPr>
            <a:r>
              <a:rPr sz="2800" dirty="0"/>
              <a:t>La </a:t>
            </a:r>
            <a:r>
              <a:rPr sz="2800" dirty="0" err="1"/>
              <a:t>même</a:t>
            </a:r>
            <a:r>
              <a:rPr sz="2800" dirty="0"/>
              <a:t> </a:t>
            </a:r>
            <a:r>
              <a:rPr sz="2800" dirty="0" err="1"/>
              <a:t>valeur</a:t>
            </a:r>
            <a:r>
              <a:rPr sz="2800" dirty="0"/>
              <a:t> </a:t>
            </a:r>
            <a:r>
              <a:rPr sz="2800" dirty="0" err="1"/>
              <a:t>peut</a:t>
            </a:r>
            <a:r>
              <a:rPr sz="2800" dirty="0"/>
              <a:t> figurer </a:t>
            </a:r>
            <a:r>
              <a:rPr sz="2800" dirty="0" err="1"/>
              <a:t>plusieurs</a:t>
            </a:r>
            <a:r>
              <a:rPr sz="2800" dirty="0"/>
              <a:t> </a:t>
            </a:r>
            <a:r>
              <a:rPr sz="2800" dirty="0" err="1"/>
              <a:t>fois</a:t>
            </a:r>
            <a:endParaRPr sz="2800" dirty="0"/>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2. Les listes</a:t>
            </a:r>
          </a:p>
        </p:txBody>
      </p:sp>
      <p:sp>
        <p:nvSpPr>
          <p:cNvPr id="7" name="Rounded Rectangle 6"/>
          <p:cNvSpPr/>
          <p:nvPr/>
        </p:nvSpPr>
        <p:spPr>
          <a:xfrm>
            <a:off x="6400000" y="3895327"/>
            <a:ext cx="4800000" cy="900000"/>
          </a:xfrm>
          <a:prstGeom prst="roundRect">
            <a:avLst/>
          </a:prstGeom>
          <a:solidFill>
            <a:srgbClr val="F0883A"/>
          </a:solidFill>
          <a:ln w="31750">
            <a:solidFill>
              <a:srgbClr val="F5C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650000" y="4115327"/>
            <a:ext cx="460000" cy="460000"/>
          </a:xfrm>
          <a:prstGeom prst="ellipse">
            <a:avLst/>
          </a:prstGeom>
          <a:solidFill>
            <a:srgbClr val="F5C242"/>
          </a:solidFill>
          <a:ln w="19050">
            <a:solidFill>
              <a:srgbClr val="F5C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0000" y="4895327"/>
            <a:ext cx="600000" cy="500000"/>
          </a:xfrm>
          <a:prstGeom prst="rect">
            <a:avLst/>
          </a:prstGeom>
          <a:noFill/>
        </p:spPr>
        <p:txBody>
          <a:bodyPr wrap="none">
            <a:spAutoFit/>
          </a:bodyPr>
          <a:lstStyle/>
          <a:p>
            <a:pPr algn="ctr"/>
            <a:r>
              <a:rPr sz="2400" b="1">
                <a:solidFill>
                  <a:srgbClr val="F5C242"/>
                </a:solidFill>
                <a:latin typeface="Consolas"/>
              </a:rPr>
              <a:t>0</a:t>
            </a:r>
          </a:p>
        </p:txBody>
      </p:sp>
      <p:sp>
        <p:nvSpPr>
          <p:cNvPr id="10" name="Oval 9"/>
          <p:cNvSpPr/>
          <p:nvPr/>
        </p:nvSpPr>
        <p:spPr>
          <a:xfrm>
            <a:off x="7610000" y="4115327"/>
            <a:ext cx="460000" cy="460000"/>
          </a:xfrm>
          <a:prstGeom prst="ellipse">
            <a:avLst/>
          </a:prstGeom>
          <a:solidFill>
            <a:srgbClr val="B0D29B"/>
          </a:solidFill>
          <a:ln w="19050">
            <a:solidFill>
              <a:srgbClr val="F5C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540000" y="4895327"/>
            <a:ext cx="600000" cy="500000"/>
          </a:xfrm>
          <a:prstGeom prst="rect">
            <a:avLst/>
          </a:prstGeom>
          <a:noFill/>
        </p:spPr>
        <p:txBody>
          <a:bodyPr wrap="none">
            <a:spAutoFit/>
          </a:bodyPr>
          <a:lstStyle/>
          <a:p>
            <a:pPr algn="ctr"/>
            <a:r>
              <a:rPr sz="2400" b="1">
                <a:solidFill>
                  <a:srgbClr val="F5C242"/>
                </a:solidFill>
                <a:latin typeface="Consolas"/>
              </a:rPr>
              <a:t>1</a:t>
            </a:r>
          </a:p>
        </p:txBody>
      </p:sp>
      <p:sp>
        <p:nvSpPr>
          <p:cNvPr id="12" name="Oval 11"/>
          <p:cNvSpPr/>
          <p:nvPr/>
        </p:nvSpPr>
        <p:spPr>
          <a:xfrm>
            <a:off x="8570000" y="4115327"/>
            <a:ext cx="460000" cy="460000"/>
          </a:xfrm>
          <a:prstGeom prst="ellipse">
            <a:avLst/>
          </a:prstGeom>
          <a:solidFill>
            <a:srgbClr val="A9C4E2"/>
          </a:solidFill>
          <a:ln w="19050">
            <a:solidFill>
              <a:srgbClr val="F5C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500000" y="4895327"/>
            <a:ext cx="600000" cy="500000"/>
          </a:xfrm>
          <a:prstGeom prst="rect">
            <a:avLst/>
          </a:prstGeom>
          <a:noFill/>
        </p:spPr>
        <p:txBody>
          <a:bodyPr wrap="none">
            <a:spAutoFit/>
          </a:bodyPr>
          <a:lstStyle/>
          <a:p>
            <a:pPr algn="ctr"/>
            <a:r>
              <a:rPr sz="2400" b="1">
                <a:solidFill>
                  <a:srgbClr val="F5C242"/>
                </a:solidFill>
                <a:latin typeface="Consolas"/>
              </a:rPr>
              <a:t>2</a:t>
            </a:r>
          </a:p>
        </p:txBody>
      </p:sp>
      <p:sp>
        <p:nvSpPr>
          <p:cNvPr id="14" name="Oval 13"/>
          <p:cNvSpPr/>
          <p:nvPr/>
        </p:nvSpPr>
        <p:spPr>
          <a:xfrm>
            <a:off x="9530000" y="4115327"/>
            <a:ext cx="460000" cy="460000"/>
          </a:xfrm>
          <a:prstGeom prst="ellipse">
            <a:avLst/>
          </a:prstGeom>
          <a:solidFill>
            <a:srgbClr val="F5C242"/>
          </a:solidFill>
          <a:ln w="19050">
            <a:solidFill>
              <a:srgbClr val="F5C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460000" y="4895327"/>
            <a:ext cx="600000" cy="500000"/>
          </a:xfrm>
          <a:prstGeom prst="rect">
            <a:avLst/>
          </a:prstGeom>
          <a:noFill/>
        </p:spPr>
        <p:txBody>
          <a:bodyPr wrap="none">
            <a:spAutoFit/>
          </a:bodyPr>
          <a:lstStyle/>
          <a:p>
            <a:pPr algn="ctr"/>
            <a:r>
              <a:rPr sz="2400" b="1">
                <a:solidFill>
                  <a:srgbClr val="F5C242"/>
                </a:solidFill>
                <a:latin typeface="Consolas"/>
              </a:rPr>
              <a:t>3</a:t>
            </a:r>
          </a:p>
        </p:txBody>
      </p:sp>
      <p:sp>
        <p:nvSpPr>
          <p:cNvPr id="16" name="Oval 15"/>
          <p:cNvSpPr/>
          <p:nvPr/>
        </p:nvSpPr>
        <p:spPr>
          <a:xfrm>
            <a:off x="10490000" y="4115327"/>
            <a:ext cx="460000" cy="460000"/>
          </a:xfrm>
          <a:prstGeom prst="ellipse">
            <a:avLst/>
          </a:prstGeom>
          <a:solidFill>
            <a:srgbClr val="E9B48C"/>
          </a:solidFill>
          <a:ln w="19050">
            <a:solidFill>
              <a:srgbClr val="F5C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420000" y="4895327"/>
            <a:ext cx="600000" cy="500000"/>
          </a:xfrm>
          <a:prstGeom prst="rect">
            <a:avLst/>
          </a:prstGeom>
          <a:noFill/>
        </p:spPr>
        <p:txBody>
          <a:bodyPr wrap="none">
            <a:spAutoFit/>
          </a:bodyPr>
          <a:lstStyle/>
          <a:p>
            <a:pPr algn="ctr"/>
            <a:r>
              <a:rPr sz="2400" b="1">
                <a:solidFill>
                  <a:srgbClr val="F5C242"/>
                </a:solidFill>
                <a:latin typeface="Consolas"/>
              </a:rPr>
              <a:t>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1"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1" animBg="1"/>
      <p:bldP spid="8" grpId="0" animBg="1"/>
      <p:bldP spid="9" grpId="0"/>
      <p:bldP spid="10" grpId="0" animBg="1"/>
      <p:bldP spid="11" grpId="0"/>
      <p:bldP spid="12" grpId="0" animBg="1"/>
      <p:bldP spid="13" grpId="0"/>
      <p:bldP spid="14" grpId="0" animBg="1"/>
      <p:bldP spid="15" grpId="0"/>
      <p:bldP spid="16" grpId="0" animBg="1"/>
      <p:bldP spid="1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opérations d'une liste</a:t>
            </a:r>
          </a:p>
        </p:txBody>
      </p:sp>
      <p:sp>
        <p:nvSpPr>
          <p:cNvPr id="3" name="Content Placeholder 2"/>
          <p:cNvSpPr>
            <a:spLocks noGrp="1"/>
          </p:cNvSpPr>
          <p:nvPr>
            <p:ph idx="1"/>
          </p:nvPr>
        </p:nvSpPr>
        <p:spPr>
          <a:xfrm>
            <a:off x="640080" y="1371600"/>
            <a:ext cx="10881360" cy="1671319"/>
          </a:xfrm>
        </p:spPr>
        <p:txBody>
          <a:bodyPr/>
          <a:lstStyle/>
          <a:p>
            <a:pPr marL="0" indent="0">
              <a:spcAft>
                <a:spcPts val="1000"/>
              </a:spcAft>
              <a:buNone/>
            </a:pPr>
            <a:r>
              <a:rPr sz="2800"/>
              <a:t>Une liste garde l'ordre d'ajout, et accepte les doublons</a:t>
            </a:r>
          </a:p>
          <a:p>
            <a:pPr marL="0" indent="0">
              <a:spcAft>
                <a:spcPts val="1000"/>
              </a:spcAft>
              <a:buNone/>
            </a:pPr>
            <a:r>
              <a:rPr sz="2800"/>
              <a:t>Chaque élément a une position, qui commence à 0</a:t>
            </a:r>
          </a:p>
        </p:txBody>
      </p:sp>
      <p:sp>
        <p:nvSpPr>
          <p:cNvPr id="4" name="Code"/>
          <p:cNvSpPr txBox="1"/>
          <p:nvPr/>
        </p:nvSpPr>
        <p:spPr>
          <a:xfrm>
            <a:off x="2171700" y="3180079"/>
            <a:ext cx="7848600" cy="2743200"/>
          </a:xfrm>
          <a:prstGeom prst="roundRect">
            <a:avLst>
              <a:gd name="adj" fmla="val 3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List&lt;String&gt; titres = </a:t>
            </a:r>
            <a:r>
              <a:rPr sz="1800">
                <a:solidFill>
                  <a:srgbClr val="CF8E6D"/>
                </a:solidFill>
                <a:latin typeface="Consolas"/>
              </a:rPr>
              <a:t>new</a:t>
            </a:r>
            <a:r>
              <a:rPr sz="1800">
                <a:solidFill>
                  <a:srgbClr val="BCBEC4"/>
                </a:solidFill>
                <a:latin typeface="Consolas"/>
              </a:rPr>
              <a:t> ArrayList&lt;&gt;();</a:t>
            </a:r>
          </a:p>
          <a:p>
            <a:pPr>
              <a:lnSpc>
                <a:spcPct val="100000"/>
              </a:lnSpc>
              <a:spcBef>
                <a:spcPts val="0"/>
              </a:spcBef>
              <a:spcAft>
                <a:spcPts val="0"/>
              </a:spcAft>
            </a:pPr>
            <a:r>
              <a:rPr sz="1800">
                <a:solidFill>
                  <a:srgbClr val="BCBEC4"/>
                </a:solidFill>
                <a:latin typeface="Consolas"/>
              </a:rPr>
              <a:t>titres.</a:t>
            </a:r>
            <a:r>
              <a:rPr sz="1800">
                <a:solidFill>
                  <a:srgbClr val="56A8F5"/>
                </a:solidFill>
                <a:latin typeface="Consolas"/>
              </a:rPr>
              <a:t>add</a:t>
            </a:r>
            <a:r>
              <a:rPr sz="1800">
                <a:solidFill>
                  <a:srgbClr val="BCBEC4"/>
                </a:solidFill>
                <a:latin typeface="Consolas"/>
              </a:rPr>
              <a:t>(</a:t>
            </a:r>
            <a:r>
              <a:rPr sz="1800">
                <a:solidFill>
                  <a:srgbClr val="6AAB73"/>
                </a:solidFill>
                <a:latin typeface="Consolas"/>
              </a:rPr>
              <a:t>"Germinal"</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titres.</a:t>
            </a:r>
            <a:r>
              <a:rPr sz="1800">
                <a:solidFill>
                  <a:srgbClr val="56A8F5"/>
                </a:solidFill>
                <a:latin typeface="Consolas"/>
              </a:rPr>
              <a:t>add</a:t>
            </a:r>
            <a:r>
              <a:rPr sz="1800">
                <a:solidFill>
                  <a:srgbClr val="BCBEC4"/>
                </a:solidFill>
                <a:latin typeface="Consolas"/>
              </a:rPr>
              <a:t>(</a:t>
            </a:r>
            <a:r>
              <a:rPr sz="1800">
                <a:solidFill>
                  <a:srgbClr val="6AAB73"/>
                </a:solidFill>
                <a:latin typeface="Consolas"/>
              </a:rPr>
              <a:t>"Nana"</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titres.</a:t>
            </a:r>
            <a:r>
              <a:rPr sz="1800">
                <a:solidFill>
                  <a:srgbClr val="56A8F5"/>
                </a:solidFill>
                <a:latin typeface="Consolas"/>
              </a:rPr>
              <a:t>add</a:t>
            </a:r>
            <a:r>
              <a:rPr sz="1800">
                <a:solidFill>
                  <a:srgbClr val="BCBEC4"/>
                </a:solidFill>
                <a:latin typeface="Consolas"/>
              </a:rPr>
              <a:t>(</a:t>
            </a:r>
            <a:r>
              <a:rPr sz="1800">
                <a:solidFill>
                  <a:srgbClr val="2AACB8"/>
                </a:solidFill>
                <a:latin typeface="Consolas"/>
              </a:rPr>
              <a:t>0</a:t>
            </a:r>
            <a:r>
              <a:rPr sz="1800">
                <a:solidFill>
                  <a:srgbClr val="BCBEC4"/>
                </a:solidFill>
                <a:latin typeface="Consolas"/>
              </a:rPr>
              <a:t>, </a:t>
            </a:r>
            <a:r>
              <a:rPr sz="1800">
                <a:solidFill>
                  <a:srgbClr val="6AAB73"/>
                </a:solidFill>
                <a:latin typeface="Consolas"/>
              </a:rPr>
              <a:t>"Candide"</a:t>
            </a:r>
            <a:r>
              <a:rPr sz="1800">
                <a:solidFill>
                  <a:srgbClr val="BCBEC4"/>
                </a:solidFill>
                <a:latin typeface="Consolas"/>
              </a:rPr>
              <a:t>);          </a:t>
            </a:r>
            <a:r>
              <a:rPr sz="1800">
                <a:solidFill>
                  <a:srgbClr val="7A7E85"/>
                </a:solidFill>
                <a:latin typeface="Consolas"/>
              </a:rPr>
              <a:t>// insere en tete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titres.</a:t>
            </a:r>
            <a:r>
              <a:rPr sz="1800">
                <a:solidFill>
                  <a:srgbClr val="56A8F5"/>
                </a:solidFill>
                <a:latin typeface="Consolas"/>
              </a:rPr>
              <a:t>size</a:t>
            </a:r>
            <a:r>
              <a:rPr sz="1800">
                <a:solidFill>
                  <a:srgbClr val="BCBEC4"/>
                </a:solidFill>
                <a:latin typeface="Consolas"/>
              </a:rPr>
              <a:t>();                     </a:t>
            </a:r>
            <a:r>
              <a:rPr sz="1800">
                <a:solidFill>
                  <a:srgbClr val="7A7E85"/>
                </a:solidFill>
                <a:latin typeface="Consolas"/>
              </a:rPr>
              <a:t>// 3</a:t>
            </a:r>
          </a:p>
          <a:p>
            <a:pPr>
              <a:lnSpc>
                <a:spcPct val="100000"/>
              </a:lnSpc>
              <a:spcBef>
                <a:spcPts val="0"/>
              </a:spcBef>
              <a:spcAft>
                <a:spcPts val="0"/>
              </a:spcAft>
            </a:pPr>
            <a:r>
              <a:rPr sz="1800">
                <a:solidFill>
                  <a:srgbClr val="BCBEC4"/>
                </a:solidFill>
                <a:latin typeface="Consolas"/>
              </a:rPr>
              <a:t>titres.</a:t>
            </a:r>
            <a:r>
              <a:rPr sz="1800">
                <a:solidFill>
                  <a:srgbClr val="56A8F5"/>
                </a:solidFill>
                <a:latin typeface="Consolas"/>
              </a:rPr>
              <a:t>get</a:t>
            </a:r>
            <a:r>
              <a:rPr sz="1800">
                <a:solidFill>
                  <a:srgbClr val="BCBEC4"/>
                </a:solidFill>
                <a:latin typeface="Consolas"/>
              </a:rPr>
              <a:t>(</a:t>
            </a:r>
            <a:r>
              <a:rPr sz="1800">
                <a:solidFill>
                  <a:srgbClr val="2AACB8"/>
                </a:solidFill>
                <a:latin typeface="Consolas"/>
              </a:rPr>
              <a:t>1</a:t>
            </a:r>
            <a:r>
              <a:rPr sz="1800">
                <a:solidFill>
                  <a:srgbClr val="BCBEC4"/>
                </a:solidFill>
                <a:latin typeface="Consolas"/>
              </a:rPr>
              <a:t>);                     </a:t>
            </a:r>
            <a:r>
              <a:rPr sz="1800">
                <a:solidFill>
                  <a:srgbClr val="7A7E85"/>
                </a:solidFill>
                <a:latin typeface="Consolas"/>
              </a:rPr>
              <a:t>// "Germinal"</a:t>
            </a:r>
          </a:p>
          <a:p>
            <a:pPr>
              <a:lnSpc>
                <a:spcPct val="100000"/>
              </a:lnSpc>
              <a:spcBef>
                <a:spcPts val="0"/>
              </a:spcBef>
              <a:spcAft>
                <a:spcPts val="0"/>
              </a:spcAft>
            </a:pPr>
            <a:r>
              <a:rPr sz="1800">
                <a:solidFill>
                  <a:srgbClr val="BCBEC4"/>
                </a:solidFill>
                <a:latin typeface="Consolas"/>
              </a:rPr>
              <a:t>titres.</a:t>
            </a:r>
            <a:r>
              <a:rPr sz="1800">
                <a:solidFill>
                  <a:srgbClr val="56A8F5"/>
                </a:solidFill>
                <a:latin typeface="Consolas"/>
              </a:rPr>
              <a:t>contains</a:t>
            </a:r>
            <a:r>
              <a:rPr sz="1800">
                <a:solidFill>
                  <a:srgbClr val="BCBEC4"/>
                </a:solidFill>
                <a:latin typeface="Consolas"/>
              </a:rPr>
              <a:t>(</a:t>
            </a:r>
            <a:r>
              <a:rPr sz="1800">
                <a:solidFill>
                  <a:srgbClr val="6AAB73"/>
                </a:solidFill>
                <a:latin typeface="Consolas"/>
              </a:rPr>
              <a:t>"Nana"</a:t>
            </a:r>
            <a:r>
              <a:rPr sz="1800">
                <a:solidFill>
                  <a:srgbClr val="BCBEC4"/>
                </a:solidFill>
                <a:latin typeface="Consolas"/>
              </a:rPr>
              <a:t>);           </a:t>
            </a:r>
            <a:r>
              <a:rPr sz="1800">
                <a:solidFill>
                  <a:srgbClr val="7A7E85"/>
                </a:solidFill>
                <a:latin typeface="Consolas"/>
              </a:rPr>
              <a:t>// true</a:t>
            </a:r>
          </a:p>
          <a:p>
            <a:pPr>
              <a:lnSpc>
                <a:spcPct val="100000"/>
              </a:lnSpc>
              <a:spcBef>
                <a:spcPts val="0"/>
              </a:spcBef>
              <a:spcAft>
                <a:spcPts val="0"/>
              </a:spcAft>
            </a:pPr>
            <a:r>
              <a:rPr sz="1800">
                <a:solidFill>
                  <a:srgbClr val="BCBEC4"/>
                </a:solidFill>
                <a:latin typeface="Consolas"/>
              </a:rPr>
              <a:t>titres.</a:t>
            </a:r>
            <a:r>
              <a:rPr sz="1800">
                <a:solidFill>
                  <a:srgbClr val="56A8F5"/>
                </a:solidFill>
                <a:latin typeface="Consolas"/>
              </a:rPr>
              <a:t>remove</a:t>
            </a:r>
            <a:r>
              <a:rPr sz="1800">
                <a:solidFill>
                  <a:srgbClr val="BCBEC4"/>
                </a:solidFill>
                <a:latin typeface="Consolas"/>
              </a:rPr>
              <a:t>(</a:t>
            </a:r>
            <a:r>
              <a:rPr sz="1800">
                <a:solidFill>
                  <a:srgbClr val="6AAB73"/>
                </a:solidFill>
                <a:latin typeface="Consolas"/>
              </a:rPr>
              <a:t>"Nana"</a:t>
            </a:r>
            <a:r>
              <a:rPr sz="1800">
                <a:solidFill>
                  <a:srgbClr val="BCBEC4"/>
                </a:solidFill>
                <a:latin typeface="Consolas"/>
              </a:rPr>
              <a:t>);             </a:t>
            </a:r>
            <a:r>
              <a:rPr sz="1800">
                <a:solidFill>
                  <a:srgbClr val="7A7E85"/>
                </a:solidFill>
                <a:latin typeface="Consolas"/>
              </a:rPr>
              <a:t>// retire l'element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2. Les listes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Parcourir une collection</a:t>
            </a:r>
          </a:p>
        </p:txBody>
      </p:sp>
      <p:sp>
        <p:nvSpPr>
          <p:cNvPr id="3" name="Content Placeholder 2"/>
          <p:cNvSpPr>
            <a:spLocks noGrp="1"/>
          </p:cNvSpPr>
          <p:nvPr>
            <p:ph idx="1"/>
          </p:nvPr>
        </p:nvSpPr>
        <p:spPr>
          <a:xfrm>
            <a:off x="640080" y="1371600"/>
            <a:ext cx="10881360" cy="1671319"/>
          </a:xfrm>
        </p:spPr>
        <p:txBody>
          <a:bodyPr/>
          <a:lstStyle/>
          <a:p>
            <a:pPr marL="0" indent="0">
              <a:spcAft>
                <a:spcPts val="1000"/>
              </a:spcAft>
              <a:buNone/>
            </a:pPr>
            <a:r>
              <a:rPr sz="2800"/>
              <a:t>La boucle </a:t>
            </a:r>
            <a:r>
              <a:rPr sz="2400">
                <a:solidFill>
                  <a:schemeClr val="accent4"/>
                </a:solidFill>
                <a:latin typeface="Consolas"/>
              </a:rPr>
              <a:t>for</a:t>
            </a:r>
            <a:r>
              <a:rPr sz="2800"/>
              <a:t> des tableaux parcourt toute collection</a:t>
            </a:r>
          </a:p>
          <a:p>
            <a:pPr marL="0" indent="0">
              <a:spcAft>
                <a:spcPts val="1000"/>
              </a:spcAft>
              <a:buNone/>
            </a:pPr>
            <a:r>
              <a:rPr sz="2800"/>
              <a:t>Une collection s'affiche lisiblement, contrairement à un tableau</a:t>
            </a:r>
          </a:p>
        </p:txBody>
      </p:sp>
      <p:sp>
        <p:nvSpPr>
          <p:cNvPr id="4" name="Code"/>
          <p:cNvSpPr txBox="1"/>
          <p:nvPr/>
        </p:nvSpPr>
        <p:spPr>
          <a:xfrm>
            <a:off x="2101850" y="3180079"/>
            <a:ext cx="79883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for</a:t>
            </a:r>
            <a:r>
              <a:rPr sz="1800">
                <a:solidFill>
                  <a:srgbClr val="BCBEC4"/>
                </a:solidFill>
                <a:latin typeface="Consolas"/>
              </a:rPr>
              <a:t> (String titre : titres) {</a:t>
            </a:r>
          </a:p>
          <a:p>
            <a:pPr>
              <a:lnSpc>
                <a:spcPct val="100000"/>
              </a:lnSpc>
              <a:spcBef>
                <a:spcPts val="0"/>
              </a:spcBef>
              <a:spcAft>
                <a:spcPts val="0"/>
              </a:spcAft>
            </a:pPr>
            <a:r>
              <a:rPr sz="1800">
                <a:solidFill>
                  <a:srgbClr val="BCBEC4"/>
                </a:solidFill>
                <a:latin typeface="Consolas"/>
              </a:rPr>
              <a:t>    System.out.</a:t>
            </a:r>
            <a:r>
              <a:rPr sz="1800">
                <a:solidFill>
                  <a:srgbClr val="56A8F5"/>
                </a:solidFill>
                <a:latin typeface="Consolas"/>
              </a:rPr>
              <a:t>println</a:t>
            </a:r>
            <a:r>
              <a:rPr sz="1800">
                <a:solidFill>
                  <a:srgbClr val="BCBEC4"/>
                </a:solidFill>
                <a:latin typeface="Consolas"/>
              </a:rPr>
              <a:t>(titre);</a:t>
            </a:r>
          </a:p>
          <a:p>
            <a:pPr>
              <a:lnSpc>
                <a:spcPct val="100000"/>
              </a:lnSpc>
              <a:spcBef>
                <a:spcPts val="0"/>
              </a:spcBef>
              <a:spcAft>
                <a:spcPts val="0"/>
              </a:spcAft>
            </a:pP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System.out.</a:t>
            </a:r>
            <a:r>
              <a:rPr sz="1800">
                <a:solidFill>
                  <a:srgbClr val="56A8F5"/>
                </a:solidFill>
                <a:latin typeface="Consolas"/>
              </a:rPr>
              <a:t>println</a:t>
            </a:r>
            <a:r>
              <a:rPr sz="1800">
                <a:solidFill>
                  <a:srgbClr val="BCBEC4"/>
                </a:solidFill>
                <a:latin typeface="Consolas"/>
              </a:rPr>
              <a:t>(titres);      </a:t>
            </a:r>
            <a:r>
              <a:rPr sz="1800">
                <a:solidFill>
                  <a:srgbClr val="7A7E85"/>
                </a:solidFill>
                <a:latin typeface="Consolas"/>
              </a:rPr>
              <a:t>// [Candide, Germinal]</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13</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2. Les listes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que la boucle </a:t>
            </a:r>
            <a:r>
              <a:rPr sz="4000">
                <a:solidFill>
                  <a:schemeClr val="accent4"/>
                </a:solidFill>
                <a:latin typeface="Consolas"/>
              </a:rPr>
              <a:t>for-each</a:t>
            </a:r>
            <a:r>
              <a:rPr sz="4000"/>
              <a:t> utilise</a:t>
            </a:r>
          </a:p>
        </p:txBody>
      </p:sp>
      <p:sp>
        <p:nvSpPr>
          <p:cNvPr id="3" name="Content Placeholder 2"/>
          <p:cNvSpPr>
            <a:spLocks noGrp="1"/>
          </p:cNvSpPr>
          <p:nvPr>
            <p:ph idx="1"/>
          </p:nvPr>
        </p:nvSpPr>
        <p:spPr>
          <a:xfrm>
            <a:off x="640080" y="1371600"/>
            <a:ext cx="10881360" cy="1671319"/>
          </a:xfrm>
        </p:spPr>
        <p:txBody>
          <a:bodyPr>
            <a:normAutofit lnSpcReduction="10000"/>
          </a:bodyPr>
          <a:lstStyle/>
          <a:p>
            <a:pPr marL="0" indent="0">
              <a:spcAft>
                <a:spcPts val="1000"/>
              </a:spcAft>
              <a:buNone/>
            </a:pPr>
            <a:r>
              <a:rPr sz="2800"/>
              <a:t>Une collection est </a:t>
            </a:r>
            <a:r>
              <a:rPr sz="2800">
                <a:solidFill>
                  <a:schemeClr val="accent4"/>
                </a:solidFill>
                <a:latin typeface="Consolas"/>
              </a:rPr>
              <a:t>Iterable</a:t>
            </a:r>
            <a:r>
              <a:rPr sz="2800"/>
              <a:t> : elle fournit un </a:t>
            </a:r>
            <a:r>
              <a:rPr sz="2800">
                <a:solidFill>
                  <a:schemeClr val="accent4"/>
                </a:solidFill>
                <a:latin typeface="Consolas"/>
              </a:rPr>
              <a:t>Iterator</a:t>
            </a:r>
          </a:p>
          <a:p>
            <a:pPr marL="0" indent="0">
              <a:spcAft>
                <a:spcPts val="1000"/>
              </a:spcAft>
              <a:buNone/>
            </a:pPr>
            <a:r>
              <a:rPr sz="2800"/>
              <a:t>L'itérateur répond à </a:t>
            </a:r>
            <a:r>
              <a:rPr sz="2800">
                <a:solidFill>
                  <a:schemeClr val="accent4"/>
                </a:solidFill>
                <a:latin typeface="Consolas"/>
              </a:rPr>
              <a:t>hasNext()</a:t>
            </a:r>
            <a:r>
              <a:rPr sz="2800"/>
              <a:t> et </a:t>
            </a:r>
            <a:r>
              <a:rPr sz="2800">
                <a:solidFill>
                  <a:schemeClr val="accent4"/>
                </a:solidFill>
                <a:latin typeface="Consolas"/>
              </a:rPr>
              <a:t>next()</a:t>
            </a:r>
          </a:p>
          <a:p>
            <a:pPr marL="0" indent="0">
              <a:spcAft>
                <a:spcPts val="1000"/>
              </a:spcAft>
              <a:buNone/>
            </a:pPr>
            <a:r>
              <a:rPr sz="2800"/>
              <a:t>La boucle </a:t>
            </a:r>
            <a:r>
              <a:rPr sz="2800">
                <a:solidFill>
                  <a:schemeClr val="accent4"/>
                </a:solidFill>
                <a:latin typeface="Consolas"/>
              </a:rPr>
              <a:t>for-each</a:t>
            </a:r>
            <a:r>
              <a:rPr sz="2800"/>
              <a:t> l'écrit pour vous</a:t>
            </a:r>
          </a:p>
        </p:txBody>
      </p:sp>
      <p:sp>
        <p:nvSpPr>
          <p:cNvPr id="4" name="Code"/>
          <p:cNvSpPr txBox="1"/>
          <p:nvPr/>
        </p:nvSpPr>
        <p:spPr>
          <a:xfrm>
            <a:off x="2101850" y="3579472"/>
            <a:ext cx="79883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Iterator&lt;String&gt; it = titres.iterator();</a:t>
            </a:r>
          </a:p>
          <a:p>
            <a:pPr>
              <a:lnSpc>
                <a:spcPct val="100000"/>
              </a:lnSpc>
              <a:spcBef>
                <a:spcPts val="0"/>
              </a:spcBef>
              <a:spcAft>
                <a:spcPts val="0"/>
              </a:spcAft>
            </a:pPr>
            <a:r>
              <a:rPr sz="1800">
                <a:solidFill>
                  <a:srgbClr val="CF8E6D"/>
                </a:solidFill>
                <a:latin typeface="Consolas"/>
              </a:rPr>
              <a:t>while</a:t>
            </a:r>
            <a:r>
              <a:rPr sz="1800">
                <a:solidFill>
                  <a:srgbClr val="BCBEC4"/>
                </a:solidFill>
                <a:latin typeface="Consolas"/>
              </a:rPr>
              <a:t> (it.hasNext()) {</a:t>
            </a:r>
          </a:p>
          <a:p>
            <a:pPr>
              <a:lnSpc>
                <a:spcPct val="100000"/>
              </a:lnSpc>
              <a:spcBef>
                <a:spcPts val="0"/>
              </a:spcBef>
              <a:spcAft>
                <a:spcPts val="0"/>
              </a:spcAft>
            </a:pPr>
            <a:r>
              <a:rPr sz="1800">
                <a:solidFill>
                  <a:srgbClr val="BCBEC4"/>
                </a:solidFill>
                <a:latin typeface="Consolas"/>
              </a:rPr>
              <a:t>    String titre = it.next();</a:t>
            </a:r>
          </a:p>
          <a:p>
            <a:pPr>
              <a:lnSpc>
                <a:spcPct val="100000"/>
              </a:lnSpc>
              <a:spcBef>
                <a:spcPts val="0"/>
              </a:spcBef>
              <a:spcAft>
                <a:spcPts val="0"/>
              </a:spcAft>
            </a:pPr>
            <a:r>
              <a:rPr sz="1800">
                <a:solidFill>
                  <a:srgbClr val="BCBEC4"/>
                </a:solidFill>
                <a:latin typeface="Consolas"/>
              </a:rPr>
              <a:t>    System.out.println(titre);</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2. Les listes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600">
                <a:solidFill>
                  <a:schemeClr val="accent4"/>
                </a:solidFill>
                <a:latin typeface="Consolas"/>
              </a:rPr>
              <a:t>ArrayList</a:t>
            </a:r>
            <a:r>
              <a:rPr sz="4000"/>
              <a:t> ou </a:t>
            </a:r>
            <a:r>
              <a:rPr sz="3600">
                <a:solidFill>
                  <a:schemeClr val="accent4"/>
                </a:solidFill>
                <a:latin typeface="Consolas"/>
              </a:rPr>
              <a:t>LinkedList</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Deux classes, la même interface </a:t>
            </a:r>
            <a:r>
              <a:rPr sz="2400">
                <a:solidFill>
                  <a:schemeClr val="accent4"/>
                </a:solidFill>
                <a:latin typeface="Consolas"/>
              </a:rPr>
              <a:t>List</a:t>
            </a:r>
          </a:p>
          <a:p>
            <a:pPr marL="0" indent="0">
              <a:spcAft>
                <a:spcPts val="1000"/>
              </a:spcAft>
              <a:buNone/>
            </a:pPr>
            <a:r>
              <a:rPr sz="2800"/>
              <a:t>La classe </a:t>
            </a:r>
            <a:r>
              <a:rPr sz="2400">
                <a:solidFill>
                  <a:schemeClr val="accent4"/>
                </a:solidFill>
                <a:latin typeface="Consolas"/>
              </a:rPr>
              <a:t>ArrayList</a:t>
            </a:r>
            <a:r>
              <a:rPr sz="2800"/>
              <a:t> est le choix par défaut</a:t>
            </a:r>
          </a:p>
          <a:p>
            <a:pPr marL="0" indent="0">
              <a:spcAft>
                <a:spcPts val="1000"/>
              </a:spcAft>
              <a:buNone/>
            </a:pPr>
            <a:r>
              <a:rPr sz="2800"/>
              <a:t>La classe </a:t>
            </a:r>
            <a:r>
              <a:rPr sz="2400">
                <a:solidFill>
                  <a:schemeClr val="accent4"/>
                </a:solidFill>
                <a:latin typeface="Consolas"/>
              </a:rPr>
              <a:t>LinkedList</a:t>
            </a:r>
            <a:r>
              <a:rPr sz="2800"/>
              <a:t> est aussi une file à deux bouts</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15</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2. Les listes</a:t>
            </a:r>
          </a:p>
        </p:txBody>
      </p:sp>
      <p:sp>
        <p:nvSpPr>
          <p:cNvPr id="7" name="Rounded Rectangle 8">
            <a:extLst>
              <a:ext uri="{FF2B5EF4-FFF2-40B4-BE49-F238E27FC236}">
                <a16:creationId xmlns:a16="http://schemas.microsoft.com/office/drawing/2014/main" id="{C9D43235-43E5-A904-7EF3-C33E11A19BDD}"/>
              </a:ext>
            </a:extLst>
          </p:cNvPr>
          <p:cNvSpPr/>
          <p:nvPr/>
        </p:nvSpPr>
        <p:spPr>
          <a:xfrm>
            <a:off x="9194193" y="541288"/>
            <a:ext cx="1800000" cy="620000"/>
          </a:xfrm>
          <a:prstGeom prst="roundRect">
            <a:avLst/>
          </a:prstGeom>
          <a:solidFill>
            <a:srgbClr val="1E1F22"/>
          </a:solidFill>
          <a:ln w="19050">
            <a:solidFill>
              <a:srgbClr val="F5C242"/>
            </a:solidFill>
          </a:ln>
          <a:effectLst/>
        </p:spPr>
        <p:style>
          <a:lnRef idx="1">
            <a:schemeClr val="accent1"/>
          </a:lnRef>
          <a:fillRef idx="3">
            <a:schemeClr val="accent1"/>
          </a:fillRef>
          <a:effectRef idx="2">
            <a:schemeClr val="accent1"/>
          </a:effectRef>
          <a:fontRef idx="minor">
            <a:schemeClr val="lt1"/>
          </a:fontRef>
        </p:style>
        <p:txBody>
          <a:bodyPr lIns="30000" rIns="30000" rtlCol="0" anchor="ctr"/>
          <a:lstStyle/>
          <a:p>
            <a:pPr algn="ctr"/>
            <a:r>
              <a:rPr sz="1100" i="1" dirty="0">
                <a:solidFill>
                  <a:srgbClr val="DFE1E5"/>
                </a:solidFill>
              </a:rPr>
              <a:t>interface</a:t>
            </a:r>
          </a:p>
          <a:p>
            <a:pPr algn="ctr"/>
            <a:r>
              <a:rPr sz="1700" b="1" dirty="0">
                <a:solidFill>
                  <a:srgbClr val="F5C242"/>
                </a:solidFill>
                <a:latin typeface="Consolas"/>
              </a:rPr>
              <a:t>List&lt;E&gt;</a:t>
            </a:r>
          </a:p>
        </p:txBody>
      </p:sp>
      <p:grpSp>
        <p:nvGrpSpPr>
          <p:cNvPr id="9" name="Groupe 8">
            <a:extLst>
              <a:ext uri="{FF2B5EF4-FFF2-40B4-BE49-F238E27FC236}">
                <a16:creationId xmlns:a16="http://schemas.microsoft.com/office/drawing/2014/main" id="{5E81D61A-46B2-6FF8-F95D-CA7B0E342BCF}"/>
              </a:ext>
            </a:extLst>
          </p:cNvPr>
          <p:cNvGrpSpPr/>
          <p:nvPr/>
        </p:nvGrpSpPr>
        <p:grpSpPr>
          <a:xfrm>
            <a:off x="8584193" y="1161288"/>
            <a:ext cx="2970000" cy="1430000"/>
            <a:chOff x="270000" y="3710000"/>
            <a:chExt cx="2970000" cy="1430000"/>
          </a:xfrm>
        </p:grpSpPr>
        <p:sp>
          <p:nvSpPr>
            <p:cNvPr id="10" name="Rounded Rectangle 14">
              <a:extLst>
                <a:ext uri="{FF2B5EF4-FFF2-40B4-BE49-F238E27FC236}">
                  <a16:creationId xmlns:a16="http://schemas.microsoft.com/office/drawing/2014/main" id="{AAB31925-52D1-BFB5-A7B7-B22C00BB5E9A}"/>
                </a:ext>
              </a:extLst>
            </p:cNvPr>
            <p:cNvSpPr/>
            <p:nvPr/>
          </p:nvSpPr>
          <p:spPr>
            <a:xfrm>
              <a:off x="270000" y="4660000"/>
              <a:ext cx="1420000" cy="480000"/>
            </a:xfrm>
            <a:prstGeom prst="roundRect">
              <a:avLst/>
            </a:prstGeom>
            <a:solidFill>
              <a:srgbClr val="3C3F45"/>
            </a:solidFill>
            <a:ln w="19050">
              <a:solidFill>
                <a:srgbClr val="DFE1E5"/>
              </a:solidFill>
            </a:ln>
            <a:effectLst/>
          </p:spPr>
          <p:style>
            <a:lnRef idx="1">
              <a:schemeClr val="accent1"/>
            </a:lnRef>
            <a:fillRef idx="3">
              <a:schemeClr val="accent1"/>
            </a:fillRef>
            <a:effectRef idx="2">
              <a:schemeClr val="accent1"/>
            </a:effectRef>
            <a:fontRef idx="minor">
              <a:schemeClr val="lt1"/>
            </a:fontRef>
          </p:style>
          <p:txBody>
            <a:bodyPr lIns="30000" rIns="30000" rtlCol="0" anchor="ctr"/>
            <a:lstStyle/>
            <a:p>
              <a:pPr algn="ctr"/>
              <a:r>
                <a:rPr sz="1500" b="0" dirty="0" err="1">
                  <a:solidFill>
                    <a:srgbClr val="DFE1E5"/>
                  </a:solidFill>
                  <a:latin typeface="Consolas"/>
                </a:rPr>
                <a:t>ArrayList</a:t>
              </a:r>
              <a:endParaRPr sz="1500" b="0" dirty="0">
                <a:solidFill>
                  <a:srgbClr val="DFE1E5"/>
                </a:solidFill>
                <a:latin typeface="Consolas"/>
              </a:endParaRPr>
            </a:p>
          </p:txBody>
        </p:sp>
        <p:cxnSp>
          <p:nvCxnSpPr>
            <p:cNvPr id="11" name="Connector 15">
              <a:extLst>
                <a:ext uri="{FF2B5EF4-FFF2-40B4-BE49-F238E27FC236}">
                  <a16:creationId xmlns:a16="http://schemas.microsoft.com/office/drawing/2014/main" id="{06B296EA-9CCB-7395-A2BD-51E4662A455C}"/>
                </a:ext>
              </a:extLst>
            </p:cNvPr>
            <p:cNvCxnSpPr/>
            <p:nvPr/>
          </p:nvCxnSpPr>
          <p:spPr>
            <a:xfrm flipV="1">
              <a:off x="980000" y="3710000"/>
              <a:ext cx="800000" cy="950000"/>
            </a:xfrm>
            <a:prstGeom prst="line">
              <a:avLst/>
            </a:prstGeom>
            <a:ln w="19050">
              <a:solidFill>
                <a:srgbClr val="DFE1E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6">
              <a:extLst>
                <a:ext uri="{FF2B5EF4-FFF2-40B4-BE49-F238E27FC236}">
                  <a16:creationId xmlns:a16="http://schemas.microsoft.com/office/drawing/2014/main" id="{EF2A12E1-3723-1C82-2424-7A0108CBB92D}"/>
                </a:ext>
              </a:extLst>
            </p:cNvPr>
            <p:cNvSpPr/>
            <p:nvPr/>
          </p:nvSpPr>
          <p:spPr>
            <a:xfrm>
              <a:off x="1820000" y="4660000"/>
              <a:ext cx="1420000" cy="480000"/>
            </a:xfrm>
            <a:prstGeom prst="roundRect">
              <a:avLst/>
            </a:prstGeom>
            <a:solidFill>
              <a:srgbClr val="3C3F45"/>
            </a:solidFill>
            <a:ln w="19050">
              <a:solidFill>
                <a:srgbClr val="DFE1E5"/>
              </a:solidFill>
            </a:ln>
            <a:effectLst/>
          </p:spPr>
          <p:style>
            <a:lnRef idx="1">
              <a:schemeClr val="accent1"/>
            </a:lnRef>
            <a:fillRef idx="3">
              <a:schemeClr val="accent1"/>
            </a:fillRef>
            <a:effectRef idx="2">
              <a:schemeClr val="accent1"/>
            </a:effectRef>
            <a:fontRef idx="minor">
              <a:schemeClr val="lt1"/>
            </a:fontRef>
          </p:style>
          <p:txBody>
            <a:bodyPr lIns="30000" rIns="30000" rtlCol="0" anchor="ctr"/>
            <a:lstStyle/>
            <a:p>
              <a:pPr algn="ctr"/>
              <a:r>
                <a:rPr sz="1500" b="0">
                  <a:solidFill>
                    <a:srgbClr val="DFE1E5"/>
                  </a:solidFill>
                  <a:latin typeface="Consolas"/>
                </a:rPr>
                <a:t>LinkedList</a:t>
              </a:r>
            </a:p>
          </p:txBody>
        </p:sp>
        <p:cxnSp>
          <p:nvCxnSpPr>
            <p:cNvPr id="13" name="Connector 17">
              <a:extLst>
                <a:ext uri="{FF2B5EF4-FFF2-40B4-BE49-F238E27FC236}">
                  <a16:creationId xmlns:a16="http://schemas.microsoft.com/office/drawing/2014/main" id="{99E40499-8CEB-CA7D-6AC5-0AFE1B9B52C7}"/>
                </a:ext>
              </a:extLst>
            </p:cNvPr>
            <p:cNvCxnSpPr/>
            <p:nvPr/>
          </p:nvCxnSpPr>
          <p:spPr>
            <a:xfrm flipH="1" flipV="1">
              <a:off x="1780000" y="3710000"/>
              <a:ext cx="750000" cy="950000"/>
            </a:xfrm>
            <a:prstGeom prst="line">
              <a:avLst/>
            </a:prstGeom>
            <a:ln w="19050">
              <a:solidFill>
                <a:srgbClr val="DFE1E5"/>
              </a:solidFill>
              <a:prstDash val="dash"/>
              <a:tailEnd type="triangle" w="med" len="med"/>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600">
                <a:solidFill>
                  <a:schemeClr val="accent4"/>
                </a:solidFill>
                <a:latin typeface="Consolas"/>
              </a:rPr>
              <a:t>Collection</a:t>
            </a:r>
            <a:r>
              <a:rPr sz="4000"/>
              <a:t> et </a:t>
            </a:r>
            <a:r>
              <a:rPr sz="3600">
                <a:solidFill>
                  <a:schemeClr val="accent4"/>
                </a:solidFill>
                <a:latin typeface="Consolas"/>
              </a:rPr>
              <a:t>Collections</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a:t>L'interface </a:t>
            </a:r>
            <a:r>
              <a:rPr sz="2400">
                <a:solidFill>
                  <a:schemeClr val="accent4"/>
                </a:solidFill>
                <a:latin typeface="Consolas"/>
              </a:rPr>
              <a:t>Collection</a:t>
            </a:r>
            <a:r>
              <a:rPr sz="2800"/>
              <a:t> : ce que toutes les collections savent faire</a:t>
            </a:r>
          </a:p>
          <a:p>
            <a:pPr marL="0" indent="0">
              <a:spcAft>
                <a:spcPts val="1000"/>
              </a:spcAft>
              <a:buNone/>
            </a:pPr>
            <a:r>
              <a:rPr sz="2800"/>
              <a:t>La classe </a:t>
            </a:r>
            <a:r>
              <a:rPr sz="2400">
                <a:solidFill>
                  <a:schemeClr val="accent4"/>
                </a:solidFill>
                <a:latin typeface="Consolas"/>
              </a:rPr>
              <a:t>Collections</a:t>
            </a:r>
            <a:r>
              <a:rPr sz="2800"/>
              <a:t> : des méthodes statiques qui travaillent dessus</a:t>
            </a:r>
          </a:p>
          <a:p>
            <a:pPr marL="0" indent="0">
              <a:spcAft>
                <a:spcPts val="1000"/>
              </a:spcAft>
              <a:buNone/>
            </a:pPr>
            <a:r>
              <a:rPr sz="2800"/>
              <a:t>Ces méthodes reçoivent souvent une </a:t>
            </a:r>
            <a:r>
              <a:rPr sz="2400">
                <a:solidFill>
                  <a:schemeClr val="accent4"/>
                </a:solidFill>
                <a:latin typeface="Consolas"/>
              </a:rPr>
              <a:t>List</a:t>
            </a:r>
          </a:p>
        </p:txBody>
      </p:sp>
      <p:sp>
        <p:nvSpPr>
          <p:cNvPr id="4" name="Code"/>
          <p:cNvSpPr txBox="1"/>
          <p:nvPr/>
        </p:nvSpPr>
        <p:spPr>
          <a:xfrm>
            <a:off x="1473200" y="4160520"/>
            <a:ext cx="92456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Collections.</a:t>
            </a:r>
            <a:r>
              <a:rPr sz="1800">
                <a:solidFill>
                  <a:srgbClr val="56A8F5"/>
                </a:solidFill>
                <a:latin typeface="Consolas"/>
              </a:rPr>
              <a:t>sort</a:t>
            </a:r>
            <a:r>
              <a:rPr sz="1800">
                <a:solidFill>
                  <a:srgbClr val="BCBEC4"/>
                </a:solidFill>
                <a:latin typeface="Consolas"/>
              </a:rPr>
              <a:t>(titres);             </a:t>
            </a:r>
            <a:r>
              <a:rPr sz="1800">
                <a:solidFill>
                  <a:srgbClr val="7A7E85"/>
                </a:solidFill>
                <a:latin typeface="Consolas"/>
              </a:rPr>
              <a:t>// trie la liste elle-meme</a:t>
            </a:r>
          </a:p>
          <a:p>
            <a:pPr>
              <a:lnSpc>
                <a:spcPct val="100000"/>
              </a:lnSpc>
              <a:spcBef>
                <a:spcPts val="0"/>
              </a:spcBef>
              <a:spcAft>
                <a:spcPts val="0"/>
              </a:spcAft>
            </a:pPr>
            <a:r>
              <a:rPr sz="1800">
                <a:solidFill>
                  <a:srgbClr val="BCBEC4"/>
                </a:solidFill>
                <a:latin typeface="Consolas"/>
              </a:rPr>
              <a:t>Collections.</a:t>
            </a:r>
            <a:r>
              <a:rPr sz="1800">
                <a:solidFill>
                  <a:srgbClr val="56A8F5"/>
                </a:solidFill>
                <a:latin typeface="Consolas"/>
              </a:rPr>
              <a:t>shuffle</a:t>
            </a:r>
            <a:r>
              <a:rPr sz="1800">
                <a:solidFill>
                  <a:srgbClr val="BCBEC4"/>
                </a:solidFill>
                <a:latin typeface="Consolas"/>
              </a:rPr>
              <a:t>(titres);          </a:t>
            </a:r>
            <a:r>
              <a:rPr sz="1800">
                <a:solidFill>
                  <a:srgbClr val="7A7E85"/>
                </a:solidFill>
                <a:latin typeface="Consolas"/>
              </a:rPr>
              <a:t>// la melange</a:t>
            </a:r>
          </a:p>
          <a:p>
            <a:pPr>
              <a:lnSpc>
                <a:spcPct val="100000"/>
              </a:lnSpc>
              <a:spcBef>
                <a:spcPts val="0"/>
              </a:spcBef>
              <a:spcAft>
                <a:spcPts val="0"/>
              </a:spcAft>
            </a:pPr>
            <a:r>
              <a:rPr sz="1800">
                <a:solidFill>
                  <a:srgbClr val="BCBEC4"/>
                </a:solidFill>
                <a:latin typeface="Consolas"/>
              </a:rPr>
              <a:t>String premier = Collections.</a:t>
            </a:r>
            <a:r>
              <a:rPr sz="1800">
                <a:solidFill>
                  <a:srgbClr val="56A8F5"/>
                </a:solidFill>
                <a:latin typeface="Consolas"/>
              </a:rPr>
              <a:t>min</a:t>
            </a:r>
            <a:r>
              <a:rPr sz="1800">
                <a:solidFill>
                  <a:srgbClr val="BCBEC4"/>
                </a:solidFill>
                <a:latin typeface="Consolas"/>
              </a:rPr>
              <a:t>(titres);</a:t>
            </a:r>
          </a:p>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fois = Collections.</a:t>
            </a:r>
            <a:r>
              <a:rPr sz="1800">
                <a:solidFill>
                  <a:srgbClr val="56A8F5"/>
                </a:solidFill>
                <a:latin typeface="Consolas"/>
              </a:rPr>
              <a:t>frequency</a:t>
            </a:r>
            <a:r>
              <a:rPr sz="1800">
                <a:solidFill>
                  <a:srgbClr val="BCBEC4"/>
                </a:solidFill>
                <a:latin typeface="Consolas"/>
              </a:rPr>
              <a:t>(titres, </a:t>
            </a:r>
            <a:r>
              <a:rPr sz="1800">
                <a:solidFill>
                  <a:srgbClr val="6AAB73"/>
                </a:solidFill>
                <a:latin typeface="Consolas"/>
              </a:rPr>
              <a:t>"Nana"</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2. Les listes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Nommer ses bornes</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Un nombre écrit en clair ne dit pas d'où il vient</a:t>
            </a:r>
          </a:p>
          <a:p>
            <a:pPr marL="0" indent="0">
              <a:spcAft>
                <a:spcPts val="1000"/>
              </a:spcAft>
              <a:buNone/>
            </a:pPr>
            <a:r>
              <a:rPr sz="2800"/>
              <a:t>Une constante nommée sert au calcul et au message</a:t>
            </a:r>
          </a:p>
          <a:p>
            <a:pPr marL="0" indent="0">
              <a:spcAft>
                <a:spcPts val="1000"/>
              </a:spcAft>
              <a:buNone/>
            </a:pPr>
            <a:r>
              <a:rPr sz="2800"/>
              <a:t>Le message ne peut plus mentir : </a:t>
            </a:r>
            <a:r>
              <a:rPr sz="2800">
                <a:solidFill>
                  <a:schemeClr val="accent4"/>
                </a:solidFill>
                <a:latin typeface="Consolas"/>
              </a:rPr>
              <a:t>CC-NOM.7</a:t>
            </a:r>
          </a:p>
        </p:txBody>
      </p:sp>
      <p:sp>
        <p:nvSpPr>
          <p:cNvPr id="4" name="Code"/>
          <p:cNvSpPr txBox="1"/>
          <p:nvPr/>
        </p:nvSpPr>
        <p:spPr>
          <a:xfrm>
            <a:off x="1473200" y="3606339"/>
            <a:ext cx="92456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CF8E6D"/>
                </a:solidFill>
                <a:latin typeface="Consolas"/>
              </a:rPr>
              <a:t>private</a:t>
            </a:r>
            <a:r>
              <a:rPr sz="1800" dirty="0">
                <a:solidFill>
                  <a:srgbClr val="BCBEC4"/>
                </a:solidFill>
                <a:latin typeface="Consolas"/>
              </a:rPr>
              <a:t> </a:t>
            </a:r>
            <a:r>
              <a:rPr sz="1800" dirty="0">
                <a:solidFill>
                  <a:srgbClr val="CF8E6D"/>
                </a:solidFill>
                <a:latin typeface="Consolas"/>
              </a:rPr>
              <a:t>static</a:t>
            </a:r>
            <a:r>
              <a:rPr sz="1800" dirty="0">
                <a:solidFill>
                  <a:srgbClr val="BCBEC4"/>
                </a:solidFill>
                <a:latin typeface="Consolas"/>
              </a:rPr>
              <a:t> </a:t>
            </a:r>
            <a:r>
              <a:rPr sz="1800" dirty="0">
                <a:solidFill>
                  <a:srgbClr val="CF8E6D"/>
                </a:solidFill>
                <a:latin typeface="Consolas"/>
              </a:rPr>
              <a:t>final</a:t>
            </a:r>
            <a:r>
              <a:rPr sz="1800" dirty="0">
                <a:solidFill>
                  <a:srgbClr val="BCBEC4"/>
                </a:solidFill>
                <a:latin typeface="Consolas"/>
              </a:rPr>
              <a:t> </a:t>
            </a:r>
            <a:r>
              <a:rPr sz="1800" dirty="0">
                <a:solidFill>
                  <a:srgbClr val="CF8E6D"/>
                </a:solidFill>
                <a:latin typeface="Consolas"/>
              </a:rPr>
              <a:t>int</a:t>
            </a:r>
            <a:r>
              <a:rPr sz="1800" dirty="0">
                <a:solidFill>
                  <a:srgbClr val="BCBEC4"/>
                </a:solidFill>
                <a:latin typeface="Consolas"/>
              </a:rPr>
              <a:t> MINIMUM = </a:t>
            </a:r>
            <a:r>
              <a:rPr sz="1800" dirty="0">
                <a:solidFill>
                  <a:srgbClr val="2AACB8"/>
                </a:solidFill>
                <a:latin typeface="Consolas"/>
              </a:rPr>
              <a:t>0</a:t>
            </a:r>
            <a:r>
              <a:rPr sz="1800" dirty="0">
                <a:solidFill>
                  <a:srgbClr val="BCBEC4"/>
                </a:solidFill>
                <a:latin typeface="Consolas"/>
              </a:rPr>
              <a:t>;</a:t>
            </a:r>
          </a:p>
          <a:p>
            <a:pPr>
              <a:lnSpc>
                <a:spcPct val="100000"/>
              </a:lnSpc>
              <a:spcBef>
                <a:spcPts val="0"/>
              </a:spcBef>
              <a:spcAft>
                <a:spcPts val="0"/>
              </a:spcAft>
            </a:pPr>
            <a:r>
              <a:rPr sz="1800" dirty="0">
                <a:solidFill>
                  <a:srgbClr val="CF8E6D"/>
                </a:solidFill>
                <a:latin typeface="Consolas"/>
              </a:rPr>
              <a:t>private</a:t>
            </a:r>
            <a:r>
              <a:rPr sz="1800" dirty="0">
                <a:solidFill>
                  <a:srgbClr val="BCBEC4"/>
                </a:solidFill>
                <a:latin typeface="Consolas"/>
              </a:rPr>
              <a:t> </a:t>
            </a:r>
            <a:r>
              <a:rPr sz="1800" dirty="0">
                <a:solidFill>
                  <a:srgbClr val="CF8E6D"/>
                </a:solidFill>
                <a:latin typeface="Consolas"/>
              </a:rPr>
              <a:t>static</a:t>
            </a:r>
            <a:r>
              <a:rPr sz="1800" dirty="0">
                <a:solidFill>
                  <a:srgbClr val="BCBEC4"/>
                </a:solidFill>
                <a:latin typeface="Consolas"/>
              </a:rPr>
              <a:t> </a:t>
            </a:r>
            <a:r>
              <a:rPr sz="1800" dirty="0">
                <a:solidFill>
                  <a:srgbClr val="CF8E6D"/>
                </a:solidFill>
                <a:latin typeface="Consolas"/>
              </a:rPr>
              <a:t>final</a:t>
            </a:r>
            <a:r>
              <a:rPr sz="1800" dirty="0">
                <a:solidFill>
                  <a:srgbClr val="BCBEC4"/>
                </a:solidFill>
                <a:latin typeface="Consolas"/>
              </a:rPr>
              <a:t> </a:t>
            </a:r>
            <a:r>
              <a:rPr sz="1800" dirty="0">
                <a:solidFill>
                  <a:srgbClr val="CF8E6D"/>
                </a:solidFill>
                <a:latin typeface="Consolas"/>
              </a:rPr>
              <a:t>int</a:t>
            </a:r>
            <a:r>
              <a:rPr sz="1800" dirty="0">
                <a:solidFill>
                  <a:srgbClr val="BCBEC4"/>
                </a:solidFill>
                <a:latin typeface="Consolas"/>
              </a:rPr>
              <a:t> MAXIMUM = </a:t>
            </a:r>
            <a:r>
              <a:rPr sz="1800" dirty="0">
                <a:solidFill>
                  <a:srgbClr val="2AACB8"/>
                </a:solidFill>
                <a:latin typeface="Consolas"/>
              </a:rPr>
              <a:t>1000</a:t>
            </a:r>
            <a:r>
              <a:rPr sz="1800" dirty="0">
                <a:solidFill>
                  <a:srgbClr val="BCBEC4"/>
                </a:solidFill>
                <a:latin typeface="Consolas"/>
              </a:rPr>
              <a:t>;</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err="1">
                <a:solidFill>
                  <a:srgbClr val="BCBEC4"/>
                </a:solidFill>
                <a:latin typeface="Consolas"/>
              </a:rPr>
              <a:t>System.out.</a:t>
            </a:r>
            <a:r>
              <a:rPr sz="1800" dirty="0" err="1">
                <a:solidFill>
                  <a:srgbClr val="56A8F5"/>
                </a:solidFill>
                <a:latin typeface="Consolas"/>
              </a:rPr>
              <a:t>printf</a:t>
            </a:r>
            <a:r>
              <a:rPr sz="1800" dirty="0">
                <a:solidFill>
                  <a:srgbClr val="BCBEC4"/>
                </a:solidFill>
                <a:latin typeface="Consolas"/>
              </a:rPr>
              <a:t>(</a:t>
            </a:r>
            <a:r>
              <a:rPr sz="1800" dirty="0">
                <a:solidFill>
                  <a:srgbClr val="6AAB73"/>
                </a:solidFill>
                <a:latin typeface="Consolas"/>
              </a:rPr>
              <a:t>"</a:t>
            </a:r>
            <a:r>
              <a:rPr sz="1800" dirty="0" err="1">
                <a:solidFill>
                  <a:srgbClr val="6AAB73"/>
                </a:solidFill>
                <a:latin typeface="Consolas"/>
              </a:rPr>
              <a:t>Nombres</a:t>
            </a:r>
            <a:r>
              <a:rPr sz="1800" dirty="0">
                <a:solidFill>
                  <a:srgbClr val="6AAB73"/>
                </a:solidFill>
                <a:latin typeface="Consolas"/>
              </a:rPr>
              <a:t> entre %d et %</a:t>
            </a:r>
            <a:r>
              <a:rPr sz="1800" dirty="0" err="1">
                <a:solidFill>
                  <a:srgbClr val="6AAB73"/>
                </a:solidFill>
                <a:latin typeface="Consolas"/>
              </a:rPr>
              <a:t>d%n</a:t>
            </a:r>
            <a:r>
              <a:rPr sz="1800" dirty="0">
                <a:solidFill>
                  <a:srgbClr val="6AAB73"/>
                </a:solidFill>
                <a:latin typeface="Consolas"/>
              </a:rPr>
              <a:t>"</a:t>
            </a:r>
            <a:r>
              <a:rPr sz="1800" dirty="0">
                <a:solidFill>
                  <a:srgbClr val="BCBEC4"/>
                </a:solidFill>
                <a:latin typeface="Consolas"/>
              </a:rPr>
              <a:t>, MINIMUM, MAXIMUM);</a:t>
            </a:r>
          </a:p>
          <a:p>
            <a:pPr>
              <a:lnSpc>
                <a:spcPct val="100000"/>
              </a:lnSpc>
              <a:spcBef>
                <a:spcPts val="0"/>
              </a:spcBef>
              <a:spcAft>
                <a:spcPts val="0"/>
              </a:spcAft>
            </a:pPr>
            <a:r>
              <a:rPr sz="1800" dirty="0">
                <a:solidFill>
                  <a:srgbClr val="CF8E6D"/>
                </a:solidFill>
                <a:latin typeface="Consolas"/>
              </a:rPr>
              <a:t>int</a:t>
            </a:r>
            <a:r>
              <a:rPr sz="1800" dirty="0">
                <a:solidFill>
                  <a:srgbClr val="BCBEC4"/>
                </a:solidFill>
                <a:latin typeface="Consolas"/>
              </a:rPr>
              <a:t> tire = MINIMUM + </a:t>
            </a:r>
            <a:r>
              <a:rPr sz="1800" dirty="0" err="1">
                <a:solidFill>
                  <a:srgbClr val="BCBEC4"/>
                </a:solidFill>
                <a:latin typeface="Consolas"/>
              </a:rPr>
              <a:t>hasard.</a:t>
            </a:r>
            <a:r>
              <a:rPr sz="1800" dirty="0" err="1">
                <a:solidFill>
                  <a:srgbClr val="56A8F5"/>
                </a:solidFill>
                <a:latin typeface="Consolas"/>
              </a:rPr>
              <a:t>nextInt</a:t>
            </a:r>
            <a:r>
              <a:rPr sz="1800" dirty="0">
                <a:solidFill>
                  <a:srgbClr val="BCBEC4"/>
                </a:solidFill>
                <a:latin typeface="Consolas"/>
              </a:rPr>
              <a:t>(MAXIMUM - MINIMUM + </a:t>
            </a:r>
            <a:r>
              <a:rPr sz="1800" dirty="0">
                <a:solidFill>
                  <a:srgbClr val="2AACB8"/>
                </a:solidFill>
                <a:latin typeface="Consolas"/>
              </a:rPr>
              <a:t>1</a:t>
            </a:r>
            <a:r>
              <a:rPr sz="180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2. Les listes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pic>
        <p:nvPicPr>
          <p:cNvPr id="10" name="Picture 9"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18</a:t>
            </a:fld>
            <a:endParaRPr lang="fr-FR"/>
          </a:p>
        </p:txBody>
      </p:sp>
      <p:sp>
        <p:nvSpPr>
          <p:cNvPr id="11"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2. Les listes</a:t>
            </a:r>
          </a:p>
        </p:txBody>
      </p:sp>
      <p:grpSp>
        <p:nvGrpSpPr>
          <p:cNvPr id="13" name="Exercice 1"/>
          <p:cNvGrpSpPr/>
          <p:nvPr/>
        </p:nvGrpSpPr>
        <p:grpSpPr>
          <a:xfrm>
            <a:off x="640080" y="1417320"/>
            <a:ext cx="9326880" cy="960120"/>
            <a:chOff x="640080" y="1417320"/>
            <a:chExt cx="9326880" cy="960120"/>
          </a:xfrm>
        </p:grpSpPr>
        <p:sp>
          <p:nvSpPr>
            <p:cNvPr id="12"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COL.1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Deux façons d'être trié</a:t>
              </a:r>
            </a:p>
            <a:p>
              <a:r>
                <a:rPr sz="1400">
                  <a:solidFill>
                    <a:srgbClr val="BCBEC4"/>
                  </a:solidFill>
                </a:rPr>
                <a:t>fascicule COL</a:t>
              </a:r>
            </a:p>
          </p:txBody>
        </p:sp>
      </p:grpSp>
      <p:grpSp>
        <p:nvGrpSpPr>
          <p:cNvPr id="14" name="Exercice 2"/>
          <p:cNvGrpSpPr/>
          <p:nvPr/>
        </p:nvGrpSpPr>
        <p:grpSpPr>
          <a:xfrm>
            <a:off x="640080" y="2560320"/>
            <a:ext cx="9326880" cy="2057399"/>
            <a:chOff x="640080" y="2560320"/>
            <a:chExt cx="9326880" cy="2057399"/>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560320"/>
              <a:ext cx="1920240" cy="960120"/>
            </a:xfrm>
            <a:prstGeom prst="rect">
              <a:avLst/>
            </a:prstGeom>
            <a:noFill/>
          </p:spPr>
          <p:txBody>
            <a:bodyPr wrap="none" anchor="ctr">
              <a:spAutoFit/>
            </a:bodyPr>
            <a:lstStyle/>
            <a:p>
              <a:r>
                <a:rPr sz="3000" b="1">
                  <a:solidFill>
                    <a:schemeClr val="accent4"/>
                  </a:solidFill>
                  <a:latin typeface="Consolas"/>
                </a:rPr>
                <a:t>COL.3</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800">
                  <a:solidFill>
                    <a:srgbClr val="FFFFFF"/>
                  </a:solidFill>
                </a:rPr>
                <a:t>Lire des noms et les trier</a:t>
              </a:r>
            </a:p>
            <a:p>
              <a:r>
                <a:rPr sz="1400">
                  <a:solidFill>
                    <a:srgbClr val="BCBEC4"/>
                  </a:solidFill>
                </a:rPr>
                <a:t>fascicule COL</a:t>
              </a:r>
            </a:p>
          </p:txBody>
        </p:sp>
        <p:sp>
          <p:nvSpPr>
            <p:cNvPr id="9" name="TextBox 8"/>
            <p:cNvSpPr txBox="1"/>
            <p:nvPr/>
          </p:nvSpPr>
          <p:spPr>
            <a:xfrm>
              <a:off x="640080" y="3794759"/>
              <a:ext cx="9326880" cy="822960"/>
            </a:xfrm>
            <a:prstGeom prst="rect">
              <a:avLst/>
            </a:prstGeom>
            <a:noFill/>
          </p:spPr>
          <p:txBody>
            <a:bodyPr wrap="square">
              <a:spAutoFit/>
            </a:bodyPr>
            <a:lstStyle/>
            <a:p>
              <a:r>
                <a:rPr sz="2400"/>
                <a:t>Nommer : </a:t>
              </a:r>
              <a:r>
                <a:rPr sz="2400">
                  <a:solidFill>
                    <a:schemeClr val="accent4"/>
                  </a:solidFill>
                  <a:latin typeface="Consolas"/>
                </a:rPr>
                <a:t>CC-NOM.7</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0E566453-F487-8BFE-C70F-0C69411EBB50}"/>
              </a:ext>
            </a:extLst>
          </p:cNvPr>
          <p:cNvPicPr>
            <a:picLocks noChangeAspect="1"/>
          </p:cNvPicPr>
          <p:nvPr/>
        </p:nvPicPr>
        <p:blipFill>
          <a:blip r:embed="rId3"/>
          <a:stretch>
            <a:fillRect/>
          </a:stretch>
        </p:blipFill>
        <p:spPr>
          <a:xfrm>
            <a:off x="0" y="1824"/>
            <a:ext cx="12192000" cy="6854352"/>
          </a:xfrm>
          <a:prstGeom prst="rect">
            <a:avLst/>
          </a:prstGeom>
        </p:spPr>
      </p:pic>
      <p:sp>
        <p:nvSpPr>
          <p:cNvPr id="4" name="ZoneTexte 3">
            <a:extLst>
              <a:ext uri="{FF2B5EF4-FFF2-40B4-BE49-F238E27FC236}">
                <a16:creationId xmlns:a16="http://schemas.microsoft.com/office/drawing/2014/main" id="{88140D2F-722A-02CE-8FDD-BF412DAA2485}"/>
              </a:ext>
            </a:extLst>
          </p:cNvPr>
          <p:cNvSpPr txBox="1"/>
          <p:nvPr/>
        </p:nvSpPr>
        <p:spPr>
          <a:xfrm>
            <a:off x="838200" y="946800"/>
            <a:ext cx="11054737"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3. Un ensemble, sans doublons</a:t>
            </a:r>
            <a:endParaRPr lang="fr-FR" sz="1600" b="1" dirty="0">
              <a:ln w="0"/>
              <a:effectLst>
                <a:outerShdw blurRad="38100" dist="19050" dir="2700000" algn="tl" rotWithShape="0">
                  <a:schemeClr val="dk1">
                    <a:alpha val="40000"/>
                  </a:schemeClr>
                </a:outerShdw>
              </a:effectLst>
              <a:cs typeface="Calibri" panose="020F050202020403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ensemble</a:t>
            </a:r>
          </a:p>
        </p:txBody>
      </p:sp>
      <p:sp>
        <p:nvSpPr>
          <p:cNvPr id="3" name="Content Placeholder 2"/>
          <p:cNvSpPr>
            <a:spLocks noGrp="1"/>
          </p:cNvSpPr>
          <p:nvPr>
            <p:ph idx="1"/>
          </p:nvPr>
        </p:nvSpPr>
        <p:spPr>
          <a:xfrm>
            <a:off x="640080" y="1371600"/>
            <a:ext cx="7029920" cy="1671319"/>
          </a:xfrm>
        </p:spPr>
        <p:txBody>
          <a:bodyPr>
            <a:normAutofit fontScale="92500"/>
          </a:bodyPr>
          <a:lstStyle/>
          <a:p>
            <a:pPr marL="0" indent="0">
              <a:spcAft>
                <a:spcPts val="1000"/>
              </a:spcAft>
              <a:buNone/>
            </a:pPr>
            <a:r>
              <a:rPr sz="2800" dirty="0" err="1"/>
              <a:t>Chaque</a:t>
            </a:r>
            <a:r>
              <a:rPr sz="2800" dirty="0"/>
              <a:t> </a:t>
            </a:r>
            <a:r>
              <a:rPr sz="2800" dirty="0" err="1"/>
              <a:t>valeur</a:t>
            </a:r>
            <a:r>
              <a:rPr sz="2800" dirty="0"/>
              <a:t> </a:t>
            </a:r>
            <a:r>
              <a:rPr sz="2800" dirty="0" err="1"/>
              <a:t>n'y</a:t>
            </a:r>
            <a:r>
              <a:rPr sz="2800" dirty="0"/>
              <a:t> figure </a:t>
            </a:r>
            <a:r>
              <a:rPr sz="2800" dirty="0" err="1"/>
              <a:t>qu'une</a:t>
            </a:r>
            <a:r>
              <a:rPr sz="2800" dirty="0"/>
              <a:t> </a:t>
            </a:r>
            <a:r>
              <a:rPr sz="2800" dirty="0" err="1"/>
              <a:t>fois</a:t>
            </a:r>
            <a:endParaRPr sz="2800" dirty="0"/>
          </a:p>
          <a:p>
            <a:pPr marL="0" indent="0">
              <a:spcAft>
                <a:spcPts val="1000"/>
              </a:spcAft>
              <a:buNone/>
            </a:pPr>
            <a:r>
              <a:rPr sz="2800" dirty="0"/>
              <a:t>Pas de position : on </a:t>
            </a:r>
            <a:r>
              <a:rPr sz="2800" dirty="0" err="1"/>
              <a:t>demande</a:t>
            </a:r>
            <a:r>
              <a:rPr sz="2800" dirty="0"/>
              <a:t> </a:t>
            </a:r>
            <a:r>
              <a:rPr sz="2800" dirty="0" err="1"/>
              <a:t>si</a:t>
            </a:r>
            <a:r>
              <a:rPr sz="2800" dirty="0"/>
              <a:t> </a:t>
            </a:r>
            <a:r>
              <a:rPr sz="2800" dirty="0" err="1"/>
              <a:t>une</a:t>
            </a:r>
            <a:r>
              <a:rPr sz="2800" dirty="0"/>
              <a:t> </a:t>
            </a:r>
            <a:r>
              <a:rPr sz="2800" dirty="0" err="1"/>
              <a:t>valeur</a:t>
            </a:r>
            <a:r>
              <a:rPr sz="2800" dirty="0"/>
              <a:t> y est</a:t>
            </a:r>
          </a:p>
          <a:p>
            <a:pPr marL="0" indent="0">
              <a:spcAft>
                <a:spcPts val="1000"/>
              </a:spcAft>
              <a:buNone/>
            </a:pPr>
            <a:r>
              <a:rPr sz="2800" dirty="0"/>
              <a:t>Le choix </a:t>
            </a:r>
            <a:r>
              <a:rPr sz="2800" dirty="0" err="1"/>
              <a:t>quand</a:t>
            </a:r>
            <a:r>
              <a:rPr sz="2800" dirty="0"/>
              <a:t> </a:t>
            </a:r>
            <a:r>
              <a:rPr sz="2800" dirty="0" err="1"/>
              <a:t>l'unicité</a:t>
            </a:r>
            <a:r>
              <a:rPr sz="2800" dirty="0"/>
              <a:t> est la </a:t>
            </a:r>
            <a:r>
              <a:rPr sz="2800" dirty="0" err="1"/>
              <a:t>règle</a:t>
            </a:r>
            <a:endParaRPr sz="2800" dirty="0"/>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3. Les ensembles</a:t>
            </a:r>
          </a:p>
        </p:txBody>
      </p:sp>
      <p:sp>
        <p:nvSpPr>
          <p:cNvPr id="7" name="Oval 6"/>
          <p:cNvSpPr/>
          <p:nvPr/>
        </p:nvSpPr>
        <p:spPr>
          <a:xfrm>
            <a:off x="6400000" y="3586400"/>
            <a:ext cx="4800000" cy="1900000"/>
          </a:xfrm>
          <a:prstGeom prst="ellipse">
            <a:avLst/>
          </a:prstGeom>
          <a:solidFill>
            <a:srgbClr val="F0883A"/>
          </a:solidFill>
          <a:ln w="31750">
            <a:solidFill>
              <a:srgbClr val="F5C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970000" y="4406400"/>
            <a:ext cx="460000" cy="460000"/>
          </a:xfrm>
          <a:prstGeom prst="ellipse">
            <a:avLst/>
          </a:prstGeom>
          <a:solidFill>
            <a:srgbClr val="B0D29B"/>
          </a:solidFill>
          <a:ln w="19050">
            <a:solidFill>
              <a:srgbClr val="F5C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7670000" y="3906400"/>
            <a:ext cx="460000" cy="460000"/>
          </a:xfrm>
          <a:prstGeom prst="ellipse">
            <a:avLst/>
          </a:prstGeom>
          <a:solidFill>
            <a:srgbClr val="F5C242"/>
          </a:solidFill>
          <a:ln w="19050">
            <a:solidFill>
              <a:srgbClr val="F5C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8420000" y="4606400"/>
            <a:ext cx="460000" cy="460000"/>
          </a:xfrm>
          <a:prstGeom prst="ellipse">
            <a:avLst/>
          </a:prstGeom>
          <a:solidFill>
            <a:srgbClr val="A9C4E2"/>
          </a:solidFill>
          <a:ln w="19050">
            <a:solidFill>
              <a:srgbClr val="F5C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9170000" y="4006400"/>
            <a:ext cx="460000" cy="460000"/>
          </a:xfrm>
          <a:prstGeom prst="ellipse">
            <a:avLst/>
          </a:prstGeom>
          <a:solidFill>
            <a:srgbClr val="C8C8C8"/>
          </a:solidFill>
          <a:ln w="19050">
            <a:solidFill>
              <a:srgbClr val="F5C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9970000" y="4406400"/>
            <a:ext cx="460000" cy="460000"/>
          </a:xfrm>
          <a:prstGeom prst="ellipse">
            <a:avLst/>
          </a:prstGeom>
          <a:solidFill>
            <a:srgbClr val="E9B48C"/>
          </a:solidFill>
          <a:ln w="19050">
            <a:solidFill>
              <a:srgbClr val="F5C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qu'un ensemble refuse</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Un ensemble ne garde qu'un exemplaire de chaque valeur</a:t>
            </a:r>
          </a:p>
          <a:p>
            <a:pPr marL="0" indent="0">
              <a:spcAft>
                <a:spcPts val="1000"/>
              </a:spcAft>
              <a:buNone/>
            </a:pPr>
            <a:r>
              <a:rPr sz="2800"/>
              <a:t>La méthode </a:t>
            </a:r>
            <a:r>
              <a:rPr sz="2400">
                <a:solidFill>
                  <a:schemeClr val="accent4"/>
                </a:solidFill>
                <a:latin typeface="Consolas"/>
              </a:rPr>
              <a:t>add</a:t>
            </a:r>
            <a:r>
              <a:rPr sz="2800"/>
              <a:t> retourne </a:t>
            </a:r>
            <a:r>
              <a:rPr sz="2400">
                <a:solidFill>
                  <a:schemeClr val="accent4"/>
                </a:solidFill>
                <a:latin typeface="Consolas"/>
              </a:rPr>
              <a:t>false</a:t>
            </a:r>
            <a:r>
              <a:rPr sz="2800"/>
              <a:t> si la valeur y est déjà</a:t>
            </a:r>
          </a:p>
          <a:p>
            <a:pPr marL="0" indent="0">
              <a:spcAft>
                <a:spcPts val="1000"/>
              </a:spcAft>
              <a:buNone/>
            </a:pPr>
            <a:r>
              <a:rPr sz="2800"/>
              <a:t>Pas de position : ni </a:t>
            </a:r>
            <a:r>
              <a:rPr sz="2400">
                <a:solidFill>
                  <a:schemeClr val="accent4"/>
                </a:solidFill>
                <a:latin typeface="Consolas"/>
              </a:rPr>
              <a:t>get(i)</a:t>
            </a:r>
            <a:r>
              <a:rPr sz="2800"/>
              <a:t>, ni </a:t>
            </a:r>
            <a:r>
              <a:rPr sz="2400">
                <a:solidFill>
                  <a:schemeClr val="accent4"/>
                </a:solidFill>
                <a:latin typeface="Consolas"/>
              </a:rPr>
              <a:t>add(i, x)</a:t>
            </a:r>
          </a:p>
        </p:txBody>
      </p:sp>
      <p:sp>
        <p:nvSpPr>
          <p:cNvPr id="4" name="Code"/>
          <p:cNvSpPr txBox="1"/>
          <p:nvPr/>
        </p:nvSpPr>
        <p:spPr>
          <a:xfrm>
            <a:off x="2032000" y="3733799"/>
            <a:ext cx="81280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Set&lt;String&gt; auteurs = </a:t>
            </a:r>
            <a:r>
              <a:rPr sz="1800">
                <a:solidFill>
                  <a:srgbClr val="CF8E6D"/>
                </a:solidFill>
                <a:latin typeface="Consolas"/>
              </a:rPr>
              <a:t>new</a:t>
            </a:r>
            <a:r>
              <a:rPr sz="1800">
                <a:solidFill>
                  <a:srgbClr val="BCBEC4"/>
                </a:solidFill>
                <a:latin typeface="Consolas"/>
              </a:rPr>
              <a:t> HashSet&lt;&gt;();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auteurs.</a:t>
            </a:r>
            <a:r>
              <a:rPr sz="1800">
                <a:solidFill>
                  <a:srgbClr val="56A8F5"/>
                </a:solidFill>
                <a:latin typeface="Consolas"/>
              </a:rPr>
              <a:t>add</a:t>
            </a:r>
            <a:r>
              <a:rPr sz="1800">
                <a:solidFill>
                  <a:srgbClr val="BCBEC4"/>
                </a:solidFill>
                <a:latin typeface="Consolas"/>
              </a:rPr>
              <a:t>(</a:t>
            </a:r>
            <a:r>
              <a:rPr sz="1800">
                <a:solidFill>
                  <a:srgbClr val="6AAB73"/>
                </a:solidFill>
                <a:latin typeface="Consolas"/>
              </a:rPr>
              <a:t>"Zola"</a:t>
            </a:r>
            <a:r>
              <a:rPr sz="1800">
                <a:solidFill>
                  <a:srgbClr val="BCBEC4"/>
                </a:solidFill>
                <a:latin typeface="Consolas"/>
              </a:rPr>
              <a:t>);             </a:t>
            </a:r>
            <a:r>
              <a:rPr sz="1800">
                <a:solidFill>
                  <a:srgbClr val="7A7E85"/>
                </a:solidFill>
                <a:latin typeface="Consolas"/>
              </a:rPr>
              <a:t>// true</a:t>
            </a:r>
          </a:p>
          <a:p>
            <a:pPr>
              <a:lnSpc>
                <a:spcPct val="100000"/>
              </a:lnSpc>
              <a:spcBef>
                <a:spcPts val="0"/>
              </a:spcBef>
              <a:spcAft>
                <a:spcPts val="0"/>
              </a:spcAft>
            </a:pPr>
            <a:r>
              <a:rPr sz="1800">
                <a:solidFill>
                  <a:srgbClr val="BCBEC4"/>
                </a:solidFill>
                <a:latin typeface="Consolas"/>
              </a:rPr>
              <a:t>auteurs.</a:t>
            </a:r>
            <a:r>
              <a:rPr sz="1800">
                <a:solidFill>
                  <a:srgbClr val="56A8F5"/>
                </a:solidFill>
                <a:latin typeface="Consolas"/>
              </a:rPr>
              <a:t>add</a:t>
            </a:r>
            <a:r>
              <a:rPr sz="1800">
                <a:solidFill>
                  <a:srgbClr val="BCBEC4"/>
                </a:solidFill>
                <a:latin typeface="Consolas"/>
              </a:rPr>
              <a:t>(</a:t>
            </a:r>
            <a:r>
              <a:rPr sz="1800">
                <a:solidFill>
                  <a:srgbClr val="6AAB73"/>
                </a:solidFill>
                <a:latin typeface="Consolas"/>
              </a:rPr>
              <a:t>"Zola"</a:t>
            </a:r>
            <a:r>
              <a:rPr sz="1800">
                <a:solidFill>
                  <a:srgbClr val="BCBEC4"/>
                </a:solidFill>
                <a:latin typeface="Consolas"/>
              </a:rPr>
              <a:t>);             </a:t>
            </a:r>
            <a:r>
              <a:rPr sz="1800">
                <a:solidFill>
                  <a:srgbClr val="7A7E85"/>
                </a:solidFill>
                <a:latin typeface="Consolas"/>
              </a:rPr>
              <a:t>// false : deja present</a:t>
            </a:r>
          </a:p>
          <a:p>
            <a:pPr>
              <a:lnSpc>
                <a:spcPct val="100000"/>
              </a:lnSpc>
              <a:spcBef>
                <a:spcPts val="0"/>
              </a:spcBef>
              <a:spcAft>
                <a:spcPts val="0"/>
              </a:spcAft>
            </a:pPr>
            <a:r>
              <a:rPr sz="1800">
                <a:solidFill>
                  <a:srgbClr val="BCBEC4"/>
                </a:solidFill>
                <a:latin typeface="Consolas"/>
              </a:rPr>
              <a:t>auteurs.</a:t>
            </a:r>
            <a:r>
              <a:rPr sz="1800">
                <a:solidFill>
                  <a:srgbClr val="56A8F5"/>
                </a:solidFill>
                <a:latin typeface="Consolas"/>
              </a:rPr>
              <a:t>size</a:t>
            </a:r>
            <a:r>
              <a:rPr sz="1800">
                <a:solidFill>
                  <a:srgbClr val="BCBEC4"/>
                </a:solidFill>
                <a:latin typeface="Consolas"/>
              </a:rPr>
              <a:t>();                  </a:t>
            </a:r>
            <a:r>
              <a:rPr sz="1800">
                <a:solidFill>
                  <a:srgbClr val="7A7E85"/>
                </a:solidFill>
                <a:latin typeface="Consolas"/>
              </a:rPr>
              <a:t>// 1</a:t>
            </a:r>
          </a:p>
          <a:p>
            <a:pPr>
              <a:lnSpc>
                <a:spcPct val="100000"/>
              </a:lnSpc>
              <a:spcBef>
                <a:spcPts val="0"/>
              </a:spcBef>
              <a:spcAft>
                <a:spcPts val="0"/>
              </a:spcAft>
            </a:pPr>
            <a:r>
              <a:rPr sz="1800">
                <a:solidFill>
                  <a:srgbClr val="BCBEC4"/>
                </a:solidFill>
                <a:latin typeface="Consolas"/>
              </a:rPr>
              <a:t>auteurs.</a:t>
            </a:r>
            <a:r>
              <a:rPr sz="1800">
                <a:solidFill>
                  <a:srgbClr val="56A8F5"/>
                </a:solidFill>
                <a:latin typeface="Consolas"/>
              </a:rPr>
              <a:t>contains</a:t>
            </a:r>
            <a:r>
              <a:rPr sz="1800">
                <a:solidFill>
                  <a:srgbClr val="BCBEC4"/>
                </a:solidFill>
                <a:latin typeface="Consolas"/>
              </a:rPr>
              <a:t>(</a:t>
            </a:r>
            <a:r>
              <a:rPr sz="1800">
                <a:solidFill>
                  <a:srgbClr val="6AAB73"/>
                </a:solidFill>
                <a:latin typeface="Consolas"/>
              </a:rPr>
              <a:t>"Zola"</a:t>
            </a:r>
            <a:r>
              <a:rPr sz="1800">
                <a:solidFill>
                  <a:srgbClr val="BCBEC4"/>
                </a:solidFill>
                <a:latin typeface="Consolas"/>
              </a:rPr>
              <a:t>);        </a:t>
            </a:r>
            <a:r>
              <a:rPr sz="1800">
                <a:solidFill>
                  <a:srgbClr val="7A7E85"/>
                </a:solidFill>
                <a:latin typeface="Consolas"/>
              </a:rPr>
              <a:t>// true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3. Les ensembles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Qui décide que deux éléments sont égaux</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L'ensemble interroge </a:t>
            </a:r>
            <a:r>
              <a:rPr sz="2400">
                <a:solidFill>
                  <a:schemeClr val="accent4"/>
                </a:solidFill>
                <a:latin typeface="Consolas"/>
              </a:rPr>
              <a:t>equals</a:t>
            </a:r>
            <a:r>
              <a:rPr sz="2800"/>
              <a:t> et </a:t>
            </a:r>
            <a:r>
              <a:rPr sz="2400">
                <a:solidFill>
                  <a:schemeClr val="accent4"/>
                </a:solidFill>
                <a:latin typeface="Consolas"/>
              </a:rPr>
              <a:t>hashCode</a:t>
            </a:r>
          </a:p>
          <a:p>
            <a:pPr marL="0" indent="0">
              <a:spcAft>
                <a:spcPts val="1000"/>
              </a:spcAft>
              <a:buNone/>
            </a:pPr>
            <a:r>
              <a:rPr sz="2800"/>
              <a:t>Un record les écrit pour vous</a:t>
            </a:r>
          </a:p>
          <a:p>
            <a:pPr marL="0" indent="0">
              <a:spcAft>
                <a:spcPts val="1000"/>
              </a:spcAft>
              <a:buNone/>
            </a:pPr>
            <a:r>
              <a:rPr sz="2800"/>
              <a:t>Une classe ordinaire compare des références</a:t>
            </a:r>
          </a:p>
        </p:txBody>
      </p:sp>
      <p:sp>
        <p:nvSpPr>
          <p:cNvPr id="4" name="Code"/>
          <p:cNvSpPr txBox="1"/>
          <p:nvPr/>
        </p:nvSpPr>
        <p:spPr>
          <a:xfrm>
            <a:off x="2660650" y="3307080"/>
            <a:ext cx="687070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record</a:t>
            </a:r>
            <a:r>
              <a:rPr sz="1800">
                <a:solidFill>
                  <a:srgbClr val="BCBEC4"/>
                </a:solidFill>
                <a:latin typeface="Consolas"/>
              </a:rPr>
              <a:t> </a:t>
            </a:r>
            <a:r>
              <a:rPr sz="1800">
                <a:solidFill>
                  <a:srgbClr val="56A8F5"/>
                </a:solidFill>
                <a:latin typeface="Consolas"/>
              </a:rPr>
              <a:t>Exemplaire</a:t>
            </a:r>
            <a:r>
              <a:rPr sz="1800">
                <a:solidFill>
                  <a:srgbClr val="BCBEC4"/>
                </a:solidFill>
                <a:latin typeface="Consolas"/>
              </a:rPr>
              <a:t>(String titre, </a:t>
            </a:r>
            <a:r>
              <a:rPr sz="1800">
                <a:solidFill>
                  <a:srgbClr val="CF8E6D"/>
                </a:solidFill>
                <a:latin typeface="Consolas"/>
              </a:rPr>
              <a:t>int</a:t>
            </a:r>
            <a:r>
              <a:rPr sz="1800">
                <a:solidFill>
                  <a:srgbClr val="BCBEC4"/>
                </a:solidFill>
                <a:latin typeface="Consolas"/>
              </a:rPr>
              <a:t> numero) {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Set&lt;Exemplaire&gt; rayon = </a:t>
            </a:r>
            <a:r>
              <a:rPr sz="1800">
                <a:solidFill>
                  <a:srgbClr val="CF8E6D"/>
                </a:solidFill>
                <a:latin typeface="Consolas"/>
              </a:rPr>
              <a:t>new</a:t>
            </a:r>
            <a:r>
              <a:rPr sz="1800">
                <a:solidFill>
                  <a:srgbClr val="BCBEC4"/>
                </a:solidFill>
                <a:latin typeface="Consolas"/>
              </a:rPr>
              <a:t> HashSet&lt;&gt;();</a:t>
            </a:r>
          </a:p>
          <a:p>
            <a:pPr>
              <a:lnSpc>
                <a:spcPct val="100000"/>
              </a:lnSpc>
              <a:spcBef>
                <a:spcPts val="0"/>
              </a:spcBef>
              <a:spcAft>
                <a:spcPts val="0"/>
              </a:spcAft>
            </a:pPr>
            <a:r>
              <a:rPr sz="1800">
                <a:solidFill>
                  <a:srgbClr val="BCBEC4"/>
                </a:solidFill>
                <a:latin typeface="Consolas"/>
              </a:rPr>
              <a:t>rayon.</a:t>
            </a:r>
            <a:r>
              <a:rPr sz="1800">
                <a:solidFill>
                  <a:srgbClr val="56A8F5"/>
                </a:solidFill>
                <a:latin typeface="Consolas"/>
              </a:rPr>
              <a:t>add</a:t>
            </a:r>
            <a:r>
              <a:rPr sz="1800">
                <a:solidFill>
                  <a:srgbClr val="BCBEC4"/>
                </a:solidFill>
                <a:latin typeface="Consolas"/>
              </a:rPr>
              <a:t>(</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Exemplaire</a:t>
            </a:r>
            <a:r>
              <a:rPr sz="1800">
                <a:solidFill>
                  <a:srgbClr val="BCBEC4"/>
                </a:solidFill>
                <a:latin typeface="Consolas"/>
              </a:rPr>
              <a:t>(</a:t>
            </a:r>
            <a:r>
              <a:rPr sz="1800">
                <a:solidFill>
                  <a:srgbClr val="6AAB73"/>
                </a:solidFill>
                <a:latin typeface="Consolas"/>
              </a:rPr>
              <a:t>"Nana"</a:t>
            </a:r>
            <a:r>
              <a:rPr sz="1800">
                <a:solidFill>
                  <a:srgbClr val="BCBEC4"/>
                </a:solidFill>
                <a:latin typeface="Consolas"/>
              </a:rPr>
              <a:t>, </a:t>
            </a:r>
            <a:r>
              <a:rPr sz="1800">
                <a:solidFill>
                  <a:srgbClr val="2AACB8"/>
                </a:solidFill>
                <a:latin typeface="Consolas"/>
              </a:rPr>
              <a:t>1</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rayon.</a:t>
            </a:r>
            <a:r>
              <a:rPr sz="1800">
                <a:solidFill>
                  <a:srgbClr val="56A8F5"/>
                </a:solidFill>
                <a:latin typeface="Consolas"/>
              </a:rPr>
              <a:t>add</a:t>
            </a:r>
            <a:r>
              <a:rPr sz="1800">
                <a:solidFill>
                  <a:srgbClr val="BCBEC4"/>
                </a:solidFill>
                <a:latin typeface="Consolas"/>
              </a:rPr>
              <a:t>(</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Exemplaire</a:t>
            </a:r>
            <a:r>
              <a:rPr sz="1800">
                <a:solidFill>
                  <a:srgbClr val="BCBEC4"/>
                </a:solidFill>
                <a:latin typeface="Consolas"/>
              </a:rPr>
              <a:t>(</a:t>
            </a:r>
            <a:r>
              <a:rPr sz="1800">
                <a:solidFill>
                  <a:srgbClr val="6AAB73"/>
                </a:solidFill>
                <a:latin typeface="Consolas"/>
              </a:rPr>
              <a:t>"Nana"</a:t>
            </a:r>
            <a:r>
              <a:rPr sz="1800">
                <a:solidFill>
                  <a:srgbClr val="BCBEC4"/>
                </a:solidFill>
                <a:latin typeface="Consolas"/>
              </a:rPr>
              <a:t>, </a:t>
            </a:r>
            <a:r>
              <a:rPr sz="1800">
                <a:solidFill>
                  <a:srgbClr val="2AACB8"/>
                </a:solidFill>
                <a:latin typeface="Consolas"/>
              </a:rPr>
              <a:t>1</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rayon.</a:t>
            </a:r>
            <a:r>
              <a:rPr sz="1800">
                <a:solidFill>
                  <a:srgbClr val="56A8F5"/>
                </a:solidFill>
                <a:latin typeface="Consolas"/>
              </a:rPr>
              <a:t>size</a:t>
            </a:r>
            <a:r>
              <a:rPr sz="1800">
                <a:solidFill>
                  <a:srgbClr val="BCBEC4"/>
                </a:solidFill>
                <a:latin typeface="Consolas"/>
              </a:rPr>
              <a:t>();                    </a:t>
            </a:r>
            <a:r>
              <a:rPr sz="1800">
                <a:solidFill>
                  <a:srgbClr val="7A7E85"/>
                </a:solidFill>
                <a:latin typeface="Consolas"/>
              </a:rPr>
              <a:t>// 1</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3. Les ensembles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Hash ou Tree</a:t>
            </a:r>
          </a:p>
        </p:txBody>
      </p:sp>
      <p:sp>
        <p:nvSpPr>
          <p:cNvPr id="3" name="TextBox 2"/>
          <p:cNvSpPr txBox="1"/>
          <p:nvPr/>
        </p:nvSpPr>
        <p:spPr>
          <a:xfrm>
            <a:off x="777240" y="1371600"/>
            <a:ext cx="3023061" cy="585216"/>
          </a:xfrm>
          <a:prstGeom prst="rect">
            <a:avLst/>
          </a:prstGeom>
          <a:noFill/>
        </p:spPr>
        <p:txBody>
          <a:bodyPr wrap="square" anchor="ctr">
            <a:spAutoFit/>
          </a:bodyPr>
          <a:lstStyle/>
          <a:p>
            <a:endParaRPr/>
          </a:p>
        </p:txBody>
      </p:sp>
      <p:sp>
        <p:nvSpPr>
          <p:cNvPr id="4" name="TextBox 3"/>
          <p:cNvSpPr txBox="1"/>
          <p:nvPr/>
        </p:nvSpPr>
        <p:spPr>
          <a:xfrm>
            <a:off x="4074621" y="2514600"/>
            <a:ext cx="4012276" cy="585216"/>
          </a:xfrm>
          <a:prstGeom prst="rect">
            <a:avLst/>
          </a:prstGeom>
          <a:noFill/>
        </p:spPr>
        <p:txBody>
          <a:bodyPr wrap="square" anchor="ctr">
            <a:spAutoFit/>
          </a:bodyPr>
          <a:lstStyle/>
          <a:p>
            <a:r>
              <a:rPr sz="1700" b="1" dirty="0">
                <a:solidFill>
                  <a:schemeClr val="accent4"/>
                </a:solidFill>
                <a:latin typeface="Consolas"/>
              </a:rPr>
              <a:t>HashSet</a:t>
            </a:r>
            <a:r>
              <a:rPr sz="2000" b="1" dirty="0">
                <a:solidFill>
                  <a:schemeClr val="accent4"/>
                </a:solidFill>
              </a:rPr>
              <a:t>, </a:t>
            </a:r>
            <a:r>
              <a:rPr sz="1700" b="1" dirty="0">
                <a:solidFill>
                  <a:schemeClr val="accent4"/>
                </a:solidFill>
                <a:latin typeface="Consolas"/>
              </a:rPr>
              <a:t>HashMap</a:t>
            </a:r>
          </a:p>
        </p:txBody>
      </p:sp>
      <p:sp>
        <p:nvSpPr>
          <p:cNvPr id="5" name="TextBox 4"/>
          <p:cNvSpPr txBox="1"/>
          <p:nvPr/>
        </p:nvSpPr>
        <p:spPr>
          <a:xfrm>
            <a:off x="8361218" y="2514600"/>
            <a:ext cx="3023061" cy="585216"/>
          </a:xfrm>
          <a:prstGeom prst="rect">
            <a:avLst/>
          </a:prstGeom>
          <a:noFill/>
        </p:spPr>
        <p:txBody>
          <a:bodyPr wrap="square" anchor="ctr">
            <a:spAutoFit/>
          </a:bodyPr>
          <a:lstStyle/>
          <a:p>
            <a:r>
              <a:rPr sz="1700" b="1">
                <a:solidFill>
                  <a:schemeClr val="accent4"/>
                </a:solidFill>
                <a:latin typeface="Consolas"/>
              </a:rPr>
              <a:t>TreeSet</a:t>
            </a:r>
            <a:r>
              <a:rPr sz="2000" b="1">
                <a:solidFill>
                  <a:schemeClr val="accent4"/>
                </a:solidFill>
              </a:rPr>
              <a:t>, </a:t>
            </a:r>
            <a:r>
              <a:rPr sz="1700" b="1">
                <a:solidFill>
                  <a:schemeClr val="accent4"/>
                </a:solidFill>
                <a:latin typeface="Consolas"/>
              </a:rPr>
              <a:t>TreeMap</a:t>
            </a:r>
          </a:p>
        </p:txBody>
      </p:sp>
      <p:sp>
        <p:nvSpPr>
          <p:cNvPr id="1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23</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3. Les ensembles</a:t>
            </a:r>
          </a:p>
        </p:txBody>
      </p:sp>
      <p:grpSp>
        <p:nvGrpSpPr>
          <p:cNvPr id="20" name="Ligne 1"/>
          <p:cNvGrpSpPr/>
          <p:nvPr/>
        </p:nvGrpSpPr>
        <p:grpSpPr>
          <a:xfrm>
            <a:off x="640080" y="3136392"/>
            <a:ext cx="10881360" cy="585216"/>
            <a:chOff x="640080" y="2029967"/>
            <a:chExt cx="10881360" cy="585216"/>
          </a:xfrm>
        </p:grpSpPr>
        <p:sp>
          <p:nvSpPr>
            <p:cNvPr id="6" name="Rounded Rectangle 5"/>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29967"/>
              <a:ext cx="3023061" cy="585216"/>
            </a:xfrm>
            <a:prstGeom prst="rect">
              <a:avLst/>
            </a:prstGeom>
            <a:noFill/>
          </p:spPr>
          <p:txBody>
            <a:bodyPr wrap="square" anchor="ctr">
              <a:spAutoFit/>
            </a:bodyPr>
            <a:lstStyle/>
            <a:p>
              <a:r>
                <a:rPr sz="2200">
                  <a:solidFill>
                    <a:srgbClr val="FFFFFF"/>
                  </a:solidFill>
                </a:rPr>
                <a:t>Ordre de parcours</a:t>
              </a:r>
            </a:p>
          </p:txBody>
        </p:sp>
        <p:sp>
          <p:nvSpPr>
            <p:cNvPr id="8" name="TextBox 7"/>
            <p:cNvSpPr txBox="1"/>
            <p:nvPr/>
          </p:nvSpPr>
          <p:spPr>
            <a:xfrm>
              <a:off x="4074621" y="2029967"/>
              <a:ext cx="4012276" cy="585216"/>
            </a:xfrm>
            <a:prstGeom prst="rect">
              <a:avLst/>
            </a:prstGeom>
            <a:noFill/>
          </p:spPr>
          <p:txBody>
            <a:bodyPr wrap="square" anchor="ctr">
              <a:spAutoFit/>
            </a:bodyPr>
            <a:lstStyle/>
            <a:p>
              <a:r>
                <a:rPr sz="2200">
                  <a:solidFill>
                    <a:srgbClr val="FFFFFF"/>
                  </a:solidFill>
                </a:rPr>
                <a:t>aucun ordre garanti</a:t>
              </a:r>
            </a:p>
          </p:txBody>
        </p:sp>
        <p:sp>
          <p:nvSpPr>
            <p:cNvPr id="9" name="TextBox 8"/>
            <p:cNvSpPr txBox="1"/>
            <p:nvPr/>
          </p:nvSpPr>
          <p:spPr>
            <a:xfrm>
              <a:off x="8361218" y="2029967"/>
              <a:ext cx="3023061" cy="585216"/>
            </a:xfrm>
            <a:prstGeom prst="rect">
              <a:avLst/>
            </a:prstGeom>
            <a:noFill/>
          </p:spPr>
          <p:txBody>
            <a:bodyPr wrap="square" anchor="ctr">
              <a:spAutoFit/>
            </a:bodyPr>
            <a:lstStyle/>
            <a:p>
              <a:r>
                <a:rPr sz="2200">
                  <a:solidFill>
                    <a:srgbClr val="FFFFFF"/>
                  </a:solidFill>
                </a:rPr>
                <a:t>trié en permanence</a:t>
              </a:r>
            </a:p>
          </p:txBody>
        </p:sp>
      </p:grpSp>
      <p:grpSp>
        <p:nvGrpSpPr>
          <p:cNvPr id="21" name="Ligne 2"/>
          <p:cNvGrpSpPr/>
          <p:nvPr/>
        </p:nvGrpSpPr>
        <p:grpSpPr>
          <a:xfrm>
            <a:off x="640080" y="3794760"/>
            <a:ext cx="10881360" cy="585216"/>
            <a:chOff x="640080" y="2688335"/>
            <a:chExt cx="10881360" cy="585216"/>
          </a:xfrm>
        </p:grpSpPr>
        <p:sp>
          <p:nvSpPr>
            <p:cNvPr id="10" name="Rounded Rectangle 9"/>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688335"/>
              <a:ext cx="3023061" cy="585216"/>
            </a:xfrm>
            <a:prstGeom prst="rect">
              <a:avLst/>
            </a:prstGeom>
            <a:noFill/>
          </p:spPr>
          <p:txBody>
            <a:bodyPr wrap="square" anchor="ctr">
              <a:spAutoFit/>
            </a:bodyPr>
            <a:lstStyle/>
            <a:p>
              <a:r>
                <a:rPr sz="2200">
                  <a:solidFill>
                    <a:srgbClr val="FFFFFF"/>
                  </a:solidFill>
                </a:rPr>
                <a:t>Les éléments doivent</a:t>
              </a:r>
            </a:p>
          </p:txBody>
        </p:sp>
        <p:sp>
          <p:nvSpPr>
            <p:cNvPr id="12" name="TextBox 11"/>
            <p:cNvSpPr txBox="1"/>
            <p:nvPr/>
          </p:nvSpPr>
          <p:spPr>
            <a:xfrm>
              <a:off x="4074621" y="2688335"/>
              <a:ext cx="4012276" cy="585216"/>
            </a:xfrm>
            <a:prstGeom prst="rect">
              <a:avLst/>
            </a:prstGeom>
            <a:noFill/>
          </p:spPr>
          <p:txBody>
            <a:bodyPr wrap="square" anchor="ctr">
              <a:spAutoFit/>
            </a:bodyPr>
            <a:lstStyle/>
            <a:p>
              <a:r>
                <a:rPr sz="2200">
                  <a:solidFill>
                    <a:srgbClr val="FFFFFF"/>
                  </a:solidFill>
                </a:rPr>
                <a:t>définir </a:t>
              </a:r>
              <a:r>
                <a:rPr sz="1900">
                  <a:solidFill>
                    <a:schemeClr val="accent4"/>
                  </a:solidFill>
                  <a:latin typeface="Consolas"/>
                </a:rPr>
                <a:t>equals</a:t>
              </a:r>
              <a:r>
                <a:rPr sz="2200">
                  <a:solidFill>
                    <a:srgbClr val="FFFFFF"/>
                  </a:solidFill>
                </a:rPr>
                <a:t> et </a:t>
              </a:r>
              <a:r>
                <a:rPr sz="1900">
                  <a:solidFill>
                    <a:schemeClr val="accent4"/>
                  </a:solidFill>
                  <a:latin typeface="Consolas"/>
                </a:rPr>
                <a:t>hashCode</a:t>
              </a:r>
            </a:p>
          </p:txBody>
        </p:sp>
        <p:sp>
          <p:nvSpPr>
            <p:cNvPr id="13" name="TextBox 12"/>
            <p:cNvSpPr txBox="1"/>
            <p:nvPr/>
          </p:nvSpPr>
          <p:spPr>
            <a:xfrm>
              <a:off x="8361218" y="2688335"/>
              <a:ext cx="3023061" cy="585216"/>
            </a:xfrm>
            <a:prstGeom prst="rect">
              <a:avLst/>
            </a:prstGeom>
            <a:noFill/>
          </p:spPr>
          <p:txBody>
            <a:bodyPr wrap="square" anchor="ctr">
              <a:spAutoFit/>
            </a:bodyPr>
            <a:lstStyle/>
            <a:p>
              <a:r>
                <a:rPr sz="2200">
                  <a:solidFill>
                    <a:srgbClr val="FFFFFF"/>
                  </a:solidFill>
                </a:rPr>
                <a:t>savoir se comparer</a:t>
              </a:r>
            </a:p>
          </p:txBody>
        </p:sp>
      </p:grpSp>
      <p:grpSp>
        <p:nvGrpSpPr>
          <p:cNvPr id="22" name="Ligne 3"/>
          <p:cNvGrpSpPr/>
          <p:nvPr/>
        </p:nvGrpSpPr>
        <p:grpSpPr>
          <a:xfrm>
            <a:off x="640080" y="4453128"/>
            <a:ext cx="10881360" cy="585216"/>
            <a:chOff x="640080" y="3346703"/>
            <a:chExt cx="10881360" cy="585216"/>
          </a:xfrm>
        </p:grpSpPr>
        <p:sp>
          <p:nvSpPr>
            <p:cNvPr id="14" name="Rounded Rectangle 13"/>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3346703"/>
              <a:ext cx="3023061" cy="585216"/>
            </a:xfrm>
            <a:prstGeom prst="rect">
              <a:avLst/>
            </a:prstGeom>
            <a:noFill/>
          </p:spPr>
          <p:txBody>
            <a:bodyPr wrap="square" anchor="ctr">
              <a:spAutoFit/>
            </a:bodyPr>
            <a:lstStyle/>
            <a:p>
              <a:r>
                <a:rPr sz="2200">
                  <a:solidFill>
                    <a:srgbClr val="FFFFFF"/>
                  </a:solidFill>
                </a:rPr>
                <a:t>Quand le choisir</a:t>
              </a:r>
            </a:p>
          </p:txBody>
        </p:sp>
        <p:sp>
          <p:nvSpPr>
            <p:cNvPr id="16" name="TextBox 15"/>
            <p:cNvSpPr txBox="1"/>
            <p:nvPr/>
          </p:nvSpPr>
          <p:spPr>
            <a:xfrm>
              <a:off x="4074621" y="3346703"/>
              <a:ext cx="4012276" cy="585216"/>
            </a:xfrm>
            <a:prstGeom prst="rect">
              <a:avLst/>
            </a:prstGeom>
            <a:noFill/>
          </p:spPr>
          <p:txBody>
            <a:bodyPr wrap="square" anchor="ctr">
              <a:spAutoFit/>
            </a:bodyPr>
            <a:lstStyle/>
            <a:p>
              <a:r>
                <a:rPr sz="2200">
                  <a:solidFill>
                    <a:srgbClr val="FFFFFF"/>
                  </a:solidFill>
                </a:rPr>
                <a:t>par défaut</a:t>
              </a:r>
            </a:p>
          </p:txBody>
        </p:sp>
        <p:sp>
          <p:nvSpPr>
            <p:cNvPr id="17" name="TextBox 16"/>
            <p:cNvSpPr txBox="1"/>
            <p:nvPr/>
          </p:nvSpPr>
          <p:spPr>
            <a:xfrm>
              <a:off x="8361218" y="3346703"/>
              <a:ext cx="3023061" cy="585216"/>
            </a:xfrm>
            <a:prstGeom prst="rect">
              <a:avLst/>
            </a:prstGeom>
            <a:noFill/>
          </p:spPr>
          <p:txBody>
            <a:bodyPr wrap="square" anchor="ctr">
              <a:spAutoFit/>
            </a:bodyPr>
            <a:lstStyle/>
            <a:p>
              <a:r>
                <a:rPr sz="2200">
                  <a:solidFill>
                    <a:srgbClr val="FFFFFF"/>
                  </a:solidFill>
                </a:rPr>
                <a:t>quand l'ordre compte</a:t>
              </a:r>
            </a:p>
          </p:txBody>
        </p:sp>
      </p:grpSp>
      <p:sp>
        <p:nvSpPr>
          <p:cNvPr id="24" name="Rounded Rectangle 9">
            <a:extLst>
              <a:ext uri="{FF2B5EF4-FFF2-40B4-BE49-F238E27FC236}">
                <a16:creationId xmlns:a16="http://schemas.microsoft.com/office/drawing/2014/main" id="{F8712918-9946-5BBA-9CB7-F3D44CFF2020}"/>
              </a:ext>
            </a:extLst>
          </p:cNvPr>
          <p:cNvSpPr/>
          <p:nvPr/>
        </p:nvSpPr>
        <p:spPr>
          <a:xfrm>
            <a:off x="8522924" y="470127"/>
            <a:ext cx="1800000" cy="620000"/>
          </a:xfrm>
          <a:prstGeom prst="roundRect">
            <a:avLst/>
          </a:prstGeom>
          <a:solidFill>
            <a:srgbClr val="1E1F22"/>
          </a:solidFill>
          <a:ln w="19050">
            <a:solidFill>
              <a:srgbClr val="F5C242"/>
            </a:solidFill>
          </a:ln>
          <a:effectLst/>
        </p:spPr>
        <p:style>
          <a:lnRef idx="1">
            <a:schemeClr val="accent1"/>
          </a:lnRef>
          <a:fillRef idx="3">
            <a:schemeClr val="accent1"/>
          </a:fillRef>
          <a:effectRef idx="2">
            <a:schemeClr val="accent1"/>
          </a:effectRef>
          <a:fontRef idx="minor">
            <a:schemeClr val="lt1"/>
          </a:fontRef>
        </p:style>
        <p:txBody>
          <a:bodyPr lIns="30000" rIns="30000" rtlCol="0" anchor="ctr"/>
          <a:lstStyle/>
          <a:p>
            <a:pPr algn="ctr"/>
            <a:r>
              <a:rPr sz="1100" i="1" dirty="0">
                <a:solidFill>
                  <a:srgbClr val="DFE1E5"/>
                </a:solidFill>
              </a:rPr>
              <a:t>interface</a:t>
            </a:r>
          </a:p>
          <a:p>
            <a:pPr algn="ctr"/>
            <a:r>
              <a:rPr sz="1700" b="1" dirty="0">
                <a:solidFill>
                  <a:srgbClr val="F5C242"/>
                </a:solidFill>
                <a:latin typeface="Consolas"/>
              </a:rPr>
              <a:t>Set&lt;E&gt;</a:t>
            </a:r>
          </a:p>
        </p:txBody>
      </p:sp>
      <p:grpSp>
        <p:nvGrpSpPr>
          <p:cNvPr id="26" name="Groupe 25">
            <a:extLst>
              <a:ext uri="{FF2B5EF4-FFF2-40B4-BE49-F238E27FC236}">
                <a16:creationId xmlns:a16="http://schemas.microsoft.com/office/drawing/2014/main" id="{BDE42D66-F5EB-7D65-E409-E8F42DF8C0FA}"/>
              </a:ext>
            </a:extLst>
          </p:cNvPr>
          <p:cNvGrpSpPr/>
          <p:nvPr/>
        </p:nvGrpSpPr>
        <p:grpSpPr>
          <a:xfrm>
            <a:off x="8002924" y="1090127"/>
            <a:ext cx="2920000" cy="1166185"/>
            <a:chOff x="2710524" y="3710000"/>
            <a:chExt cx="2920000" cy="1166185"/>
          </a:xfrm>
        </p:grpSpPr>
        <p:sp>
          <p:nvSpPr>
            <p:cNvPr id="27" name="Rounded Rectangle 18">
              <a:extLst>
                <a:ext uri="{FF2B5EF4-FFF2-40B4-BE49-F238E27FC236}">
                  <a16:creationId xmlns:a16="http://schemas.microsoft.com/office/drawing/2014/main" id="{8CA1886A-4830-5620-3187-ECFABBF5AD99}"/>
                </a:ext>
              </a:extLst>
            </p:cNvPr>
            <p:cNvSpPr/>
            <p:nvPr/>
          </p:nvSpPr>
          <p:spPr>
            <a:xfrm>
              <a:off x="2710524" y="4396185"/>
              <a:ext cx="1420000" cy="480000"/>
            </a:xfrm>
            <a:prstGeom prst="roundRect">
              <a:avLst/>
            </a:prstGeom>
            <a:solidFill>
              <a:srgbClr val="3C3F45"/>
            </a:solidFill>
            <a:ln w="19050">
              <a:solidFill>
                <a:srgbClr val="DFE1E5"/>
              </a:solidFill>
            </a:ln>
            <a:effectLst/>
          </p:spPr>
          <p:style>
            <a:lnRef idx="1">
              <a:schemeClr val="accent1"/>
            </a:lnRef>
            <a:fillRef idx="3">
              <a:schemeClr val="accent1"/>
            </a:fillRef>
            <a:effectRef idx="2">
              <a:schemeClr val="accent1"/>
            </a:effectRef>
            <a:fontRef idx="minor">
              <a:schemeClr val="lt1"/>
            </a:fontRef>
          </p:style>
          <p:txBody>
            <a:bodyPr lIns="30000" rIns="30000" rtlCol="0" anchor="ctr"/>
            <a:lstStyle/>
            <a:p>
              <a:pPr algn="ctr"/>
              <a:r>
                <a:rPr sz="1500" b="0" dirty="0">
                  <a:solidFill>
                    <a:srgbClr val="DFE1E5"/>
                  </a:solidFill>
                  <a:latin typeface="Consolas"/>
                </a:rPr>
                <a:t>HashSet</a:t>
              </a:r>
            </a:p>
          </p:txBody>
        </p:sp>
        <p:cxnSp>
          <p:nvCxnSpPr>
            <p:cNvPr id="28" name="Connector 19">
              <a:extLst>
                <a:ext uri="{FF2B5EF4-FFF2-40B4-BE49-F238E27FC236}">
                  <a16:creationId xmlns:a16="http://schemas.microsoft.com/office/drawing/2014/main" id="{40542BFF-14D6-6E38-8B67-26F604C13949}"/>
                </a:ext>
              </a:extLst>
            </p:cNvPr>
            <p:cNvCxnSpPr>
              <a:cxnSpLocks/>
              <a:stCxn id="27" idx="0"/>
              <a:endCxn id="24" idx="2"/>
            </p:cNvCxnSpPr>
            <p:nvPr/>
          </p:nvCxnSpPr>
          <p:spPr>
            <a:xfrm flipV="1">
              <a:off x="3420524" y="3710000"/>
              <a:ext cx="710000" cy="686185"/>
            </a:xfrm>
            <a:prstGeom prst="line">
              <a:avLst/>
            </a:prstGeom>
            <a:ln w="19050">
              <a:solidFill>
                <a:srgbClr val="DFE1E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0">
              <a:extLst>
                <a:ext uri="{FF2B5EF4-FFF2-40B4-BE49-F238E27FC236}">
                  <a16:creationId xmlns:a16="http://schemas.microsoft.com/office/drawing/2014/main" id="{4CFCB527-716C-1452-7110-FD1FF7F001B5}"/>
                </a:ext>
              </a:extLst>
            </p:cNvPr>
            <p:cNvSpPr/>
            <p:nvPr/>
          </p:nvSpPr>
          <p:spPr>
            <a:xfrm>
              <a:off x="4210524" y="4396185"/>
              <a:ext cx="1420000" cy="480000"/>
            </a:xfrm>
            <a:prstGeom prst="roundRect">
              <a:avLst/>
            </a:prstGeom>
            <a:solidFill>
              <a:srgbClr val="3C3F45"/>
            </a:solidFill>
            <a:ln w="19050">
              <a:solidFill>
                <a:srgbClr val="DFE1E5"/>
              </a:solidFill>
            </a:ln>
            <a:effectLst/>
          </p:spPr>
          <p:style>
            <a:lnRef idx="1">
              <a:schemeClr val="accent1"/>
            </a:lnRef>
            <a:fillRef idx="3">
              <a:schemeClr val="accent1"/>
            </a:fillRef>
            <a:effectRef idx="2">
              <a:schemeClr val="accent1"/>
            </a:effectRef>
            <a:fontRef idx="minor">
              <a:schemeClr val="lt1"/>
            </a:fontRef>
          </p:style>
          <p:txBody>
            <a:bodyPr lIns="30000" rIns="30000" rtlCol="0" anchor="ctr"/>
            <a:lstStyle/>
            <a:p>
              <a:pPr algn="ctr"/>
              <a:r>
                <a:rPr sz="1500" b="0" dirty="0" err="1">
                  <a:solidFill>
                    <a:srgbClr val="DFE1E5"/>
                  </a:solidFill>
                  <a:latin typeface="Consolas"/>
                </a:rPr>
                <a:t>TreeSet</a:t>
              </a:r>
              <a:endParaRPr sz="1500" b="0" dirty="0">
                <a:solidFill>
                  <a:srgbClr val="DFE1E5"/>
                </a:solidFill>
                <a:latin typeface="Consolas"/>
              </a:endParaRPr>
            </a:p>
          </p:txBody>
        </p:sp>
        <p:cxnSp>
          <p:nvCxnSpPr>
            <p:cNvPr id="30" name="Connector 21">
              <a:extLst>
                <a:ext uri="{FF2B5EF4-FFF2-40B4-BE49-F238E27FC236}">
                  <a16:creationId xmlns:a16="http://schemas.microsoft.com/office/drawing/2014/main" id="{02EBDAB9-CD93-DFAE-ADC8-00CD765A444F}"/>
                </a:ext>
              </a:extLst>
            </p:cNvPr>
            <p:cNvCxnSpPr>
              <a:cxnSpLocks/>
              <a:stCxn id="29" idx="0"/>
              <a:endCxn id="24" idx="2"/>
            </p:cNvCxnSpPr>
            <p:nvPr/>
          </p:nvCxnSpPr>
          <p:spPr>
            <a:xfrm flipH="1" flipV="1">
              <a:off x="4130524" y="3710000"/>
              <a:ext cx="790000" cy="686185"/>
            </a:xfrm>
            <a:prstGeom prst="line">
              <a:avLst/>
            </a:prstGeom>
            <a:ln w="19050">
              <a:solidFill>
                <a:srgbClr val="DFE1E5"/>
              </a:solidFill>
              <a:prstDash val="dash"/>
              <a:tailEnd type="triangle" w="med" len="med"/>
            </a:ln>
          </p:spPr>
          <p:style>
            <a:lnRef idx="2">
              <a:schemeClr val="accent1"/>
            </a:lnRef>
            <a:fillRef idx="0">
              <a:schemeClr val="accent1"/>
            </a:fillRef>
            <a:effectRef idx="1">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left)">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wipe(left)">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wipe(down)">
                                      <p:cBhvr>
                                        <p:cTn id="2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COL.6</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 ensemble sans doublons</a:t>
            </a:r>
          </a:p>
          <a:p>
            <a:r>
              <a:rPr sz="1400">
                <a:solidFill>
                  <a:srgbClr val="BCBEC4"/>
                </a:solidFill>
              </a:rPr>
              <a:t>fascicule COL</a:t>
            </a:r>
          </a:p>
        </p:txBody>
      </p:sp>
      <p:sp>
        <p:nvSpPr>
          <p:cNvPr id="6" name="TextBox 5"/>
          <p:cNvSpPr txBox="1"/>
          <p:nvPr/>
        </p:nvSpPr>
        <p:spPr>
          <a:xfrm>
            <a:off x="640080" y="2651760"/>
            <a:ext cx="9326880" cy="822960"/>
          </a:xfrm>
          <a:prstGeom prst="rect">
            <a:avLst/>
          </a:prstGeom>
          <a:noFill/>
        </p:spPr>
        <p:txBody>
          <a:bodyPr wrap="square">
            <a:spAutoFit/>
          </a:bodyPr>
          <a:lstStyle/>
          <a:p>
            <a:r>
              <a:rPr sz="2400"/>
              <a:t>Nommer : </a:t>
            </a:r>
            <a:r>
              <a:rPr sz="2400">
                <a:solidFill>
                  <a:schemeClr val="accent4"/>
                </a:solidFill>
                <a:latin typeface="Consolas"/>
              </a:rPr>
              <a:t>CC-NOM.7</a:t>
            </a:r>
            <a:r>
              <a:rPr sz="2400"/>
              <a:t>, encore</a:t>
            </a:r>
          </a:p>
        </p:txBody>
      </p:sp>
      <p:pic>
        <p:nvPicPr>
          <p:cNvPr id="7" name="Picture 6"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24</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3. Les ensembles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107C211B-1EDD-49E5-292C-1724C6871B3F}"/>
              </a:ext>
            </a:extLst>
          </p:cNvPr>
          <p:cNvPicPr>
            <a:picLocks noChangeAspect="1"/>
          </p:cNvPicPr>
          <p:nvPr/>
        </p:nvPicPr>
        <p:blipFill>
          <a:blip r:embed="rId3"/>
          <a:stretch>
            <a:fillRect/>
          </a:stretch>
        </p:blipFill>
        <p:spPr>
          <a:xfrm>
            <a:off x="-3244" y="0"/>
            <a:ext cx="12198488" cy="6858000"/>
          </a:xfrm>
          <a:prstGeom prst="rect">
            <a:avLst/>
          </a:prstGeom>
        </p:spPr>
      </p:pic>
      <p:sp>
        <p:nvSpPr>
          <p:cNvPr id="4" name="ZoneTexte 3">
            <a:extLst>
              <a:ext uri="{FF2B5EF4-FFF2-40B4-BE49-F238E27FC236}">
                <a16:creationId xmlns:a16="http://schemas.microsoft.com/office/drawing/2014/main" id="{88140D2F-722A-02CE-8FDD-BF412DAA2485}"/>
              </a:ext>
            </a:extLst>
          </p:cNvPr>
          <p:cNvSpPr txBox="1"/>
          <p:nvPr/>
        </p:nvSpPr>
        <p:spPr>
          <a:xfrm>
            <a:off x="838200" y="946800"/>
            <a:ext cx="7609028" cy="1107996"/>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4. Une table, des clés</a:t>
            </a:r>
            <a:endParaRPr lang="fr-FR" sz="1600" b="1" dirty="0">
              <a:ln w="0"/>
              <a:effectLst>
                <a:outerShdw blurRad="38100" dist="19050" dir="2700000" algn="tl" rotWithShape="0">
                  <a:schemeClr val="dk1">
                    <a:alpha val="40000"/>
                  </a:schemeClr>
                </a:outerShdw>
              </a:effectLst>
              <a:cs typeface="Calibri" panose="020F050202020403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table associative</a:t>
            </a:r>
          </a:p>
        </p:txBody>
      </p:sp>
      <p:sp>
        <p:nvSpPr>
          <p:cNvPr id="3" name="Content Placeholder 2"/>
          <p:cNvSpPr>
            <a:spLocks noGrp="1"/>
          </p:cNvSpPr>
          <p:nvPr>
            <p:ph idx="1"/>
          </p:nvPr>
        </p:nvSpPr>
        <p:spPr>
          <a:xfrm>
            <a:off x="640079" y="1371600"/>
            <a:ext cx="6235477" cy="1671319"/>
          </a:xfrm>
        </p:spPr>
        <p:txBody>
          <a:bodyPr>
            <a:normAutofit fontScale="92500"/>
          </a:bodyPr>
          <a:lstStyle/>
          <a:p>
            <a:pPr marL="0" indent="0">
              <a:spcAft>
                <a:spcPts val="1000"/>
              </a:spcAft>
              <a:buNone/>
            </a:pPr>
            <a:r>
              <a:rPr sz="2800" dirty="0"/>
              <a:t>À </a:t>
            </a:r>
            <a:r>
              <a:rPr sz="2800" dirty="0" err="1"/>
              <a:t>chaque</a:t>
            </a:r>
            <a:r>
              <a:rPr sz="2800" dirty="0"/>
              <a:t> </a:t>
            </a:r>
            <a:r>
              <a:rPr sz="2800" dirty="0" err="1"/>
              <a:t>clé</a:t>
            </a:r>
            <a:r>
              <a:rPr sz="2800" dirty="0"/>
              <a:t> correspond </a:t>
            </a:r>
            <a:r>
              <a:rPr sz="2800" dirty="0" err="1"/>
              <a:t>une</a:t>
            </a:r>
            <a:r>
              <a:rPr sz="2800" dirty="0"/>
              <a:t> </a:t>
            </a:r>
            <a:r>
              <a:rPr sz="2800" dirty="0" err="1"/>
              <a:t>valeur</a:t>
            </a:r>
            <a:endParaRPr sz="2800" dirty="0"/>
          </a:p>
          <a:p>
            <a:pPr marL="0" indent="0">
              <a:spcAft>
                <a:spcPts val="1000"/>
              </a:spcAft>
              <a:buNone/>
            </a:pPr>
            <a:r>
              <a:rPr sz="2800" dirty="0"/>
              <a:t>On </a:t>
            </a:r>
            <a:r>
              <a:rPr sz="2800" dirty="0" err="1"/>
              <a:t>donne</a:t>
            </a:r>
            <a:r>
              <a:rPr sz="2800" dirty="0"/>
              <a:t> la </a:t>
            </a:r>
            <a:r>
              <a:rPr sz="2800" dirty="0" err="1"/>
              <a:t>clé</a:t>
            </a:r>
            <a:r>
              <a:rPr sz="2800" dirty="0"/>
              <a:t>, la table </a:t>
            </a:r>
            <a:r>
              <a:rPr sz="2800" dirty="0" err="1"/>
              <a:t>retourne</a:t>
            </a:r>
            <a:r>
              <a:rPr sz="2800" dirty="0"/>
              <a:t> la </a:t>
            </a:r>
            <a:r>
              <a:rPr sz="2800" dirty="0" err="1"/>
              <a:t>valeur</a:t>
            </a:r>
            <a:endParaRPr sz="2800" dirty="0"/>
          </a:p>
          <a:p>
            <a:pPr marL="0" indent="0">
              <a:spcAft>
                <a:spcPts val="1000"/>
              </a:spcAft>
              <a:buNone/>
            </a:pPr>
            <a:r>
              <a:rPr sz="2800" dirty="0"/>
              <a:t>Les </a:t>
            </a:r>
            <a:r>
              <a:rPr sz="2800" dirty="0" err="1"/>
              <a:t>clés</a:t>
            </a:r>
            <a:r>
              <a:rPr sz="2800" dirty="0"/>
              <a:t> </a:t>
            </a:r>
            <a:r>
              <a:rPr sz="2800" dirty="0" err="1"/>
              <a:t>sont</a:t>
            </a:r>
            <a:r>
              <a:rPr sz="2800" dirty="0"/>
              <a:t> uniques, les </a:t>
            </a:r>
            <a:r>
              <a:rPr sz="2800" dirty="0" err="1"/>
              <a:t>valeurs</a:t>
            </a:r>
            <a:r>
              <a:rPr sz="2800" dirty="0"/>
              <a:t> non</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dirty="0">
                <a:solidFill>
                  <a:srgbClr val="BCBEC4"/>
                </a:solidFill>
              </a:rPr>
              <a:t>COL · </a:t>
            </a:r>
            <a:r>
              <a:rPr sz="1100" b="1" dirty="0">
                <a:solidFill>
                  <a:schemeClr val="accent4"/>
                </a:solidFill>
              </a:rPr>
              <a:t>4. Les tables </a:t>
            </a:r>
            <a:r>
              <a:rPr sz="1100" b="1" dirty="0" err="1">
                <a:solidFill>
                  <a:schemeClr val="accent4"/>
                </a:solidFill>
              </a:rPr>
              <a:t>associatives</a:t>
            </a:r>
            <a:endParaRPr sz="1100" b="1" dirty="0">
              <a:solidFill>
                <a:schemeClr val="accent4"/>
              </a:solidFill>
            </a:endParaRPr>
          </a:p>
        </p:txBody>
      </p:sp>
      <p:sp>
        <p:nvSpPr>
          <p:cNvPr id="7" name="Rounded Rectangle 6"/>
          <p:cNvSpPr/>
          <p:nvPr/>
        </p:nvSpPr>
        <p:spPr>
          <a:xfrm>
            <a:off x="6175557" y="3429000"/>
            <a:ext cx="4800000" cy="2200000"/>
          </a:xfrm>
          <a:prstGeom prst="roundRect">
            <a:avLst/>
          </a:prstGeom>
          <a:solidFill>
            <a:srgbClr val="F0883A"/>
          </a:solidFill>
          <a:ln w="31750">
            <a:solidFill>
              <a:srgbClr val="F5C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435557" y="3729000"/>
            <a:ext cx="440000" cy="440000"/>
          </a:xfrm>
          <a:prstGeom prst="ellipse">
            <a:avLst/>
          </a:prstGeom>
          <a:solidFill>
            <a:srgbClr val="F5C242"/>
          </a:solidFill>
          <a:ln w="19050">
            <a:solidFill>
              <a:srgbClr val="F5C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 name="Connector 8"/>
          <p:cNvCxnSpPr/>
          <p:nvPr/>
        </p:nvCxnSpPr>
        <p:spPr>
          <a:xfrm>
            <a:off x="6655557" y="4169000"/>
            <a:ext cx="0" cy="510000"/>
          </a:xfrm>
          <a:prstGeom prst="line">
            <a:avLst/>
          </a:prstGeom>
          <a:ln w="25400">
            <a:solidFill>
              <a:srgbClr val="F5C242"/>
            </a:solidFill>
          </a:ln>
        </p:spPr>
        <p:style>
          <a:lnRef idx="2">
            <a:schemeClr val="accent1"/>
          </a:lnRef>
          <a:fillRef idx="0">
            <a:schemeClr val="accent1"/>
          </a:fillRef>
          <a:effectRef idx="1">
            <a:schemeClr val="accent1"/>
          </a:effectRef>
          <a:fontRef idx="minor">
            <a:schemeClr val="tx1"/>
          </a:fontRef>
        </p:style>
      </p:cxnSp>
      <p:sp>
        <p:nvSpPr>
          <p:cNvPr id="10" name="Folded Corner 9"/>
          <p:cNvSpPr/>
          <p:nvPr/>
        </p:nvSpPr>
        <p:spPr>
          <a:xfrm>
            <a:off x="6425557" y="4679000"/>
            <a:ext cx="460000" cy="520000"/>
          </a:xfrm>
          <a:prstGeom prst="foldedCorner">
            <a:avLst/>
          </a:prstGeom>
          <a:solidFill>
            <a:srgbClr val="F5C242"/>
          </a:solidFill>
          <a:ln w="19050">
            <a:solidFill>
              <a:srgbClr val="F5C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395557" y="3729000"/>
            <a:ext cx="440000" cy="440000"/>
          </a:xfrm>
          <a:prstGeom prst="ellipse">
            <a:avLst/>
          </a:prstGeom>
          <a:solidFill>
            <a:srgbClr val="B0D29B"/>
          </a:solidFill>
          <a:ln w="19050">
            <a:solidFill>
              <a:srgbClr val="F5C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2" name="Connector 11"/>
          <p:cNvCxnSpPr/>
          <p:nvPr/>
        </p:nvCxnSpPr>
        <p:spPr>
          <a:xfrm>
            <a:off x="7615557" y="4169000"/>
            <a:ext cx="0" cy="510000"/>
          </a:xfrm>
          <a:prstGeom prst="line">
            <a:avLst/>
          </a:prstGeom>
          <a:ln w="25400">
            <a:solidFill>
              <a:srgbClr val="F5C242"/>
            </a:solidFill>
          </a:ln>
        </p:spPr>
        <p:style>
          <a:lnRef idx="2">
            <a:schemeClr val="accent1"/>
          </a:lnRef>
          <a:fillRef idx="0">
            <a:schemeClr val="accent1"/>
          </a:fillRef>
          <a:effectRef idx="1">
            <a:schemeClr val="accent1"/>
          </a:effectRef>
          <a:fontRef idx="minor">
            <a:schemeClr val="tx1"/>
          </a:fontRef>
        </p:style>
      </p:cxnSp>
      <p:sp>
        <p:nvSpPr>
          <p:cNvPr id="13" name="Folded Corner 12"/>
          <p:cNvSpPr/>
          <p:nvPr/>
        </p:nvSpPr>
        <p:spPr>
          <a:xfrm>
            <a:off x="7385557" y="4679000"/>
            <a:ext cx="460000" cy="520000"/>
          </a:xfrm>
          <a:prstGeom prst="foldedCorner">
            <a:avLst/>
          </a:prstGeom>
          <a:solidFill>
            <a:srgbClr val="B0D29B"/>
          </a:solidFill>
          <a:ln w="19050">
            <a:solidFill>
              <a:srgbClr val="F5C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8355557" y="3729000"/>
            <a:ext cx="440000" cy="440000"/>
          </a:xfrm>
          <a:prstGeom prst="ellipse">
            <a:avLst/>
          </a:prstGeom>
          <a:solidFill>
            <a:srgbClr val="A9C4E2"/>
          </a:solidFill>
          <a:ln w="19050">
            <a:solidFill>
              <a:srgbClr val="F5C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Connector 14"/>
          <p:cNvCxnSpPr/>
          <p:nvPr/>
        </p:nvCxnSpPr>
        <p:spPr>
          <a:xfrm>
            <a:off x="8575557" y="4169000"/>
            <a:ext cx="0" cy="510000"/>
          </a:xfrm>
          <a:prstGeom prst="line">
            <a:avLst/>
          </a:prstGeom>
          <a:ln w="25400">
            <a:solidFill>
              <a:srgbClr val="F5C242"/>
            </a:solidFill>
          </a:ln>
        </p:spPr>
        <p:style>
          <a:lnRef idx="2">
            <a:schemeClr val="accent1"/>
          </a:lnRef>
          <a:fillRef idx="0">
            <a:schemeClr val="accent1"/>
          </a:fillRef>
          <a:effectRef idx="1">
            <a:schemeClr val="accent1"/>
          </a:effectRef>
          <a:fontRef idx="minor">
            <a:schemeClr val="tx1"/>
          </a:fontRef>
        </p:style>
      </p:cxnSp>
      <p:sp>
        <p:nvSpPr>
          <p:cNvPr id="16" name="Folded Corner 15"/>
          <p:cNvSpPr/>
          <p:nvPr/>
        </p:nvSpPr>
        <p:spPr>
          <a:xfrm>
            <a:off x="8345557" y="4679000"/>
            <a:ext cx="460000" cy="520000"/>
          </a:xfrm>
          <a:prstGeom prst="foldedCorner">
            <a:avLst/>
          </a:prstGeom>
          <a:solidFill>
            <a:srgbClr val="A9C4E2"/>
          </a:solidFill>
          <a:ln w="19050">
            <a:solidFill>
              <a:srgbClr val="F5C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315557" y="3729000"/>
            <a:ext cx="440000" cy="440000"/>
          </a:xfrm>
          <a:prstGeom prst="ellipse">
            <a:avLst/>
          </a:prstGeom>
          <a:solidFill>
            <a:srgbClr val="E9B48C"/>
          </a:solidFill>
          <a:ln w="19050">
            <a:solidFill>
              <a:srgbClr val="F5C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8" name="Connector 17"/>
          <p:cNvCxnSpPr/>
          <p:nvPr/>
        </p:nvCxnSpPr>
        <p:spPr>
          <a:xfrm>
            <a:off x="9535557" y="4169000"/>
            <a:ext cx="0" cy="510000"/>
          </a:xfrm>
          <a:prstGeom prst="line">
            <a:avLst/>
          </a:prstGeom>
          <a:ln w="25400">
            <a:solidFill>
              <a:srgbClr val="F5C242"/>
            </a:solidFill>
          </a:ln>
        </p:spPr>
        <p:style>
          <a:lnRef idx="2">
            <a:schemeClr val="accent1"/>
          </a:lnRef>
          <a:fillRef idx="0">
            <a:schemeClr val="accent1"/>
          </a:fillRef>
          <a:effectRef idx="1">
            <a:schemeClr val="accent1"/>
          </a:effectRef>
          <a:fontRef idx="minor">
            <a:schemeClr val="tx1"/>
          </a:fontRef>
        </p:style>
      </p:cxnSp>
      <p:sp>
        <p:nvSpPr>
          <p:cNvPr id="19" name="Folded Corner 18"/>
          <p:cNvSpPr/>
          <p:nvPr/>
        </p:nvSpPr>
        <p:spPr>
          <a:xfrm>
            <a:off x="9305557" y="4679000"/>
            <a:ext cx="460000" cy="520000"/>
          </a:xfrm>
          <a:prstGeom prst="foldedCorner">
            <a:avLst/>
          </a:prstGeom>
          <a:solidFill>
            <a:srgbClr val="F5C242"/>
          </a:solidFill>
          <a:ln w="19050">
            <a:solidFill>
              <a:srgbClr val="F5C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275557" y="3729000"/>
            <a:ext cx="440000" cy="440000"/>
          </a:xfrm>
          <a:prstGeom prst="ellipse">
            <a:avLst/>
          </a:prstGeom>
          <a:solidFill>
            <a:srgbClr val="C8C8C8"/>
          </a:solidFill>
          <a:ln w="19050">
            <a:solidFill>
              <a:srgbClr val="F5C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a:off x="10495557" y="4169000"/>
            <a:ext cx="0" cy="510000"/>
          </a:xfrm>
          <a:prstGeom prst="line">
            <a:avLst/>
          </a:prstGeom>
          <a:ln w="25400">
            <a:solidFill>
              <a:srgbClr val="F5C242"/>
            </a:solidFill>
          </a:ln>
        </p:spPr>
        <p:style>
          <a:lnRef idx="2">
            <a:schemeClr val="accent1"/>
          </a:lnRef>
          <a:fillRef idx="0">
            <a:schemeClr val="accent1"/>
          </a:fillRef>
          <a:effectRef idx="1">
            <a:schemeClr val="accent1"/>
          </a:effectRef>
          <a:fontRef idx="minor">
            <a:schemeClr val="tx1"/>
          </a:fontRef>
        </p:style>
      </p:cxnSp>
      <p:sp>
        <p:nvSpPr>
          <p:cNvPr id="22" name="Folded Corner 21"/>
          <p:cNvSpPr/>
          <p:nvPr/>
        </p:nvSpPr>
        <p:spPr>
          <a:xfrm>
            <a:off x="10265557" y="4679000"/>
            <a:ext cx="460000" cy="520000"/>
          </a:xfrm>
          <a:prstGeom prst="foldedCorner">
            <a:avLst/>
          </a:prstGeom>
          <a:solidFill>
            <a:srgbClr val="E9B48C"/>
          </a:solidFill>
          <a:ln w="19050">
            <a:solidFill>
              <a:srgbClr val="F5C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0" presetID="10"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par>
                                <p:cTn id="29" presetID="10"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par>
                                <p:cTn id="38" presetID="10" presetClass="entr" presetSubtype="0" fill="hold"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500"/>
                                        <p:tgtEl>
                                          <p:spTgt spid="1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childTnLst>
                                </p:cTn>
                              </p:par>
                              <p:par>
                                <p:cTn id="47" presetID="10" presetClass="entr" presetSubtype="0" fill="hold"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500"/>
                                        <p:tgtEl>
                                          <p:spTgt spid="2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3" grpId="0" animBg="1"/>
      <p:bldP spid="14" grpId="0" animBg="1"/>
      <p:bldP spid="16" grpId="0" animBg="1"/>
      <p:bldP spid="17" grpId="0" animBg="1"/>
      <p:bldP spid="19" grpId="0" animBg="1"/>
      <p:bldP spid="20" grpId="0" animBg="1"/>
      <p:bldP spid="2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Ranger et retrouver par clé</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dirty="0"/>
              <a:t>Une table </a:t>
            </a:r>
            <a:r>
              <a:rPr lang="nl-BE" sz="2800" dirty="0"/>
              <a:t>associative </a:t>
            </a:r>
            <a:r>
              <a:rPr sz="2800" dirty="0" err="1"/>
              <a:t>associe</a:t>
            </a:r>
            <a:r>
              <a:rPr sz="2800" dirty="0"/>
              <a:t> </a:t>
            </a:r>
            <a:r>
              <a:rPr sz="2800" dirty="0" err="1"/>
              <a:t>une</a:t>
            </a:r>
            <a:r>
              <a:rPr sz="2800" dirty="0"/>
              <a:t> </a:t>
            </a:r>
            <a:r>
              <a:rPr sz="2800" dirty="0" err="1"/>
              <a:t>valeur</a:t>
            </a:r>
            <a:r>
              <a:rPr sz="2800" dirty="0"/>
              <a:t> à </a:t>
            </a:r>
            <a:r>
              <a:rPr sz="2800" dirty="0" err="1"/>
              <a:t>chaque</a:t>
            </a:r>
            <a:r>
              <a:rPr sz="2800" dirty="0"/>
              <a:t> </a:t>
            </a:r>
            <a:r>
              <a:rPr sz="2800" dirty="0" err="1"/>
              <a:t>clé</a:t>
            </a:r>
            <a:endParaRPr sz="2800" dirty="0"/>
          </a:p>
          <a:p>
            <a:pPr marL="0" indent="0">
              <a:spcAft>
                <a:spcPts val="1000"/>
              </a:spcAft>
              <a:buNone/>
            </a:pPr>
            <a:r>
              <a:rPr sz="2800" dirty="0"/>
              <a:t>Une </a:t>
            </a:r>
            <a:r>
              <a:rPr sz="2800" dirty="0" err="1"/>
              <a:t>clé</a:t>
            </a:r>
            <a:r>
              <a:rPr sz="2800" dirty="0"/>
              <a:t> </a:t>
            </a:r>
            <a:r>
              <a:rPr sz="2800" dirty="0" err="1"/>
              <a:t>n'y</a:t>
            </a:r>
            <a:r>
              <a:rPr sz="2800" dirty="0"/>
              <a:t> figure </a:t>
            </a:r>
            <a:r>
              <a:rPr sz="2800" dirty="0" err="1"/>
              <a:t>qu'une</a:t>
            </a:r>
            <a:r>
              <a:rPr sz="2800" dirty="0"/>
              <a:t> </a:t>
            </a:r>
            <a:r>
              <a:rPr sz="2800" dirty="0" err="1"/>
              <a:t>fois</a:t>
            </a:r>
            <a:endParaRPr sz="2800" dirty="0"/>
          </a:p>
          <a:p>
            <a:pPr marL="0" indent="0">
              <a:spcAft>
                <a:spcPts val="1000"/>
              </a:spcAft>
              <a:buNone/>
            </a:pPr>
            <a:r>
              <a:rPr sz="2800" dirty="0"/>
              <a:t>Deux types entre chevrons : </a:t>
            </a:r>
            <a:r>
              <a:rPr sz="2800" dirty="0" err="1"/>
              <a:t>celui</a:t>
            </a:r>
            <a:r>
              <a:rPr sz="2800" dirty="0"/>
              <a:t> des </a:t>
            </a:r>
            <a:r>
              <a:rPr sz="2800" dirty="0" err="1"/>
              <a:t>clés</a:t>
            </a:r>
            <a:r>
              <a:rPr sz="2800" dirty="0"/>
              <a:t>, </a:t>
            </a:r>
            <a:r>
              <a:rPr sz="2800" dirty="0" err="1"/>
              <a:t>celui</a:t>
            </a:r>
            <a:r>
              <a:rPr sz="2800" dirty="0"/>
              <a:t> des </a:t>
            </a:r>
            <a:r>
              <a:rPr sz="2800" dirty="0" err="1"/>
              <a:t>valeurs</a:t>
            </a:r>
            <a:endParaRPr sz="2800" dirty="0"/>
          </a:p>
        </p:txBody>
      </p:sp>
      <p:sp>
        <p:nvSpPr>
          <p:cNvPr id="4" name="Code"/>
          <p:cNvSpPr txBox="1"/>
          <p:nvPr/>
        </p:nvSpPr>
        <p:spPr>
          <a:xfrm>
            <a:off x="2800350" y="3733799"/>
            <a:ext cx="659130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Map&lt;String, Integer&gt; pages = </a:t>
            </a:r>
            <a:r>
              <a:rPr sz="1800">
                <a:solidFill>
                  <a:srgbClr val="CF8E6D"/>
                </a:solidFill>
                <a:latin typeface="Consolas"/>
              </a:rPr>
              <a:t>new</a:t>
            </a:r>
            <a:r>
              <a:rPr sz="1800">
                <a:solidFill>
                  <a:srgbClr val="BCBEC4"/>
                </a:solidFill>
                <a:latin typeface="Consolas"/>
              </a:rPr>
              <a:t> HashMap&lt;&gt;();</a:t>
            </a:r>
          </a:p>
          <a:p>
            <a:pPr>
              <a:lnSpc>
                <a:spcPct val="100000"/>
              </a:lnSpc>
              <a:spcBef>
                <a:spcPts val="0"/>
              </a:spcBef>
              <a:spcAft>
                <a:spcPts val="0"/>
              </a:spcAft>
            </a:pPr>
            <a:r>
              <a:rPr sz="1800">
                <a:solidFill>
                  <a:srgbClr val="BCBEC4"/>
                </a:solidFill>
                <a:latin typeface="Consolas"/>
              </a:rPr>
              <a:t>pages.</a:t>
            </a:r>
            <a:r>
              <a:rPr sz="1800">
                <a:solidFill>
                  <a:srgbClr val="56A8F5"/>
                </a:solidFill>
                <a:latin typeface="Consolas"/>
              </a:rPr>
              <a:t>put</a:t>
            </a:r>
            <a:r>
              <a:rPr sz="1800">
                <a:solidFill>
                  <a:srgbClr val="BCBEC4"/>
                </a:solidFill>
                <a:latin typeface="Consolas"/>
              </a:rPr>
              <a:t>(</a:t>
            </a:r>
            <a:r>
              <a:rPr sz="1800">
                <a:solidFill>
                  <a:srgbClr val="6AAB73"/>
                </a:solidFill>
                <a:latin typeface="Consolas"/>
              </a:rPr>
              <a:t>"Germinal"</a:t>
            </a:r>
            <a:r>
              <a:rPr sz="1800">
                <a:solidFill>
                  <a:srgbClr val="BCBEC4"/>
                </a:solidFill>
                <a:latin typeface="Consolas"/>
              </a:rPr>
              <a:t>, </a:t>
            </a:r>
            <a:r>
              <a:rPr sz="1800">
                <a:solidFill>
                  <a:srgbClr val="2AACB8"/>
                </a:solidFill>
                <a:latin typeface="Consolas"/>
              </a:rPr>
              <a:t>591</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pages.</a:t>
            </a:r>
            <a:r>
              <a:rPr sz="1800">
                <a:solidFill>
                  <a:srgbClr val="56A8F5"/>
                </a:solidFill>
                <a:latin typeface="Consolas"/>
              </a:rPr>
              <a:t>put</a:t>
            </a:r>
            <a:r>
              <a:rPr sz="1800">
                <a:solidFill>
                  <a:srgbClr val="BCBEC4"/>
                </a:solidFill>
                <a:latin typeface="Consolas"/>
              </a:rPr>
              <a:t>(</a:t>
            </a:r>
            <a:r>
              <a:rPr sz="1800">
                <a:solidFill>
                  <a:srgbClr val="6AAB73"/>
                </a:solidFill>
                <a:latin typeface="Consolas"/>
              </a:rPr>
              <a:t>"Candide"</a:t>
            </a:r>
            <a:r>
              <a:rPr sz="1800">
                <a:solidFill>
                  <a:srgbClr val="BCBEC4"/>
                </a:solidFill>
                <a:latin typeface="Consolas"/>
              </a:rPr>
              <a:t>, </a:t>
            </a:r>
            <a:r>
              <a:rPr sz="1800">
                <a:solidFill>
                  <a:srgbClr val="2AACB8"/>
                </a:solidFill>
                <a:latin typeface="Consolas"/>
              </a:rPr>
              <a:t>160</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pages.</a:t>
            </a:r>
            <a:r>
              <a:rPr sz="1800">
                <a:solidFill>
                  <a:srgbClr val="56A8F5"/>
                </a:solidFill>
                <a:latin typeface="Consolas"/>
              </a:rPr>
              <a:t>get</a:t>
            </a:r>
            <a:r>
              <a:rPr sz="1800">
                <a:solidFill>
                  <a:srgbClr val="BCBEC4"/>
                </a:solidFill>
                <a:latin typeface="Consolas"/>
              </a:rPr>
              <a:t>(</a:t>
            </a:r>
            <a:r>
              <a:rPr sz="1800">
                <a:solidFill>
                  <a:srgbClr val="6AAB73"/>
                </a:solidFill>
                <a:latin typeface="Consolas"/>
              </a:rPr>
              <a:t>"Candide"</a:t>
            </a:r>
            <a:r>
              <a:rPr sz="1800">
                <a:solidFill>
                  <a:srgbClr val="BCBEC4"/>
                </a:solidFill>
                <a:latin typeface="Consolas"/>
              </a:rPr>
              <a:t>);            </a:t>
            </a:r>
            <a:r>
              <a:rPr sz="1800">
                <a:solidFill>
                  <a:srgbClr val="7A7E85"/>
                </a:solidFill>
                <a:latin typeface="Consolas"/>
              </a:rPr>
              <a:t>// 160</a:t>
            </a:r>
          </a:p>
          <a:p>
            <a:pPr>
              <a:lnSpc>
                <a:spcPct val="100000"/>
              </a:lnSpc>
              <a:spcBef>
                <a:spcPts val="0"/>
              </a:spcBef>
              <a:spcAft>
                <a:spcPts val="0"/>
              </a:spcAft>
            </a:pPr>
            <a:r>
              <a:rPr sz="1800">
                <a:solidFill>
                  <a:srgbClr val="BCBEC4"/>
                </a:solidFill>
                <a:latin typeface="Consolas"/>
              </a:rPr>
              <a:t>pages.</a:t>
            </a:r>
            <a:r>
              <a:rPr sz="1800">
                <a:solidFill>
                  <a:srgbClr val="56A8F5"/>
                </a:solidFill>
                <a:latin typeface="Consolas"/>
              </a:rPr>
              <a:t>containsKey</a:t>
            </a:r>
            <a:r>
              <a:rPr sz="1800">
                <a:solidFill>
                  <a:srgbClr val="BCBEC4"/>
                </a:solidFill>
                <a:latin typeface="Consolas"/>
              </a:rPr>
              <a:t>(</a:t>
            </a:r>
            <a:r>
              <a:rPr sz="1800">
                <a:solidFill>
                  <a:srgbClr val="6AAB73"/>
                </a:solidFill>
                <a:latin typeface="Consolas"/>
              </a:rPr>
              <a:t>"Nana"</a:t>
            </a:r>
            <a:r>
              <a:rPr sz="1800">
                <a:solidFill>
                  <a:srgbClr val="BCBEC4"/>
                </a:solidFill>
                <a:latin typeface="Consolas"/>
              </a:rPr>
              <a:t>);       </a:t>
            </a:r>
            <a:r>
              <a:rPr sz="1800">
                <a:solidFill>
                  <a:srgbClr val="7A7E85"/>
                </a:solidFill>
                <a:latin typeface="Consolas"/>
              </a:rPr>
              <a:t>// false</a:t>
            </a:r>
          </a:p>
          <a:p>
            <a:pPr>
              <a:lnSpc>
                <a:spcPct val="100000"/>
              </a:lnSpc>
              <a:spcBef>
                <a:spcPts val="0"/>
              </a:spcBef>
              <a:spcAft>
                <a:spcPts val="0"/>
              </a:spcAft>
            </a:pPr>
            <a:r>
              <a:rPr sz="1800">
                <a:solidFill>
                  <a:srgbClr val="BCBEC4"/>
                </a:solidFill>
                <a:latin typeface="Consolas"/>
              </a:rPr>
              <a:t>pages.</a:t>
            </a:r>
            <a:r>
              <a:rPr sz="1800">
                <a:solidFill>
                  <a:srgbClr val="56A8F5"/>
                </a:solidFill>
                <a:latin typeface="Consolas"/>
              </a:rPr>
              <a:t>size</a:t>
            </a:r>
            <a:r>
              <a:rPr sz="1800">
                <a:solidFill>
                  <a:srgbClr val="BCBEC4"/>
                </a:solidFill>
                <a:latin typeface="Consolas"/>
              </a:rPr>
              <a:t>();                    </a:t>
            </a:r>
            <a:r>
              <a:rPr sz="1800">
                <a:solidFill>
                  <a:srgbClr val="7A7E85"/>
                </a:solidFill>
                <a:latin typeface="Consolas"/>
              </a:rPr>
              <a:t>// 2</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dirty="0">
                <a:solidFill>
                  <a:srgbClr val="BCBEC4"/>
                </a:solidFill>
              </a:rPr>
              <a:t>COL · </a:t>
            </a:r>
            <a:r>
              <a:rPr sz="1100" b="1" dirty="0">
                <a:solidFill>
                  <a:schemeClr val="accent4"/>
                </a:solidFill>
              </a:rPr>
              <a:t>4. Les tables </a:t>
            </a:r>
            <a:r>
              <a:rPr sz="1100" b="1" dirty="0" err="1">
                <a:solidFill>
                  <a:schemeClr val="accent4"/>
                </a:solidFill>
              </a:rPr>
              <a:t>associatives</a:t>
            </a:r>
            <a:endParaRPr sz="1100" b="1" dirty="0">
              <a:solidFill>
                <a:schemeClr val="accent4"/>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clé absente</a:t>
            </a:r>
          </a:p>
        </p:txBody>
      </p:sp>
      <p:sp>
        <p:nvSpPr>
          <p:cNvPr id="3" name="Content Placeholder 2"/>
          <p:cNvSpPr>
            <a:spLocks noGrp="1"/>
          </p:cNvSpPr>
          <p:nvPr>
            <p:ph idx="1"/>
          </p:nvPr>
        </p:nvSpPr>
        <p:spPr>
          <a:xfrm>
            <a:off x="640080" y="1371600"/>
            <a:ext cx="10881360" cy="1244600"/>
          </a:xfrm>
        </p:spPr>
        <p:txBody>
          <a:bodyPr/>
          <a:lstStyle/>
          <a:p>
            <a:pPr marL="0" indent="0">
              <a:spcAft>
                <a:spcPts val="1000"/>
              </a:spcAft>
              <a:buNone/>
            </a:pPr>
            <a:r>
              <a:rPr sz="2800"/>
              <a:t>Pour une clé absente, la méthode </a:t>
            </a:r>
            <a:r>
              <a:rPr sz="2400">
                <a:solidFill>
                  <a:schemeClr val="accent4"/>
                </a:solidFill>
                <a:latin typeface="Consolas"/>
              </a:rPr>
              <a:t>get</a:t>
            </a:r>
            <a:r>
              <a:rPr sz="2800"/>
              <a:t> retourne </a:t>
            </a:r>
            <a:r>
              <a:rPr sz="2400">
                <a:solidFill>
                  <a:schemeClr val="accent4"/>
                </a:solidFill>
                <a:latin typeface="Consolas"/>
              </a:rPr>
              <a:t>null</a:t>
            </a:r>
          </a:p>
          <a:p>
            <a:pPr marL="0" indent="0">
              <a:spcAft>
                <a:spcPts val="1000"/>
              </a:spcAft>
              <a:buNone/>
            </a:pPr>
            <a:r>
              <a:rPr sz="2800"/>
              <a:t>La méthode </a:t>
            </a:r>
            <a:r>
              <a:rPr sz="2400">
                <a:solidFill>
                  <a:schemeClr val="accent4"/>
                </a:solidFill>
                <a:latin typeface="Consolas"/>
              </a:rPr>
              <a:t>getOrDefault</a:t>
            </a:r>
            <a:r>
              <a:rPr sz="2800"/>
              <a:t> retourne la valeur prévue</a:t>
            </a:r>
          </a:p>
        </p:txBody>
      </p:sp>
      <p:sp>
        <p:nvSpPr>
          <p:cNvPr id="4" name="Code"/>
          <p:cNvSpPr txBox="1"/>
          <p:nvPr/>
        </p:nvSpPr>
        <p:spPr>
          <a:xfrm>
            <a:off x="1752600" y="3127756"/>
            <a:ext cx="86868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Integer inconnu = pages.</a:t>
            </a:r>
            <a:r>
              <a:rPr sz="1800">
                <a:solidFill>
                  <a:srgbClr val="56A8F5"/>
                </a:solidFill>
                <a:latin typeface="Consolas"/>
              </a:rPr>
              <a:t>get</a:t>
            </a:r>
            <a:r>
              <a:rPr sz="1800">
                <a:solidFill>
                  <a:srgbClr val="BCBEC4"/>
                </a:solidFill>
                <a:latin typeface="Consolas"/>
              </a:rPr>
              <a:t>(</a:t>
            </a:r>
            <a:r>
              <a:rPr sz="1800">
                <a:solidFill>
                  <a:srgbClr val="6AAB73"/>
                </a:solidFill>
                <a:latin typeface="Consolas"/>
              </a:rPr>
              <a:t>"Nana"</a:t>
            </a:r>
            <a:r>
              <a:rPr sz="1800">
                <a:solidFill>
                  <a:srgbClr val="BCBEC4"/>
                </a:solidFill>
                <a:latin typeface="Consolas"/>
              </a:rPr>
              <a:t>);           </a:t>
            </a:r>
            <a:r>
              <a:rPr sz="1800">
                <a:solidFill>
                  <a:srgbClr val="7A7E85"/>
                </a:solidFill>
                <a:latin typeface="Consolas"/>
              </a:rPr>
              <a:t>// null</a:t>
            </a:r>
          </a:p>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nombre = pages.</a:t>
            </a:r>
            <a:r>
              <a:rPr sz="1800">
                <a:solidFill>
                  <a:srgbClr val="56A8F5"/>
                </a:solidFill>
                <a:latin typeface="Consolas"/>
              </a:rPr>
              <a:t>getOrDefault</a:t>
            </a:r>
            <a:r>
              <a:rPr sz="1800">
                <a:solidFill>
                  <a:srgbClr val="BCBEC4"/>
                </a:solidFill>
                <a:latin typeface="Consolas"/>
              </a:rPr>
              <a:t>(</a:t>
            </a:r>
            <a:r>
              <a:rPr sz="1800">
                <a:solidFill>
                  <a:srgbClr val="6AAB73"/>
                </a:solidFill>
                <a:latin typeface="Consolas"/>
              </a:rPr>
              <a:t>"Nana"</a:t>
            </a:r>
            <a:r>
              <a:rPr sz="1800">
                <a:solidFill>
                  <a:srgbClr val="BCBEC4"/>
                </a:solidFill>
                <a:latin typeface="Consolas"/>
              </a:rPr>
              <a:t>, </a:t>
            </a:r>
            <a:r>
              <a:rPr sz="1800">
                <a:solidFill>
                  <a:srgbClr val="2AACB8"/>
                </a:solidFill>
                <a:latin typeface="Consolas"/>
              </a:rPr>
              <a:t>0</a:t>
            </a:r>
            <a:r>
              <a:rPr sz="1800">
                <a:solidFill>
                  <a:srgbClr val="BCBEC4"/>
                </a:solidFill>
                <a:latin typeface="Consolas"/>
              </a:rPr>
              <a:t>);    </a:t>
            </a:r>
            <a:r>
              <a:rPr sz="1800">
                <a:solidFill>
                  <a:srgbClr val="7A7E85"/>
                </a:solidFill>
                <a:latin typeface="Consolas"/>
              </a:rPr>
              <a:t>// 0</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plantage = pages.</a:t>
            </a:r>
            <a:r>
              <a:rPr sz="1800">
                <a:solidFill>
                  <a:srgbClr val="56A8F5"/>
                </a:solidFill>
                <a:latin typeface="Consolas"/>
              </a:rPr>
              <a:t>get</a:t>
            </a:r>
            <a:r>
              <a:rPr sz="1800">
                <a:solidFill>
                  <a:srgbClr val="BCBEC4"/>
                </a:solidFill>
                <a:latin typeface="Consolas"/>
              </a:rPr>
              <a:t>(</a:t>
            </a:r>
            <a:r>
              <a:rPr sz="1800">
                <a:solidFill>
                  <a:srgbClr val="6AAB73"/>
                </a:solidFill>
                <a:latin typeface="Consolas"/>
              </a:rPr>
              <a:t>"Nana"</a:t>
            </a:r>
            <a:r>
              <a:rPr sz="1800">
                <a:solidFill>
                  <a:srgbClr val="BCBEC4"/>
                </a:solidFill>
                <a:latin typeface="Consolas"/>
              </a:rPr>
              <a:t>);    </a:t>
            </a:r>
            <a:r>
              <a:rPr sz="1800">
                <a:solidFill>
                  <a:srgbClr val="7A7E85"/>
                </a:solidFill>
                <a:latin typeface="Consolas"/>
              </a:rPr>
              <a:t>// NullPointerException</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28</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dirty="0">
                <a:solidFill>
                  <a:srgbClr val="BCBEC4"/>
                </a:solidFill>
              </a:rPr>
              <a:t>COL · </a:t>
            </a:r>
            <a:r>
              <a:rPr sz="1100" b="1" dirty="0">
                <a:solidFill>
                  <a:schemeClr val="accent4"/>
                </a:solidFill>
              </a:rPr>
              <a:t>4. Les tables </a:t>
            </a:r>
            <a:r>
              <a:rPr sz="1100" b="1" dirty="0" err="1">
                <a:solidFill>
                  <a:schemeClr val="accent4"/>
                </a:solidFill>
              </a:rPr>
              <a:t>associatives</a:t>
            </a:r>
            <a:endParaRPr sz="1100" b="1" dirty="0">
              <a:solidFill>
                <a:schemeClr val="accent4"/>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a:t>Trois façons de </a:t>
            </a:r>
            <a:r>
              <a:rPr sz="4000" dirty="0" err="1"/>
              <a:t>parcourir</a:t>
            </a:r>
            <a:r>
              <a:rPr sz="4000" dirty="0"/>
              <a:t> </a:t>
            </a:r>
            <a:r>
              <a:rPr sz="4000" dirty="0" err="1"/>
              <a:t>une</a:t>
            </a:r>
            <a:r>
              <a:rPr sz="4000" dirty="0"/>
              <a:t> table</a:t>
            </a:r>
            <a:r>
              <a:rPr lang="nl-BE" sz="4000" dirty="0"/>
              <a:t> associative</a:t>
            </a:r>
            <a:endParaRPr sz="4000" dirty="0"/>
          </a:p>
        </p:txBody>
      </p:sp>
      <p:sp>
        <p:nvSpPr>
          <p:cNvPr id="3" name="Content Placeholder 2"/>
          <p:cNvSpPr>
            <a:spLocks noGrp="1"/>
          </p:cNvSpPr>
          <p:nvPr>
            <p:ph idx="1"/>
          </p:nvPr>
        </p:nvSpPr>
        <p:spPr>
          <a:xfrm>
            <a:off x="640080" y="1371600"/>
            <a:ext cx="10881360" cy="1671319"/>
          </a:xfrm>
        </p:spPr>
        <p:txBody>
          <a:bodyPr/>
          <a:lstStyle/>
          <a:p>
            <a:pPr marL="0" indent="0">
              <a:spcAft>
                <a:spcPts val="1000"/>
              </a:spcAft>
              <a:buNone/>
            </a:pPr>
            <a:r>
              <a:rPr sz="2800"/>
              <a:t>Les clés, les valeurs, ou les couples</a:t>
            </a:r>
          </a:p>
          <a:p>
            <a:pPr marL="0" indent="0">
              <a:spcAft>
                <a:spcPts val="1000"/>
              </a:spcAft>
              <a:buNone/>
            </a:pPr>
            <a:r>
              <a:rPr sz="2800"/>
              <a:t>Chacune est une collection, que la boucle </a:t>
            </a:r>
            <a:r>
              <a:rPr sz="2400">
                <a:solidFill>
                  <a:schemeClr val="accent4"/>
                </a:solidFill>
                <a:latin typeface="Consolas"/>
              </a:rPr>
              <a:t>for</a:t>
            </a:r>
            <a:r>
              <a:rPr sz="2800"/>
              <a:t> parcourt</a:t>
            </a:r>
          </a:p>
        </p:txBody>
      </p:sp>
      <p:sp>
        <p:nvSpPr>
          <p:cNvPr id="4" name="Code"/>
          <p:cNvSpPr txBox="1"/>
          <p:nvPr/>
        </p:nvSpPr>
        <p:spPr>
          <a:xfrm>
            <a:off x="640080" y="3180079"/>
            <a:ext cx="1088136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for</a:t>
            </a:r>
            <a:r>
              <a:rPr sz="1800">
                <a:solidFill>
                  <a:srgbClr val="BCBEC4"/>
                </a:solidFill>
                <a:latin typeface="Consolas"/>
              </a:rPr>
              <a:t> (String titre : pages.</a:t>
            </a:r>
            <a:r>
              <a:rPr sz="1800">
                <a:solidFill>
                  <a:srgbClr val="56A8F5"/>
                </a:solidFill>
                <a:latin typeface="Consolas"/>
              </a:rPr>
              <a:t>keySet</a:t>
            </a:r>
            <a:r>
              <a:rPr sz="1800">
                <a:solidFill>
                  <a:srgbClr val="BCBEC4"/>
                </a:solidFill>
                <a:latin typeface="Consolas"/>
              </a:rPr>
              <a:t>()) { ...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for</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nombre : pages.</a:t>
            </a:r>
            <a:r>
              <a:rPr sz="1800">
                <a:solidFill>
                  <a:srgbClr val="56A8F5"/>
                </a:solidFill>
                <a:latin typeface="Consolas"/>
              </a:rPr>
              <a:t>values</a:t>
            </a:r>
            <a:r>
              <a:rPr sz="1800">
                <a:solidFill>
                  <a:srgbClr val="BCBEC4"/>
                </a:solidFill>
                <a:latin typeface="Consolas"/>
              </a:rPr>
              <a:t>()) { ...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for</a:t>
            </a:r>
            <a:r>
              <a:rPr sz="1800">
                <a:solidFill>
                  <a:srgbClr val="BCBEC4"/>
                </a:solidFill>
                <a:latin typeface="Consolas"/>
              </a:rPr>
              <a:t> (Map.Entry&lt;String, Integer&gt; entree : pages.</a:t>
            </a:r>
            <a:r>
              <a:rPr sz="1800">
                <a:solidFill>
                  <a:srgbClr val="56A8F5"/>
                </a:solidFill>
                <a:latin typeface="Consolas"/>
              </a:rPr>
              <a:t>entrySet</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System.out.</a:t>
            </a:r>
            <a:r>
              <a:rPr sz="1800">
                <a:solidFill>
                  <a:srgbClr val="56A8F5"/>
                </a:solidFill>
                <a:latin typeface="Consolas"/>
              </a:rPr>
              <a:t>println</a:t>
            </a:r>
            <a:r>
              <a:rPr sz="1800">
                <a:solidFill>
                  <a:srgbClr val="BCBEC4"/>
                </a:solidFill>
                <a:latin typeface="Consolas"/>
              </a:rPr>
              <a:t>(entree.</a:t>
            </a:r>
            <a:r>
              <a:rPr sz="1800">
                <a:solidFill>
                  <a:srgbClr val="56A8F5"/>
                </a:solidFill>
                <a:latin typeface="Consolas"/>
              </a:rPr>
              <a:t>getKey</a:t>
            </a:r>
            <a:r>
              <a:rPr sz="1800">
                <a:solidFill>
                  <a:srgbClr val="BCBEC4"/>
                </a:solidFill>
                <a:latin typeface="Consolas"/>
              </a:rPr>
              <a:t>() + </a:t>
            </a:r>
            <a:r>
              <a:rPr sz="1800">
                <a:solidFill>
                  <a:srgbClr val="6AAB73"/>
                </a:solidFill>
                <a:latin typeface="Consolas"/>
              </a:rPr>
              <a:t>" : "</a:t>
            </a:r>
            <a:r>
              <a:rPr sz="1800">
                <a:solidFill>
                  <a:srgbClr val="BCBEC4"/>
                </a:solidFill>
                <a:latin typeface="Consolas"/>
              </a:rPr>
              <a:t> + entree.</a:t>
            </a:r>
            <a:r>
              <a:rPr sz="1800">
                <a:solidFill>
                  <a:srgbClr val="56A8F5"/>
                </a:solidFill>
                <a:latin typeface="Consolas"/>
              </a:rPr>
              <a:t>getValue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dirty="0">
                <a:solidFill>
                  <a:srgbClr val="BCBEC4"/>
                </a:solidFill>
              </a:rPr>
              <a:t>COL · </a:t>
            </a:r>
            <a:r>
              <a:rPr sz="1100" b="1" dirty="0">
                <a:solidFill>
                  <a:schemeClr val="accent4"/>
                </a:solidFill>
              </a:rPr>
              <a:t>4. Les tables </a:t>
            </a:r>
            <a:r>
              <a:rPr sz="1100" b="1" dirty="0" err="1">
                <a:solidFill>
                  <a:schemeClr val="accent4"/>
                </a:solidFill>
              </a:rPr>
              <a:t>associatives</a:t>
            </a:r>
            <a:endParaRPr sz="1100" b="1" dirty="0">
              <a:solidFill>
                <a:schemeClr val="accent4"/>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pic>
        <p:nvPicPr>
          <p:cNvPr id="9" name="Picture 8"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30</a:t>
            </a:fld>
            <a:endParaRPr lang="fr-FR"/>
          </a:p>
        </p:txBody>
      </p:sp>
      <p:sp>
        <p:nvSpPr>
          <p:cNvPr id="1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4. Les tables associatives</a:t>
            </a:r>
          </a:p>
        </p:txBody>
      </p:sp>
      <p:grpSp>
        <p:nvGrpSpPr>
          <p:cNvPr id="13" name="Exercice 1"/>
          <p:cNvGrpSpPr/>
          <p:nvPr/>
        </p:nvGrpSpPr>
        <p:grpSpPr>
          <a:xfrm>
            <a:off x="640080" y="1417320"/>
            <a:ext cx="9326880" cy="960120"/>
            <a:chOff x="640080" y="1417320"/>
            <a:chExt cx="9326880" cy="960120"/>
          </a:xfrm>
        </p:grpSpPr>
        <p:sp>
          <p:nvSpPr>
            <p:cNvPr id="11"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COL.2</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 annuaire</a:t>
              </a:r>
            </a:p>
            <a:p>
              <a:r>
                <a:rPr sz="1400">
                  <a:solidFill>
                    <a:srgbClr val="BCBEC4"/>
                  </a:solidFill>
                </a:rPr>
                <a:t>fascicule COL</a:t>
              </a:r>
            </a:p>
          </p:txBody>
        </p:sp>
      </p:grpSp>
      <p:grpSp>
        <p:nvGrpSpPr>
          <p:cNvPr id="14" name="Exercice 2"/>
          <p:cNvGrpSpPr/>
          <p:nvPr/>
        </p:nvGrpSpPr>
        <p:grpSpPr>
          <a:xfrm>
            <a:off x="640080" y="2560320"/>
            <a:ext cx="9326880" cy="960120"/>
            <a:chOff x="640080" y="2560320"/>
            <a:chExt cx="9326880" cy="960120"/>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560320"/>
              <a:ext cx="1920240" cy="960120"/>
            </a:xfrm>
            <a:prstGeom prst="rect">
              <a:avLst/>
            </a:prstGeom>
            <a:noFill/>
          </p:spPr>
          <p:txBody>
            <a:bodyPr wrap="none" anchor="ctr">
              <a:spAutoFit/>
            </a:bodyPr>
            <a:lstStyle/>
            <a:p>
              <a:r>
                <a:rPr sz="3000" b="1">
                  <a:solidFill>
                    <a:schemeClr val="accent4"/>
                  </a:solidFill>
                  <a:latin typeface="Consolas"/>
                </a:rPr>
                <a:t>COL.4</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800">
                  <a:solidFill>
                    <a:srgbClr val="FFFFFF"/>
                  </a:solidFill>
                </a:rPr>
                <a:t>Compter les mots d'un texte</a:t>
              </a:r>
            </a:p>
            <a:p>
              <a:r>
                <a:rPr sz="1400">
                  <a:solidFill>
                    <a:srgbClr val="BCBEC4"/>
                  </a:solidFill>
                </a:rPr>
                <a:t>fascicule COL</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35B5961C-7495-5E3F-B668-A7A141887C8B}"/>
              </a:ext>
            </a:extLst>
          </p:cNvPr>
          <p:cNvPicPr>
            <a:picLocks noChangeAspect="1"/>
          </p:cNvPicPr>
          <p:nvPr/>
        </p:nvPicPr>
        <p:blipFill>
          <a:blip r:embed="rId3"/>
          <a:stretch>
            <a:fillRect/>
          </a:stretch>
        </p:blipFill>
        <p:spPr>
          <a:xfrm>
            <a:off x="34147" y="21021"/>
            <a:ext cx="12123706" cy="6815958"/>
          </a:xfrm>
          <a:prstGeom prst="rect">
            <a:avLst/>
          </a:prstGeom>
        </p:spPr>
      </p:pic>
      <p:sp>
        <p:nvSpPr>
          <p:cNvPr id="4" name="ZoneTexte 3">
            <a:extLst>
              <a:ext uri="{FF2B5EF4-FFF2-40B4-BE49-F238E27FC236}">
                <a16:creationId xmlns:a16="http://schemas.microsoft.com/office/drawing/2014/main" id="{88140D2F-722A-02CE-8FDD-BF412DAA2485}"/>
              </a:ext>
            </a:extLst>
          </p:cNvPr>
          <p:cNvSpPr txBox="1"/>
          <p:nvPr/>
        </p:nvSpPr>
        <p:spPr>
          <a:xfrm>
            <a:off x="838200" y="946800"/>
            <a:ext cx="9839609"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5. Passer un comportement</a:t>
            </a:r>
            <a:endParaRPr lang="fr-FR" sz="1600" b="1" dirty="0">
              <a:ln w="0"/>
              <a:effectLst>
                <a:outerShdw blurRad="38100" dist="19050" dir="2700000" algn="tl" rotWithShape="0">
                  <a:schemeClr val="dk1">
                    <a:alpha val="40000"/>
                  </a:schemeClr>
                </a:outerShdw>
              </a:effectLst>
              <a:cs typeface="Calibri" panose="020F050202020403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Des méthodes ajoutées aux interfaces</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dirty="0"/>
              <a:t>Java 8 a </a:t>
            </a:r>
            <a:r>
              <a:rPr sz="2800" dirty="0" err="1"/>
              <a:t>ajouté</a:t>
            </a:r>
            <a:r>
              <a:rPr sz="2800" dirty="0"/>
              <a:t> des </a:t>
            </a:r>
            <a:r>
              <a:rPr sz="2800" dirty="0" err="1"/>
              <a:t>méthodes</a:t>
            </a:r>
            <a:r>
              <a:rPr sz="2800" dirty="0"/>
              <a:t> par </a:t>
            </a:r>
            <a:r>
              <a:rPr sz="2800" dirty="0" err="1"/>
              <a:t>défaut</a:t>
            </a:r>
            <a:r>
              <a:rPr sz="2800" dirty="0"/>
              <a:t> à </a:t>
            </a:r>
            <a:r>
              <a:rPr sz="2400" dirty="0">
                <a:solidFill>
                  <a:schemeClr val="accent4"/>
                </a:solidFill>
                <a:latin typeface="Consolas"/>
              </a:rPr>
              <a:t>Collection</a:t>
            </a:r>
            <a:r>
              <a:rPr sz="2800" dirty="0"/>
              <a:t> et </a:t>
            </a:r>
            <a:r>
              <a:rPr sz="2400" dirty="0">
                <a:solidFill>
                  <a:schemeClr val="accent4"/>
                </a:solidFill>
                <a:latin typeface="Consolas"/>
              </a:rPr>
              <a:t>Map</a:t>
            </a:r>
          </a:p>
          <a:p>
            <a:pPr marL="0" indent="0">
              <a:spcAft>
                <a:spcPts val="1000"/>
              </a:spcAft>
              <a:buNone/>
            </a:pPr>
            <a:r>
              <a:rPr sz="2800" dirty="0" err="1"/>
              <a:t>Toutes</a:t>
            </a:r>
            <a:r>
              <a:rPr sz="2800" dirty="0"/>
              <a:t> les classes </a:t>
            </a:r>
            <a:r>
              <a:rPr sz="2800" dirty="0" err="1"/>
              <a:t>existantes</a:t>
            </a:r>
            <a:r>
              <a:rPr sz="2800" dirty="0"/>
              <a:t> les </a:t>
            </a:r>
            <a:r>
              <a:rPr sz="2800" dirty="0" err="1"/>
              <a:t>ont</a:t>
            </a:r>
            <a:r>
              <a:rPr sz="2800" dirty="0"/>
              <a:t> reçues sans rien changer</a:t>
            </a:r>
          </a:p>
          <a:p>
            <a:pPr marL="0" indent="0">
              <a:spcAft>
                <a:spcPts val="1000"/>
              </a:spcAft>
              <a:buNone/>
            </a:pPr>
            <a:r>
              <a:rPr sz="2800" dirty="0"/>
              <a:t>Parmi </a:t>
            </a:r>
            <a:r>
              <a:rPr sz="2800" dirty="0" err="1"/>
              <a:t>elles</a:t>
            </a:r>
            <a:r>
              <a:rPr sz="2800" dirty="0"/>
              <a:t> : </a:t>
            </a:r>
            <a:r>
              <a:rPr sz="2400" dirty="0" err="1">
                <a:solidFill>
                  <a:schemeClr val="accent4"/>
                </a:solidFill>
                <a:latin typeface="Consolas"/>
              </a:rPr>
              <a:t>getOrDefault</a:t>
            </a:r>
            <a:r>
              <a:rPr sz="2800" dirty="0"/>
              <a:t>, </a:t>
            </a:r>
            <a:r>
              <a:rPr sz="2400" dirty="0" err="1">
                <a:solidFill>
                  <a:schemeClr val="accent4"/>
                </a:solidFill>
                <a:latin typeface="Consolas"/>
              </a:rPr>
              <a:t>removeIf</a:t>
            </a:r>
            <a:r>
              <a:rPr sz="2800" dirty="0"/>
              <a:t>, </a:t>
            </a:r>
            <a:r>
              <a:rPr sz="2400" dirty="0" err="1">
                <a:solidFill>
                  <a:schemeClr val="accent4"/>
                </a:solidFill>
                <a:latin typeface="Consolas"/>
              </a:rPr>
              <a:t>computeIfAbsent</a:t>
            </a:r>
            <a:endParaRPr sz="2400" dirty="0">
              <a:solidFill>
                <a:schemeClr val="accent4"/>
              </a:solidFill>
              <a:latin typeface="Consolas"/>
            </a:endParaRPr>
          </a:p>
        </p:txBody>
      </p:sp>
      <p:sp>
        <p:nvSpPr>
          <p:cNvPr id="4" name="Code"/>
          <p:cNvSpPr txBox="1"/>
          <p:nvPr/>
        </p:nvSpPr>
        <p:spPr>
          <a:xfrm>
            <a:off x="2101850" y="4160520"/>
            <a:ext cx="7988300" cy="822959"/>
          </a:xfrm>
          <a:prstGeom prst="roundRect">
            <a:avLst>
              <a:gd name="adj" fmla="val 1111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7A7E85"/>
                </a:solidFill>
                <a:latin typeface="Consolas"/>
              </a:rPr>
              <a:t>// dans l'interface Map&lt;K, V&gt;</a:t>
            </a:r>
          </a:p>
          <a:p>
            <a:pPr>
              <a:lnSpc>
                <a:spcPct val="100000"/>
              </a:lnSpc>
              <a:spcBef>
                <a:spcPts val="0"/>
              </a:spcBef>
              <a:spcAft>
                <a:spcPts val="0"/>
              </a:spcAft>
            </a:pPr>
            <a:r>
              <a:rPr sz="1800">
                <a:solidFill>
                  <a:srgbClr val="CF8E6D"/>
                </a:solidFill>
                <a:latin typeface="Consolas"/>
              </a:rPr>
              <a:t>default</a:t>
            </a:r>
            <a:r>
              <a:rPr sz="1800">
                <a:solidFill>
                  <a:srgbClr val="BCBEC4"/>
                </a:solidFill>
                <a:latin typeface="Consolas"/>
              </a:rPr>
              <a:t> V </a:t>
            </a:r>
            <a:r>
              <a:rPr sz="1800">
                <a:solidFill>
                  <a:srgbClr val="56A8F5"/>
                </a:solidFill>
                <a:latin typeface="Consolas"/>
              </a:rPr>
              <a:t>getOrDefault</a:t>
            </a:r>
            <a:r>
              <a:rPr sz="1800">
                <a:solidFill>
                  <a:srgbClr val="BCBEC4"/>
                </a:solidFill>
                <a:latin typeface="Consolas"/>
              </a:rPr>
              <a:t>(Object cle, V parDefaut) { ... }</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5. Passer un comportement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err="1"/>
              <a:t>Retirer</a:t>
            </a:r>
            <a:r>
              <a:rPr sz="4000" dirty="0"/>
              <a:t> pendant un </a:t>
            </a:r>
            <a:r>
              <a:rPr sz="4000" dirty="0" err="1"/>
              <a:t>parcours</a:t>
            </a:r>
            <a:r>
              <a:rPr lang="nl-BE" sz="4000" dirty="0"/>
              <a:t> de collection</a:t>
            </a:r>
            <a:endParaRPr sz="4000" dirty="0"/>
          </a:p>
        </p:txBody>
      </p:sp>
      <p:sp>
        <p:nvSpPr>
          <p:cNvPr id="3" name="Content Placeholder 2"/>
          <p:cNvSpPr>
            <a:spLocks noGrp="1"/>
          </p:cNvSpPr>
          <p:nvPr>
            <p:ph idx="1"/>
          </p:nvPr>
        </p:nvSpPr>
        <p:spPr>
          <a:xfrm>
            <a:off x="640080" y="1371600"/>
            <a:ext cx="10881360" cy="1671319"/>
          </a:xfrm>
        </p:spPr>
        <p:txBody>
          <a:bodyPr/>
          <a:lstStyle/>
          <a:p>
            <a:pPr marL="0" indent="0">
              <a:spcAft>
                <a:spcPts val="1000"/>
              </a:spcAft>
              <a:buNone/>
            </a:pPr>
            <a:r>
              <a:rPr sz="2800"/>
              <a:t>Retirer dans une boucle </a:t>
            </a:r>
            <a:r>
              <a:rPr sz="2800">
                <a:solidFill>
                  <a:schemeClr val="accent4"/>
                </a:solidFill>
                <a:latin typeface="Consolas"/>
              </a:rPr>
              <a:t>for-each</a:t>
            </a:r>
            <a:r>
              <a:rPr sz="2800"/>
              <a:t> : </a:t>
            </a:r>
            <a:r>
              <a:rPr sz="2800">
                <a:solidFill>
                  <a:schemeClr val="accent4"/>
                </a:solidFill>
                <a:latin typeface="Consolas"/>
              </a:rPr>
              <a:t>ConcurrentModificationException</a:t>
            </a:r>
          </a:p>
          <a:p>
            <a:pPr marL="0" indent="0">
              <a:spcAft>
                <a:spcPts val="1000"/>
              </a:spcAft>
              <a:buNone/>
            </a:pPr>
            <a:r>
              <a:rPr sz="2800"/>
              <a:t>L'itérateur, lui, sait retirer sans se perdre</a:t>
            </a:r>
          </a:p>
        </p:txBody>
      </p:sp>
      <p:sp>
        <p:nvSpPr>
          <p:cNvPr id="4" name="Code"/>
          <p:cNvSpPr txBox="1"/>
          <p:nvPr/>
        </p:nvSpPr>
        <p:spPr>
          <a:xfrm>
            <a:off x="2101850" y="3042919"/>
            <a:ext cx="7988300" cy="300000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for</a:t>
            </a:r>
            <a:r>
              <a:rPr sz="1800">
                <a:solidFill>
                  <a:srgbClr val="BCBEC4"/>
                </a:solidFill>
                <a:latin typeface="Consolas"/>
              </a:rPr>
              <a:t> (String titre : titres) {</a:t>
            </a:r>
          </a:p>
          <a:p>
            <a:pPr>
              <a:lnSpc>
                <a:spcPct val="100000"/>
              </a:lnSpc>
              <a:spcBef>
                <a:spcPts val="0"/>
              </a:spcBef>
              <a:spcAft>
                <a:spcPts val="0"/>
              </a:spcAft>
            </a:pPr>
            <a:r>
              <a:rPr sz="1800">
                <a:solidFill>
                  <a:srgbClr val="BCBEC4"/>
                </a:solidFill>
                <a:latin typeface="Consolas"/>
              </a:rPr>
              <a:t>    titres.remove(titre);       </a:t>
            </a:r>
            <a:r>
              <a:rPr sz="1800">
                <a:solidFill>
                  <a:srgbClr val="7A7E85"/>
                </a:solidFill>
                <a:latin typeface="Consolas"/>
              </a:rPr>
              <a:t>// plantage</a:t>
            </a:r>
          </a:p>
          <a:p>
            <a:pPr>
              <a:lnSpc>
                <a:spcPct val="100000"/>
              </a:lnSpc>
              <a:spcBef>
                <a:spcPts val="0"/>
              </a:spcBef>
              <a:spcAft>
                <a:spcPts val="0"/>
              </a:spcAft>
            </a:pP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Iterator&lt;String&gt; it = titres.iterator();</a:t>
            </a:r>
          </a:p>
          <a:p>
            <a:pPr>
              <a:lnSpc>
                <a:spcPct val="100000"/>
              </a:lnSpc>
              <a:spcBef>
                <a:spcPts val="0"/>
              </a:spcBef>
              <a:spcAft>
                <a:spcPts val="0"/>
              </a:spcAft>
            </a:pPr>
            <a:r>
              <a:rPr sz="1800">
                <a:solidFill>
                  <a:srgbClr val="CF8E6D"/>
                </a:solidFill>
                <a:latin typeface="Consolas"/>
              </a:rPr>
              <a:t>while</a:t>
            </a:r>
            <a:r>
              <a:rPr sz="1800">
                <a:solidFill>
                  <a:srgbClr val="BCBEC4"/>
                </a:solidFill>
                <a:latin typeface="Consolas"/>
              </a:rPr>
              <a:t> (it.hasNext())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if</a:t>
            </a:r>
            <a:r>
              <a:rPr sz="1800">
                <a:solidFill>
                  <a:srgbClr val="BCBEC4"/>
                </a:solidFill>
                <a:latin typeface="Consolas"/>
              </a:rPr>
              <a:t> (it.next().length() &gt; 20) {</a:t>
            </a:r>
          </a:p>
          <a:p>
            <a:pPr>
              <a:lnSpc>
                <a:spcPct val="100000"/>
              </a:lnSpc>
              <a:spcBef>
                <a:spcPts val="0"/>
              </a:spcBef>
              <a:spcAft>
                <a:spcPts val="0"/>
              </a:spcAft>
            </a:pPr>
            <a:r>
              <a:rPr sz="1800">
                <a:solidFill>
                  <a:srgbClr val="BCBEC4"/>
                </a:solidFill>
                <a:latin typeface="Consolas"/>
              </a:rPr>
              <a:t>        it.remove();            </a:t>
            </a:r>
            <a:r>
              <a:rPr sz="1800">
                <a:solidFill>
                  <a:srgbClr val="7A7E85"/>
                </a:solidFill>
                <a:latin typeface="Consolas"/>
              </a:rPr>
              <a:t>// sans risque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33</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5. Passer un comportement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méthode qui reçoit un critère</a:t>
            </a:r>
          </a:p>
        </p:txBody>
      </p:sp>
      <p:sp>
        <p:nvSpPr>
          <p:cNvPr id="3" name="Content Placeholder 2"/>
          <p:cNvSpPr>
            <a:spLocks noGrp="1"/>
          </p:cNvSpPr>
          <p:nvPr>
            <p:ph idx="1"/>
          </p:nvPr>
        </p:nvSpPr>
        <p:spPr>
          <a:xfrm>
            <a:off x="640080" y="1371600"/>
            <a:ext cx="10881360" cy="1671319"/>
          </a:xfrm>
        </p:spPr>
        <p:txBody>
          <a:bodyPr/>
          <a:lstStyle/>
          <a:p>
            <a:pPr marL="0" indent="0">
              <a:spcAft>
                <a:spcPts val="1000"/>
              </a:spcAft>
              <a:buNone/>
            </a:pPr>
            <a:r>
              <a:rPr sz="2800"/>
              <a:t>La méthode </a:t>
            </a:r>
            <a:r>
              <a:rPr sz="2400">
                <a:solidFill>
                  <a:schemeClr val="accent4"/>
                </a:solidFill>
                <a:latin typeface="Consolas"/>
              </a:rPr>
              <a:t>removeIf</a:t>
            </a:r>
            <a:r>
              <a:rPr sz="2800"/>
              <a:t> retire ce que le critère accepte</a:t>
            </a:r>
          </a:p>
          <a:p>
            <a:pPr marL="0" indent="0">
              <a:spcAft>
                <a:spcPts val="1000"/>
              </a:spcAft>
              <a:buNone/>
            </a:pPr>
            <a:r>
              <a:rPr sz="2800"/>
              <a:t>Le critère est un </a:t>
            </a:r>
            <a:r>
              <a:rPr sz="2400">
                <a:solidFill>
                  <a:schemeClr val="accent4"/>
                </a:solidFill>
                <a:latin typeface="Consolas"/>
              </a:rPr>
              <a:t>Predicate</a:t>
            </a:r>
            <a:r>
              <a:rPr sz="2800"/>
              <a:t>, une interface à une méthode</a:t>
            </a:r>
          </a:p>
        </p:txBody>
      </p:sp>
      <p:sp>
        <p:nvSpPr>
          <p:cNvPr id="4" name="Code"/>
          <p:cNvSpPr txBox="1"/>
          <p:nvPr/>
        </p:nvSpPr>
        <p:spPr>
          <a:xfrm>
            <a:off x="1682750" y="3180079"/>
            <a:ext cx="88265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7A7E85"/>
                </a:solidFill>
                <a:latin typeface="Consolas"/>
              </a:rPr>
              <a:t>// dans l'interface Collection&lt;E&gt;</a:t>
            </a:r>
          </a:p>
          <a:p>
            <a:pPr>
              <a:lnSpc>
                <a:spcPct val="100000"/>
              </a:lnSpc>
              <a:spcBef>
                <a:spcPts val="0"/>
              </a:spcBef>
              <a:spcAft>
                <a:spcPts val="0"/>
              </a:spcAft>
            </a:pPr>
            <a:r>
              <a:rPr sz="1800">
                <a:solidFill>
                  <a:srgbClr val="CF8E6D"/>
                </a:solidFill>
                <a:latin typeface="Consolas"/>
              </a:rPr>
              <a:t>default</a:t>
            </a:r>
            <a:r>
              <a:rPr sz="1800">
                <a:solidFill>
                  <a:srgbClr val="BCBEC4"/>
                </a:solidFill>
                <a:latin typeface="Consolas"/>
              </a:rPr>
              <a:t> </a:t>
            </a:r>
            <a:r>
              <a:rPr sz="1800">
                <a:solidFill>
                  <a:srgbClr val="CF8E6D"/>
                </a:solidFill>
                <a:latin typeface="Consolas"/>
              </a:rPr>
              <a:t>boolean</a:t>
            </a:r>
            <a:r>
              <a:rPr sz="1800">
                <a:solidFill>
                  <a:srgbClr val="BCBEC4"/>
                </a:solidFill>
                <a:latin typeface="Consolas"/>
              </a:rPr>
              <a:t> </a:t>
            </a:r>
            <a:r>
              <a:rPr sz="1800">
                <a:solidFill>
                  <a:srgbClr val="56A8F5"/>
                </a:solidFill>
                <a:latin typeface="Consolas"/>
              </a:rPr>
              <a:t>removeIf</a:t>
            </a:r>
            <a:r>
              <a:rPr sz="1800">
                <a:solidFill>
                  <a:srgbClr val="BCBEC4"/>
                </a:solidFill>
                <a:latin typeface="Consolas"/>
              </a:rPr>
              <a:t>(Predicate&lt;? </a:t>
            </a:r>
            <a:r>
              <a:rPr sz="1800">
                <a:solidFill>
                  <a:srgbClr val="CF8E6D"/>
                </a:solidFill>
                <a:latin typeface="Consolas"/>
              </a:rPr>
              <a:t>super</a:t>
            </a:r>
            <a:r>
              <a:rPr sz="1800">
                <a:solidFill>
                  <a:srgbClr val="BCBEC4"/>
                </a:solidFill>
                <a:latin typeface="Consolas"/>
              </a:rPr>
              <a:t> E&gt; filtre) { ...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7A7E85"/>
                </a:solidFill>
                <a:latin typeface="Consolas"/>
              </a:rPr>
              <a:t>// dans l'interface Predicate&lt;T&gt;</a:t>
            </a:r>
          </a:p>
          <a:p>
            <a:pPr>
              <a:lnSpc>
                <a:spcPct val="100000"/>
              </a:lnSpc>
              <a:spcBef>
                <a:spcPts val="0"/>
              </a:spcBef>
              <a:spcAft>
                <a:spcPts val="0"/>
              </a:spcAft>
            </a:pPr>
            <a:r>
              <a:rPr sz="1800">
                <a:solidFill>
                  <a:srgbClr val="CF8E6D"/>
                </a:solidFill>
                <a:latin typeface="Consolas"/>
              </a:rPr>
              <a:t>boolean</a:t>
            </a:r>
            <a:r>
              <a:rPr sz="1800">
                <a:solidFill>
                  <a:srgbClr val="BCBEC4"/>
                </a:solidFill>
                <a:latin typeface="Consolas"/>
              </a:rPr>
              <a:t> </a:t>
            </a:r>
            <a:r>
              <a:rPr sz="1800">
                <a:solidFill>
                  <a:srgbClr val="56A8F5"/>
                </a:solidFill>
                <a:latin typeface="Consolas"/>
              </a:rPr>
              <a:t>test</a:t>
            </a:r>
            <a:r>
              <a:rPr sz="1800">
                <a:solidFill>
                  <a:srgbClr val="BCBEC4"/>
                </a:solidFill>
                <a:latin typeface="Consolas"/>
              </a:rPr>
              <a:t>(T valeur);</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5. Passer un comportement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err="1"/>
              <a:t>Écrire</a:t>
            </a:r>
            <a:r>
              <a:rPr sz="4000" dirty="0"/>
              <a:t> le </a:t>
            </a:r>
            <a:r>
              <a:rPr sz="4000" dirty="0" err="1"/>
              <a:t>critère</a:t>
            </a:r>
            <a:r>
              <a:rPr sz="4000" dirty="0"/>
              <a:t> dans </a:t>
            </a:r>
            <a:r>
              <a:rPr sz="4000" dirty="0" err="1"/>
              <a:t>une</a:t>
            </a:r>
            <a:r>
              <a:rPr sz="4000" dirty="0"/>
              <a:t> </a:t>
            </a:r>
            <a:r>
              <a:rPr sz="4000" dirty="0" err="1"/>
              <a:t>classe</a:t>
            </a:r>
            <a:endParaRPr sz="4000" dirty="0"/>
          </a:p>
        </p:txBody>
      </p:sp>
      <p:sp>
        <p:nvSpPr>
          <p:cNvPr id="3" name="Content Placeholder 2"/>
          <p:cNvSpPr>
            <a:spLocks noGrp="1"/>
          </p:cNvSpPr>
          <p:nvPr>
            <p:ph idx="1"/>
          </p:nvPr>
        </p:nvSpPr>
        <p:spPr>
          <a:xfrm>
            <a:off x="640080" y="1371600"/>
            <a:ext cx="10881360" cy="1244600"/>
          </a:xfrm>
        </p:spPr>
        <p:txBody>
          <a:bodyPr/>
          <a:lstStyle/>
          <a:p>
            <a:pPr marL="0" indent="0">
              <a:spcAft>
                <a:spcPts val="1000"/>
              </a:spcAft>
              <a:buNone/>
            </a:pPr>
            <a:r>
              <a:rPr sz="2800" dirty="0"/>
              <a:t>Une </a:t>
            </a:r>
            <a:r>
              <a:rPr sz="2800" dirty="0" err="1"/>
              <a:t>classe</a:t>
            </a:r>
            <a:r>
              <a:rPr sz="2800" dirty="0"/>
              <a:t> </a:t>
            </a:r>
            <a:r>
              <a:rPr sz="2800" dirty="0" err="1"/>
              <a:t>implémente</a:t>
            </a:r>
            <a:r>
              <a:rPr sz="2800" dirty="0"/>
              <a:t> </a:t>
            </a:r>
            <a:r>
              <a:rPr sz="2400" dirty="0">
                <a:solidFill>
                  <a:schemeClr val="accent4"/>
                </a:solidFill>
                <a:latin typeface="Consolas"/>
              </a:rPr>
              <a:t>Predicate</a:t>
            </a:r>
          </a:p>
          <a:p>
            <a:pPr marL="0" indent="0">
              <a:spcAft>
                <a:spcPts val="1000"/>
              </a:spcAft>
              <a:buNone/>
            </a:pPr>
            <a:r>
              <a:rPr sz="2800" dirty="0"/>
              <a:t>Un </a:t>
            </a:r>
            <a:r>
              <a:rPr sz="2800" dirty="0" err="1"/>
              <a:t>objet</a:t>
            </a:r>
            <a:r>
              <a:rPr sz="2800" dirty="0"/>
              <a:t> de </a:t>
            </a:r>
            <a:r>
              <a:rPr sz="2800" dirty="0" err="1"/>
              <a:t>cette</a:t>
            </a:r>
            <a:r>
              <a:rPr sz="2800" dirty="0"/>
              <a:t> </a:t>
            </a:r>
            <a:r>
              <a:rPr sz="2800" dirty="0" err="1"/>
              <a:t>classe</a:t>
            </a:r>
            <a:r>
              <a:rPr sz="2800" dirty="0"/>
              <a:t> se passe à</a:t>
            </a:r>
            <a:r>
              <a:rPr lang="nl-BE" sz="2800" dirty="0"/>
              <a:t> la méthode</a:t>
            </a:r>
            <a:r>
              <a:rPr sz="2800" dirty="0"/>
              <a:t> </a:t>
            </a:r>
            <a:r>
              <a:rPr sz="2400" dirty="0" err="1">
                <a:solidFill>
                  <a:schemeClr val="accent4"/>
                </a:solidFill>
                <a:latin typeface="Consolas"/>
              </a:rPr>
              <a:t>removeIf</a:t>
            </a:r>
            <a:endParaRPr sz="2400" dirty="0">
              <a:solidFill>
                <a:schemeClr val="accent4"/>
              </a:solidFill>
              <a:latin typeface="Consolas"/>
            </a:endParaRPr>
          </a:p>
        </p:txBody>
      </p:sp>
      <p:sp>
        <p:nvSpPr>
          <p:cNvPr id="4" name="Code"/>
          <p:cNvSpPr txBox="1"/>
          <p:nvPr/>
        </p:nvSpPr>
        <p:spPr>
          <a:xfrm>
            <a:off x="2241550" y="2753360"/>
            <a:ext cx="7708900" cy="3291839"/>
          </a:xfrm>
          <a:prstGeom prst="roundRect">
            <a:avLst>
              <a:gd name="adj" fmla="val 2777"/>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TitreLong </a:t>
            </a:r>
            <a:r>
              <a:rPr sz="1800">
                <a:solidFill>
                  <a:srgbClr val="CF8E6D"/>
                </a:solidFill>
                <a:latin typeface="Consolas"/>
              </a:rPr>
              <a:t>implements</a:t>
            </a:r>
            <a:r>
              <a:rPr sz="1800">
                <a:solidFill>
                  <a:srgbClr val="BCBEC4"/>
                </a:solidFill>
                <a:latin typeface="Consolas"/>
              </a:rPr>
              <a:t> Predicate&lt;String&gt;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static</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LONGUEUR_MAX = </a:t>
            </a:r>
            <a:r>
              <a:rPr sz="1800">
                <a:solidFill>
                  <a:srgbClr val="2AACB8"/>
                </a:solidFill>
                <a:latin typeface="Consolas"/>
              </a:rPr>
              <a:t>20</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B3AE60"/>
                </a:solidFill>
                <a:latin typeface="Consolas"/>
              </a:rPr>
              <a:t>@Override</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boolean</a:t>
            </a:r>
            <a:r>
              <a:rPr sz="1800">
                <a:solidFill>
                  <a:srgbClr val="BCBEC4"/>
                </a:solidFill>
                <a:latin typeface="Consolas"/>
              </a:rPr>
              <a:t> </a:t>
            </a:r>
            <a:r>
              <a:rPr sz="1800">
                <a:solidFill>
                  <a:srgbClr val="56A8F5"/>
                </a:solidFill>
                <a:latin typeface="Consolas"/>
              </a:rPr>
              <a:t>test</a:t>
            </a:r>
            <a:r>
              <a:rPr sz="1800">
                <a:solidFill>
                  <a:srgbClr val="BCBEC4"/>
                </a:solidFill>
                <a:latin typeface="Consolas"/>
              </a:rPr>
              <a:t>(String titre)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titre.</a:t>
            </a:r>
            <a:r>
              <a:rPr sz="1800">
                <a:solidFill>
                  <a:srgbClr val="56A8F5"/>
                </a:solidFill>
                <a:latin typeface="Consolas"/>
              </a:rPr>
              <a:t>length</a:t>
            </a:r>
            <a:r>
              <a:rPr sz="1800">
                <a:solidFill>
                  <a:srgbClr val="BCBEC4"/>
                </a:solidFill>
                <a:latin typeface="Consolas"/>
              </a:rPr>
              <a:t>() &gt; LONGUEUR_MAX;</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titres.</a:t>
            </a:r>
            <a:r>
              <a:rPr sz="1800">
                <a:solidFill>
                  <a:srgbClr val="56A8F5"/>
                </a:solidFill>
                <a:latin typeface="Consolas"/>
              </a:rPr>
              <a:t>removeIf</a:t>
            </a:r>
            <a:r>
              <a:rPr sz="1800">
                <a:solidFill>
                  <a:srgbClr val="BCBEC4"/>
                </a:solidFill>
                <a:latin typeface="Consolas"/>
              </a:rPr>
              <a:t>(</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TitreLong</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5. Passer un comportement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COL.5</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Filtrer avec un prédicat</a:t>
            </a:r>
          </a:p>
          <a:p>
            <a:r>
              <a:rPr sz="1400">
                <a:solidFill>
                  <a:srgbClr val="BCBEC4"/>
                </a:solidFill>
              </a:rPr>
              <a:t>fascicule COL</a:t>
            </a:r>
          </a:p>
        </p:txBody>
      </p:sp>
      <p:sp>
        <p:nvSpPr>
          <p:cNvPr id="6" name="TextBox 5"/>
          <p:cNvSpPr txBox="1"/>
          <p:nvPr/>
        </p:nvSpPr>
        <p:spPr>
          <a:xfrm>
            <a:off x="640080" y="2651760"/>
            <a:ext cx="9326880" cy="822960"/>
          </a:xfrm>
          <a:prstGeom prst="rect">
            <a:avLst/>
          </a:prstGeom>
          <a:noFill/>
        </p:spPr>
        <p:txBody>
          <a:bodyPr wrap="square">
            <a:spAutoFit/>
          </a:bodyPr>
          <a:lstStyle/>
          <a:p>
            <a:r>
              <a:rPr sz="2400"/>
              <a:t>Nommer : </a:t>
            </a:r>
            <a:r>
              <a:rPr sz="2400">
                <a:solidFill>
                  <a:schemeClr val="accent4"/>
                </a:solidFill>
                <a:latin typeface="Consolas"/>
              </a:rPr>
              <a:t>CC-NOM.7</a:t>
            </a:r>
            <a:r>
              <a:rPr sz="2400"/>
              <a:t>, une troisième fois</a:t>
            </a:r>
          </a:p>
        </p:txBody>
      </p:sp>
      <p:pic>
        <p:nvPicPr>
          <p:cNvPr id="7" name="Picture 6"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36</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5. Passer un comportement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24AE9FFC-C0D2-0C4F-DA53-D40A3D2DA948}"/>
              </a:ext>
            </a:extLst>
          </p:cNvPr>
          <p:cNvPicPr>
            <a:picLocks noChangeAspect="1"/>
          </p:cNvPicPr>
          <p:nvPr/>
        </p:nvPicPr>
        <p:blipFill>
          <a:blip r:embed="rId3"/>
          <a:stretch>
            <a:fillRect/>
          </a:stretch>
        </p:blipFill>
        <p:spPr>
          <a:xfrm>
            <a:off x="-3244" y="0"/>
            <a:ext cx="12198488" cy="6858000"/>
          </a:xfrm>
          <a:prstGeom prst="rect">
            <a:avLst/>
          </a:prstGeom>
        </p:spPr>
      </p:pic>
      <p:sp>
        <p:nvSpPr>
          <p:cNvPr id="4" name="ZoneTexte 3">
            <a:extLst>
              <a:ext uri="{FF2B5EF4-FFF2-40B4-BE49-F238E27FC236}">
                <a16:creationId xmlns:a16="http://schemas.microsoft.com/office/drawing/2014/main" id="{88140D2F-722A-02CE-8FDD-BF412DAA2485}"/>
              </a:ext>
            </a:extLst>
          </p:cNvPr>
          <p:cNvSpPr txBox="1"/>
          <p:nvPr/>
        </p:nvSpPr>
        <p:spPr>
          <a:xfrm>
            <a:off x="838200" y="946800"/>
            <a:ext cx="10152284"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6. Comparer et trier</a:t>
            </a:r>
            <a:endParaRPr lang="fr-FR" sz="1600" b="1" dirty="0">
              <a:ln w="0"/>
              <a:effectLst>
                <a:outerShdw blurRad="38100" dist="19050" dir="2700000" algn="tl" rotWithShape="0">
                  <a:schemeClr val="dk1">
                    <a:alpha val="40000"/>
                  </a:schemeClr>
                </a:outerShdw>
              </a:effectLst>
              <a:cs typeface="Calibri" panose="020F050202020403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err="1"/>
              <a:t>Apprendre</a:t>
            </a:r>
            <a:r>
              <a:rPr sz="4000" dirty="0"/>
              <a:t> à un </a:t>
            </a:r>
            <a:r>
              <a:rPr sz="4000" dirty="0" err="1"/>
              <a:t>objet</a:t>
            </a:r>
            <a:r>
              <a:rPr sz="4000" dirty="0"/>
              <a:t> à se comparer</a:t>
            </a:r>
            <a:r>
              <a:rPr lang="nl-BE" sz="4000" dirty="0"/>
              <a:t> à un autre</a:t>
            </a:r>
            <a:endParaRPr sz="4000" dirty="0"/>
          </a:p>
        </p:txBody>
      </p:sp>
      <p:sp>
        <p:nvSpPr>
          <p:cNvPr id="3" name="Content Placeholder 2"/>
          <p:cNvSpPr>
            <a:spLocks noGrp="1"/>
          </p:cNvSpPr>
          <p:nvPr>
            <p:ph idx="1"/>
          </p:nvPr>
        </p:nvSpPr>
        <p:spPr>
          <a:xfrm>
            <a:off x="640080" y="1371600"/>
            <a:ext cx="10881360" cy="1671319"/>
          </a:xfrm>
        </p:spPr>
        <p:txBody>
          <a:bodyPr>
            <a:normAutofit lnSpcReduction="10000"/>
          </a:bodyPr>
          <a:lstStyle/>
          <a:p>
            <a:pPr marL="0" indent="0">
              <a:spcAft>
                <a:spcPts val="1000"/>
              </a:spcAft>
              <a:buNone/>
            </a:pPr>
            <a:r>
              <a:rPr sz="2800"/>
              <a:t>La classe implémente </a:t>
            </a:r>
            <a:r>
              <a:rPr sz="2800">
                <a:solidFill>
                  <a:schemeClr val="accent4"/>
                </a:solidFill>
                <a:latin typeface="Consolas"/>
              </a:rPr>
              <a:t>Comparable</a:t>
            </a:r>
          </a:p>
          <a:p>
            <a:pPr marL="0" indent="0">
              <a:spcAft>
                <a:spcPts val="1000"/>
              </a:spcAft>
              <a:buNone/>
            </a:pPr>
            <a:r>
              <a:rPr sz="2800">
                <a:solidFill>
                  <a:schemeClr val="accent4"/>
                </a:solidFill>
                <a:latin typeface="Consolas"/>
              </a:rPr>
              <a:t>compareTo</a:t>
            </a:r>
            <a:r>
              <a:rPr sz="2800"/>
              <a:t> se lit par son signe : avant, même rang, après</a:t>
            </a:r>
          </a:p>
          <a:p>
            <a:pPr marL="0" indent="0">
              <a:spcAft>
                <a:spcPts val="1000"/>
              </a:spcAft>
              <a:buNone/>
            </a:pPr>
            <a:r>
              <a:rPr sz="2800"/>
              <a:t>C'est l'ordre naturel, celui d'un </a:t>
            </a:r>
            <a:r>
              <a:rPr sz="2800">
                <a:solidFill>
                  <a:schemeClr val="accent4"/>
                </a:solidFill>
                <a:latin typeface="Consolas"/>
              </a:rPr>
              <a:t>TreeSet</a:t>
            </a:r>
          </a:p>
        </p:txBody>
      </p:sp>
      <p:sp>
        <p:nvSpPr>
          <p:cNvPr id="4" name="Code"/>
          <p:cNvSpPr txBox="1"/>
          <p:nvPr/>
        </p:nvSpPr>
        <p:spPr>
          <a:xfrm>
            <a:off x="2101850" y="3100000"/>
            <a:ext cx="7988300" cy="270000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record Exemplaire(String titre, </a:t>
            </a:r>
            <a:r>
              <a:rPr sz="1800">
                <a:solidFill>
                  <a:srgbClr val="CF8E6D"/>
                </a:solidFill>
                <a:latin typeface="Consolas"/>
              </a:rPr>
              <a:t>int</a:t>
            </a:r>
            <a:r>
              <a:rPr sz="1800">
                <a:solidFill>
                  <a:srgbClr val="BCBEC4"/>
                </a:solidFill>
                <a:latin typeface="Consolas"/>
              </a:rPr>
              <a:t> numero)</a:t>
            </a:r>
          </a:p>
          <a:p>
            <a:pPr>
              <a:lnSpc>
                <a:spcPct val="100000"/>
              </a:lnSpc>
              <a:spcBef>
                <a:spcPts val="0"/>
              </a:spcBef>
              <a:spcAft>
                <a:spcPts val="0"/>
              </a:spcAft>
            </a:pPr>
            <a:r>
              <a:rPr sz="1800">
                <a:solidFill>
                  <a:srgbClr val="BCBEC4"/>
                </a:solidFill>
                <a:latin typeface="Consolas"/>
              </a:rPr>
              <a:t>        implements Comparable&lt;Exemplaire&gt;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@Override</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compareTo(Exemplaire autre)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Integer.compare(numero, autre.numero);</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38</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6. Comparer et trier</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ordre fourni de l'extérieur</a:t>
            </a:r>
          </a:p>
        </p:txBody>
      </p:sp>
      <p:sp>
        <p:nvSpPr>
          <p:cNvPr id="3" name="Content Placeholder 2"/>
          <p:cNvSpPr>
            <a:spLocks noGrp="1"/>
          </p:cNvSpPr>
          <p:nvPr>
            <p:ph idx="1"/>
          </p:nvPr>
        </p:nvSpPr>
        <p:spPr>
          <a:xfrm>
            <a:off x="640080" y="1371600"/>
            <a:ext cx="10881360" cy="1671319"/>
          </a:xfrm>
        </p:spPr>
        <p:txBody>
          <a:bodyPr/>
          <a:lstStyle/>
          <a:p>
            <a:pPr marL="0" indent="0">
              <a:spcAft>
                <a:spcPts val="1000"/>
              </a:spcAft>
              <a:buNone/>
            </a:pPr>
            <a:r>
              <a:rPr sz="2800"/>
              <a:t>Un </a:t>
            </a:r>
            <a:r>
              <a:rPr sz="2800">
                <a:solidFill>
                  <a:schemeClr val="accent4"/>
                </a:solidFill>
                <a:latin typeface="Consolas"/>
              </a:rPr>
              <a:t>Comparator</a:t>
            </a:r>
            <a:r>
              <a:rPr sz="2800"/>
              <a:t> est un objet à part, qui compare deux éléments</a:t>
            </a:r>
          </a:p>
          <a:p>
            <a:pPr marL="0" indent="0">
              <a:spcAft>
                <a:spcPts val="1000"/>
              </a:spcAft>
              <a:buNone/>
            </a:pPr>
            <a:r>
              <a:rPr sz="2800"/>
              <a:t>On le passe à </a:t>
            </a:r>
            <a:r>
              <a:rPr sz="2800">
                <a:solidFill>
                  <a:schemeClr val="accent4"/>
                </a:solidFill>
                <a:latin typeface="Consolas"/>
              </a:rPr>
              <a:t>sort</a:t>
            </a:r>
            <a:r>
              <a:rPr sz="2800"/>
              <a:t>, ou au constructeur d'un </a:t>
            </a:r>
            <a:r>
              <a:rPr sz="2800">
                <a:solidFill>
                  <a:schemeClr val="accent4"/>
                </a:solidFill>
                <a:latin typeface="Consolas"/>
              </a:rPr>
              <a:t>TreeSet</a:t>
            </a:r>
          </a:p>
        </p:txBody>
      </p:sp>
      <p:sp>
        <p:nvSpPr>
          <p:cNvPr id="4" name="Code"/>
          <p:cNvSpPr txBox="1"/>
          <p:nvPr/>
        </p:nvSpPr>
        <p:spPr>
          <a:xfrm>
            <a:off x="2101850" y="2850000"/>
            <a:ext cx="7988300" cy="300000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class ParLongueur implements Comparator&lt;String&gt; {</a:t>
            </a:r>
          </a:p>
          <a:p>
            <a:pPr>
              <a:lnSpc>
                <a:spcPct val="100000"/>
              </a:lnSpc>
              <a:spcBef>
                <a:spcPts val="0"/>
              </a:spcBef>
              <a:spcAft>
                <a:spcPts val="0"/>
              </a:spcAft>
            </a:pPr>
            <a:r>
              <a:rPr sz="1800">
                <a:solidFill>
                  <a:srgbClr val="BCBEC4"/>
                </a:solidFill>
                <a:latin typeface="Consolas"/>
              </a:rPr>
              <a:t>    @Override</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compare(String a, String b)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Integer.compare(a.length(), b.length());</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titres.sort(</a:t>
            </a:r>
            <a:r>
              <a:rPr sz="1800">
                <a:solidFill>
                  <a:srgbClr val="CF8E6D"/>
                </a:solidFill>
                <a:latin typeface="Consolas"/>
              </a:rPr>
              <a:t>new</a:t>
            </a:r>
            <a:r>
              <a:rPr sz="1800">
                <a:solidFill>
                  <a:srgbClr val="BCBEC4"/>
                </a:solidFill>
                <a:latin typeface="Consolas"/>
              </a:rPr>
              <a:t> ParLongueur());</a:t>
            </a:r>
          </a:p>
          <a:p>
            <a:pPr>
              <a:lnSpc>
                <a:spcPct val="100000"/>
              </a:lnSpc>
              <a:spcBef>
                <a:spcPts val="0"/>
              </a:spcBef>
              <a:spcAft>
                <a:spcPts val="0"/>
              </a:spcAft>
            </a:pPr>
            <a:r>
              <a:rPr sz="1800">
                <a:solidFill>
                  <a:srgbClr val="BCBEC4"/>
                </a:solidFill>
                <a:latin typeface="Consolas"/>
              </a:rPr>
              <a:t>Set&lt;String&gt; rayon = </a:t>
            </a:r>
            <a:r>
              <a:rPr sz="1800">
                <a:solidFill>
                  <a:srgbClr val="CF8E6D"/>
                </a:solidFill>
                <a:latin typeface="Consolas"/>
              </a:rPr>
              <a:t>new</a:t>
            </a:r>
            <a:r>
              <a:rPr sz="1800">
                <a:solidFill>
                  <a:srgbClr val="BCBEC4"/>
                </a:solidFill>
                <a:latin typeface="Consolas"/>
              </a:rPr>
              <a:t> TreeSet&lt;&gt;(</a:t>
            </a:r>
            <a:r>
              <a:rPr sz="1800">
                <a:solidFill>
                  <a:srgbClr val="CF8E6D"/>
                </a:solidFill>
                <a:latin typeface="Consolas"/>
              </a:rPr>
              <a:t>new</a:t>
            </a:r>
            <a:r>
              <a:rPr sz="1800">
                <a:solidFill>
                  <a:srgbClr val="BCBEC4"/>
                </a:solidFill>
                <a:latin typeface="Consolas"/>
              </a:rPr>
              <a:t> ParLongueur());</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6. Comparer et trier</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solidFill>
                  <a:schemeClr val="accent4"/>
                </a:solidFill>
                <a:latin typeface="Consolas"/>
              </a:rPr>
              <a:t>Comparable</a:t>
            </a:r>
            <a:r>
              <a:rPr sz="4000"/>
              <a:t> ou </a:t>
            </a:r>
            <a:r>
              <a:rPr sz="4000">
                <a:solidFill>
                  <a:schemeClr val="accent4"/>
                </a:solidFill>
                <a:latin typeface="Consolas"/>
              </a:rPr>
              <a:t>Comparator</a:t>
            </a:r>
            <a:r>
              <a:rPr sz="4000"/>
              <a:t> ?</a:t>
            </a:r>
          </a:p>
        </p:txBody>
      </p:sp>
      <p:sp>
        <p:nvSpPr>
          <p:cNvPr id="3" name="Content Placeholder 2"/>
          <p:cNvSpPr>
            <a:spLocks noGrp="1"/>
          </p:cNvSpPr>
          <p:nvPr>
            <p:ph idx="1"/>
          </p:nvPr>
        </p:nvSpPr>
        <p:spPr>
          <a:xfrm>
            <a:off x="640080" y="1612669"/>
            <a:ext cx="10881360" cy="1671319"/>
          </a:xfrm>
        </p:spPr>
        <p:txBody>
          <a:bodyPr>
            <a:normAutofit lnSpcReduction="10000"/>
          </a:bodyPr>
          <a:lstStyle/>
          <a:p>
            <a:pPr marL="0" indent="0">
              <a:spcAft>
                <a:spcPts val="1000"/>
              </a:spcAft>
              <a:buNone/>
            </a:pPr>
            <a:r>
              <a:rPr sz="2800" dirty="0">
                <a:solidFill>
                  <a:schemeClr val="accent4"/>
                </a:solidFill>
                <a:latin typeface="Consolas"/>
              </a:rPr>
              <a:t>Comparable</a:t>
            </a:r>
            <a:r>
              <a:rPr sz="2800" dirty="0"/>
              <a:t> : </a:t>
            </a:r>
            <a:r>
              <a:rPr sz="2800" dirty="0" err="1"/>
              <a:t>l'ordre</a:t>
            </a:r>
            <a:r>
              <a:rPr sz="2800" dirty="0"/>
              <a:t> </a:t>
            </a:r>
            <a:r>
              <a:rPr sz="2800" dirty="0" err="1"/>
              <a:t>évident</a:t>
            </a:r>
            <a:r>
              <a:rPr sz="2800" dirty="0"/>
              <a:t>, </a:t>
            </a:r>
            <a:r>
              <a:rPr sz="2800" dirty="0" err="1"/>
              <a:t>toujours</a:t>
            </a:r>
            <a:r>
              <a:rPr sz="2800" dirty="0"/>
              <a:t> le </a:t>
            </a:r>
            <a:r>
              <a:rPr sz="2800" dirty="0" err="1"/>
              <a:t>même</a:t>
            </a:r>
            <a:endParaRPr sz="2800" dirty="0"/>
          </a:p>
          <a:p>
            <a:pPr marL="0" indent="0">
              <a:spcAft>
                <a:spcPts val="1000"/>
              </a:spcAft>
              <a:buNone/>
            </a:pPr>
            <a:r>
              <a:rPr sz="2800" dirty="0">
                <a:solidFill>
                  <a:schemeClr val="accent4"/>
                </a:solidFill>
                <a:latin typeface="Consolas"/>
              </a:rPr>
              <a:t>Comparator</a:t>
            </a:r>
            <a:r>
              <a:rPr sz="2800" dirty="0"/>
              <a:t> : un </a:t>
            </a:r>
            <a:r>
              <a:rPr sz="2800" dirty="0" err="1"/>
              <a:t>autre</a:t>
            </a:r>
            <a:r>
              <a:rPr sz="2800" dirty="0"/>
              <a:t> </a:t>
            </a:r>
            <a:r>
              <a:rPr sz="2800" dirty="0" err="1"/>
              <a:t>ordre</a:t>
            </a:r>
            <a:r>
              <a:rPr sz="2800" dirty="0"/>
              <a:t>, </a:t>
            </a:r>
            <a:r>
              <a:rPr sz="2800" dirty="0" err="1"/>
              <a:t>plusieurs</a:t>
            </a:r>
            <a:r>
              <a:rPr sz="2800" dirty="0"/>
              <a:t> </a:t>
            </a:r>
            <a:r>
              <a:rPr sz="2800" dirty="0" err="1"/>
              <a:t>ordres</a:t>
            </a:r>
            <a:endParaRPr sz="2800" dirty="0"/>
          </a:p>
          <a:p>
            <a:pPr marL="0" indent="0">
              <a:spcAft>
                <a:spcPts val="1000"/>
              </a:spcAft>
              <a:buNone/>
            </a:pPr>
            <a:r>
              <a:rPr sz="2800" dirty="0">
                <a:solidFill>
                  <a:schemeClr val="accent4"/>
                </a:solidFill>
                <a:latin typeface="Consolas"/>
              </a:rPr>
              <a:t>Comparator</a:t>
            </a:r>
            <a:r>
              <a:rPr sz="2800" dirty="0"/>
              <a:t> : </a:t>
            </a:r>
            <a:r>
              <a:rPr sz="2800" dirty="0" err="1"/>
              <a:t>une</a:t>
            </a:r>
            <a:r>
              <a:rPr sz="2800" dirty="0"/>
              <a:t> </a:t>
            </a:r>
            <a:r>
              <a:rPr sz="2800" dirty="0" err="1"/>
              <a:t>classe</a:t>
            </a:r>
            <a:r>
              <a:rPr sz="2800" dirty="0"/>
              <a:t> </a:t>
            </a:r>
            <a:r>
              <a:rPr sz="2800" dirty="0" err="1"/>
              <a:t>qu'on</a:t>
            </a:r>
            <a:r>
              <a:rPr sz="2800" dirty="0"/>
              <a:t> ne </a:t>
            </a:r>
            <a:r>
              <a:rPr sz="2800" dirty="0" err="1"/>
              <a:t>peut</a:t>
            </a:r>
            <a:r>
              <a:rPr sz="2800" dirty="0"/>
              <a:t> pas modifier</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6. Comparer et trier</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24AE9FFC-C0D2-0C4F-DA53-D40A3D2DA948}"/>
              </a:ext>
            </a:extLst>
          </p:cNvPr>
          <p:cNvPicPr>
            <a:picLocks noChangeAspect="1"/>
          </p:cNvPicPr>
          <p:nvPr/>
        </p:nvPicPr>
        <p:blipFill>
          <a:blip r:embed="rId3"/>
          <a:stretch>
            <a:fillRect/>
          </a:stretch>
        </p:blipFill>
        <p:spPr>
          <a:xfrm>
            <a:off x="-3244" y="0"/>
            <a:ext cx="12198488" cy="6858000"/>
          </a:xfrm>
          <a:prstGeom prst="rect">
            <a:avLst/>
          </a:prstGeom>
        </p:spPr>
      </p:pic>
      <p:sp>
        <p:nvSpPr>
          <p:cNvPr id="4" name="ZoneTexte 3">
            <a:extLst>
              <a:ext uri="{FF2B5EF4-FFF2-40B4-BE49-F238E27FC236}">
                <a16:creationId xmlns:a16="http://schemas.microsoft.com/office/drawing/2014/main" id="{88140D2F-722A-02CE-8FDD-BF412DAA2485}"/>
              </a:ext>
            </a:extLst>
          </p:cNvPr>
          <p:cNvSpPr txBox="1"/>
          <p:nvPr/>
        </p:nvSpPr>
        <p:spPr>
          <a:xfrm>
            <a:off x="838200" y="946800"/>
            <a:ext cx="10152284"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7. Des collections emboîtées</a:t>
            </a:r>
            <a:endParaRPr lang="fr-FR" sz="1600" b="1" dirty="0">
              <a:ln w="0"/>
              <a:effectLst>
                <a:outerShdw blurRad="38100" dist="19050" dir="2700000" algn="tl" rotWithShape="0">
                  <a:schemeClr val="dk1">
                    <a:alpha val="40000"/>
                  </a:schemeClr>
                </a:outerShdw>
              </a:effectLst>
              <a:cs typeface="Calibri" panose="020F0502020204030204"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Lire un type emboîté</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Une table dont chaque valeur est une liste</a:t>
            </a:r>
          </a:p>
          <a:p>
            <a:pPr marL="0" indent="0">
              <a:spcAft>
                <a:spcPts val="1000"/>
              </a:spcAft>
              <a:buNone/>
            </a:pPr>
            <a:r>
              <a:rPr sz="2800"/>
              <a:t>Le type se lit de l'extérieur vers l'intérieur</a:t>
            </a:r>
          </a:p>
          <a:p>
            <a:pPr marL="0" indent="0">
              <a:spcAft>
                <a:spcPts val="1000"/>
              </a:spcAft>
              <a:buNone/>
            </a:pPr>
            <a:r>
              <a:rPr sz="2800"/>
              <a:t>La liste d'un auteur n'existe pas avant qu'on la crée</a:t>
            </a:r>
          </a:p>
        </p:txBody>
      </p:sp>
      <p:sp>
        <p:nvSpPr>
          <p:cNvPr id="4" name="Code"/>
          <p:cNvSpPr txBox="1"/>
          <p:nvPr/>
        </p:nvSpPr>
        <p:spPr>
          <a:xfrm>
            <a:off x="1682750" y="3627753"/>
            <a:ext cx="8826500" cy="1097280"/>
          </a:xfrm>
          <a:prstGeom prst="roundRect">
            <a:avLst>
              <a:gd name="adj" fmla="val 8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BCBEC4"/>
                </a:solidFill>
                <a:latin typeface="Consolas"/>
              </a:rPr>
              <a:t>Map&lt;String, List&lt;String&gt;&gt; </a:t>
            </a:r>
            <a:r>
              <a:rPr sz="1800" dirty="0" err="1">
                <a:solidFill>
                  <a:srgbClr val="BCBEC4"/>
                </a:solidFill>
                <a:latin typeface="Consolas"/>
              </a:rPr>
              <a:t>titresParAuteur</a:t>
            </a:r>
            <a:r>
              <a:rPr sz="1800" dirty="0">
                <a:solidFill>
                  <a:srgbClr val="BCBEC4"/>
                </a:solidFill>
                <a:latin typeface="Consolas"/>
              </a:rPr>
              <a:t> = </a:t>
            </a:r>
            <a:r>
              <a:rPr sz="1800" dirty="0">
                <a:solidFill>
                  <a:srgbClr val="CF8E6D"/>
                </a:solidFill>
                <a:latin typeface="Consolas"/>
              </a:rPr>
              <a:t>new</a:t>
            </a:r>
            <a:r>
              <a:rPr sz="1800" dirty="0">
                <a:solidFill>
                  <a:srgbClr val="BCBEC4"/>
                </a:solidFill>
                <a:latin typeface="Consolas"/>
              </a:rPr>
              <a:t> HashMap&lt;&gt;();</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List&lt;String&gt; </a:t>
            </a:r>
            <a:r>
              <a:rPr sz="1800" dirty="0" err="1">
                <a:solidFill>
                  <a:srgbClr val="BCBEC4"/>
                </a:solidFill>
                <a:latin typeface="Consolas"/>
              </a:rPr>
              <a:t>deZola</a:t>
            </a:r>
            <a:r>
              <a:rPr sz="1800" dirty="0">
                <a:solidFill>
                  <a:srgbClr val="BCBEC4"/>
                </a:solidFill>
                <a:latin typeface="Consolas"/>
              </a:rPr>
              <a:t> = </a:t>
            </a:r>
            <a:r>
              <a:rPr sz="1800" dirty="0" err="1">
                <a:solidFill>
                  <a:srgbClr val="BCBEC4"/>
                </a:solidFill>
                <a:latin typeface="Consolas"/>
              </a:rPr>
              <a:t>titresParAuteur.</a:t>
            </a:r>
            <a:r>
              <a:rPr sz="1800" dirty="0" err="1">
                <a:solidFill>
                  <a:srgbClr val="56A8F5"/>
                </a:solidFill>
                <a:latin typeface="Consolas"/>
              </a:rPr>
              <a:t>get</a:t>
            </a:r>
            <a:r>
              <a:rPr sz="1800" dirty="0">
                <a:solidFill>
                  <a:srgbClr val="BCBEC4"/>
                </a:solidFill>
                <a:latin typeface="Consolas"/>
              </a:rPr>
              <a:t>(</a:t>
            </a:r>
            <a:r>
              <a:rPr sz="1800" dirty="0">
                <a:solidFill>
                  <a:srgbClr val="6AAB73"/>
                </a:solidFill>
                <a:latin typeface="Consolas"/>
              </a:rPr>
              <a:t>"Zola"</a:t>
            </a:r>
            <a:r>
              <a:rPr sz="1800" dirty="0">
                <a:solidFill>
                  <a:srgbClr val="BCBEC4"/>
                </a:solidFill>
                <a:latin typeface="Consolas"/>
              </a:rPr>
              <a:t>);    </a:t>
            </a:r>
            <a:r>
              <a:rPr sz="1800" dirty="0">
                <a:solidFill>
                  <a:srgbClr val="7A7E85"/>
                </a:solidFill>
                <a:latin typeface="Consolas"/>
              </a:rPr>
              <a:t>// null</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7. Collections emboîtées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Créer au premier usage</a:t>
            </a:r>
          </a:p>
        </p:txBody>
      </p:sp>
      <p:sp>
        <p:nvSpPr>
          <p:cNvPr id="3" name="Content Placeholder 2"/>
          <p:cNvSpPr>
            <a:spLocks noGrp="1"/>
          </p:cNvSpPr>
          <p:nvPr>
            <p:ph idx="1"/>
          </p:nvPr>
        </p:nvSpPr>
        <p:spPr>
          <a:xfrm>
            <a:off x="640080" y="1371600"/>
            <a:ext cx="10881360" cy="1671319"/>
          </a:xfrm>
        </p:spPr>
        <p:txBody>
          <a:bodyPr/>
          <a:lstStyle/>
          <a:p>
            <a:pPr marL="0" indent="0">
              <a:spcAft>
                <a:spcPts val="1000"/>
              </a:spcAft>
              <a:buNone/>
            </a:pPr>
            <a:r>
              <a:rPr sz="2800"/>
              <a:t>La méthode </a:t>
            </a:r>
            <a:r>
              <a:rPr sz="2400">
                <a:solidFill>
                  <a:schemeClr val="accent4"/>
                </a:solidFill>
                <a:latin typeface="Consolas"/>
              </a:rPr>
              <a:t>computeIfAbsent</a:t>
            </a:r>
            <a:r>
              <a:rPr sz="2800"/>
              <a:t> retourne la valeur d'une clé</a:t>
            </a:r>
          </a:p>
          <a:p>
            <a:pPr marL="0" indent="0">
              <a:spcAft>
                <a:spcPts val="1000"/>
              </a:spcAft>
              <a:buNone/>
            </a:pPr>
            <a:r>
              <a:rPr sz="2800"/>
              <a:t>Si elle manque, une </a:t>
            </a:r>
            <a:r>
              <a:rPr sz="2400">
                <a:solidFill>
                  <a:schemeClr val="accent4"/>
                </a:solidFill>
                <a:latin typeface="Consolas"/>
              </a:rPr>
              <a:t>Function</a:t>
            </a:r>
            <a:r>
              <a:rPr sz="2800"/>
              <a:t> la fabrique d'abord</a:t>
            </a:r>
          </a:p>
        </p:txBody>
      </p:sp>
      <p:sp>
        <p:nvSpPr>
          <p:cNvPr id="4" name="Code"/>
          <p:cNvSpPr txBox="1"/>
          <p:nvPr/>
        </p:nvSpPr>
        <p:spPr>
          <a:xfrm>
            <a:off x="640080" y="3180079"/>
            <a:ext cx="10881360" cy="2992120"/>
          </a:xfrm>
          <a:prstGeom prst="roundRect">
            <a:avLst>
              <a:gd name="adj" fmla="val 305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NouvelleListe </a:t>
            </a:r>
            <a:r>
              <a:rPr sz="1800">
                <a:solidFill>
                  <a:srgbClr val="CF8E6D"/>
                </a:solidFill>
                <a:latin typeface="Consolas"/>
              </a:rPr>
              <a:t>implements</a:t>
            </a:r>
            <a:r>
              <a:rPr sz="1800">
                <a:solidFill>
                  <a:srgbClr val="BCBEC4"/>
                </a:solidFill>
                <a:latin typeface="Consolas"/>
              </a:rPr>
              <a:t> Function&lt;String, List&lt;String&gt;&gt;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B3AE60"/>
                </a:solidFill>
                <a:latin typeface="Consolas"/>
              </a:rPr>
              <a:t>@Override</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List&lt;String&gt; </a:t>
            </a:r>
            <a:r>
              <a:rPr sz="1800">
                <a:solidFill>
                  <a:srgbClr val="56A8F5"/>
                </a:solidFill>
                <a:latin typeface="Consolas"/>
              </a:rPr>
              <a:t>apply</a:t>
            </a:r>
            <a:r>
              <a:rPr sz="1800">
                <a:solidFill>
                  <a:srgbClr val="BCBEC4"/>
                </a:solidFill>
                <a:latin typeface="Consolas"/>
              </a:rPr>
              <a:t>(String auteur)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a:t>
            </a:r>
            <a:r>
              <a:rPr sz="1800">
                <a:solidFill>
                  <a:srgbClr val="CF8E6D"/>
                </a:solidFill>
                <a:latin typeface="Consolas"/>
              </a:rPr>
              <a:t>new</a:t>
            </a:r>
            <a:r>
              <a:rPr sz="1800">
                <a:solidFill>
                  <a:srgbClr val="BCBEC4"/>
                </a:solidFill>
                <a:latin typeface="Consolas"/>
              </a:rPr>
              <a:t> ArrayList&lt;&gt;();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titresParAuteur.</a:t>
            </a:r>
            <a:r>
              <a:rPr sz="1800">
                <a:solidFill>
                  <a:srgbClr val="56A8F5"/>
                </a:solidFill>
                <a:latin typeface="Consolas"/>
              </a:rPr>
              <a:t>computeIfAbsent</a:t>
            </a:r>
            <a:r>
              <a:rPr sz="1800">
                <a:solidFill>
                  <a:srgbClr val="BCBEC4"/>
                </a:solidFill>
                <a:latin typeface="Consolas"/>
              </a:rPr>
              <a:t>(</a:t>
            </a:r>
            <a:r>
              <a:rPr sz="1800">
                <a:solidFill>
                  <a:srgbClr val="6AAB73"/>
                </a:solidFill>
                <a:latin typeface="Consolas"/>
              </a:rPr>
              <a:t>"Zola"</a:t>
            </a:r>
            <a:r>
              <a:rPr sz="1800">
                <a:solidFill>
                  <a:srgbClr val="BCBEC4"/>
                </a:solidFill>
                <a:latin typeface="Consolas"/>
              </a:rPr>
              <a:t>,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NouvelleListe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56A8F5"/>
                </a:solidFill>
                <a:latin typeface="Consolas"/>
              </a:rPr>
              <a:t>add</a:t>
            </a:r>
            <a:r>
              <a:rPr sz="1800">
                <a:solidFill>
                  <a:srgbClr val="BCBEC4"/>
                </a:solidFill>
                <a:latin typeface="Consolas"/>
              </a:rPr>
              <a:t>(</a:t>
            </a:r>
            <a:r>
              <a:rPr sz="1800">
                <a:solidFill>
                  <a:srgbClr val="6AAB73"/>
                </a:solidFill>
                <a:latin typeface="Consolas"/>
              </a:rPr>
              <a:t>"Germinal"</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43</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7. Collections emboîtées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COL.7</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Une table de collections</a:t>
            </a:r>
          </a:p>
          <a:p>
            <a:r>
              <a:rPr sz="1400">
                <a:solidFill>
                  <a:srgbClr val="BCBEC4"/>
                </a:solidFill>
              </a:rPr>
              <a:t>fascicule COL</a:t>
            </a:r>
          </a:p>
        </p:txBody>
      </p:sp>
      <p:sp>
        <p:nvSpPr>
          <p:cNvPr id="6" name="TextBox 5"/>
          <p:cNvSpPr txBox="1"/>
          <p:nvPr/>
        </p:nvSpPr>
        <p:spPr>
          <a:xfrm>
            <a:off x="640080" y="2651760"/>
            <a:ext cx="9326880" cy="822960"/>
          </a:xfrm>
          <a:prstGeom prst="rect">
            <a:avLst/>
          </a:prstGeom>
          <a:noFill/>
        </p:spPr>
        <p:txBody>
          <a:bodyPr wrap="square">
            <a:spAutoFit/>
          </a:bodyPr>
          <a:lstStyle/>
          <a:p>
            <a:r>
              <a:rPr sz="2400"/>
              <a:t>Retourner : </a:t>
            </a:r>
            <a:r>
              <a:rPr sz="2400">
                <a:solidFill>
                  <a:schemeClr val="accent4"/>
                </a:solidFill>
                <a:latin typeface="Consolas"/>
              </a:rPr>
              <a:t>CC-ERR.2</a:t>
            </a:r>
            <a:r>
              <a:rPr sz="2400"/>
              <a:t> et </a:t>
            </a:r>
            <a:r>
              <a:rPr sz="2400">
                <a:solidFill>
                  <a:schemeClr val="accent4"/>
                </a:solidFill>
                <a:latin typeface="Consolas"/>
              </a:rPr>
              <a:t>CC-OBJ.2</a:t>
            </a:r>
          </a:p>
        </p:txBody>
      </p:sp>
      <p:pic>
        <p:nvPicPr>
          <p:cNvPr id="7" name="Picture 6"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44</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7. Collections emboîtées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B9CCC90B-CF8C-AD64-7A62-5BBA2B899B9D}"/>
              </a:ext>
            </a:extLst>
          </p:cNvPr>
          <p:cNvPicPr>
            <a:picLocks noChangeAspect="1"/>
          </p:cNvPicPr>
          <p:nvPr/>
        </p:nvPicPr>
        <p:blipFill>
          <a:blip r:embed="rId3"/>
          <a:stretch>
            <a:fillRect/>
          </a:stretch>
        </p:blipFill>
        <p:spPr>
          <a:xfrm>
            <a:off x="-3244" y="0"/>
            <a:ext cx="12198488" cy="6858000"/>
          </a:xfrm>
          <a:prstGeom prst="rect">
            <a:avLst/>
          </a:prstGeom>
        </p:spPr>
      </p:pic>
      <p:sp>
        <p:nvSpPr>
          <p:cNvPr id="4" name="ZoneTexte 3">
            <a:extLst>
              <a:ext uri="{FF2B5EF4-FFF2-40B4-BE49-F238E27FC236}">
                <a16:creationId xmlns:a16="http://schemas.microsoft.com/office/drawing/2014/main" id="{88140D2F-722A-02CE-8FDD-BF412DAA2485}"/>
              </a:ext>
            </a:extLst>
          </p:cNvPr>
          <p:cNvSpPr txBox="1"/>
          <p:nvPr/>
        </p:nvSpPr>
        <p:spPr>
          <a:xfrm>
            <a:off x="838200" y="946800"/>
            <a:ext cx="8090338"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8. Une file, deux bouts</a:t>
            </a:r>
            <a:endParaRPr lang="fr-FR" sz="1600" b="1" dirty="0">
              <a:ln w="0"/>
              <a:effectLst>
                <a:outerShdw blurRad="38100" dist="19050" dir="2700000" algn="tl" rotWithShape="0">
                  <a:schemeClr val="dk1">
                    <a:alpha val="40000"/>
                  </a:schemeClr>
                </a:outerShdw>
              </a:effectLst>
              <a:cs typeface="Calibri" panose="020F050202020403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file à deux bouts</a:t>
            </a:r>
          </a:p>
        </p:txBody>
      </p:sp>
      <p:sp>
        <p:nvSpPr>
          <p:cNvPr id="3" name="Content Placeholder 2"/>
          <p:cNvSpPr>
            <a:spLocks noGrp="1"/>
          </p:cNvSpPr>
          <p:nvPr>
            <p:ph idx="1"/>
          </p:nvPr>
        </p:nvSpPr>
        <p:spPr>
          <a:xfrm>
            <a:off x="640080" y="1371600"/>
            <a:ext cx="5600000" cy="1671319"/>
          </a:xfrm>
        </p:spPr>
        <p:txBody>
          <a:bodyPr>
            <a:normAutofit fontScale="92500"/>
          </a:bodyPr>
          <a:lstStyle/>
          <a:p>
            <a:pPr marL="0" indent="0">
              <a:spcAft>
                <a:spcPts val="1000"/>
              </a:spcAft>
              <a:buNone/>
            </a:pPr>
            <a:r>
              <a:rPr sz="2800"/>
              <a:t>On n'y touche que par les extrémités</a:t>
            </a:r>
          </a:p>
          <a:p>
            <a:pPr marL="0" indent="0">
              <a:spcAft>
                <a:spcPts val="1000"/>
              </a:spcAft>
              <a:buNone/>
            </a:pPr>
            <a:r>
              <a:rPr sz="2800"/>
              <a:t>Ajouter ou retirer au début, ou à la fin</a:t>
            </a:r>
          </a:p>
          <a:p>
            <a:pPr marL="0" indent="0">
              <a:spcAft>
                <a:spcPts val="1000"/>
              </a:spcAft>
              <a:buNone/>
            </a:pPr>
            <a:r>
              <a:rPr sz="2800"/>
              <a:t>Une file d'attente, une pioche de cartes</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8. Les files à deux bouts</a:t>
            </a:r>
          </a:p>
        </p:txBody>
      </p:sp>
      <p:sp>
        <p:nvSpPr>
          <p:cNvPr id="7" name="Rounded Rectangle 6"/>
          <p:cNvSpPr/>
          <p:nvPr/>
        </p:nvSpPr>
        <p:spPr>
          <a:xfrm>
            <a:off x="7200000" y="3665019"/>
            <a:ext cx="3300000" cy="900000"/>
          </a:xfrm>
          <a:prstGeom prst="roundRect">
            <a:avLst/>
          </a:prstGeom>
          <a:solidFill>
            <a:srgbClr val="F0883A"/>
          </a:solidFill>
          <a:ln w="31750">
            <a:solidFill>
              <a:srgbClr val="F5C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7420000" y="3885019"/>
            <a:ext cx="460000" cy="460000"/>
          </a:xfrm>
          <a:prstGeom prst="ellipse">
            <a:avLst/>
          </a:prstGeom>
          <a:solidFill>
            <a:srgbClr val="F5C242"/>
          </a:solidFill>
          <a:ln w="19050">
            <a:solidFill>
              <a:srgbClr val="F5C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220000" y="3885019"/>
            <a:ext cx="460000" cy="460000"/>
          </a:xfrm>
          <a:prstGeom prst="ellipse">
            <a:avLst/>
          </a:prstGeom>
          <a:solidFill>
            <a:srgbClr val="B0D29B"/>
          </a:solidFill>
          <a:ln w="19050">
            <a:solidFill>
              <a:srgbClr val="F5C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9020000" y="3885019"/>
            <a:ext cx="460000" cy="460000"/>
          </a:xfrm>
          <a:prstGeom prst="ellipse">
            <a:avLst/>
          </a:prstGeom>
          <a:solidFill>
            <a:srgbClr val="A9C4E2"/>
          </a:solidFill>
          <a:ln w="19050">
            <a:solidFill>
              <a:srgbClr val="F5C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9820000" y="3885019"/>
            <a:ext cx="460000" cy="460000"/>
          </a:xfrm>
          <a:prstGeom prst="ellipse">
            <a:avLst/>
          </a:prstGeom>
          <a:solidFill>
            <a:srgbClr val="F5C242"/>
          </a:solidFill>
          <a:ln w="19050">
            <a:solidFill>
              <a:srgbClr val="F5C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420000" y="3885019"/>
            <a:ext cx="460000" cy="460000"/>
          </a:xfrm>
          <a:prstGeom prst="ellipse">
            <a:avLst/>
          </a:prstGeom>
          <a:solidFill>
            <a:srgbClr val="C8C8C8"/>
          </a:solidFill>
          <a:ln w="19050">
            <a:solidFill>
              <a:srgbClr val="F5C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0820000" y="3885019"/>
            <a:ext cx="460000" cy="460000"/>
          </a:xfrm>
          <a:prstGeom prst="ellipse">
            <a:avLst/>
          </a:prstGeom>
          <a:solidFill>
            <a:srgbClr val="E9B48C"/>
          </a:solidFill>
          <a:ln w="19050">
            <a:solidFill>
              <a:srgbClr val="F5C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ight Arrow 13"/>
          <p:cNvSpPr/>
          <p:nvPr/>
        </p:nvSpPr>
        <p:spPr>
          <a:xfrm>
            <a:off x="6900000" y="3985019"/>
            <a:ext cx="270000" cy="260000"/>
          </a:xfrm>
          <a:prstGeom prst="rightArrow">
            <a:avLst/>
          </a:prstGeom>
          <a:solidFill>
            <a:srgbClr val="F5C242"/>
          </a:solidFill>
          <a:ln w="12700">
            <a:solidFill>
              <a:srgbClr val="2B4F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Left Arrow 14"/>
          <p:cNvSpPr/>
          <p:nvPr/>
        </p:nvSpPr>
        <p:spPr>
          <a:xfrm>
            <a:off x="10530000" y="3985019"/>
            <a:ext cx="270000" cy="260000"/>
          </a:xfrm>
          <a:prstGeom prst="leftArrow">
            <a:avLst/>
          </a:prstGeom>
          <a:solidFill>
            <a:srgbClr val="F5C242"/>
          </a:solidFill>
          <a:ln w="12700">
            <a:solidFill>
              <a:srgbClr val="2B4F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Ajouter aux deux bouts</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On ajoute et on retire aux deux extrémités, jamais au milieu</a:t>
            </a:r>
          </a:p>
          <a:p>
            <a:pPr marL="0" indent="0">
              <a:spcAft>
                <a:spcPts val="1000"/>
              </a:spcAft>
              <a:buNone/>
            </a:pPr>
            <a:r>
              <a:rPr sz="2800"/>
              <a:t>L'interface </a:t>
            </a:r>
            <a:r>
              <a:rPr sz="2400">
                <a:solidFill>
                  <a:schemeClr val="accent4"/>
                </a:solidFill>
                <a:latin typeface="Consolas"/>
              </a:rPr>
              <a:t>Deque</a:t>
            </a:r>
            <a:r>
              <a:rPr sz="2800"/>
              <a:t>, et sa classe </a:t>
            </a:r>
            <a:r>
              <a:rPr sz="2400">
                <a:solidFill>
                  <a:schemeClr val="accent4"/>
                </a:solidFill>
                <a:latin typeface="Consolas"/>
              </a:rPr>
              <a:t>ArrayDeque</a:t>
            </a:r>
          </a:p>
          <a:p>
            <a:pPr marL="0" indent="0">
              <a:spcAft>
                <a:spcPts val="1000"/>
              </a:spcAft>
              <a:buNone/>
            </a:pPr>
            <a:r>
              <a:rPr sz="2800"/>
              <a:t>Une file d'attente, une pioche de cartes</a:t>
            </a:r>
          </a:p>
        </p:txBody>
      </p:sp>
      <p:sp>
        <p:nvSpPr>
          <p:cNvPr id="4" name="Code"/>
          <p:cNvSpPr txBox="1"/>
          <p:nvPr/>
        </p:nvSpPr>
        <p:spPr>
          <a:xfrm>
            <a:off x="2171700" y="3733799"/>
            <a:ext cx="784860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Deque&lt;String&gt; attente = </a:t>
            </a:r>
            <a:r>
              <a:rPr sz="1800">
                <a:solidFill>
                  <a:srgbClr val="CF8E6D"/>
                </a:solidFill>
                <a:latin typeface="Consolas"/>
              </a:rPr>
              <a:t>new</a:t>
            </a:r>
            <a:r>
              <a:rPr sz="1800">
                <a:solidFill>
                  <a:srgbClr val="BCBEC4"/>
                </a:solidFill>
                <a:latin typeface="Consolas"/>
              </a:rPr>
              <a:t> ArrayDeque&lt;&gt;();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attente.</a:t>
            </a:r>
            <a:r>
              <a:rPr sz="1800">
                <a:solidFill>
                  <a:srgbClr val="56A8F5"/>
                </a:solidFill>
                <a:latin typeface="Consolas"/>
              </a:rPr>
              <a:t>addLast</a:t>
            </a:r>
            <a:r>
              <a:rPr sz="1800">
                <a:solidFill>
                  <a:srgbClr val="BCBEC4"/>
                </a:solidFill>
                <a:latin typeface="Consolas"/>
              </a:rPr>
              <a:t>(</a:t>
            </a:r>
            <a:r>
              <a:rPr sz="1800">
                <a:solidFill>
                  <a:srgbClr val="6AAB73"/>
                </a:solidFill>
                <a:latin typeface="Consolas"/>
              </a:rPr>
              <a:t>"Zola"</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attente.</a:t>
            </a:r>
            <a:r>
              <a:rPr sz="1800">
                <a:solidFill>
                  <a:srgbClr val="56A8F5"/>
                </a:solidFill>
                <a:latin typeface="Consolas"/>
              </a:rPr>
              <a:t>addLast</a:t>
            </a:r>
            <a:r>
              <a:rPr sz="1800">
                <a:solidFill>
                  <a:srgbClr val="BCBEC4"/>
                </a:solidFill>
                <a:latin typeface="Consolas"/>
              </a:rPr>
              <a:t>(</a:t>
            </a:r>
            <a:r>
              <a:rPr sz="1800">
                <a:solidFill>
                  <a:srgbClr val="6AAB73"/>
                </a:solidFill>
                <a:latin typeface="Consolas"/>
              </a:rPr>
              <a:t>"Hugo"</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attente.</a:t>
            </a:r>
            <a:r>
              <a:rPr sz="1800">
                <a:solidFill>
                  <a:srgbClr val="56A8F5"/>
                </a:solidFill>
                <a:latin typeface="Consolas"/>
              </a:rPr>
              <a:t>addFirst</a:t>
            </a:r>
            <a:r>
              <a:rPr sz="1800">
                <a:solidFill>
                  <a:srgbClr val="BCBEC4"/>
                </a:solidFill>
                <a:latin typeface="Consolas"/>
              </a:rPr>
              <a:t>(</a:t>
            </a:r>
            <a:r>
              <a:rPr sz="1800">
                <a:solidFill>
                  <a:srgbClr val="6AAB73"/>
                </a:solidFill>
                <a:latin typeface="Consolas"/>
              </a:rPr>
              <a:t>"Sand"</a:t>
            </a:r>
            <a:r>
              <a:rPr sz="1800">
                <a:solidFill>
                  <a:srgbClr val="BCBEC4"/>
                </a:solidFill>
                <a:latin typeface="Consolas"/>
              </a:rPr>
              <a:t>);        </a:t>
            </a:r>
            <a:r>
              <a:rPr sz="1800">
                <a:solidFill>
                  <a:srgbClr val="7A7E85"/>
                </a:solidFill>
                <a:latin typeface="Consolas"/>
              </a:rPr>
              <a:t>// passe devant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System.out.</a:t>
            </a:r>
            <a:r>
              <a:rPr sz="1800">
                <a:solidFill>
                  <a:srgbClr val="56A8F5"/>
                </a:solidFill>
                <a:latin typeface="Consolas"/>
              </a:rPr>
              <a:t>println</a:t>
            </a:r>
            <a:r>
              <a:rPr sz="1800">
                <a:solidFill>
                  <a:srgbClr val="BCBEC4"/>
                </a:solidFill>
                <a:latin typeface="Consolas"/>
              </a:rPr>
              <a:t>(attente);     </a:t>
            </a:r>
            <a:r>
              <a:rPr sz="1800">
                <a:solidFill>
                  <a:srgbClr val="7A7E85"/>
                </a:solidFill>
                <a:latin typeface="Consolas"/>
              </a:rPr>
              <a:t>// [Sand, Zola, Hugo]</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8. Les files à deux bouts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Prendre et remettre</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La méthode </a:t>
            </a:r>
            <a:r>
              <a:rPr sz="2400">
                <a:solidFill>
                  <a:schemeClr val="accent4"/>
                </a:solidFill>
                <a:latin typeface="Consolas"/>
              </a:rPr>
              <a:t>pollFirst</a:t>
            </a:r>
            <a:r>
              <a:rPr sz="2800"/>
              <a:t> retire et retourne le premier élément</a:t>
            </a:r>
          </a:p>
          <a:p>
            <a:pPr marL="0" indent="0">
              <a:spcAft>
                <a:spcPts val="1000"/>
              </a:spcAft>
              <a:buNone/>
            </a:pPr>
            <a:r>
              <a:rPr sz="2800"/>
              <a:t>La méthode </a:t>
            </a:r>
            <a:r>
              <a:rPr sz="2400">
                <a:solidFill>
                  <a:schemeClr val="accent4"/>
                </a:solidFill>
                <a:latin typeface="Consolas"/>
              </a:rPr>
              <a:t>peekFirst</a:t>
            </a:r>
            <a:r>
              <a:rPr sz="2800"/>
              <a:t> le retourne sans le retirer</a:t>
            </a:r>
          </a:p>
          <a:p>
            <a:pPr marL="0" indent="0">
              <a:spcAft>
                <a:spcPts val="1000"/>
              </a:spcAft>
              <a:buNone/>
            </a:pPr>
            <a:r>
              <a:rPr sz="2800"/>
              <a:t>Sur une file vide, les deux retournent </a:t>
            </a:r>
            <a:r>
              <a:rPr sz="2400">
                <a:solidFill>
                  <a:schemeClr val="accent4"/>
                </a:solidFill>
                <a:latin typeface="Consolas"/>
              </a:rPr>
              <a:t>null</a:t>
            </a:r>
          </a:p>
        </p:txBody>
      </p:sp>
      <p:sp>
        <p:nvSpPr>
          <p:cNvPr id="4" name="Code"/>
          <p:cNvSpPr txBox="1"/>
          <p:nvPr/>
        </p:nvSpPr>
        <p:spPr>
          <a:xfrm>
            <a:off x="1962150" y="3733799"/>
            <a:ext cx="82677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String suivant = attente.</a:t>
            </a:r>
            <a:r>
              <a:rPr sz="1800">
                <a:solidFill>
                  <a:srgbClr val="56A8F5"/>
                </a:solidFill>
                <a:latin typeface="Consolas"/>
              </a:rPr>
              <a:t>pollFirst</a:t>
            </a:r>
            <a:r>
              <a:rPr sz="1800">
                <a:solidFill>
                  <a:srgbClr val="BCBEC4"/>
                </a:solidFill>
                <a:latin typeface="Consolas"/>
              </a:rPr>
              <a:t>();   </a:t>
            </a:r>
            <a:r>
              <a:rPr sz="1800">
                <a:solidFill>
                  <a:srgbClr val="7A7E85"/>
                </a:solidFill>
                <a:latin typeface="Consolas"/>
              </a:rPr>
              <a:t>// "Sand", retire</a:t>
            </a:r>
          </a:p>
          <a:p>
            <a:pPr>
              <a:lnSpc>
                <a:spcPct val="100000"/>
              </a:lnSpc>
              <a:spcBef>
                <a:spcPts val="0"/>
              </a:spcBef>
              <a:spcAft>
                <a:spcPts val="0"/>
              </a:spcAft>
            </a:pPr>
            <a:r>
              <a:rPr sz="1800">
                <a:solidFill>
                  <a:srgbClr val="BCBEC4"/>
                </a:solidFill>
                <a:latin typeface="Consolas"/>
              </a:rPr>
              <a:t>String ensuite = attente.</a:t>
            </a:r>
            <a:r>
              <a:rPr sz="1800">
                <a:solidFill>
                  <a:srgbClr val="56A8F5"/>
                </a:solidFill>
                <a:latin typeface="Consolas"/>
              </a:rPr>
              <a:t>peekFirst</a:t>
            </a:r>
            <a:r>
              <a:rPr sz="1800">
                <a:solidFill>
                  <a:srgbClr val="BCBEC4"/>
                </a:solidFill>
                <a:latin typeface="Consolas"/>
              </a:rPr>
              <a:t>();   </a:t>
            </a:r>
            <a:r>
              <a:rPr sz="1800">
                <a:solidFill>
                  <a:srgbClr val="7A7E85"/>
                </a:solidFill>
                <a:latin typeface="Consolas"/>
              </a:rPr>
              <a:t>// "Zola", reste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while</a:t>
            </a:r>
            <a:r>
              <a:rPr sz="1800">
                <a:solidFill>
                  <a:srgbClr val="BCBEC4"/>
                </a:solidFill>
                <a:latin typeface="Consolas"/>
              </a:rPr>
              <a:t> (!attente.</a:t>
            </a:r>
            <a:r>
              <a:rPr sz="1800">
                <a:solidFill>
                  <a:srgbClr val="56A8F5"/>
                </a:solidFill>
                <a:latin typeface="Consolas"/>
              </a:rPr>
              <a:t>isEmpty</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System.out.</a:t>
            </a:r>
            <a:r>
              <a:rPr sz="1800">
                <a:solidFill>
                  <a:srgbClr val="56A8F5"/>
                </a:solidFill>
                <a:latin typeface="Consolas"/>
              </a:rPr>
              <a:t>println</a:t>
            </a:r>
            <a:r>
              <a:rPr sz="1800">
                <a:solidFill>
                  <a:srgbClr val="BCBEC4"/>
                </a:solidFill>
                <a:latin typeface="Consolas"/>
              </a:rPr>
              <a:t>(attente.</a:t>
            </a:r>
            <a:r>
              <a:rPr sz="1800">
                <a:solidFill>
                  <a:srgbClr val="56A8F5"/>
                </a:solidFill>
                <a:latin typeface="Consolas"/>
              </a:rPr>
              <a:t>pollFirst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48</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8. Les files à deux bouts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fil rouge</a:t>
            </a:r>
          </a:p>
        </p:txBody>
      </p:sp>
      <p:sp>
        <p:nvSpPr>
          <p:cNvPr id="12" name="TextBox 11"/>
          <p:cNvSpPr txBox="1"/>
          <p:nvPr/>
        </p:nvSpPr>
        <p:spPr>
          <a:xfrm>
            <a:off x="640080" y="4937759"/>
            <a:ext cx="9326880" cy="822960"/>
          </a:xfrm>
          <a:prstGeom prst="rect">
            <a:avLst/>
          </a:prstGeom>
          <a:noFill/>
        </p:spPr>
        <p:txBody>
          <a:bodyPr wrap="square">
            <a:spAutoFit/>
          </a:bodyPr>
          <a:lstStyle/>
          <a:p>
            <a:r>
              <a:rPr sz="1800"/>
              <a:t>Le </a:t>
            </a:r>
            <a:r>
              <a:rPr sz="1500">
                <a:solidFill>
                  <a:schemeClr val="accent4"/>
                </a:solidFill>
                <a:latin typeface="Consolas"/>
              </a:rPr>
              <a:t>Deck</a:t>
            </a:r>
            <a:r>
              <a:rPr sz="1800"/>
              <a:t> d'</a:t>
            </a:r>
            <a:r>
              <a:rPr sz="1500">
                <a:solidFill>
                  <a:schemeClr val="accent4"/>
                </a:solidFill>
                <a:latin typeface="Consolas"/>
              </a:rPr>
              <a:t>ENU.3</a:t>
            </a:r>
            <a:r>
              <a:rPr sz="1800"/>
              <a:t> quitte son tableau pour une liste</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49</a:t>
            </a:fld>
            <a:endParaRPr lang="fr-FR"/>
          </a:p>
        </p:txBody>
      </p:sp>
      <p:sp>
        <p:nvSpPr>
          <p:cNvPr id="1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8. Les files à deux bouts</a:t>
            </a:r>
          </a:p>
        </p:txBody>
      </p:sp>
      <p:pic>
        <p:nvPicPr>
          <p:cNvPr id="15" name="iconGameHub" descr="gamehub.jp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rot="420000">
            <a:off x="10479024" y="521207"/>
            <a:ext cx="1216152" cy="1216152"/>
          </a:xfrm>
          <a:prstGeom prst="rect">
            <a:avLst/>
          </a:prstGeom>
        </p:spPr>
      </p:pic>
      <p:grpSp>
        <p:nvGrpSpPr>
          <p:cNvPr id="18" name="Exercice 1"/>
          <p:cNvGrpSpPr/>
          <p:nvPr/>
        </p:nvGrpSpPr>
        <p:grpSpPr>
          <a:xfrm>
            <a:off x="640080" y="1417320"/>
            <a:ext cx="9326880" cy="960120"/>
            <a:chOff x="640080" y="1417320"/>
            <a:chExt cx="9326880" cy="960120"/>
          </a:xfrm>
        </p:grpSpPr>
        <p:sp>
          <p:nvSpPr>
            <p:cNvPr id="1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G.21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200">
                  <a:solidFill>
                    <a:srgbClr val="FFFFFF"/>
                  </a:solidFill>
                </a:rPr>
                <a:t>Le deck en </a:t>
              </a:r>
              <a:r>
                <a:rPr sz="1900">
                  <a:solidFill>
                    <a:srgbClr val="FFFFFF"/>
                  </a:solidFill>
                  <a:latin typeface="Consolas"/>
                </a:rPr>
                <a:t>List</a:t>
              </a:r>
            </a:p>
            <a:p>
              <a:r>
                <a:rPr sz="1400">
                  <a:solidFill>
                    <a:srgbClr val="BCBEC4"/>
                  </a:solidFill>
                </a:rPr>
                <a:t>fil rouge GameHub</a:t>
              </a:r>
            </a:p>
          </p:txBody>
        </p:sp>
      </p:grpSp>
      <p:grpSp>
        <p:nvGrpSpPr>
          <p:cNvPr id="19" name="Exercice 2"/>
          <p:cNvGrpSpPr/>
          <p:nvPr/>
        </p:nvGrpSpPr>
        <p:grpSpPr>
          <a:xfrm>
            <a:off x="640080" y="2560320"/>
            <a:ext cx="9326880" cy="960120"/>
            <a:chOff x="640080" y="2560320"/>
            <a:chExt cx="9326880" cy="960120"/>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560320"/>
              <a:ext cx="1920240" cy="960120"/>
            </a:xfrm>
            <a:prstGeom prst="rect">
              <a:avLst/>
            </a:prstGeom>
            <a:noFill/>
          </p:spPr>
          <p:txBody>
            <a:bodyPr wrap="none" anchor="ctr">
              <a:spAutoFit/>
            </a:bodyPr>
            <a:lstStyle/>
            <a:p>
              <a:r>
                <a:rPr sz="3000" b="1">
                  <a:solidFill>
                    <a:schemeClr val="accent4"/>
                  </a:solidFill>
                  <a:latin typeface="Consolas"/>
                </a:rPr>
                <a:t>G.22</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200">
                  <a:solidFill>
                    <a:srgbClr val="FFFFFF"/>
                  </a:solidFill>
                </a:rPr>
                <a:t>La carte et sa valeur</a:t>
              </a:r>
            </a:p>
            <a:p>
              <a:r>
                <a:rPr sz="1400">
                  <a:solidFill>
                    <a:srgbClr val="BCBEC4"/>
                  </a:solidFill>
                </a:rPr>
                <a:t>fil rouge GameHub</a:t>
              </a:r>
            </a:p>
          </p:txBody>
        </p:sp>
      </p:grpSp>
      <p:grpSp>
        <p:nvGrpSpPr>
          <p:cNvPr id="20" name="Exercice 3"/>
          <p:cNvGrpSpPr/>
          <p:nvPr/>
        </p:nvGrpSpPr>
        <p:grpSpPr>
          <a:xfrm>
            <a:off x="640080" y="3703320"/>
            <a:ext cx="9326880" cy="960120"/>
            <a:chOff x="640080" y="3703320"/>
            <a:chExt cx="9326880" cy="960120"/>
          </a:xfrm>
        </p:grpSpPr>
        <p:sp>
          <p:nvSpPr>
            <p:cNvPr id="9" name="Rounded Rectangle 8"/>
            <p:cNvSpPr/>
            <p:nvPr/>
          </p:nvSpPr>
          <p:spPr>
            <a:xfrm>
              <a:off x="640080" y="3703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3703320"/>
              <a:ext cx="1920240" cy="960120"/>
            </a:xfrm>
            <a:prstGeom prst="rect">
              <a:avLst/>
            </a:prstGeom>
            <a:noFill/>
          </p:spPr>
          <p:txBody>
            <a:bodyPr wrap="none" anchor="ctr">
              <a:spAutoFit/>
            </a:bodyPr>
            <a:lstStyle/>
            <a:p>
              <a:r>
                <a:rPr sz="3000" b="1">
                  <a:solidFill>
                    <a:schemeClr val="accent4"/>
                  </a:solidFill>
                  <a:latin typeface="Consolas"/>
                </a:rPr>
                <a:t>G.23</a:t>
              </a:r>
            </a:p>
          </p:txBody>
        </p:sp>
        <p:sp>
          <p:nvSpPr>
            <p:cNvPr id="11" name="TextBox 10"/>
            <p:cNvSpPr txBox="1"/>
            <p:nvPr/>
          </p:nvSpPr>
          <p:spPr>
            <a:xfrm>
              <a:off x="2880360" y="3703320"/>
              <a:ext cx="6949440" cy="960120"/>
            </a:xfrm>
            <a:prstGeom prst="rect">
              <a:avLst/>
            </a:prstGeom>
            <a:noFill/>
          </p:spPr>
          <p:txBody>
            <a:bodyPr wrap="square" anchor="ctr">
              <a:spAutoFit/>
            </a:bodyPr>
            <a:lstStyle/>
            <a:p>
              <a:r>
                <a:rPr sz="2200">
                  <a:solidFill>
                    <a:srgbClr val="FFFFFF"/>
                  </a:solidFill>
                </a:rPr>
                <a:t>La version simplifiée</a:t>
              </a:r>
            </a:p>
            <a:p>
              <a:r>
                <a:rPr sz="1400">
                  <a:solidFill>
                    <a:srgbClr val="BCBEC4"/>
                  </a:solidFill>
                </a:rPr>
                <a:t>fil rouge GameHub</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left)">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left)">
                                      <p:cBhvr>
                                        <p:cTn id="1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fil rouge, suite</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50</a:t>
            </a:fld>
            <a:endParaRPr lang="fr-FR"/>
          </a:p>
        </p:txBody>
      </p:sp>
      <p:sp>
        <p:nvSpPr>
          <p:cNvPr id="1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8. Les files à deux bouts</a:t>
            </a:r>
          </a:p>
        </p:txBody>
      </p:sp>
      <p:pic>
        <p:nvPicPr>
          <p:cNvPr id="17" name="iconGameHub" descr="gamehub.jp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rot="420000">
            <a:off x="10479024" y="521207"/>
            <a:ext cx="1216152" cy="1216152"/>
          </a:xfrm>
          <a:prstGeom prst="rect">
            <a:avLst/>
          </a:prstGeom>
        </p:spPr>
      </p:pic>
      <p:grpSp>
        <p:nvGrpSpPr>
          <p:cNvPr id="23" name="Exercice 1"/>
          <p:cNvGrpSpPr/>
          <p:nvPr/>
        </p:nvGrpSpPr>
        <p:grpSpPr>
          <a:xfrm>
            <a:off x="640080" y="1417320"/>
            <a:ext cx="9326880" cy="960120"/>
            <a:chOff x="640080" y="1417320"/>
            <a:chExt cx="9326880" cy="960120"/>
          </a:xfrm>
        </p:grpSpPr>
        <p:sp>
          <p:nvSpPr>
            <p:cNvPr id="15"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G.24</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200">
                  <a:solidFill>
                    <a:srgbClr val="FFFFFF"/>
                  </a:solidFill>
                </a:rPr>
                <a:t>La méthode jouer, mise en place</a:t>
              </a:r>
            </a:p>
            <a:p>
              <a:r>
                <a:rPr sz="1400">
                  <a:solidFill>
                    <a:srgbClr val="BCBEC4"/>
                  </a:solidFill>
                </a:rPr>
                <a:t>fil rouge GameHub</a:t>
              </a:r>
            </a:p>
          </p:txBody>
        </p:sp>
      </p:grpSp>
      <p:grpSp>
        <p:nvGrpSpPr>
          <p:cNvPr id="24" name="Exercice 2"/>
          <p:cNvGrpSpPr/>
          <p:nvPr/>
        </p:nvGrpSpPr>
        <p:grpSpPr>
          <a:xfrm>
            <a:off x="640080" y="2560320"/>
            <a:ext cx="9326880" cy="960120"/>
            <a:chOff x="640080" y="2560320"/>
            <a:chExt cx="9326880" cy="960120"/>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560320"/>
              <a:ext cx="1920240" cy="960120"/>
            </a:xfrm>
            <a:prstGeom prst="rect">
              <a:avLst/>
            </a:prstGeom>
            <a:noFill/>
          </p:spPr>
          <p:txBody>
            <a:bodyPr wrap="none" anchor="ctr">
              <a:spAutoFit/>
            </a:bodyPr>
            <a:lstStyle/>
            <a:p>
              <a:r>
                <a:rPr sz="3000" b="1">
                  <a:solidFill>
                    <a:schemeClr val="accent4"/>
                  </a:solidFill>
                  <a:latin typeface="Consolas"/>
                </a:rPr>
                <a:t>G.25</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200">
                  <a:solidFill>
                    <a:srgbClr val="FFFFFF"/>
                  </a:solidFill>
                </a:rPr>
                <a:t>La méthode jouer, la boucle</a:t>
              </a:r>
            </a:p>
            <a:p>
              <a:r>
                <a:rPr sz="1400">
                  <a:solidFill>
                    <a:srgbClr val="BCBEC4"/>
                  </a:solidFill>
                </a:rPr>
                <a:t>fil rouge GameHub</a:t>
              </a:r>
            </a:p>
          </p:txBody>
        </p:sp>
      </p:grpSp>
      <p:grpSp>
        <p:nvGrpSpPr>
          <p:cNvPr id="25" name="Exercice 3"/>
          <p:cNvGrpSpPr/>
          <p:nvPr/>
        </p:nvGrpSpPr>
        <p:grpSpPr>
          <a:xfrm>
            <a:off x="640080" y="3703320"/>
            <a:ext cx="9326880" cy="960120"/>
            <a:chOff x="640080" y="3703320"/>
            <a:chExt cx="9326880" cy="960120"/>
          </a:xfrm>
        </p:grpSpPr>
        <p:sp>
          <p:nvSpPr>
            <p:cNvPr id="9" name="Rounded Rectangle 8"/>
            <p:cNvSpPr/>
            <p:nvPr/>
          </p:nvSpPr>
          <p:spPr>
            <a:xfrm>
              <a:off x="640080" y="3703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3703320"/>
              <a:ext cx="1920240" cy="960120"/>
            </a:xfrm>
            <a:prstGeom prst="rect">
              <a:avLst/>
            </a:prstGeom>
            <a:noFill/>
          </p:spPr>
          <p:txBody>
            <a:bodyPr wrap="none" anchor="ctr">
              <a:spAutoFit/>
            </a:bodyPr>
            <a:lstStyle/>
            <a:p>
              <a:r>
                <a:rPr sz="3000" b="1">
                  <a:solidFill>
                    <a:schemeClr val="accent4"/>
                  </a:solidFill>
                  <a:latin typeface="Consolas"/>
                </a:rPr>
                <a:t>G.26</a:t>
              </a:r>
            </a:p>
          </p:txBody>
        </p:sp>
        <p:sp>
          <p:nvSpPr>
            <p:cNvPr id="11" name="TextBox 10"/>
            <p:cNvSpPr txBox="1"/>
            <p:nvPr/>
          </p:nvSpPr>
          <p:spPr>
            <a:xfrm>
              <a:off x="2880360" y="3703320"/>
              <a:ext cx="6949440" cy="960120"/>
            </a:xfrm>
            <a:prstGeom prst="rect">
              <a:avLst/>
            </a:prstGeom>
            <a:noFill/>
          </p:spPr>
          <p:txBody>
            <a:bodyPr wrap="square" anchor="ctr">
              <a:spAutoFit/>
            </a:bodyPr>
            <a:lstStyle/>
            <a:p>
              <a:r>
                <a:rPr sz="2200">
                  <a:solidFill>
                    <a:srgbClr val="FFFFFF"/>
                  </a:solidFill>
                </a:rPr>
                <a:t>La méthode jouer, le résultat</a:t>
              </a:r>
            </a:p>
            <a:p>
              <a:r>
                <a:rPr sz="1400">
                  <a:solidFill>
                    <a:srgbClr val="BCBEC4"/>
                  </a:solidFill>
                </a:rPr>
                <a:t>fil rouge GameHub</a:t>
              </a:r>
            </a:p>
          </p:txBody>
        </p:sp>
      </p:grpSp>
      <p:grpSp>
        <p:nvGrpSpPr>
          <p:cNvPr id="26" name="Exercice 4"/>
          <p:cNvGrpSpPr/>
          <p:nvPr/>
        </p:nvGrpSpPr>
        <p:grpSpPr>
          <a:xfrm>
            <a:off x="640080" y="4846320"/>
            <a:ext cx="9326880" cy="960120"/>
            <a:chOff x="640080" y="4846320"/>
            <a:chExt cx="9326880" cy="960120"/>
          </a:xfrm>
        </p:grpSpPr>
        <p:sp>
          <p:nvSpPr>
            <p:cNvPr id="12" name="Rounded Rectangle 11"/>
            <p:cNvSpPr/>
            <p:nvPr/>
          </p:nvSpPr>
          <p:spPr>
            <a:xfrm>
              <a:off x="640080" y="4846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8680" y="4846320"/>
              <a:ext cx="1920240" cy="960120"/>
            </a:xfrm>
            <a:prstGeom prst="rect">
              <a:avLst/>
            </a:prstGeom>
            <a:noFill/>
          </p:spPr>
          <p:txBody>
            <a:bodyPr wrap="none" anchor="ctr">
              <a:spAutoFit/>
            </a:bodyPr>
            <a:lstStyle/>
            <a:p>
              <a:r>
                <a:rPr sz="3000" b="1">
                  <a:solidFill>
                    <a:schemeClr val="accent4"/>
                  </a:solidFill>
                  <a:latin typeface="Consolas"/>
                </a:rPr>
                <a:t>G.27</a:t>
              </a:r>
            </a:p>
          </p:txBody>
        </p:sp>
        <p:sp>
          <p:nvSpPr>
            <p:cNvPr id="14" name="TextBox 13"/>
            <p:cNvSpPr txBox="1"/>
            <p:nvPr/>
          </p:nvSpPr>
          <p:spPr>
            <a:xfrm>
              <a:off x="2880360" y="4846320"/>
              <a:ext cx="6949440" cy="960120"/>
            </a:xfrm>
            <a:prstGeom prst="rect">
              <a:avLst/>
            </a:prstGeom>
            <a:noFill/>
          </p:spPr>
          <p:txBody>
            <a:bodyPr wrap="square" anchor="ctr">
              <a:spAutoFit/>
            </a:bodyPr>
            <a:lstStyle/>
            <a:p>
              <a:r>
                <a:rPr sz="2200">
                  <a:solidFill>
                    <a:srgbClr val="FFFFFF"/>
                  </a:solidFill>
                </a:rPr>
                <a:t>La vraie bataille</a:t>
              </a:r>
            </a:p>
            <a:p>
              <a:r>
                <a:rPr sz="1400">
                  <a:solidFill>
                    <a:srgbClr val="BCBEC4"/>
                  </a:solidFill>
                </a:rPr>
                <a:t>fil rouge GameHub</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wipe(left)">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wipe(left)">
                                      <p:cBhvr>
                                        <p:cTn id="2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COL.8</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Trois ordres pour une bibliothèque</a:t>
            </a:r>
          </a:p>
          <a:p>
            <a:r>
              <a:rPr sz="1400">
                <a:solidFill>
                  <a:srgbClr val="BCBEC4"/>
                </a:solidFill>
              </a:rPr>
              <a:t>fascicule COL</a:t>
            </a:r>
          </a:p>
        </p:txBody>
      </p:sp>
      <p:sp>
        <p:nvSpPr>
          <p:cNvPr id="6" name="TextBox 5"/>
          <p:cNvSpPr txBox="1"/>
          <p:nvPr/>
        </p:nvSpPr>
        <p:spPr>
          <a:xfrm>
            <a:off x="640080" y="2651760"/>
            <a:ext cx="9326880" cy="822960"/>
          </a:xfrm>
          <a:prstGeom prst="rect">
            <a:avLst/>
          </a:prstGeom>
          <a:noFill/>
        </p:spPr>
        <p:txBody>
          <a:bodyPr wrap="square">
            <a:spAutoFit/>
          </a:bodyPr>
          <a:lstStyle/>
          <a:p>
            <a:r>
              <a:rPr sz="2400"/>
              <a:t>Départager : </a:t>
            </a:r>
            <a:r>
              <a:rPr sz="2400">
                <a:solidFill>
                  <a:schemeClr val="accent4"/>
                </a:solidFill>
                <a:latin typeface="Consolas"/>
              </a:rPr>
              <a:t>Integer.compare</a:t>
            </a:r>
            <a:r>
              <a:rPr sz="2400"/>
              <a:t>, jamais une soustraction</a:t>
            </a:r>
          </a:p>
        </p:txBody>
      </p:sp>
      <p:pic>
        <p:nvPicPr>
          <p:cNvPr id="7" name="Picture 6" descr="image.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6. Comparer et trier</a:t>
            </a:r>
          </a:p>
        </p:txBody>
      </p:sp>
    </p:spTree>
  </p:cSld>
  <p:clrMapOvr>
    <a:masterClrMapping/>
  </p:clrMapOvr>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115315</TotalTime>
  <Words>8070</Words>
  <Application>Microsoft Macintosh PowerPoint</Application>
  <PresentationFormat>Grand écran</PresentationFormat>
  <Paragraphs>598</Paragraphs>
  <Slides>50</Slides>
  <Notes>50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50</vt:i4>
      </vt:variant>
    </vt:vector>
  </HeadingPairs>
  <TitlesOfParts>
    <vt:vector size="56" baseType="lpstr">
      <vt:lpstr>Aptos</vt:lpstr>
      <vt:lpstr>Arial</vt:lpstr>
      <vt:lpstr>Calibri</vt:lpstr>
      <vt:lpstr>Consolas</vt:lpstr>
      <vt:lpstr>Corbel</vt:lpstr>
      <vt:lpstr>ThemeEphec2022</vt:lpstr>
      <vt:lpstr>JAVA 2</vt:lpstr>
      <vt:lpstr>Au programme</vt:lpstr>
      <vt:lpstr>Présentation PowerPoint</vt:lpstr>
      <vt:lpstr>Démonstration</vt:lpstr>
      <vt:lpstr>Une collection</vt:lpstr>
      <vt:lpstr>Ce qu'on écrit entre chevrons</vt:lpstr>
      <vt:lpstr>Des objets, pas des types primitifs</vt:lpstr>
      <vt:lpstr>La famille des collections</vt:lpstr>
      <vt:lpstr>Déclarer par l'interface</vt:lpstr>
      <vt:lpstr>Présentation PowerPoint</vt:lpstr>
      <vt:lpstr>Une liste</vt:lpstr>
      <vt:lpstr>Les opérations d'une liste</vt:lpstr>
      <vt:lpstr>Parcourir une collection</vt:lpstr>
      <vt:lpstr>Ce que la boucle for-each utilise</vt:lpstr>
      <vt:lpstr>ArrayList ou LinkedList</vt:lpstr>
      <vt:lpstr>Collection et Collections</vt:lpstr>
      <vt:lpstr>Nommer ses bornes</vt:lpstr>
      <vt:lpstr>Exercices</vt:lpstr>
      <vt:lpstr>Présentation PowerPoint</vt:lpstr>
      <vt:lpstr>Un ensemble</vt:lpstr>
      <vt:lpstr>Ce qu'un ensemble refuse</vt:lpstr>
      <vt:lpstr>Qui décide que deux éléments sont égaux</vt:lpstr>
      <vt:lpstr>Hash ou Tree</vt:lpstr>
      <vt:lpstr>Exercices</vt:lpstr>
      <vt:lpstr>Présentation PowerPoint</vt:lpstr>
      <vt:lpstr>Une table associative</vt:lpstr>
      <vt:lpstr>Ranger et retrouver par clé</vt:lpstr>
      <vt:lpstr>Une clé absente</vt:lpstr>
      <vt:lpstr>Trois façons de parcourir une table associative</vt:lpstr>
      <vt:lpstr>Exercices</vt:lpstr>
      <vt:lpstr>Présentation PowerPoint</vt:lpstr>
      <vt:lpstr>Des méthodes ajoutées aux interfaces</vt:lpstr>
      <vt:lpstr>Retirer pendant un parcours de collection</vt:lpstr>
      <vt:lpstr>Une méthode qui reçoit un critère</vt:lpstr>
      <vt:lpstr>Écrire le critère dans une classe</vt:lpstr>
      <vt:lpstr>Exercices</vt:lpstr>
      <vt:lpstr>Présentation PowerPoint</vt:lpstr>
      <vt:lpstr>Apprendre à un objet à se comparer à un autre</vt:lpstr>
      <vt:lpstr>Un ordre fourni de l'extérieur</vt:lpstr>
      <vt:lpstr>Comparable ou Comparator ?</vt:lpstr>
      <vt:lpstr>Présentation PowerPoint</vt:lpstr>
      <vt:lpstr>Lire un type emboîté</vt:lpstr>
      <vt:lpstr>Créer au premier usage</vt:lpstr>
      <vt:lpstr>Exercices</vt:lpstr>
      <vt:lpstr>Présentation PowerPoint</vt:lpstr>
      <vt:lpstr>Une file à deux bouts</vt:lpstr>
      <vt:lpstr>Ajouter aux deux bouts</vt:lpstr>
      <vt:lpstr>Prendre et remettre</vt:lpstr>
      <vt:lpstr>Le fil rouge</vt:lpstr>
      <vt:lpstr>Le fil rouge, suite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41</cp:revision>
  <dcterms:created xsi:type="dcterms:W3CDTF">2023-01-04T13:50:20Z</dcterms:created>
  <dcterms:modified xsi:type="dcterms:W3CDTF">2026-10-22T21:57:21Z</dcterms:modified>
</cp:coreProperties>
</file>