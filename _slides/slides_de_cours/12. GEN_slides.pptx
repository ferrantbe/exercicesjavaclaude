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8"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99" r:id="rId24"/>
    <p:sldId id="589" r:id="rId25"/>
    <p:sldId id="590" r:id="rId26"/>
    <p:sldId id="591" r:id="rId27"/>
    <p:sldId id="592" r:id="rId28"/>
    <p:sldId id="593" r:id="rId29"/>
    <p:sldId id="594" r:id="rId30"/>
    <p:sldId id="595" r:id="rId31"/>
    <p:sldId id="596" r:id="rId32"/>
    <p:sldId id="59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EE204F5-D715-5C88-8BB1-1E941BEF19B8}">
          <p14:sldIdLst>
            <p14:sldId id="568"/>
            <p14:sldId id="598"/>
          </p14:sldIdLst>
        </p14:section>
        <p14:section name="1. La classe générique" id="{0BD47F1D-71AE-5E7D-B49E-D447FB37791C}">
          <p14:sldIdLst>
            <p14:sldId id="569"/>
            <p14:sldId id="570"/>
            <p14:sldId id="571"/>
            <p14:sldId id="572"/>
            <p14:sldId id="573"/>
            <p14:sldId id="574"/>
          </p14:sldIdLst>
        </p14:section>
        <p14:section name="2. Plusieurs paramètres" id="{E49F9B92-D37A-5E73-BDE8-A6C16D3E4583}">
          <p14:sldIdLst>
            <p14:sldId id="575"/>
            <p14:sldId id="576"/>
            <p14:sldId id="577"/>
            <p14:sldId id="578"/>
          </p14:sldIdLst>
        </p14:section>
        <p14:section name="3. L'effacement" id="{C0B42830-58F7-5F65-A68A-4FE782B921BE}">
          <p14:sldIdLst>
            <p14:sldId id="579"/>
            <p14:sldId id="580"/>
            <p14:sldId id="581"/>
            <p14:sldId id="582"/>
            <p14:sldId id="583"/>
          </p14:sldIdLst>
        </p14:section>
        <p14:section name="4. Les jokers" id="{576ECDBB-E3A3-5D0D-ACA5-A6F48668ED93}">
          <p14:sldIdLst>
            <p14:sldId id="584"/>
            <p14:sldId id="585"/>
            <p14:sldId id="586"/>
            <p14:sldId id="587"/>
            <p14:sldId id="588"/>
            <p14:sldId id="599"/>
          </p14:sldIdLst>
        </p14:section>
        <p14:section name="5. Méthodes génériques" id="{9362E125-6BF7-576C-9FE1-7F73CFA35EA8}">
          <p14:sldIdLst>
            <p14:sldId id="589"/>
            <p14:sldId id="590"/>
            <p14:sldId id="591"/>
            <p14:sldId id="592"/>
          </p14:sldIdLst>
        </p14:section>
        <p14:section name="6. L'héritage" id="{CDEE2DE8-1D94-559D-B08C-F4206701B8B1}">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76"/>
    <p:restoredTop sz="86781"/>
  </p:normalViewPr>
  <p:slideViewPr>
    <p:cSldViewPr snapToGrid="0">
      <p:cViewPr varScale="1">
        <p:scale>
          <a:sx n="109" d="100"/>
          <a:sy n="109" d="100"/>
        </p:scale>
        <p:origin x="1824" y="19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module COL, vous écrivez </a:t>
            </a:r>
            <a:r>
              <a:rPr>
                <a:latin typeface="Consolas"/>
              </a:rPr>
              <a:t>List&lt;String&gt;</a:t>
            </a:r>
            <a:r>
              <a:t> et </a:t>
            </a:r>
            <a:r>
              <a:rPr>
                <a:latin typeface="Consolas"/>
              </a:rPr>
              <a:t>Map&lt;String, Integer&gt;</a:t>
            </a:r>
            <a:r>
              <a:t> sans vous demander qui a écrit les chevrons. Ce module vous fait passer de l'autre côté : écrire une classe une fois, et laisser celui qui l'utilise décider du type qu'elle contient.</a:t>
            </a:r>
          </a:p>
          <a:p>
            <a:r>
              <a:t>Le module compte six exercices, qui montent sans rupture : un type, deux types, trois, une famille de types, une méthode, un héritage. Le deck suit la même marche.</a:t>
            </a:r>
          </a:p>
          <a:p>
            <a:r>
              <a:t>Ne vous fiez pas à sa priorité affichée. Chaque session d'examen contient une question entière sur une classe générique, et presque toujours une classe qui enveloppe une collection.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La classe générique ; 2. Plusieurs paramètres ; 3. L'effacement ; 4. Les jokers ; 5. Méthodes génériques ; 6. L'héritage.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a:latin typeface="Consolas"/>
              </a:rPr>
              <a:t>E</a:t>
            </a:r>
            <a:r>
              <a:rPr dirty="0"/>
              <a:t> de la </a:t>
            </a:r>
            <a:r>
              <a:rPr dirty="0" err="1"/>
              <a:t>déclaration</a:t>
            </a:r>
            <a:r>
              <a:rPr dirty="0"/>
              <a:t> </a:t>
            </a:r>
            <a:r>
              <a:rPr dirty="0" err="1"/>
              <a:t>n'est</a:t>
            </a:r>
            <a:r>
              <a:rPr dirty="0"/>
              <a:t> pas un type : </a:t>
            </a:r>
            <a:r>
              <a:rPr dirty="0" err="1"/>
              <a:t>c'est</a:t>
            </a:r>
            <a:r>
              <a:rPr dirty="0"/>
              <a:t> </a:t>
            </a:r>
            <a:r>
              <a:rPr dirty="0" err="1"/>
              <a:t>une</a:t>
            </a:r>
            <a:r>
              <a:rPr dirty="0"/>
              <a:t> place </a:t>
            </a:r>
            <a:r>
              <a:rPr dirty="0" err="1"/>
              <a:t>laissée</a:t>
            </a:r>
            <a:r>
              <a:rPr dirty="0"/>
              <a:t> vide, </a:t>
            </a:r>
            <a:r>
              <a:rPr dirty="0" err="1"/>
              <a:t>que</a:t>
            </a:r>
            <a:r>
              <a:rPr dirty="0"/>
              <a:t> </a:t>
            </a:r>
            <a:r>
              <a:rPr dirty="0" err="1"/>
              <a:t>chaque</a:t>
            </a:r>
            <a:r>
              <a:rPr dirty="0"/>
              <a:t> </a:t>
            </a:r>
            <a:r>
              <a:rPr dirty="0" err="1"/>
              <a:t>utilisateur</a:t>
            </a:r>
            <a:r>
              <a:rPr dirty="0"/>
              <a:t> </a:t>
            </a:r>
            <a:r>
              <a:rPr dirty="0" err="1"/>
              <a:t>remplit</a:t>
            </a:r>
            <a:r>
              <a:rPr dirty="0"/>
              <a:t>. Quand vous </a:t>
            </a:r>
            <a:r>
              <a:rPr dirty="0" err="1"/>
              <a:t>écrivez</a:t>
            </a:r>
            <a:r>
              <a:rPr dirty="0"/>
              <a:t> </a:t>
            </a:r>
            <a:r>
              <a:rPr dirty="0">
                <a:latin typeface="Consolas"/>
              </a:rPr>
              <a:t>List&lt;String&gt;</a:t>
            </a:r>
            <a:r>
              <a:rPr dirty="0"/>
              <a:t>, </a:t>
            </a:r>
            <a:r>
              <a:rPr dirty="0" err="1"/>
              <a:t>tous</a:t>
            </a:r>
            <a:r>
              <a:rPr dirty="0"/>
              <a:t> les </a:t>
            </a:r>
            <a:r>
              <a:rPr dirty="0">
                <a:latin typeface="Consolas"/>
              </a:rPr>
              <a:t>E</a:t>
            </a:r>
            <a:r>
              <a:rPr dirty="0"/>
              <a:t> de </a:t>
            </a:r>
            <a:r>
              <a:rPr dirty="0" err="1"/>
              <a:t>l'interface</a:t>
            </a:r>
            <a:r>
              <a:rPr dirty="0"/>
              <a:t> valent </a:t>
            </a:r>
            <a:r>
              <a:rPr dirty="0">
                <a:latin typeface="Consolas"/>
              </a:rPr>
              <a:t>String</a:t>
            </a:r>
            <a:r>
              <a:rPr dirty="0"/>
              <a:t>, et le </a:t>
            </a:r>
            <a:r>
              <a:rPr dirty="0" err="1"/>
              <a:t>compilateur</a:t>
            </a:r>
            <a:r>
              <a:rPr dirty="0"/>
              <a:t> </a:t>
            </a:r>
            <a:r>
              <a:rPr dirty="0" err="1"/>
              <a:t>vérifie</a:t>
            </a:r>
            <a:r>
              <a:rPr dirty="0"/>
              <a:t> </a:t>
            </a:r>
            <a:r>
              <a:rPr dirty="0" err="1"/>
              <a:t>chaque</a:t>
            </a:r>
            <a:r>
              <a:rPr dirty="0"/>
              <a:t> </a:t>
            </a:r>
            <a:r>
              <a:rPr dirty="0">
                <a:latin typeface="Consolas"/>
              </a:rPr>
              <a:t>add</a:t>
            </a:r>
            <a:r>
              <a:rPr dirty="0"/>
              <a:t>.</a:t>
            </a:r>
          </a:p>
          <a:p>
            <a:r>
              <a:rPr dirty="0" err="1"/>
              <a:t>Imaginez</a:t>
            </a:r>
            <a:r>
              <a:rPr dirty="0"/>
              <a:t> </a:t>
            </a:r>
            <a:r>
              <a:rPr dirty="0" err="1"/>
              <a:t>maintenant</a:t>
            </a:r>
            <a:r>
              <a:rPr dirty="0"/>
              <a:t> </a:t>
            </a:r>
            <a:r>
              <a:rPr dirty="0" err="1"/>
              <a:t>que</a:t>
            </a:r>
            <a:r>
              <a:rPr dirty="0"/>
              <a:t> </a:t>
            </a:r>
            <a:r>
              <a:rPr dirty="0" err="1"/>
              <a:t>l'auteur</a:t>
            </a:r>
            <a:r>
              <a:rPr dirty="0"/>
              <a:t> de </a:t>
            </a:r>
            <a:r>
              <a:rPr dirty="0">
                <a:latin typeface="Consolas"/>
              </a:rPr>
              <a:t>List</a:t>
            </a:r>
            <a:r>
              <a:rPr dirty="0"/>
              <a:t> </a:t>
            </a:r>
            <a:r>
              <a:rPr dirty="0" err="1"/>
              <a:t>n'ait</a:t>
            </a:r>
            <a:r>
              <a:rPr dirty="0"/>
              <a:t> pas </a:t>
            </a:r>
            <a:r>
              <a:rPr dirty="0" err="1"/>
              <a:t>eu</a:t>
            </a:r>
            <a:r>
              <a:rPr dirty="0"/>
              <a:t> </a:t>
            </a:r>
            <a:r>
              <a:rPr dirty="0" err="1"/>
              <a:t>ce</a:t>
            </a:r>
            <a:r>
              <a:rPr dirty="0"/>
              <a:t> </a:t>
            </a:r>
            <a:r>
              <a:rPr dirty="0">
                <a:latin typeface="Consolas"/>
              </a:rPr>
              <a:t>E</a:t>
            </a:r>
            <a:r>
              <a:rPr dirty="0"/>
              <a:t> à </a:t>
            </a:r>
            <a:r>
              <a:rPr dirty="0" err="1"/>
              <a:t>sa</a:t>
            </a:r>
            <a:r>
              <a:rPr dirty="0"/>
              <a:t> disposition. Il </a:t>
            </a:r>
            <a:r>
              <a:rPr dirty="0" err="1"/>
              <a:t>aurait</a:t>
            </a:r>
            <a:r>
              <a:rPr dirty="0"/>
              <a:t> </a:t>
            </a:r>
            <a:r>
              <a:rPr dirty="0" err="1"/>
              <a:t>fallu</a:t>
            </a:r>
            <a:r>
              <a:rPr dirty="0"/>
              <a:t> </a:t>
            </a:r>
            <a:r>
              <a:rPr dirty="0" err="1"/>
              <a:t>une</a:t>
            </a:r>
            <a:r>
              <a:rPr dirty="0"/>
              <a:t> </a:t>
            </a:r>
            <a:r>
              <a:rPr dirty="0" err="1"/>
              <a:t>liste</a:t>
            </a:r>
            <a:r>
              <a:rPr dirty="0"/>
              <a:t> capable de tout </a:t>
            </a:r>
            <a:r>
              <a:rPr dirty="0" err="1"/>
              <a:t>recevoir</a:t>
            </a:r>
            <a:r>
              <a:rPr dirty="0"/>
              <a:t>. </a:t>
            </a:r>
            <a:r>
              <a:rPr dirty="0" err="1"/>
              <a:t>Que</a:t>
            </a:r>
            <a:r>
              <a:rPr dirty="0"/>
              <a:t> se </a:t>
            </a:r>
            <a:r>
              <a:rPr dirty="0" err="1"/>
              <a:t>passerait</a:t>
            </a:r>
            <a:r>
              <a:rPr dirty="0"/>
              <a:t>-il </a:t>
            </a:r>
            <a:r>
              <a:rPr dirty="0" err="1"/>
              <a:t>alors</a:t>
            </a:r>
            <a:r>
              <a:rPr dirty="0"/>
              <a:t> à la lecture ? Et surtout, à </a:t>
            </a:r>
            <a:r>
              <a:rPr dirty="0" err="1"/>
              <a:t>quel</a:t>
            </a:r>
            <a:r>
              <a:rPr dirty="0"/>
              <a:t> moment </a:t>
            </a:r>
            <a:r>
              <a:rPr dirty="0" err="1"/>
              <a:t>verrait</a:t>
            </a:r>
            <a:r>
              <a:rPr dirty="0"/>
              <a:t>-on </a:t>
            </a:r>
            <a:r>
              <a:rPr dirty="0" err="1"/>
              <a:t>une</a:t>
            </a:r>
            <a:r>
              <a:rPr dirty="0"/>
              <a:t> </a:t>
            </a:r>
            <a:r>
              <a:rPr dirty="0" err="1"/>
              <a:t>erreur</a:t>
            </a:r>
            <a:r>
              <a:rPr dirty="0"/>
              <a:t> ?</a:t>
            </a:r>
          </a:p>
          <a:p>
            <a:r>
              <a:rPr dirty="0" err="1"/>
              <a:t>C'est</a:t>
            </a:r>
            <a:r>
              <a:rPr dirty="0"/>
              <a:t> </a:t>
            </a:r>
            <a:r>
              <a:rPr dirty="0" err="1"/>
              <a:t>exactement</a:t>
            </a:r>
            <a:r>
              <a:rPr dirty="0"/>
              <a:t> la question </a:t>
            </a:r>
            <a:r>
              <a:rPr dirty="0" err="1"/>
              <a:t>que</a:t>
            </a:r>
            <a:r>
              <a:rPr dirty="0"/>
              <a:t> pose la </a:t>
            </a:r>
            <a:r>
              <a:rPr dirty="0" err="1"/>
              <a:t>démonstration</a:t>
            </a:r>
            <a:r>
              <a:rPr dirty="0"/>
              <a:t>, sur </a:t>
            </a:r>
            <a:r>
              <a:rPr dirty="0" err="1"/>
              <a:t>une</a:t>
            </a:r>
            <a:r>
              <a:rPr dirty="0"/>
              <a:t> </a:t>
            </a:r>
            <a:r>
              <a:rPr dirty="0" err="1"/>
              <a:t>autre</a:t>
            </a:r>
            <a:r>
              <a:rPr dirty="0"/>
              <a:t> </a:t>
            </a:r>
            <a:r>
              <a:rPr dirty="0" err="1"/>
              <a:t>classe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d'une classe écrite pour accepter n'importe quel objet, puis la rend générique en n'y changeant presque rien. Regardez à quel moment l'erreur apparaît dans chacune des deux versions, et où se trouve le transtypage.</a:t>
            </a:r>
          </a:p>
          <a:p>
            <a:r>
              <a:t>Retenez une phrase plutôt que la syntaxe : la généricité ne rend rien possible qui ne l'était pas déjà, elle avance le moment où l'erreur se voit.</a:t>
            </a:r>
          </a:p>
          <a:p>
            <a:r>
              <a:t>La section 3 reviendra sur ce que la démonstration laisse dans la classe, et qu'on ne voit pas en l'utilisant.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mots à distinguer, comme pour les méthodes. Le </a:t>
            </a:r>
            <a:r>
              <a:rPr>
                <a:latin typeface="Consolas"/>
              </a:rPr>
              <a:t>T</a:t>
            </a:r>
            <a:r>
              <a:t> de la déclaration est le paramètre de type. Le </a:t>
            </a:r>
            <a:r>
              <a:rPr>
                <a:latin typeface="Consolas"/>
              </a:rPr>
              <a:t>Valise</a:t>
            </a:r>
            <a:r>
              <a:t> de l'usage est l'argument de type. Une méthode reçoit des valeurs, une classe générique reçoit des types.</a:t>
            </a:r>
          </a:p>
          <a:p>
            <a:r>
              <a:t>À l'intérieur de la classe, </a:t>
            </a:r>
            <a:r>
              <a:rPr>
                <a:latin typeface="Consolas"/>
              </a:rPr>
              <a:t>T</a:t>
            </a:r>
            <a:r>
              <a:t> se comporte comme n'importe quel type : champ, paramètre, retour, variable locale. Une seule limite, et elle compte : la classe ne sait rien de ce que sera </a:t>
            </a:r>
            <a:r>
              <a:rPr>
                <a:latin typeface="Consolas"/>
              </a:rPr>
              <a:t>T</a:t>
            </a:r>
            <a:r>
              <a:t>. Elle ne peut donc appeler sur un </a:t>
            </a:r>
            <a:r>
              <a:rPr>
                <a:latin typeface="Consolas"/>
              </a:rPr>
              <a:t>contenu</a:t>
            </a:r>
            <a:r>
              <a:t> que ce que tout objet sait faire, comme </a:t>
            </a:r>
            <a:r>
              <a:rPr>
                <a:latin typeface="Consolas"/>
              </a:rPr>
              <a:t>toString</a:t>
            </a:r>
            <a:r>
              <a:t> ou </a:t>
            </a:r>
            <a:r>
              <a:rPr>
                <a:latin typeface="Consolas"/>
              </a:rPr>
              <a:t>equals</a:t>
            </a:r>
            <a:r>
              <a:t>.</a:t>
            </a:r>
          </a:p>
          <a:p>
            <a:r>
              <a:t>Le diamant de droite, déjà vu au module COL, laisse le compilateur déduire l'argument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champ est une </a:t>
            </a:r>
            <a:r>
              <a:rPr>
                <a:latin typeface="Consolas"/>
              </a:rPr>
              <a:t>List&lt;T&gt;</a:t>
            </a:r>
            <a:r>
              <a:t> : le </a:t>
            </a:r>
            <a:r>
              <a:rPr>
                <a:latin typeface="Consolas"/>
              </a:rPr>
              <a:t>E</a:t>
            </a:r>
            <a:r>
              <a:t> de la liste reçoit le </a:t>
            </a:r>
            <a:r>
              <a:rPr>
                <a:latin typeface="Consolas"/>
              </a:rPr>
              <a:t>T</a:t>
            </a:r>
            <a:r>
              <a:t> de la consigne. Une </a:t>
            </a:r>
            <a:r>
              <a:rPr>
                <a:latin typeface="Consolas"/>
              </a:rPr>
              <a:t>Consigne&lt;Valise&gt;</a:t>
            </a:r>
            <a:r>
              <a:t> contient donc une </a:t>
            </a:r>
            <a:r>
              <a:rPr>
                <a:latin typeface="Consolas"/>
              </a:rPr>
              <a:t>List&lt;Valise&gt;</a:t>
            </a:r>
            <a:r>
              <a:t>, et une </a:t>
            </a:r>
            <a:r>
              <a:rPr>
                <a:latin typeface="Consolas"/>
              </a:rPr>
              <a:t>Consigne&lt;String&gt;</a:t>
            </a:r>
            <a:r>
              <a:t> une </a:t>
            </a:r>
            <a:r>
              <a:rPr>
                <a:latin typeface="Consolas"/>
              </a:rPr>
              <a:t>List&lt;String&gt;</a:t>
            </a:r>
            <a:r>
              <a:t>, sans une ligne de plus.</a:t>
            </a:r>
          </a:p>
          <a:p>
            <a:r>
              <a:t>La classe n'invente rien : elle délègue à la liste, comme au module COL. Ce qu'elle ajoute, c'est un nom et un choix d'opérations. Elle n'expose que ce qu'une consigne doit savoir faire.</a:t>
            </a:r>
          </a:p>
          <a:p>
            <a:r>
              <a:t>C'est la forme de la question 2 de l'examen presque à chaque session : une classe générique, une collection privée, quelques méthodes qui délèguent, et un Programme qui montre la même classe au service de deux types. Aucun exercice du module ne la pratique : regardez-la bien.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GEN.1</a:t>
            </a:r>
            <a:r>
              <a:t> applique la slide 1.4 sur une paire immuable : deux champs, deux accesseurs, un </a:t>
            </a:r>
            <a:r>
              <a:rPr>
                <a:latin typeface="Consolas"/>
              </a:rPr>
              <a:t>toString</a:t>
            </a:r>
            <a:r>
              <a:t> au format imposé.</a:t>
            </a:r>
          </a:p>
          <a:p>
            <a:r>
              <a:t>Faites l'expérience proposée avant d'écrire le </a:t>
            </a:r>
            <a:r>
              <a:rPr>
                <a:latin typeface="Consolas"/>
              </a:rPr>
              <a:t>Programme</a:t>
            </a:r>
            <a:r>
              <a:t>, et lisez ce que dit le compilateur : c'est la démonstration, refaite par vous-même.</a:t>
            </a:r>
          </a:p>
          <a:p>
            <a:r>
              <a:t>La seconde question de fin, </a:t>
            </a:r>
            <a:r>
              <a:rPr>
                <a:latin typeface="Consolas"/>
              </a:rPr>
              <a:t>Paire&lt;int&gt;</a:t>
            </a:r>
            <a:r>
              <a:t>, mérite d'être essayée vraiment. Gardez la réponse du compilateur : la section 3 dira pourquoi il refuse.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ticket de consigne relie un numéro à un objet. Rien n'oblige le numéro à être un nombre, ni l'objet à être une valise : la classe laisse les deux choix à son utilisateur.</a:t>
            </a:r>
          </a:p>
          <a:p>
            <a:r>
              <a:t>C'est la forme de la </a:t>
            </a:r>
            <a:r>
              <a:rPr>
                <a:latin typeface="Consolas"/>
              </a:rPr>
              <a:t>Map&lt;K, V&gt;</a:t>
            </a:r>
            <a:r>
              <a:t> du module COL. L'ordre compte : </a:t>
            </a:r>
            <a:r>
              <a:rPr>
                <a:latin typeface="Consolas"/>
              </a:rPr>
              <a:t>Ticket&lt;Valise, Integer&gt;</a:t>
            </a:r>
            <a:r>
              <a:t> est un autre type, et le compilateur refuserait alors </a:t>
            </a:r>
            <a:r>
              <a:rPr>
                <a:latin typeface="Consolas"/>
              </a:rPr>
              <a:t>new Ticket&lt;&gt;(42, valise)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ligne se lit : une map dont les clés sont des </a:t>
            </a:r>
            <a:r>
              <a:rPr>
                <a:latin typeface="Consolas"/>
              </a:rPr>
              <a:t>String</a:t>
            </a:r>
            <a:r>
              <a:t> et les valeurs des listes de valises. Vous avez déjà écrit cette forme au module COL, pour ranger des titres par auteur.</a:t>
            </a:r>
          </a:p>
          <a:p>
            <a:r>
              <a:t>La deuxième montre que rien ne distingue une classe du JDK d'une classe que vous écrivez : </a:t>
            </a:r>
            <a:r>
              <a:rPr>
                <a:latin typeface="Consolas"/>
              </a:rPr>
              <a:t>Casier&lt;List&lt;Valise&gt;&gt;</a:t>
            </a:r>
            <a:r>
              <a:t> est un casier qui contient une liste. Sa méthode </a:t>
            </a:r>
            <a:r>
              <a:rPr>
                <a:latin typeface="Consolas"/>
              </a:rPr>
              <a:t>retirer</a:t>
            </a:r>
            <a:r>
              <a:t> retourne une </a:t>
            </a:r>
            <a:r>
              <a:rPr>
                <a:latin typeface="Consolas"/>
              </a:rPr>
              <a:t>List&lt;Valise&gt;</a:t>
            </a:r>
            <a:r>
              <a:t>, sans transtypage.</a:t>
            </a:r>
          </a:p>
          <a:p>
            <a:r>
              <a:t>Dans la troisième, le diamant fonctionne même imbriqué : le compilateur déduit </a:t>
            </a:r>
            <a:r>
              <a:rPr>
                <a:latin typeface="Consolas"/>
              </a:rPr>
              <a:t>Casier&lt;Valise&gt;</a:t>
            </a:r>
            <a:r>
              <a: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GEN.2</a:t>
            </a:r>
            <a:r>
              <a:t> applique la slide 2.2. Lisez la remarque de l'énoncé sur le premier des deux couples demandés.</a:t>
            </a:r>
          </a:p>
          <a:p>
            <a:r>
              <a:rPr>
                <a:latin typeface="Consolas"/>
              </a:rPr>
              <a:t>GEN.3</a:t>
            </a:r>
            <a:r>
              <a:t> refait le geste deux fois : </a:t>
            </a:r>
            <a:r>
              <a:rPr>
                <a:latin typeface="Consolas"/>
              </a:rPr>
              <a:t>TripletMemeType</a:t>
            </a:r>
            <a:r>
              <a:t>, puis </a:t>
            </a:r>
            <a:r>
              <a:rPr>
                <a:latin typeface="Consolas"/>
              </a:rPr>
              <a:t>TripletTroisTypes</a:t>
            </a:r>
            <a:r>
              <a:t>. Écrivez-les l'une après l'autre, puis posez-les côte à côte. Comptez les lignes qui diffèrent, et notez où elles se trouvent.</a:t>
            </a:r>
          </a:p>
          <a:p>
            <a:r>
              <a:t>Les deux questions de fin sont l'exercice. Discutez-les à voix haute avant de regarder le corrigé : elles n'ont pas de réponse que le compilateur puisse donner à votre place.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arguments de type n'existent que pour le compilateur. Une fois qu'il a tout vérifié, il les efface : un objet </a:t>
            </a:r>
            <a:r>
              <a:rPr>
                <a:latin typeface="Consolas"/>
              </a:rPr>
              <a:t>Casier</a:t>
            </a:r>
            <a:r>
              <a:t> ne sait pas de quoi il est le casier. On appelle ce mécanisme l'effacement de type, *type erasure* en anglais.</a:t>
            </a:r>
          </a:p>
          <a:p>
            <a:r>
              <a:t>La raison est historique. La généricité est arrivée avec Java 5, en 2004. Tout le code écrit avant devait continuer à tourner sur la même machine virtuelle, sans être recompilé. Le type brut que la démonstration a montré vient de là : c'est ce qui reste d'une classe générique une fois ses arguments effacés.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a:t>
            </a:r>
            <a:r>
              <a:rPr>
                <a:latin typeface="Consolas"/>
              </a:rPr>
              <a:t>Casier</a:t>
            </a:r>
            <a:r>
              <a:t> a un champ </a:t>
            </a:r>
            <a:r>
              <a:rPr>
                <a:latin typeface="Consolas"/>
              </a:rPr>
              <a:t>Object</a:t>
            </a:r>
            <a:r>
              <a:t> et une méthode </a:t>
            </a:r>
            <a:r>
              <a:rPr>
                <a:latin typeface="Consolas"/>
              </a:rPr>
              <a:t>retirer</a:t>
            </a:r>
            <a:r>
              <a:t> qui retourne un </a:t>
            </a:r>
            <a:r>
              <a:rPr>
                <a:latin typeface="Consolas"/>
              </a:rPr>
              <a:t>Object</a:t>
            </a:r>
            <a:r>
              <a:t>. Le transtypage n'a donc pas disparu : c'est le compilateur qui l'écrit, à chaque appel.</a:t>
            </a:r>
          </a:p>
          <a:p>
            <a:r>
              <a:t>La différence avec la première version de la démonstration est ailleurs. Ce transtypage-ci ne peut pas échouer, parce que le compilateur a vérifié tous les </a:t>
            </a:r>
            <a:r>
              <a:rPr>
                <a:latin typeface="Consolas"/>
              </a:rPr>
              <a:t>deposer</a:t>
            </a:r>
            <a:r>
              <a:t> avant de l'écrire. C'est la vérification qui refuse une erreur de type, pas le transtypage : elle a lieu avant l'effacement.</a:t>
            </a:r>
          </a:p>
          <a:p>
            <a:r>
              <a:t>Le module FIC s'appuiera sur cette slide.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Chacune de ces quatre lignes est refusée par le compilateur, et chaque refus découle de la même cause : au moment de l'exécution, </a:t>
            </a:r>
            <a:r>
              <a:rPr>
                <a:latin typeface="Consolas"/>
              </a:rPr>
              <a:t>T</a:t>
            </a:r>
            <a:r>
              <a:t> n'existe plus.</a:t>
            </a:r>
          </a:p>
          <a:p>
            <a:r>
              <a:t>La première répond à la question de </a:t>
            </a:r>
            <a:r>
              <a:rPr>
                <a:latin typeface="Consolas"/>
              </a:rPr>
              <a:t>GEN.1</a:t>
            </a:r>
            <a:r>
              <a:t>. Une classe générique ne connaît que des objets : on écrit </a:t>
            </a:r>
            <a:r>
              <a:rPr>
                <a:latin typeface="Consolas"/>
              </a:rPr>
              <a:t>Casier&lt;Integer&gt;</a:t>
            </a:r>
            <a:r>
              <a:t>, et l'autoboxing du module COL fait le reste.</a:t>
            </a:r>
          </a:p>
          <a:p>
            <a:r>
              <a:t>La troisième explique ce que la démonstration a laissé dans la classe : un tableau d'</a:t>
            </a:r>
            <a:r>
              <a:rPr>
                <a:latin typeface="Consolas"/>
              </a:rPr>
              <a:t>Object</a:t>
            </a:r>
            <a:r>
              <a:t>, et non un tableau de </a:t>
            </a:r>
            <a:r>
              <a:rPr>
                <a:latin typeface="Consolas"/>
              </a:rPr>
              <a:t>T</a:t>
            </a:r>
            <a:r>
              <a:t>. Un tableau vérifie à l'exécution ce qu'on y range, il doit donc savoir quel type il contient.</a:t>
            </a:r>
          </a:p>
          <a:p>
            <a:r>
              <a:t>La dernière tient à ce qu'un membre </a:t>
            </a:r>
            <a:r>
              <a:rPr>
                <a:latin typeface="Consolas"/>
              </a:rPr>
              <a:t>static</a:t>
            </a:r>
            <a:r>
              <a:t> appartient à la classe, et que </a:t>
            </a:r>
            <a:r>
              <a:rPr>
                <a:latin typeface="Consolas"/>
              </a:rPr>
              <a:t>Casier&lt;Valise&gt;</a:t>
            </a:r>
            <a:r>
              <a:t> et </a:t>
            </a:r>
            <a:r>
              <a:rPr>
                <a:latin typeface="Consolas"/>
              </a:rPr>
              <a:t>Casier&lt;String&gt;</a:t>
            </a:r>
            <a:r>
              <a:t> n'en font qu'une.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un transtypage vers </a:t>
            </a:r>
            <a:r>
              <a:rPr>
                <a:latin typeface="Consolas"/>
              </a:rPr>
              <a:t>T</a:t>
            </a:r>
            <a:r>
              <a:t> devient un transtypage vers </a:t>
            </a:r>
            <a:r>
              <a:rPr>
                <a:latin typeface="Consolas"/>
              </a:rPr>
              <a:t>Object</a:t>
            </a:r>
            <a:r>
              <a:t> : il ne vérifie rien. Un transtypage vers </a:t>
            </a:r>
            <a:r>
              <a:rPr>
                <a:latin typeface="Consolas"/>
              </a:rPr>
              <a:t>List&lt;Valise&gt;</a:t>
            </a:r>
            <a:r>
              <a:t> ne vérifie que </a:t>
            </a:r>
            <a:r>
              <a:rPr>
                <a:latin typeface="Consolas"/>
              </a:rPr>
              <a:t>List</a:t>
            </a:r>
            <a:r>
              <a:t>. Si le contenu n'est pas le bon, l'erreur surgira plus tard, à l'endroit où on lira l'élément, c'est-à-dire exactement ce que la généricité devait empêcher. Le compilateur le signale par un avertissement « unchecked ».</a:t>
            </a:r>
          </a:p>
          <a:p>
            <a:r>
              <a:t>On l'accepte dans deux cas. Dans une classe qui contrôle seule ce qu'elle range, comme la classe de la démonstration. Et quand une donnée revient d'un monde qui ignore la généricité : au module FIC, </a:t>
            </a:r>
            <a:r>
              <a:rPr>
                <a:latin typeface="Consolas"/>
              </a:rPr>
              <a:t>readObject</a:t>
            </a:r>
            <a:r>
              <a:t> retourne un </a:t>
            </a:r>
            <a:r>
              <a:rPr>
                <a:latin typeface="Consolas"/>
              </a:rPr>
              <a:t>Object</a:t>
            </a:r>
            <a:r>
              <a:t>, parce que le fichier ne garde aucune trace de l'argument de type.</a:t>
            </a:r>
          </a:p>
          <a:p>
            <a:r>
              <a:t>L'annotation se pose sur la plus petite portée possible, une variable ou une méthode, et jamais pour faire taire un avertissement qu'on ne comprend 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Rien de </a:t>
            </a:r>
            <a:r>
              <a:rPr dirty="0" err="1"/>
              <a:t>neuf</a:t>
            </a:r>
            <a:r>
              <a:rPr dirty="0"/>
              <a:t> </a:t>
            </a:r>
            <a:r>
              <a:rPr dirty="0" err="1"/>
              <a:t>ici</a:t>
            </a:r>
            <a:r>
              <a:rPr dirty="0"/>
              <a:t> : </a:t>
            </a:r>
            <a:r>
              <a:rPr dirty="0" err="1"/>
              <a:t>c'est</a:t>
            </a:r>
            <a:r>
              <a:rPr dirty="0"/>
              <a:t> la substitution du module ABS. </a:t>
            </a:r>
            <a:r>
              <a:rPr dirty="0" err="1"/>
              <a:t>Partout</a:t>
            </a:r>
            <a:r>
              <a:rPr dirty="0"/>
              <a:t> </a:t>
            </a:r>
            <a:r>
              <a:rPr dirty="0" err="1"/>
              <a:t>où</a:t>
            </a:r>
            <a:r>
              <a:rPr dirty="0"/>
              <a:t> </a:t>
            </a:r>
            <a:r>
              <a:rPr dirty="0" err="1"/>
              <a:t>l'on</a:t>
            </a:r>
            <a:r>
              <a:rPr dirty="0"/>
              <a:t> attend un </a:t>
            </a:r>
            <a:r>
              <a:rPr dirty="0" err="1">
                <a:latin typeface="Consolas"/>
              </a:rPr>
              <a:t>Bagage</a:t>
            </a:r>
            <a:r>
              <a:rPr dirty="0"/>
              <a:t>, on </a:t>
            </a:r>
            <a:r>
              <a:rPr dirty="0" err="1"/>
              <a:t>peut</a:t>
            </a:r>
            <a:r>
              <a:rPr dirty="0"/>
              <a:t> donner </a:t>
            </a:r>
            <a:r>
              <a:rPr dirty="0" err="1"/>
              <a:t>une</a:t>
            </a:r>
            <a:r>
              <a:rPr dirty="0"/>
              <a:t> </a:t>
            </a:r>
            <a:r>
              <a:rPr dirty="0">
                <a:latin typeface="Consolas"/>
              </a:rPr>
              <a:t>Valise</a:t>
            </a:r>
            <a:r>
              <a:rPr dirty="0"/>
              <a:t>. Une </a:t>
            </a:r>
            <a:r>
              <a:rPr dirty="0" err="1"/>
              <a:t>liste</a:t>
            </a:r>
            <a:r>
              <a:rPr dirty="0"/>
              <a:t> de </a:t>
            </a:r>
            <a:r>
              <a:rPr dirty="0" err="1"/>
              <a:t>bagages</a:t>
            </a:r>
            <a:r>
              <a:rPr dirty="0"/>
              <a:t> </a:t>
            </a:r>
            <a:r>
              <a:rPr dirty="0" err="1"/>
              <a:t>peut</a:t>
            </a:r>
            <a:r>
              <a:rPr dirty="0"/>
              <a:t> </a:t>
            </a:r>
            <a:r>
              <a:rPr dirty="0" err="1"/>
              <a:t>donc</a:t>
            </a:r>
            <a:r>
              <a:rPr dirty="0"/>
              <a:t> </a:t>
            </a:r>
            <a:r>
              <a:rPr dirty="0" err="1"/>
              <a:t>contenir</a:t>
            </a:r>
            <a:r>
              <a:rPr dirty="0"/>
              <a:t> des valises et des sacs </a:t>
            </a:r>
            <a:r>
              <a:rPr dirty="0" err="1"/>
              <a:t>mélangés</a:t>
            </a:r>
            <a:r>
              <a:rPr dirty="0"/>
              <a:t>.</a:t>
            </a:r>
          </a:p>
          <a:p>
            <a:pPr rtl="0"/>
            <a:r>
              <a:rPr lang="fr-BE" dirty="0"/>
              <a:t>La dernière puce de la slide, « Et une List&lt;Valise&gt; ? », reste une question, et c’est voulu. Une List&lt;Valise&gt; peut-elle passer là où l’on attend une List&lt;Bagage&gt; ? Ne répondez pas encore : l’exercice suivant vous fait essayer, et le compilateur répondra.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GEN.4</a:t>
            </a:r>
            <a:r>
              <a:t> se fait dans un ordre précis, et cet ordre est l'exercice.</a:t>
            </a:r>
          </a:p>
          <a:p>
            <a:r>
              <a:t>Écrivez d'abord la méthode avec un </a:t>
            </a:r>
            <a:r>
              <a:rPr>
                <a:latin typeface="Consolas"/>
              </a:rPr>
              <a:t>Triplet&lt;Personne&gt;</a:t>
            </a:r>
            <a:r>
              <a:t> en paramètre, comme l'énoncé le propose. Passez-lui un </a:t>
            </a:r>
            <a:r>
              <a:rPr>
                <a:latin typeface="Consolas"/>
              </a:rPr>
              <a:t>Triplet&lt;Etudiant&gt;</a:t>
            </a:r>
            <a:r>
              <a:t>, et lisez le refus du compilateur avant de lire l'encadré. Seulement ensuite, écrivez la version avec le joker.</a:t>
            </a:r>
          </a:p>
          <a:p>
            <a:r>
              <a:t>La seconde question de fin rapproche cette slide de la précédente. Elle vaut la peine d'être discutée à plusieurs.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d'interrogation se lit « quelque chose ». La méthode ne sait pas quelle liste elle reçoit, mais elle sait que chaque élément est au moins un </a:t>
            </a:r>
            <a:r>
              <a:rPr>
                <a:latin typeface="Consolas"/>
              </a:rPr>
              <a:t>Bagage</a:t>
            </a:r>
            <a:r>
              <a:t> : elle peut donc lire et peser.</a:t>
            </a:r>
          </a:p>
          <a:p>
            <a:r>
              <a:t>Ajouter, en revanche, lui est interdit. Si la liste reçue est une </a:t>
            </a:r>
            <a:r>
              <a:rPr>
                <a:latin typeface="Consolas"/>
              </a:rPr>
              <a:t>List&lt;Valise&gt;</a:t>
            </a:r>
            <a:r>
              <a:t>, un </a:t>
            </a:r>
            <a:r>
              <a:rPr>
                <a:latin typeface="Consolas"/>
              </a:rPr>
              <a:t>Sac</a:t>
            </a:r>
            <a:r>
              <a:t> y serait un intrus, et la méthode n'a aucun moyen de le savoir. Le compilateur refuse donc tout ajout, sauf </a:t>
            </a:r>
            <a:r>
              <a:rPr>
                <a:latin typeface="Consolas"/>
              </a:rPr>
              <a:t>null</a:t>
            </a:r>
            <a:r>
              <a:t>. Retirer ou vider la liste restent possibles : on ne peut rien y faire entrer, ce qui n'est pas tout à fait « lecture seule ».</a:t>
            </a:r>
          </a:p>
          <a:p>
            <a:r>
              <a:t>C'est le joker de </a:t>
            </a:r>
            <a:r>
              <a:rPr>
                <a:latin typeface="Consolas"/>
              </a:rPr>
              <a:t>GEN.4</a:t>
            </a:r>
            <a:r>
              <a:t>. Sur un triplet sans mutateur, on ne voit que la lecture. Sur une liste, on voit aussi ce qui est refusé.</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joker symétrique. Quelle que soit la liste reçue, une </a:t>
            </a:r>
            <a:r>
              <a:rPr>
                <a:latin typeface="Consolas"/>
              </a:rPr>
              <a:t>Valise</a:t>
            </a:r>
            <a:r>
              <a:t> y a sa place : une liste de valises, de bagages ou d'objets l'accepte. En revanche, la méthode ne sait pas ce qu'elle lirait : seulement des </a:t>
            </a:r>
            <a:r>
              <a:rPr>
                <a:latin typeface="Consolas"/>
              </a:rPr>
              <a:t>Object</a:t>
            </a:r>
            <a:r>
              <a:t>.</a:t>
            </a:r>
          </a:p>
          <a:p>
            <a:r>
              <a:t>D'où une règle simple. Le joker </a:t>
            </a:r>
            <a:r>
              <a:rPr>
                <a:latin typeface="Consolas"/>
              </a:rPr>
              <a:t>extends</a:t>
            </a:r>
            <a:r>
              <a:t> sert à une méthode qui lit, le joker </a:t>
            </a:r>
            <a:r>
              <a:rPr>
                <a:latin typeface="Consolas"/>
              </a:rPr>
              <a:t>super</a:t>
            </a:r>
            <a:r>
              <a:t> à une méthode qui ajoute.</a:t>
            </a:r>
          </a:p>
          <a:p>
            <a:r>
              <a:t>Le module COL a montré </a:t>
            </a:r>
            <a:r>
              <a:rPr>
                <a:latin typeface="Consolas"/>
              </a:rPr>
              <a:t>removeIf(Predicate&lt;? super E&gt; critere)</a:t>
            </a:r>
            <a:r>
              <a:t>. Vous pouvez maintenant le lire : un critère écrit pour des </a:t>
            </a:r>
            <a:r>
              <a:rPr>
                <a:latin typeface="Consolas"/>
              </a:rPr>
              <a:t>Bagage</a:t>
            </a:r>
            <a:r>
              <a:t> sait tester des </a:t>
            </a:r>
            <a:r>
              <a:rPr>
                <a:latin typeface="Consolas"/>
              </a:rPr>
              <a:t>Valise</a:t>
            </a:r>
            <a:r>
              <a:t>, et peut donc servir sur une </a:t>
            </a:r>
            <a:r>
              <a:rPr>
                <a:latin typeface="Consolas"/>
              </a:rPr>
              <a:t>List&lt;Valise&gt;</a:t>
            </a:r>
            <a:r>
              <a:t>. Le module LAM en montrera d'autres dans les signatures du JDK. Les reconnaître suffit : en écrire est rare.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tableau résume les deux slides précédentes. La question à se poser porte sur la méthode, pas sur la liste : que fait-elle de ce qu'on lui donne ?</a:t>
            </a:r>
          </a:p>
          <a:p>
            <a:r>
              <a:t>Si elle lit, si la liste lui fournit des éléments, le joker est extends : toutes les listes de la famille passent, et chaque élément lu est au moins un Bagage. Mais elle ne peut rien y ajouter, puisqu'elle ignore de quoi la liste est réellement faite : une liste de sacs n'accepterait pas une valise.</a:t>
            </a:r>
          </a:p>
          <a:p>
            <a:r>
              <a:t>Si elle ajoute, si la liste reçoit des éléments, le joker est super : la liste accepte au moins des valises, quelle qu'elle soit. En échange, ce qu'on en lit n'est garanti que comme un Object.</a:t>
            </a:r>
          </a:p>
          <a:p>
            <a:r>
              <a:t>Les anglophones retiennent la règle sous le nom PECS, Producer Extends, Consumer Super : la liste qui produit utilise extends, celle qui consomme utilise super. Une méthode qui fait les deux, lire et ajouter, n'utilise pas de joker : elle prend une List&lt;Bagage&gt;.</a:t>
            </a:r>
          </a:p>
          <a:p>
            <a:r>
              <a:t>Le code complet, à exécuter : demos, classe </a:t>
            </a:r>
            <a:r>
              <a:rPr>
                <a:latin typeface="Consolas"/>
              </a:rPr>
              <a:t>demo.gen.slides.ExtendsEtSuper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a:t>
            </a:r>
            <a:r>
              <a:rPr>
                <a:latin typeface="Consolas"/>
              </a:rPr>
              <a:t>T</a:t>
            </a:r>
            <a:r>
              <a:t> d'une classe est fixé une fois, à la création de l'objet. Celui d'une méthode est fixé à chaque appel, et peut valoir autre chose à l'appel suivant.</a:t>
            </a:r>
          </a:p>
          <a:p>
            <a:r>
              <a:t>Personne ne l'écrit : le compilateur regarde l'argument, voit une </a:t>
            </a:r>
            <a:r>
              <a:rPr>
                <a:latin typeface="Consolas"/>
              </a:rPr>
              <a:t>List&lt;Valise&gt;</a:t>
            </a:r>
            <a:r>
              <a:t>, et en déduit </a:t>
            </a:r>
            <a:r>
              <a:rPr>
                <a:latin typeface="Consolas"/>
              </a:rPr>
              <a:t>T</a:t>
            </a:r>
            <a:r>
              <a:t>. Il sait alors que l'appel retourne une </a:t>
            </a:r>
            <a:r>
              <a:rPr>
                <a:latin typeface="Consolas"/>
              </a:rPr>
              <a:t>Valise</a:t>
            </a:r>
            <a:r>
              <a:t>.</a:t>
            </a:r>
          </a:p>
          <a:p>
            <a:r>
              <a:t>La dernière ligne montre la forme explicite. Vous la croiserez dans des documentations, rarement dans du code : le compilateur s'en passe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statique est appelée sur la classe, sans objet. Or c'est la création d'un objet qui fixe le </a:t>
            </a:r>
            <a:r>
              <a:rPr>
                <a:latin typeface="Consolas"/>
              </a:rPr>
              <a:t>T</a:t>
            </a:r>
            <a:r>
              <a:t> de la classe. Le compilateur refuse donc qu'une méthode statique s'en serve : c'est la même raison que le champ </a:t>
            </a:r>
            <a:r>
              <a:rPr>
                <a:latin typeface="Consolas"/>
              </a:rPr>
              <a:t>static T</a:t>
            </a:r>
            <a:r>
              <a:t> de la slide 3.4.</a:t>
            </a:r>
          </a:p>
          <a:p>
            <a:r>
              <a:t>La méthode déclare donc son propre paramètre. Il porte ici la même lettre, comme dans le JDK (</a:t>
            </a:r>
            <a:r>
              <a:rPr>
                <a:latin typeface="Consolas"/>
              </a:rPr>
              <a:t>List.of</a:t>
            </a:r>
            <a:r>
              <a:t> fait pareil), mais c'est un autre </a:t>
            </a:r>
            <a:r>
              <a:rPr>
                <a:latin typeface="Consolas"/>
              </a:rPr>
              <a:t>T</a:t>
            </a:r>
            <a:r>
              <a:t> : celui de la méthode, déduit à chaque appel.</a:t>
            </a:r>
          </a:p>
          <a:p>
            <a:r>
              <a:t>C'est une fabrique, au sens du module STA : une méthode statique qui construit et retourne un objet prêt à servir.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GEN.5</a:t>
            </a:r>
            <a:r>
              <a:t> déclare un </a:t>
            </a:r>
            <a:r>
              <a:rPr>
                <a:latin typeface="Consolas"/>
              </a:rPr>
              <a:t>T</a:t>
            </a:r>
            <a:r>
              <a:t> sur une méthode d'une classe qui n'est pas générique. L'indice de l'énoncé vous évite d'écrire la boucle d'inversion.</a:t>
            </a:r>
          </a:p>
          <a:p>
            <a:r>
              <a:t>Lisez la remarque honnête de l'énoncé, puis faites l'expérience de la première question : la méthode réécrite avec un </a:t>
            </a:r>
            <a:r>
              <a:rPr>
                <a:latin typeface="Consolas"/>
              </a:rPr>
              <a:t>Object</a:t>
            </a:r>
            <a:r>
              <a:t>. Comparez avec </a:t>
            </a:r>
            <a:r>
              <a:rPr>
                <a:latin typeface="Consolas"/>
              </a:rPr>
              <a:t>auHasard</a:t>
            </a:r>
            <a:r>
              <a:t> de la slide 5.2, et cherchez ce qui fait la différence entre les deux.</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CasierFerme</a:t>
            </a:r>
            <a:r>
              <a:t> reste générique : on peut créer un </a:t>
            </a:r>
            <a:r>
              <a:rPr>
                <a:latin typeface="Consolas"/>
              </a:rPr>
              <a:t>CasierFerme&lt;Valise&gt;</a:t>
            </a:r>
            <a:r>
              <a:t> ou un </a:t>
            </a:r>
            <a:r>
              <a:rPr>
                <a:latin typeface="Consolas"/>
              </a:rPr>
              <a:t>CasierFerme&lt;Sac&gt;</a:t>
            </a:r>
            <a:r>
              <a:t>, et chacun hérite des méthodes de </a:t>
            </a:r>
            <a:r>
              <a:rPr>
                <a:latin typeface="Consolas"/>
              </a:rPr>
              <a:t>Casier</a:t>
            </a:r>
            <a:r>
              <a:t> pour ce type.</a:t>
            </a:r>
          </a:p>
          <a:p>
            <a:r>
              <a:rPr>
                <a:latin typeface="Consolas"/>
              </a:rPr>
              <a:t>CasierVelo</a:t>
            </a:r>
            <a:r>
              <a:t> ne l'est plus. Il est un </a:t>
            </a:r>
            <a:r>
              <a:rPr>
                <a:latin typeface="Consolas"/>
              </a:rPr>
              <a:t>Casier&lt;Velo&gt;</a:t>
            </a:r>
            <a:r>
              <a:t>, et rien d'autre : on écrit </a:t>
            </a:r>
            <a:r>
              <a:rPr>
                <a:latin typeface="Consolas"/>
              </a:rPr>
              <a:t>new CasierVelo()</a:t>
            </a:r>
            <a:r>
              <a:t> sans chevrons, et sa méthode </a:t>
            </a:r>
            <a:r>
              <a:rPr>
                <a:latin typeface="Consolas"/>
              </a:rPr>
              <a:t>retirer</a:t>
            </a:r>
            <a:r>
              <a:t> retourne un </a:t>
            </a:r>
            <a:r>
              <a:rPr>
                <a:latin typeface="Consolas"/>
              </a:rPr>
              <a:t>Velo</a:t>
            </a:r>
            <a:r>
              <a:t>.</a:t>
            </a:r>
          </a:p>
          <a:p>
            <a:r>
              <a:t>Pour le reste, l'héritage fonctionne comme au module ABS : redéfinition, </a:t>
            </a:r>
            <a:r>
              <a:rPr>
                <a:latin typeface="Consolas"/>
              </a:rPr>
              <a:t>super</a:t>
            </a:r>
            <a:r>
              <a:t>, polymorphisme.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on peut la sauter si le temps manque.</a:t>
            </a:r>
          </a:p>
          <a:p>
            <a:r>
              <a:rPr>
                <a:latin typeface="Consolas"/>
              </a:rPr>
              <a:t>Vestiaire</a:t>
            </a:r>
            <a:r>
              <a:t> fixe le type : dans ses méthodes, </a:t>
            </a:r>
            <a:r>
              <a:rPr>
                <a:latin typeface="Consolas"/>
              </a:rPr>
              <a:t>T</a:t>
            </a:r>
            <a:r>
              <a:t> est remplacé par </a:t>
            </a:r>
            <a:r>
              <a:rPr>
                <a:latin typeface="Consolas"/>
              </a:rPr>
              <a:t>Manteau</a:t>
            </a:r>
            <a:r>
              <a:t>, et l'annotation </a:t>
            </a:r>
            <a:r>
              <a:rPr>
                <a:latin typeface="Consolas"/>
              </a:rPr>
              <a:t>@Override</a:t>
            </a:r>
            <a:r>
              <a:t> le confirme. </a:t>
            </a:r>
            <a:r>
              <a:rPr>
                <a:latin typeface="Consolas"/>
              </a:rPr>
              <a:t>Casier&lt;T&gt;</a:t>
            </a:r>
            <a:r>
              <a:t> pourrait de son côté implémenter </a:t>
            </a:r>
            <a:r>
              <a:rPr>
                <a:latin typeface="Consolas"/>
              </a:rPr>
              <a:t>Depot&lt;T&gt;</a:t>
            </a:r>
            <a:r>
              <a:t>, et transmettre son paramètre.</a:t>
            </a:r>
          </a:p>
          <a:p>
            <a:r>
              <a:t>Vous connaissez déjà une interface générique : </a:t>
            </a:r>
            <a:r>
              <a:rPr>
                <a:latin typeface="Consolas"/>
              </a:rPr>
              <a:t>List&lt;E&gt;</a:t>
            </a:r>
            <a:r>
              <a:t>, slide 1.2. Le module LAM vous en fera implémenter d'autres, comme </a:t>
            </a:r>
            <a:r>
              <a:rPr>
                <a:latin typeface="Consolas"/>
              </a:rPr>
              <a:t>Comparator&lt;T&gt;</a:t>
            </a:r>
            <a:r>
              <a:t>, sans écrire de classe.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GEN.6</a:t>
            </a:r>
            <a:r>
              <a:t> fournit </a:t>
            </a:r>
            <a:r>
              <a:rPr>
                <a:latin typeface="Consolas"/>
              </a:rPr>
              <a:t>Couple&lt;T&gt;</a:t>
            </a:r>
            <a:r>
              <a:t> et vous fait écrire </a:t>
            </a:r>
            <a:r>
              <a:rPr>
                <a:latin typeface="Consolas"/>
              </a:rPr>
              <a:t>CoupleNomme&lt;T&gt;</a:t>
            </a:r>
            <a:r>
              <a:t>. Lisez l'encadré sur </a:t>
            </a:r>
            <a:r>
              <a:rPr>
                <a:latin typeface="Consolas"/>
              </a:rPr>
              <a:t>super</a:t>
            </a:r>
            <a:r>
              <a:t> et </a:t>
            </a:r>
            <a:r>
              <a:rPr>
                <a:latin typeface="Consolas"/>
              </a:rPr>
              <a:t>this</a:t>
            </a:r>
            <a:r>
              <a:t> avant d'écrire le constructeur.</a:t>
            </a:r>
          </a:p>
          <a:p>
            <a:r>
              <a:t>La première question de fin rejoint le module ABS : une méthode de la mère qui appelle du code écrit après elle. La seconde se règle dans l'éditeur. Écrivez réellement la ligne proposée, et lisez ce que fait le compilateur quand vous créez un objet de la classe.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Relisez votre GameHub avec un œil neuf. Le jeu de Nim garde deux stratégies dans deux champs jumeaux, et choisit la bonne par un opérateur ternaire ; il fait de même pour les joueurs. La bataille passe ses deux pioches en paramètres jumeaux.</a:t>
            </a:r>
          </a:p>
          <a:p>
            <a:r>
              <a:rPr>
                <a:latin typeface="Consolas"/>
              </a:rPr>
              <a:t>G.31</a:t>
            </a:r>
            <a:r>
              <a:t> vous fait écrire une seule classe, </a:t>
            </a:r>
            <a:r>
              <a:rPr>
                <a:latin typeface="Consolas"/>
              </a:rPr>
              <a:t>ParJoueur&lt;T&gt;</a:t>
            </a:r>
            <a:r>
              <a:t>, qui garde une chose pour chaque joueur, puis vous fait l'introduire dans le Nim. La même classe y sert pour des stratégies et pour des joueurs, sans transtypage. La bataille fait l'objet d'une question : faut-il y aller aussi ?</a:t>
            </a:r>
          </a:p>
          <a:p>
            <a:r>
              <a:t>Une question à garder en tête : </a:t>
            </a:r>
            <a:r>
              <a:rPr>
                <a:latin typeface="Consolas"/>
              </a:rPr>
              <a:t>ParJoueur&lt;T&gt;</a:t>
            </a:r>
            <a:r>
              <a:t> stocke la même chose qu'une </a:t>
            </a:r>
            <a:r>
              <a:rPr>
                <a:latin typeface="Consolas"/>
              </a:rPr>
              <a:t>Paire&lt;T&gt;</a:t>
            </a:r>
            <a:r>
              <a:t>. Que dit-elle de plus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GEN</a:t>
            </a:r>
          </a:p>
          <a:p>
            <a:r>
              <a:t>Types génériques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21"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La classe générique</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paramètres</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L'effacement</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jokers</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err="1">
                  <a:solidFill>
                    <a:srgbClr val="FFFFFF"/>
                  </a:solidFill>
                </a:rPr>
                <a:t>Méthodes</a:t>
              </a:r>
              <a:r>
                <a:rPr sz="2600" dirty="0">
                  <a:solidFill>
                    <a:srgbClr val="FFFFFF"/>
                  </a:solidFill>
                </a:rPr>
                <a:t> </a:t>
              </a:r>
              <a:r>
                <a:rPr sz="2600" dirty="0" err="1">
                  <a:solidFill>
                    <a:srgbClr val="FFFFFF"/>
                  </a:solidFill>
                </a:rPr>
                <a:t>génériques</a:t>
              </a:r>
              <a:endParaRPr sz="2600" dirty="0">
                <a:solidFill>
                  <a:srgbClr val="FFFFFF"/>
                </a:solidFill>
              </a:endParaRP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L'héritage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D5788D8-8242-3B51-DC3B-7F26DBDF3D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765272"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type en paramètre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Quelqu'un a écrit ce </a:t>
            </a:r>
            <a:r>
              <a:rPr sz="3400">
                <a:solidFill>
                  <a:schemeClr val="accent4"/>
                </a:solidFill>
                <a:latin typeface="Consolas"/>
              </a:rPr>
              <a:t>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err="1"/>
              <a:t>Depuis</a:t>
            </a:r>
            <a:r>
              <a:rPr sz="2800" dirty="0"/>
              <a:t> COL, vous </a:t>
            </a:r>
            <a:r>
              <a:rPr sz="2800" dirty="0" err="1"/>
              <a:t>lisez</a:t>
            </a:r>
            <a:r>
              <a:rPr sz="2800" dirty="0"/>
              <a:t> les chevrons sans y </a:t>
            </a:r>
            <a:r>
              <a:rPr sz="2800" dirty="0" err="1"/>
              <a:t>penser</a:t>
            </a:r>
            <a:endParaRPr sz="2800" dirty="0"/>
          </a:p>
          <a:p>
            <a:pPr>
              <a:spcAft>
                <a:spcPts val="1000"/>
              </a:spcAft>
            </a:pPr>
            <a:r>
              <a:rPr sz="2800" dirty="0"/>
              <a:t>Dans le JDK, </a:t>
            </a:r>
            <a:r>
              <a:rPr sz="2800" dirty="0" err="1"/>
              <a:t>l'auteur</a:t>
            </a:r>
            <a:r>
              <a:rPr sz="2800" dirty="0"/>
              <a:t> de </a:t>
            </a:r>
            <a:r>
              <a:rPr sz="2400" dirty="0">
                <a:solidFill>
                  <a:schemeClr val="accent4"/>
                </a:solidFill>
                <a:latin typeface="Consolas"/>
              </a:rPr>
              <a:t>List</a:t>
            </a:r>
            <a:r>
              <a:rPr sz="2800" dirty="0"/>
              <a:t> a </a:t>
            </a:r>
            <a:r>
              <a:rPr sz="2800" dirty="0" err="1"/>
              <a:t>écrit</a:t>
            </a:r>
            <a:r>
              <a:rPr sz="2800" dirty="0"/>
              <a:t> </a:t>
            </a:r>
            <a:r>
              <a:rPr sz="2800" dirty="0" err="1"/>
              <a:t>une</a:t>
            </a:r>
            <a:r>
              <a:rPr sz="2800" dirty="0"/>
              <a:t> </a:t>
            </a:r>
            <a:r>
              <a:rPr sz="2800" dirty="0" err="1"/>
              <a:t>lettre</a:t>
            </a:r>
            <a:r>
              <a:rPr lang="nl-BE" sz="2800" dirty="0"/>
              <a:t> </a:t>
            </a:r>
            <a:r>
              <a:rPr lang="fr-BE" sz="2400" dirty="0">
                <a:solidFill>
                  <a:schemeClr val="accent4"/>
                </a:solidFill>
                <a:latin typeface="Consolas"/>
              </a:rPr>
              <a:t>E</a:t>
            </a:r>
            <a:endParaRPr sz="2800" dirty="0"/>
          </a:p>
          <a:p>
            <a:pPr marL="0" indent="0">
              <a:spcAft>
                <a:spcPts val="1000"/>
              </a:spcAft>
              <a:buNone/>
            </a:pPr>
            <a:r>
              <a:rPr lang="nl-BE" sz="2800" dirty="0"/>
              <a:t>Dans c</a:t>
            </a:r>
            <a:r>
              <a:rPr sz="2800" dirty="0"/>
              <a:t>e module</a:t>
            </a:r>
            <a:r>
              <a:rPr lang="nl-BE" sz="2800" dirty="0"/>
              <a:t>,</a:t>
            </a:r>
            <a:r>
              <a:rPr sz="2800" dirty="0"/>
              <a:t> vous </a:t>
            </a:r>
            <a:r>
              <a:rPr lang="nl-BE" sz="2800" dirty="0"/>
              <a:t>allez apprendre à</a:t>
            </a:r>
            <a:r>
              <a:rPr sz="2800" dirty="0"/>
              <a:t> </a:t>
            </a:r>
            <a:r>
              <a:rPr sz="2800" dirty="0" err="1"/>
              <a:t>écrire</a:t>
            </a:r>
            <a:r>
              <a:rPr sz="2800" dirty="0"/>
              <a:t> </a:t>
            </a:r>
            <a:r>
              <a:rPr lang="nl-BE" sz="2800" dirty="0"/>
              <a:t>ces classes “génériques”</a:t>
            </a:r>
            <a:endParaRPr sz="2800" dirty="0"/>
          </a:p>
        </p:txBody>
      </p:sp>
      <p:sp>
        <p:nvSpPr>
          <p:cNvPr id="4" name="Code"/>
          <p:cNvSpPr txBox="1"/>
          <p:nvPr/>
        </p:nvSpPr>
        <p:spPr>
          <a:xfrm>
            <a:off x="2241550" y="3307080"/>
            <a:ext cx="77089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ce</a:t>
            </a:r>
            <a:r>
              <a:rPr sz="1800" dirty="0">
                <a:solidFill>
                  <a:srgbClr val="7A7E85"/>
                </a:solidFill>
                <a:latin typeface="Consolas"/>
              </a:rPr>
              <a:t> </a:t>
            </a:r>
            <a:r>
              <a:rPr sz="1800" dirty="0" err="1">
                <a:solidFill>
                  <a:srgbClr val="7A7E85"/>
                </a:solidFill>
                <a:latin typeface="Consolas"/>
              </a:rPr>
              <a:t>que</a:t>
            </a:r>
            <a:r>
              <a:rPr sz="1800" dirty="0">
                <a:solidFill>
                  <a:srgbClr val="7A7E85"/>
                </a:solidFill>
                <a:latin typeface="Consolas"/>
              </a:rPr>
              <a:t> vous </a:t>
            </a:r>
            <a:r>
              <a:rPr lang="nl-BE" sz="1800" dirty="0">
                <a:solidFill>
                  <a:srgbClr val="7A7E85"/>
                </a:solidFill>
                <a:latin typeface="Consolas"/>
              </a:rPr>
              <a:t>avez écrit dans </a:t>
            </a:r>
            <a:r>
              <a:rPr sz="1800" dirty="0">
                <a:solidFill>
                  <a:srgbClr val="7A7E85"/>
                </a:solidFill>
                <a:latin typeface="Consolas"/>
              </a:rPr>
              <a:t>le module COL</a:t>
            </a:r>
          </a:p>
          <a:p>
            <a:pPr>
              <a:lnSpc>
                <a:spcPct val="100000"/>
              </a:lnSpc>
              <a:spcBef>
                <a:spcPts val="0"/>
              </a:spcBef>
              <a:spcAft>
                <a:spcPts val="0"/>
              </a:spcAft>
            </a:pPr>
            <a:r>
              <a:rPr sz="1800" dirty="0">
                <a:solidFill>
                  <a:srgbClr val="BCBEC4"/>
                </a:solidFill>
                <a:latin typeface="Consolas"/>
              </a:rPr>
              <a:t>List&lt;String&gt; </a:t>
            </a:r>
            <a:r>
              <a:rPr sz="1800" dirty="0" err="1">
                <a:solidFill>
                  <a:srgbClr val="BCBEC4"/>
                </a:solidFill>
                <a:latin typeface="Consolas"/>
              </a:rPr>
              <a:t>titres</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err="1">
                <a:solidFill>
                  <a:srgbClr val="BCBEC4"/>
                </a:solidFill>
                <a:latin typeface="Consolas"/>
              </a:rPr>
              <a:t>ArrayList</a:t>
            </a:r>
            <a:r>
              <a:rPr sz="1800" dirty="0">
                <a:solidFill>
                  <a:srgbClr val="BCBEC4"/>
                </a:solidFill>
                <a:latin typeface="Consolas"/>
              </a:rPr>
              <a:t>&lt;&gt;();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ce</a:t>
            </a:r>
            <a:r>
              <a:rPr sz="1800" dirty="0">
                <a:solidFill>
                  <a:srgbClr val="7A7E85"/>
                </a:solidFill>
                <a:latin typeface="Consolas"/>
              </a:rPr>
              <a:t> </a:t>
            </a:r>
            <a:r>
              <a:rPr sz="1800" dirty="0" err="1">
                <a:solidFill>
                  <a:srgbClr val="7A7E85"/>
                </a:solidFill>
                <a:latin typeface="Consolas"/>
              </a:rPr>
              <a:t>qu'a</a:t>
            </a:r>
            <a:r>
              <a:rPr sz="1800" dirty="0">
                <a:solidFill>
                  <a:srgbClr val="7A7E85"/>
                </a:solidFill>
                <a:latin typeface="Consolas"/>
              </a:rPr>
              <a:t> </a:t>
            </a:r>
            <a:r>
              <a:rPr sz="1800" dirty="0" err="1">
                <a:solidFill>
                  <a:srgbClr val="7A7E85"/>
                </a:solidFill>
                <a:latin typeface="Consolas"/>
              </a:rPr>
              <a:t>ecrit</a:t>
            </a:r>
            <a:r>
              <a:rPr sz="1800" dirty="0">
                <a:solidFill>
                  <a:srgbClr val="7A7E85"/>
                </a:solidFill>
                <a:latin typeface="Consolas"/>
              </a:rPr>
              <a:t> </a:t>
            </a:r>
            <a:r>
              <a:rPr sz="1800" dirty="0" err="1">
                <a:solidFill>
                  <a:srgbClr val="7A7E85"/>
                </a:solidFill>
                <a:latin typeface="Consolas"/>
              </a:rPr>
              <a:t>l'auteur</a:t>
            </a:r>
            <a:r>
              <a:rPr sz="1800" dirty="0">
                <a:solidFill>
                  <a:srgbClr val="7A7E85"/>
                </a:solidFill>
                <a:latin typeface="Consolas"/>
              </a:rPr>
              <a:t> de List (extrait </a:t>
            </a:r>
            <a:r>
              <a:rPr sz="1800" dirty="0" err="1">
                <a:solidFill>
                  <a:srgbClr val="7A7E85"/>
                </a:solidFill>
                <a:latin typeface="Consolas"/>
              </a:rPr>
              <a:t>simplifie</a:t>
            </a:r>
            <a:r>
              <a:rPr sz="1800" dirty="0">
                <a:solidFill>
                  <a:srgbClr val="7A7E85"/>
                </a:solidFill>
                <a:latin typeface="Consolas"/>
              </a:rPr>
              <a:t>)</a:t>
            </a: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List&lt;E&gt; {</a:t>
            </a:r>
          </a:p>
          <a:p>
            <a:pPr>
              <a:lnSpc>
                <a:spcPct val="100000"/>
              </a:lnSpc>
              <a:spcBef>
                <a:spcPts val="0"/>
              </a:spcBef>
              <a:spcAft>
                <a:spcPts val="0"/>
              </a:spcAft>
            </a:pP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add</a:t>
            </a:r>
            <a:r>
              <a:rPr sz="1800" dirty="0">
                <a:solidFill>
                  <a:srgbClr val="BCBEC4"/>
                </a:solidFill>
                <a:latin typeface="Consolas"/>
              </a:rPr>
              <a:t>(E element);</a:t>
            </a:r>
          </a:p>
          <a:p>
            <a:pPr>
              <a:lnSpc>
                <a:spcPct val="100000"/>
              </a:lnSpc>
              <a:spcBef>
                <a:spcPts val="0"/>
              </a:spcBef>
              <a:spcAft>
                <a:spcPts val="0"/>
              </a:spcAft>
            </a:pPr>
            <a:r>
              <a:rPr sz="1800" dirty="0">
                <a:solidFill>
                  <a:srgbClr val="BCBEC4"/>
                </a:solidFill>
                <a:latin typeface="Consolas"/>
              </a:rPr>
              <a:t>    E </a:t>
            </a:r>
            <a:r>
              <a:rPr sz="1800" dirty="0">
                <a:solidFill>
                  <a:srgbClr val="56A8F5"/>
                </a:solidFill>
                <a:latin typeface="Consolas"/>
              </a:rPr>
              <a:t>get</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index);</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
        <p:nvSpPr>
          <p:cNvPr id="7" name="Rectangle : coins arrondis 6">
            <a:extLst>
              <a:ext uri="{FF2B5EF4-FFF2-40B4-BE49-F238E27FC236}">
                <a16:creationId xmlns:a16="http://schemas.microsoft.com/office/drawing/2014/main" id="{8A163A8A-E770-1430-1C86-CCAB0F821F5A}"/>
              </a:ext>
            </a:extLst>
          </p:cNvPr>
          <p:cNvSpPr/>
          <p:nvPr/>
        </p:nvSpPr>
        <p:spPr>
          <a:xfrm>
            <a:off x="2353235" y="3718112"/>
            <a:ext cx="1588144"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DF7F8F1D-CE9A-FEE9-0F67-52A9AA9244A5}"/>
              </a:ext>
            </a:extLst>
          </p:cNvPr>
          <p:cNvSpPr/>
          <p:nvPr/>
        </p:nvSpPr>
        <p:spPr>
          <a:xfrm>
            <a:off x="4484594" y="4534170"/>
            <a:ext cx="962856"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L'erreur qui change de camp</a:t>
            </a:r>
          </a:p>
          <a:p>
            <a:pPr>
              <a:spcBef>
                <a:spcPts val="1200"/>
              </a:spcBef>
            </a:pPr>
            <a:r>
              <a:rPr sz="1400">
                <a:solidFill>
                  <a:srgbClr val="BCBEC4"/>
                </a:solidFill>
              </a:rPr>
              <a:t>Déroulé : Demo_GEN</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 paramètre, le fixer à l'usage</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dirty="0">
                <a:solidFill>
                  <a:schemeClr val="accent4"/>
                </a:solidFill>
                <a:latin typeface="Consolas"/>
              </a:rPr>
              <a:t>&lt;T&gt;</a:t>
            </a:r>
            <a:r>
              <a:rPr sz="2800" dirty="0"/>
              <a:t> après le nom de la </a:t>
            </a:r>
            <a:r>
              <a:rPr sz="2800" dirty="0" err="1"/>
              <a:t>classe</a:t>
            </a:r>
            <a:r>
              <a:rPr sz="2800" dirty="0"/>
              <a:t> </a:t>
            </a:r>
            <a:r>
              <a:rPr sz="2800" dirty="0" err="1"/>
              <a:t>déclare</a:t>
            </a:r>
            <a:r>
              <a:rPr sz="2800" dirty="0"/>
              <a:t> un </a:t>
            </a:r>
            <a:r>
              <a:rPr sz="2800" dirty="0" err="1"/>
              <a:t>paramètre</a:t>
            </a:r>
            <a:r>
              <a:rPr sz="2800" dirty="0"/>
              <a:t> de type</a:t>
            </a:r>
          </a:p>
          <a:p>
            <a:pPr marL="0" indent="0">
              <a:spcAft>
                <a:spcPts val="1000"/>
              </a:spcAft>
              <a:buNone/>
            </a:pPr>
            <a:r>
              <a:rPr sz="2400" dirty="0">
                <a:solidFill>
                  <a:schemeClr val="accent4"/>
                </a:solidFill>
                <a:latin typeface="Consolas"/>
              </a:rPr>
              <a:t>T</a:t>
            </a:r>
            <a:r>
              <a:rPr sz="2800" dirty="0"/>
              <a:t> </a:t>
            </a:r>
            <a:r>
              <a:rPr sz="2800" dirty="0" err="1"/>
              <a:t>s'écrit</a:t>
            </a:r>
            <a:r>
              <a:rPr sz="2800" dirty="0"/>
              <a:t> ensuite </a:t>
            </a:r>
            <a:r>
              <a:rPr sz="2800" dirty="0" err="1"/>
              <a:t>partout</a:t>
            </a:r>
            <a:r>
              <a:rPr sz="2800" dirty="0"/>
              <a:t> </a:t>
            </a:r>
            <a:r>
              <a:rPr sz="2800" dirty="0" err="1"/>
              <a:t>où</a:t>
            </a:r>
            <a:r>
              <a:rPr sz="2800" dirty="0"/>
              <a:t> un type </a:t>
            </a:r>
            <a:r>
              <a:rPr sz="2800" dirty="0" err="1"/>
              <a:t>peut</a:t>
            </a:r>
            <a:r>
              <a:rPr sz="2800" dirty="0"/>
              <a:t> </a:t>
            </a:r>
            <a:r>
              <a:rPr sz="2800" dirty="0" err="1"/>
              <a:t>s'écrire</a:t>
            </a:r>
            <a:endParaRPr sz="2800" dirty="0"/>
          </a:p>
          <a:p>
            <a:pPr marL="0" indent="0">
              <a:spcAft>
                <a:spcPts val="1000"/>
              </a:spcAft>
              <a:buNone/>
            </a:pPr>
            <a:r>
              <a:rPr sz="2800" dirty="0"/>
              <a:t>À </a:t>
            </a:r>
            <a:r>
              <a:rPr sz="2800" dirty="0" err="1"/>
              <a:t>l'usage</a:t>
            </a:r>
            <a:r>
              <a:rPr sz="2800" dirty="0"/>
              <a:t>, un argument de type </a:t>
            </a:r>
            <a:r>
              <a:rPr sz="2800" dirty="0" err="1"/>
              <a:t>prend</a:t>
            </a:r>
            <a:r>
              <a:rPr sz="2800" dirty="0"/>
              <a:t> </a:t>
            </a:r>
            <a:r>
              <a:rPr sz="2800" dirty="0" err="1"/>
              <a:t>sa</a:t>
            </a:r>
            <a:r>
              <a:rPr sz="2800" dirty="0"/>
              <a:t> place</a:t>
            </a:r>
          </a:p>
        </p:txBody>
      </p:sp>
      <p:sp>
        <p:nvSpPr>
          <p:cNvPr id="4" name="Code"/>
          <p:cNvSpPr txBox="1"/>
          <p:nvPr/>
        </p:nvSpPr>
        <p:spPr>
          <a:xfrm>
            <a:off x="5257800" y="1371600"/>
            <a:ext cx="5939028" cy="4389120"/>
          </a:xfrm>
          <a:prstGeom prst="roundRect">
            <a:avLst>
              <a:gd name="adj" fmla="val 208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Casier&lt;T&gt;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T contenu;</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(T objet) {</a:t>
            </a:r>
          </a:p>
          <a:p>
            <a:pPr>
              <a:lnSpc>
                <a:spcPct val="100000"/>
              </a:lnSpc>
              <a:spcBef>
                <a:spcPts val="0"/>
              </a:spcBef>
              <a:spcAft>
                <a:spcPts val="0"/>
              </a:spcAft>
            </a:pPr>
            <a:r>
              <a:rPr sz="1800">
                <a:solidFill>
                  <a:srgbClr val="BCBEC4"/>
                </a:solidFill>
                <a:latin typeface="Consolas"/>
              </a:rPr>
              <a:t>        contenu =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T </a:t>
            </a:r>
            <a:r>
              <a:rPr sz="1800">
                <a:solidFill>
                  <a:srgbClr val="56A8F5"/>
                </a:solidFill>
                <a:latin typeface="Consolas"/>
              </a:rPr>
              <a:t>retirer</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T objet = contenu;</a:t>
            </a:r>
          </a:p>
          <a:p>
            <a:pPr>
              <a:lnSpc>
                <a:spcPct val="100000"/>
              </a:lnSpc>
              <a:spcBef>
                <a:spcPts val="0"/>
              </a:spcBef>
              <a:spcAft>
                <a:spcPts val="0"/>
              </a:spcAft>
            </a:pPr>
            <a:r>
              <a:rPr sz="1800">
                <a:solidFill>
                  <a:srgbClr val="BCBEC4"/>
                </a:solidFill>
                <a:latin typeface="Consolas"/>
              </a:rPr>
              <a:t>        contenu = </a:t>
            </a:r>
            <a:r>
              <a:rPr sz="1800">
                <a:solidFill>
                  <a:srgbClr val="CF8E6D"/>
                </a:solidFill>
                <a:latin typeface="Consolas"/>
              </a:rPr>
              <a:t>null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Casier&lt;Valise&gt; casier =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
        <p:nvSpPr>
          <p:cNvPr id="7" name="Bulle rectangulaire à coins arrondis 6">
            <a:extLst>
              <a:ext uri="{FF2B5EF4-FFF2-40B4-BE49-F238E27FC236}">
                <a16:creationId xmlns:a16="http://schemas.microsoft.com/office/drawing/2014/main" id="{0AA229C5-29FE-2F45-03E8-E9837EFC317C}"/>
              </a:ext>
            </a:extLst>
          </p:cNvPr>
          <p:cNvSpPr/>
          <p:nvPr/>
        </p:nvSpPr>
        <p:spPr>
          <a:xfrm>
            <a:off x="9092045" y="3114720"/>
            <a:ext cx="2646911" cy="1122218"/>
          </a:xfrm>
          <a:prstGeom prst="wedgeRoundRectCallout">
            <a:avLst>
              <a:gd name="adj1" fmla="val 3270"/>
              <a:gd name="adj2" fmla="val 24107"/>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Le casier contient des </a:t>
            </a:r>
            <a:r>
              <a:rPr lang="fr-FR" dirty="0" err="1"/>
              <a:t>T</a:t>
            </a:r>
            <a:r>
              <a:rPr lang="fr-FR" dirty="0"/>
              <a:t>, on peut y déposer un </a:t>
            </a:r>
            <a:r>
              <a:rPr lang="fr-FR" dirty="0" err="1"/>
              <a:t>T</a:t>
            </a:r>
            <a:r>
              <a:rPr lang="fr-FR" dirty="0"/>
              <a:t> et en retirer un </a:t>
            </a:r>
            <a:r>
              <a:rPr lang="fr-FR" dirty="0" err="1"/>
              <a:t>T</a:t>
            </a:r>
            <a:r>
              <a:rPr lang="fr-FR"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T</a:t>
            </a:r>
            <a:r>
              <a:rPr sz="4000"/>
              <a:t> se transmet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100" dirty="0">
                <a:solidFill>
                  <a:schemeClr val="accent4"/>
                </a:solidFill>
                <a:latin typeface="Consolas"/>
              </a:rPr>
              <a:t>T</a:t>
            </a:r>
            <a:r>
              <a:rPr sz="2400" dirty="0"/>
              <a:t> </a:t>
            </a:r>
            <a:r>
              <a:rPr sz="2400" dirty="0" err="1"/>
              <a:t>peut</a:t>
            </a:r>
            <a:r>
              <a:rPr sz="2400" dirty="0"/>
              <a:t> </a:t>
            </a:r>
            <a:r>
              <a:rPr sz="2400" dirty="0" err="1"/>
              <a:t>servir</a:t>
            </a:r>
            <a:r>
              <a:rPr sz="2400" dirty="0"/>
              <a:t> </a:t>
            </a:r>
            <a:r>
              <a:rPr sz="2400" dirty="0" err="1"/>
              <a:t>d'argument</a:t>
            </a:r>
            <a:r>
              <a:rPr sz="2400" dirty="0"/>
              <a:t> à un </a:t>
            </a:r>
            <a:r>
              <a:rPr sz="2400" dirty="0" err="1"/>
              <a:t>autre</a:t>
            </a:r>
            <a:r>
              <a:rPr sz="2400" dirty="0"/>
              <a:t> type </a:t>
            </a:r>
            <a:r>
              <a:rPr sz="2400" dirty="0" err="1"/>
              <a:t>générique</a:t>
            </a:r>
            <a:endParaRPr sz="2400" dirty="0"/>
          </a:p>
          <a:p>
            <a:pPr marL="0" indent="0">
              <a:spcAft>
                <a:spcPts val="1000"/>
              </a:spcAft>
              <a:buNone/>
            </a:pPr>
            <a:r>
              <a:rPr sz="2400" dirty="0"/>
              <a:t>La </a:t>
            </a:r>
            <a:r>
              <a:rPr sz="2400" dirty="0" err="1"/>
              <a:t>classe</a:t>
            </a:r>
            <a:r>
              <a:rPr sz="2400" dirty="0"/>
              <a:t> </a:t>
            </a:r>
            <a:r>
              <a:rPr lang="nl-BE" sz="2000" dirty="0">
                <a:solidFill>
                  <a:schemeClr val="accent4"/>
                </a:solidFill>
                <a:latin typeface="Consolas" panose="020B0609020204030204" pitchFamily="49" charset="0"/>
                <a:cs typeface="Consolas" panose="020B0609020204030204" pitchFamily="49" charset="0"/>
              </a:rPr>
              <a:t>Consigne&lt;T&gt;</a:t>
            </a:r>
            <a:r>
              <a:rPr lang="nl-BE" sz="2400" dirty="0"/>
              <a:t> </a:t>
            </a:r>
            <a:r>
              <a:rPr sz="2400" dirty="0" err="1"/>
              <a:t>enveloppe</a:t>
            </a:r>
            <a:r>
              <a:rPr sz="2400" dirty="0"/>
              <a:t> </a:t>
            </a:r>
            <a:r>
              <a:rPr sz="2400" dirty="0" err="1"/>
              <a:t>une</a:t>
            </a:r>
            <a:r>
              <a:rPr sz="2400" dirty="0"/>
              <a:t> collection</a:t>
            </a:r>
            <a:r>
              <a:rPr lang="nl-BE" sz="2400" dirty="0"/>
              <a:t> (</a:t>
            </a:r>
            <a:r>
              <a:rPr lang="nl-BE" sz="2000" dirty="0">
                <a:solidFill>
                  <a:schemeClr val="accent4"/>
                </a:solidFill>
                <a:latin typeface="Consolas" panose="020B0609020204030204" pitchFamily="49" charset="0"/>
                <a:cs typeface="Consolas" panose="020B0609020204030204" pitchFamily="49" charset="0"/>
              </a:rPr>
              <a:t>List&lt;T&gt;</a:t>
            </a:r>
            <a:r>
              <a:rPr lang="nl-BE" sz="2400" dirty="0"/>
              <a:t>)</a:t>
            </a:r>
            <a:r>
              <a:rPr sz="2400" dirty="0"/>
              <a:t>, et </a:t>
            </a:r>
            <a:r>
              <a:rPr sz="2400" dirty="0" err="1"/>
              <a:t>lui</a:t>
            </a:r>
            <a:r>
              <a:rPr sz="2400" dirty="0"/>
              <a:t> </a:t>
            </a:r>
            <a:r>
              <a:rPr sz="2400" dirty="0" err="1"/>
              <a:t>délègue</a:t>
            </a:r>
            <a:r>
              <a:rPr sz="2400" dirty="0"/>
              <a:t> le travail</a:t>
            </a:r>
          </a:p>
          <a:p>
            <a:pPr marL="0" indent="0">
              <a:spcAft>
                <a:spcPts val="1000"/>
              </a:spcAft>
              <a:buNone/>
            </a:pPr>
            <a:r>
              <a:rPr sz="2400" dirty="0"/>
              <a:t>La collection </a:t>
            </a:r>
            <a:r>
              <a:rPr sz="2400" dirty="0" err="1"/>
              <a:t>hérite</a:t>
            </a:r>
            <a:r>
              <a:rPr sz="2400" dirty="0"/>
              <a:t> de la </a:t>
            </a:r>
            <a:r>
              <a:rPr sz="2400" dirty="0" err="1"/>
              <a:t>vérification</a:t>
            </a:r>
            <a:endParaRPr sz="2400" dirty="0"/>
          </a:p>
        </p:txBody>
      </p:sp>
      <p:sp>
        <p:nvSpPr>
          <p:cNvPr id="4" name="Code"/>
          <p:cNvSpPr txBox="1"/>
          <p:nvPr/>
        </p:nvSpPr>
        <p:spPr>
          <a:xfrm>
            <a:off x="2550054" y="3124200"/>
            <a:ext cx="7091891"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Consigne&lt;T&gt;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List&lt;T&gt; depots = </a:t>
            </a:r>
            <a:r>
              <a:rPr sz="1650">
                <a:solidFill>
                  <a:srgbClr val="CF8E6D"/>
                </a:solidFill>
                <a:latin typeface="Consolas"/>
              </a:rPr>
              <a:t>new</a:t>
            </a:r>
            <a:r>
              <a:rPr sz="1650">
                <a:solidFill>
                  <a:srgbClr val="BCBEC4"/>
                </a:solidFill>
                <a:latin typeface="Consolas"/>
              </a:rPr>
              <a:t> ArrayList&lt;&gt;();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deposer</a:t>
            </a:r>
            <a:r>
              <a:rPr sz="1650">
                <a:solidFill>
                  <a:srgbClr val="BCBEC4"/>
                </a:solidFill>
                <a:latin typeface="Consolas"/>
              </a:rPr>
              <a:t>(T objet) {</a:t>
            </a:r>
          </a:p>
          <a:p>
            <a:pPr>
              <a:lnSpc>
                <a:spcPct val="100000"/>
              </a:lnSpc>
              <a:spcBef>
                <a:spcPts val="0"/>
              </a:spcBef>
              <a:spcAft>
                <a:spcPts val="0"/>
              </a:spcAft>
            </a:pPr>
            <a:r>
              <a:rPr sz="1650">
                <a:solidFill>
                  <a:srgbClr val="BCBEC4"/>
                </a:solidFill>
                <a:latin typeface="Consolas"/>
              </a:rPr>
              <a:t>        depots.</a:t>
            </a:r>
            <a:r>
              <a:rPr sz="1650">
                <a:solidFill>
                  <a:srgbClr val="56A8F5"/>
                </a:solidFill>
                <a:latin typeface="Consolas"/>
              </a:rPr>
              <a:t>add</a:t>
            </a:r>
            <a:r>
              <a:rPr sz="1650">
                <a:solidFill>
                  <a:srgbClr val="BCBEC4"/>
                </a:solidFill>
                <a:latin typeface="Consolas"/>
              </a:rPr>
              <a:t>(objet);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int</a:t>
            </a:r>
            <a:r>
              <a:rPr sz="1650">
                <a:solidFill>
                  <a:srgbClr val="BCBEC4"/>
                </a:solidFill>
                <a:latin typeface="Consolas"/>
              </a:rPr>
              <a:t> </a:t>
            </a:r>
            <a:r>
              <a:rPr sz="1650">
                <a:solidFill>
                  <a:srgbClr val="56A8F5"/>
                </a:solidFill>
                <a:latin typeface="Consolas"/>
              </a:rPr>
              <a:t>nombreDeDepots</a:t>
            </a: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return</a:t>
            </a:r>
            <a:r>
              <a:rPr sz="1650">
                <a:solidFill>
                  <a:srgbClr val="BCBEC4"/>
                </a:solidFill>
                <a:latin typeface="Consolas"/>
              </a:rPr>
              <a:t> depots.</a:t>
            </a:r>
            <a:r>
              <a:rPr sz="1650">
                <a:solidFill>
                  <a:srgbClr val="56A8F5"/>
                </a:solidFill>
                <a:latin typeface="Consolas"/>
              </a:rPr>
              <a:t>size</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paire, un seul type</a:t>
            </a:r>
          </a:p>
          <a:p>
            <a:r>
              <a:rPr sz="1400">
                <a:solidFill>
                  <a:srgbClr val="BCBEC4"/>
                </a:solidFill>
              </a:rPr>
              <a:t>fascicule GEN</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2.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9667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Autant de types qu'il en faut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Plusieurs paramètres</a:t>
            </a:r>
          </a:p>
        </p:txBody>
      </p:sp>
      <p:sp>
        <p:nvSpPr>
          <p:cNvPr id="3" name="Content Placeholder 2"/>
          <p:cNvSpPr>
            <a:spLocks noGrp="1"/>
          </p:cNvSpPr>
          <p:nvPr>
            <p:ph idx="1"/>
          </p:nvPr>
        </p:nvSpPr>
        <p:spPr>
          <a:xfrm>
            <a:off x="640080" y="1371600"/>
            <a:ext cx="10881360" cy="2057400"/>
          </a:xfrm>
        </p:spPr>
        <p:txBody>
          <a:bodyPr>
            <a:normAutofit lnSpcReduction="10000"/>
          </a:bodyPr>
          <a:lstStyle/>
          <a:p>
            <a:pPr marL="0" indent="0">
              <a:spcAft>
                <a:spcPts val="1000"/>
              </a:spcAft>
              <a:buNone/>
            </a:pPr>
            <a:r>
              <a:rPr lang="nl-BE" sz="2800" dirty="0"/>
              <a:t>Un type générique peut concerner plusieurs paramètres, qui </a:t>
            </a:r>
            <a:r>
              <a:rPr sz="2800" dirty="0"/>
              <a:t>se </a:t>
            </a:r>
            <a:r>
              <a:rPr sz="2800" dirty="0" err="1"/>
              <a:t>déclarent</a:t>
            </a:r>
            <a:r>
              <a:rPr sz="2800" dirty="0"/>
              <a:t> </a:t>
            </a:r>
            <a:r>
              <a:rPr lang="nl-BE" sz="2800" dirty="0"/>
              <a:t>alors entre parenthèses </a:t>
            </a:r>
            <a:r>
              <a:rPr sz="2800" dirty="0"/>
              <a:t>dans les </a:t>
            </a:r>
            <a:r>
              <a:rPr sz="2800" dirty="0" err="1"/>
              <a:t>mêmes</a:t>
            </a:r>
            <a:r>
              <a:rPr sz="2800" dirty="0"/>
              <a:t> chevrons</a:t>
            </a:r>
          </a:p>
          <a:p>
            <a:pPr marL="0" indent="0">
              <a:spcAft>
                <a:spcPts val="1000"/>
              </a:spcAft>
              <a:buNone/>
            </a:pPr>
            <a:r>
              <a:rPr sz="2800" dirty="0"/>
              <a:t>Chacun </a:t>
            </a:r>
            <a:r>
              <a:rPr sz="2800" dirty="0" err="1"/>
              <a:t>s'utilise</a:t>
            </a:r>
            <a:r>
              <a:rPr sz="2800" dirty="0"/>
              <a:t> </a:t>
            </a:r>
            <a:r>
              <a:rPr sz="2800" dirty="0" err="1"/>
              <a:t>indépendamment</a:t>
            </a:r>
            <a:r>
              <a:rPr sz="2800" dirty="0"/>
              <a:t> des </a:t>
            </a:r>
            <a:r>
              <a:rPr sz="2800" dirty="0" err="1"/>
              <a:t>autres</a:t>
            </a:r>
            <a:endParaRPr sz="2800" dirty="0"/>
          </a:p>
          <a:p>
            <a:pPr marL="0" indent="0">
              <a:spcAft>
                <a:spcPts val="1000"/>
              </a:spcAft>
              <a:buNone/>
            </a:pPr>
            <a:r>
              <a:rPr sz="2800" dirty="0" err="1"/>
              <a:t>L'usage</a:t>
            </a:r>
            <a:r>
              <a:rPr sz="2800" dirty="0"/>
              <a:t> </a:t>
            </a:r>
            <a:r>
              <a:rPr sz="2800" dirty="0" err="1"/>
              <a:t>donne</a:t>
            </a:r>
            <a:r>
              <a:rPr sz="2800" dirty="0"/>
              <a:t> un argument à chacun, dans </a:t>
            </a:r>
            <a:r>
              <a:rPr sz="2800" dirty="0" err="1"/>
              <a:t>l'ordre</a:t>
            </a:r>
            <a:endParaRPr sz="2800" dirty="0"/>
          </a:p>
        </p:txBody>
      </p:sp>
      <p:sp>
        <p:nvSpPr>
          <p:cNvPr id="4" name="Code"/>
          <p:cNvSpPr txBox="1"/>
          <p:nvPr/>
        </p:nvSpPr>
        <p:spPr>
          <a:xfrm>
            <a:off x="2755724" y="3429000"/>
            <a:ext cx="668055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Ticket&lt;K, V&gt;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a:solidFill>
                  <a:srgbClr val="CF8E6D"/>
                </a:solidFill>
                <a:latin typeface="Consolas"/>
              </a:rPr>
              <a:t>final</a:t>
            </a:r>
            <a:r>
              <a:rPr sz="1550" dirty="0">
                <a:solidFill>
                  <a:srgbClr val="BCBEC4"/>
                </a:solidFill>
                <a:latin typeface="Consolas"/>
              </a:rPr>
              <a:t> K </a:t>
            </a:r>
            <a:r>
              <a:rPr sz="1550" dirty="0" err="1">
                <a:solidFill>
                  <a:srgbClr val="BCBEC4"/>
                </a:solidFill>
                <a:latin typeface="Consolas"/>
              </a:rPr>
              <a:t>numero</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a:solidFill>
                  <a:srgbClr val="CF8E6D"/>
                </a:solidFill>
                <a:latin typeface="Consolas"/>
              </a:rPr>
              <a:t>final</a:t>
            </a:r>
            <a:r>
              <a:rPr sz="1550" dirty="0">
                <a:solidFill>
                  <a:srgbClr val="BCBEC4"/>
                </a:solidFill>
                <a:latin typeface="Consolas"/>
              </a:rPr>
              <a:t> V </a:t>
            </a:r>
            <a:r>
              <a:rPr sz="1550" dirty="0" err="1">
                <a:solidFill>
                  <a:srgbClr val="BCBEC4"/>
                </a:solidFill>
                <a:latin typeface="Consolas"/>
              </a:rPr>
              <a:t>objet</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56A8F5"/>
                </a:solidFill>
                <a:latin typeface="Consolas"/>
              </a:rPr>
              <a:t>Ticket</a:t>
            </a:r>
            <a:r>
              <a:rPr sz="1550" dirty="0">
                <a:solidFill>
                  <a:srgbClr val="BCBEC4"/>
                </a:solidFill>
                <a:latin typeface="Consolas"/>
              </a:rPr>
              <a:t>(K </a:t>
            </a:r>
            <a:r>
              <a:rPr sz="1550" dirty="0" err="1">
                <a:solidFill>
                  <a:srgbClr val="BCBEC4"/>
                </a:solidFill>
                <a:latin typeface="Consolas"/>
              </a:rPr>
              <a:t>numero</a:t>
            </a:r>
            <a:r>
              <a:rPr sz="1550" dirty="0">
                <a:solidFill>
                  <a:srgbClr val="BCBEC4"/>
                </a:solidFill>
                <a:latin typeface="Consolas"/>
              </a:rPr>
              <a:t>, V </a:t>
            </a:r>
            <a:r>
              <a:rPr sz="1550" dirty="0" err="1">
                <a:solidFill>
                  <a:srgbClr val="BCBEC4"/>
                </a:solidFill>
                <a:latin typeface="Consolas"/>
              </a:rPr>
              <a:t>objet</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CF8E6D"/>
                </a:solidFill>
                <a:latin typeface="Consolas"/>
              </a:rPr>
              <a:t>this</a:t>
            </a:r>
            <a:r>
              <a:rPr sz="1550" dirty="0" err="1">
                <a:solidFill>
                  <a:srgbClr val="BCBEC4"/>
                </a:solidFill>
                <a:latin typeface="Consolas"/>
              </a:rPr>
              <a:t>.numero</a:t>
            </a:r>
            <a:r>
              <a:rPr sz="1550" dirty="0">
                <a:solidFill>
                  <a:srgbClr val="BCBEC4"/>
                </a:solidFill>
                <a:latin typeface="Consolas"/>
              </a:rPr>
              <a:t> = </a:t>
            </a:r>
            <a:r>
              <a:rPr sz="1550" dirty="0" err="1">
                <a:solidFill>
                  <a:srgbClr val="BCBEC4"/>
                </a:solidFill>
                <a:latin typeface="Consolas"/>
              </a:rPr>
              <a:t>numero</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err="1">
                <a:solidFill>
                  <a:srgbClr val="CF8E6D"/>
                </a:solidFill>
                <a:latin typeface="Consolas"/>
              </a:rPr>
              <a:t>this</a:t>
            </a:r>
            <a:r>
              <a:rPr sz="1550" dirty="0" err="1">
                <a:solidFill>
                  <a:srgbClr val="BCBEC4"/>
                </a:solidFill>
                <a:latin typeface="Consolas"/>
              </a:rPr>
              <a:t>.objet</a:t>
            </a:r>
            <a:r>
              <a:rPr sz="1550" dirty="0">
                <a:solidFill>
                  <a:srgbClr val="BCBEC4"/>
                </a:solidFill>
                <a:latin typeface="Consolas"/>
              </a:rPr>
              <a:t> = </a:t>
            </a:r>
            <a:r>
              <a:rPr sz="1550" dirty="0" err="1">
                <a:solidFill>
                  <a:srgbClr val="BCBEC4"/>
                </a:solidFill>
                <a:latin typeface="Consolas"/>
              </a:rPr>
              <a:t>objet</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Ticket&lt;Integer, Valise&gt; t = </a:t>
            </a:r>
            <a:r>
              <a:rPr sz="1550" dirty="0">
                <a:solidFill>
                  <a:srgbClr val="CF8E6D"/>
                </a:solidFill>
                <a:latin typeface="Consolas"/>
              </a:rPr>
              <a:t>new</a:t>
            </a:r>
            <a:r>
              <a:rPr sz="1550" dirty="0">
                <a:solidFill>
                  <a:srgbClr val="BCBEC4"/>
                </a:solidFill>
                <a:latin typeface="Consolas"/>
              </a:rPr>
              <a:t> Ticket&lt;&gt;(</a:t>
            </a:r>
            <a:r>
              <a:rPr sz="1550" dirty="0">
                <a:solidFill>
                  <a:srgbClr val="2AACB8"/>
                </a:solidFill>
                <a:latin typeface="Consolas"/>
              </a:rPr>
              <a:t>42</a:t>
            </a:r>
            <a:r>
              <a:rPr sz="1550" dirty="0">
                <a:solidFill>
                  <a:srgbClr val="BCBEC4"/>
                </a:solidFill>
                <a:latin typeface="Consolas"/>
              </a:rPr>
              <a:t>, 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
        <p:nvSpPr>
          <p:cNvPr id="7" name="Rectangle : coins arrondis 6">
            <a:extLst>
              <a:ext uri="{FF2B5EF4-FFF2-40B4-BE49-F238E27FC236}">
                <a16:creationId xmlns:a16="http://schemas.microsoft.com/office/drawing/2014/main" id="{98977454-9D46-825B-1A78-74998F521DEE}"/>
              </a:ext>
            </a:extLst>
          </p:cNvPr>
          <p:cNvSpPr/>
          <p:nvPr/>
        </p:nvSpPr>
        <p:spPr>
          <a:xfrm>
            <a:off x="4223598" y="3527783"/>
            <a:ext cx="1449838"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C2077939-6818-484B-5240-0B1990BF0AA3}"/>
              </a:ext>
            </a:extLst>
          </p:cNvPr>
          <p:cNvSpPr/>
          <p:nvPr/>
        </p:nvSpPr>
        <p:spPr>
          <a:xfrm>
            <a:off x="2853219" y="5904436"/>
            <a:ext cx="2550054"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argument de type peut être générique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argument de type peut contenir lui-même des chevrons</a:t>
            </a:r>
          </a:p>
          <a:p>
            <a:pPr marL="0" indent="0">
              <a:spcAft>
                <a:spcPts val="1000"/>
              </a:spcAft>
              <a:buNone/>
            </a:pPr>
            <a:r>
              <a:rPr sz="2800"/>
              <a:t>On le lit de l'extérieur vers l'intérieur</a:t>
            </a:r>
          </a:p>
          <a:p>
            <a:pPr marL="0" indent="0">
              <a:spcAft>
                <a:spcPts val="1000"/>
              </a:spcAft>
              <a:buNone/>
            </a:pPr>
            <a:r>
              <a:rPr sz="2800"/>
              <a:t>Le compilateur vérifie chaque niveau</a:t>
            </a:r>
          </a:p>
        </p:txBody>
      </p:sp>
      <p:sp>
        <p:nvSpPr>
          <p:cNvPr id="4" name="Code"/>
          <p:cNvSpPr txBox="1"/>
          <p:nvPr/>
        </p:nvSpPr>
        <p:spPr>
          <a:xfrm>
            <a:off x="2032000" y="3566161"/>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List&lt;Valise&gt;&gt; parVoyageur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Casier&lt;List&lt;Valise&gt;&gt; casierFamille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Ticket&lt;Integer, Casier&lt;Valise&gt;&gt; ticket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Ticket&lt;&gt;(</a:t>
            </a:r>
            <a:r>
              <a:rPr sz="1800">
                <a:solidFill>
                  <a:srgbClr val="2AACB8"/>
                </a:solidFill>
                <a:latin typeface="Consolas"/>
              </a:rPr>
              <a:t>7</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couple, deux types</a:t>
              </a:r>
            </a:p>
            <a:p>
              <a:r>
                <a:rPr sz="1400">
                  <a:solidFill>
                    <a:srgbClr val="BCBEC4"/>
                  </a:solidFill>
                </a:rPr>
                <a:t>fascicule GEN</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GEN.3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Deux sortes de triplets</a:t>
              </a:r>
            </a:p>
            <a:p>
              <a:r>
                <a:rPr sz="1400">
                  <a:solidFill>
                    <a:srgbClr val="BCBEC4"/>
                  </a:solidFill>
                </a:rPr>
                <a:t>fascicule GEN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3.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7455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Ce que le compilateur efface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à l'exécution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Pour le compilateur, </a:t>
            </a:r>
            <a:r>
              <a:rPr sz="2400">
                <a:solidFill>
                  <a:schemeClr val="accent4"/>
                </a:solidFill>
                <a:latin typeface="Consolas"/>
              </a:rPr>
              <a:t>Casier&lt;Valise&gt;</a:t>
            </a:r>
            <a:r>
              <a:rPr sz="2800"/>
              <a:t> et </a:t>
            </a:r>
            <a:r>
              <a:rPr sz="2400">
                <a:solidFill>
                  <a:schemeClr val="accent4"/>
                </a:solidFill>
                <a:latin typeface="Consolas"/>
              </a:rPr>
              <a:t>Casier&lt;String&gt;</a:t>
            </a:r>
            <a:r>
              <a:rPr sz="2800"/>
              <a:t> diffèrent</a:t>
            </a:r>
          </a:p>
          <a:p>
            <a:pPr marL="0" indent="0">
              <a:spcAft>
                <a:spcPts val="1000"/>
              </a:spcAft>
              <a:buNone/>
            </a:pPr>
            <a:r>
              <a:rPr sz="2800"/>
              <a:t>À l'exécution, il n'existe qu'une classe </a:t>
            </a:r>
            <a:r>
              <a:rPr sz="2400">
                <a:solidFill>
                  <a:schemeClr val="accent4"/>
                </a:solidFill>
                <a:latin typeface="Consolas"/>
              </a:rPr>
              <a:t>Casier</a:t>
            </a:r>
          </a:p>
          <a:p>
            <a:pPr marL="0" indent="0">
              <a:spcAft>
                <a:spcPts val="1000"/>
              </a:spcAft>
              <a:buNone/>
            </a:pPr>
            <a:r>
              <a:rPr sz="2800"/>
              <a:t>Les arguments de type ont disparu : c'est l'effacement</a:t>
            </a:r>
          </a:p>
        </p:txBody>
      </p:sp>
      <p:sp>
        <p:nvSpPr>
          <p:cNvPr id="4" name="Code"/>
          <p:cNvSpPr txBox="1"/>
          <p:nvPr/>
        </p:nvSpPr>
        <p:spPr>
          <a:xfrm>
            <a:off x="1822450" y="416052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Casier&lt;Valise&gt; pourValises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Casier&lt;String&gt; pourMessages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pourValises.</a:t>
            </a:r>
            <a:r>
              <a:rPr sz="1800">
                <a:solidFill>
                  <a:srgbClr val="56A8F5"/>
                </a:solidFill>
                <a:latin typeface="Consolas"/>
              </a:rPr>
              <a:t>getClass</a:t>
            </a:r>
            <a:r>
              <a:rPr sz="1800">
                <a:solidFill>
                  <a:srgbClr val="BCBEC4"/>
                </a:solidFill>
                <a:latin typeface="Consolas"/>
              </a:rPr>
              <a:t>() == pourMessages.</a:t>
            </a:r>
            <a:r>
              <a:rPr sz="1800">
                <a:solidFill>
                  <a:srgbClr val="56A8F5"/>
                </a:solidFill>
                <a:latin typeface="Consolas"/>
              </a:rPr>
              <a:t>getClass</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effacer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compilateur vérifie chaque usage de </a:t>
            </a:r>
            <a:r>
              <a:rPr sz="2400">
                <a:solidFill>
                  <a:schemeClr val="accent4"/>
                </a:solidFill>
                <a:latin typeface="Consolas"/>
              </a:rPr>
              <a:t>T</a:t>
            </a:r>
          </a:p>
          <a:p>
            <a:pPr marL="0" indent="0">
              <a:spcAft>
                <a:spcPts val="1000"/>
              </a:spcAft>
              <a:buNone/>
            </a:pPr>
            <a:r>
              <a:rPr sz="2800"/>
              <a:t>Puis il remplace </a:t>
            </a:r>
            <a:r>
              <a:rPr sz="2400">
                <a:solidFill>
                  <a:schemeClr val="accent4"/>
                </a:solidFill>
                <a:latin typeface="Consolas"/>
              </a:rPr>
              <a:t>T</a:t>
            </a:r>
            <a:r>
              <a:rPr sz="2800"/>
              <a:t> par </a:t>
            </a:r>
            <a:r>
              <a:rPr sz="2400">
                <a:solidFill>
                  <a:schemeClr val="accent4"/>
                </a:solidFill>
                <a:latin typeface="Consolas"/>
              </a:rPr>
              <a:t>Object</a:t>
            </a:r>
            <a:r>
              <a:rPr sz="2800"/>
              <a:t> dans la classe</a:t>
            </a:r>
          </a:p>
          <a:p>
            <a:pPr marL="0" indent="0">
              <a:spcAft>
                <a:spcPts val="1000"/>
              </a:spcAft>
              <a:buNone/>
            </a:pPr>
            <a:r>
              <a:rPr sz="2800"/>
              <a:t>Et il écrit lui-même le transtypage chez l'appelant</a:t>
            </a:r>
          </a:p>
        </p:txBody>
      </p:sp>
      <p:sp>
        <p:nvSpPr>
          <p:cNvPr id="4" name="Code"/>
          <p:cNvSpPr txBox="1"/>
          <p:nvPr/>
        </p:nvSpPr>
        <p:spPr>
          <a:xfrm>
            <a:off x="6346826" y="4371873"/>
            <a:ext cx="4230832" cy="870065"/>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err="1">
                <a:solidFill>
                  <a:srgbClr val="BCBEC4"/>
                </a:solidFill>
                <a:latin typeface="Consolas"/>
              </a:rPr>
              <a:t>Casier</a:t>
            </a:r>
            <a:r>
              <a:rPr sz="1400" dirty="0">
                <a:solidFill>
                  <a:srgbClr val="BCBEC4"/>
                </a:solidFill>
                <a:latin typeface="Consolas"/>
              </a:rPr>
              <a:t> </a:t>
            </a:r>
            <a:r>
              <a:rPr sz="1400" dirty="0" err="1">
                <a:solidFill>
                  <a:srgbClr val="BCBEC4"/>
                </a:solidFill>
                <a:latin typeface="Consolas"/>
              </a:rPr>
              <a:t>casier</a:t>
            </a:r>
            <a:r>
              <a:rPr sz="1400" dirty="0">
                <a:solidFill>
                  <a:srgbClr val="BCBEC4"/>
                </a:solidFill>
                <a:latin typeface="Consolas"/>
              </a:rPr>
              <a:t> =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Casier</a:t>
            </a:r>
            <a:r>
              <a:rPr sz="1400" dirty="0">
                <a:solidFill>
                  <a:srgbClr val="BCBEC4"/>
                </a:solidFill>
                <a:latin typeface="Consolas"/>
              </a:rPr>
              <a:t>();</a:t>
            </a:r>
          </a:p>
          <a:p>
            <a:pPr>
              <a:lnSpc>
                <a:spcPct val="100000"/>
              </a:lnSpc>
              <a:spcBef>
                <a:spcPts val="0"/>
              </a:spcBef>
              <a:spcAft>
                <a:spcPts val="0"/>
              </a:spcAft>
            </a:pPr>
            <a:r>
              <a:rPr sz="1400" dirty="0" err="1">
                <a:solidFill>
                  <a:srgbClr val="BCBEC4"/>
                </a:solidFill>
                <a:latin typeface="Consolas"/>
              </a:rPr>
              <a:t>casier.</a:t>
            </a:r>
            <a:r>
              <a:rPr sz="1400" dirty="0" err="1">
                <a:solidFill>
                  <a:srgbClr val="56A8F5"/>
                </a:solidFill>
                <a:latin typeface="Consolas"/>
              </a:rPr>
              <a:t>deposer</a:t>
            </a:r>
            <a:r>
              <a:rPr sz="1400" dirty="0">
                <a:solidFill>
                  <a:srgbClr val="BCBEC4"/>
                </a:solidFill>
                <a:latin typeface="Consolas"/>
              </a:rPr>
              <a:t>(</a:t>
            </a:r>
            <a:r>
              <a:rPr sz="1400" dirty="0">
                <a:solidFill>
                  <a:srgbClr val="CF8E6D"/>
                </a:solidFill>
                <a:latin typeface="Consolas"/>
              </a:rPr>
              <a:t>new</a:t>
            </a:r>
            <a:r>
              <a:rPr sz="1400" dirty="0">
                <a:solidFill>
                  <a:srgbClr val="BCBEC4"/>
                </a:solidFill>
                <a:latin typeface="Consolas"/>
              </a:rPr>
              <a:t> </a:t>
            </a:r>
            <a:r>
              <a:rPr sz="1400" dirty="0">
                <a:solidFill>
                  <a:srgbClr val="56A8F5"/>
                </a:solidFill>
                <a:latin typeface="Consolas"/>
              </a:rPr>
              <a:t>Valise</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bleue</a:t>
            </a:r>
            <a:r>
              <a:rPr sz="1400" dirty="0">
                <a:solidFill>
                  <a:srgbClr val="6AAB73"/>
                </a:solidFill>
                <a:latin typeface="Consolas"/>
              </a:rPr>
              <a:t>"</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Valise v = (Valise) </a:t>
            </a:r>
            <a:r>
              <a:rPr sz="1400" dirty="0" err="1">
                <a:solidFill>
                  <a:srgbClr val="BCBEC4"/>
                </a:solidFill>
                <a:latin typeface="Consolas"/>
              </a:rPr>
              <a:t>casier.</a:t>
            </a:r>
            <a:r>
              <a:rPr sz="1400" dirty="0" err="1">
                <a:solidFill>
                  <a:srgbClr val="56A8F5"/>
                </a:solidFill>
                <a:latin typeface="Consolas"/>
              </a:rPr>
              <a:t>retirer</a:t>
            </a:r>
            <a:r>
              <a:rPr sz="14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
        <p:nvSpPr>
          <p:cNvPr id="7" name="Code">
            <a:extLst>
              <a:ext uri="{FF2B5EF4-FFF2-40B4-BE49-F238E27FC236}">
                <a16:creationId xmlns:a16="http://schemas.microsoft.com/office/drawing/2014/main" id="{15D7C0E7-8505-8B63-0C72-8BCBE2524684}"/>
              </a:ext>
            </a:extLst>
          </p:cNvPr>
          <p:cNvSpPr txBox="1"/>
          <p:nvPr/>
        </p:nvSpPr>
        <p:spPr>
          <a:xfrm>
            <a:off x="1188612" y="4371873"/>
            <a:ext cx="4230832" cy="870065"/>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err="1">
                <a:solidFill>
                  <a:srgbClr val="BCBEC4"/>
                </a:solidFill>
                <a:latin typeface="Consolas"/>
              </a:rPr>
              <a:t>Casier</a:t>
            </a:r>
            <a:r>
              <a:rPr sz="1400" dirty="0">
                <a:solidFill>
                  <a:srgbClr val="BCBEC4"/>
                </a:solidFill>
                <a:latin typeface="Consolas"/>
              </a:rPr>
              <a:t>&lt;Valise&gt; </a:t>
            </a:r>
            <a:r>
              <a:rPr sz="1400" dirty="0" err="1">
                <a:solidFill>
                  <a:srgbClr val="BCBEC4"/>
                </a:solidFill>
                <a:latin typeface="Consolas"/>
              </a:rPr>
              <a:t>casier</a:t>
            </a:r>
            <a:r>
              <a:rPr sz="1400" dirty="0">
                <a:solidFill>
                  <a:srgbClr val="BCBEC4"/>
                </a:solidFill>
                <a:latin typeface="Consolas"/>
              </a:rPr>
              <a:t> = </a:t>
            </a:r>
            <a:r>
              <a:rPr sz="1400" dirty="0">
                <a:solidFill>
                  <a:srgbClr val="CF8E6D"/>
                </a:solidFill>
                <a:latin typeface="Consolas"/>
              </a:rPr>
              <a:t>new</a:t>
            </a:r>
            <a:r>
              <a:rPr sz="1400" dirty="0">
                <a:solidFill>
                  <a:srgbClr val="BCBEC4"/>
                </a:solidFill>
                <a:latin typeface="Consolas"/>
              </a:rPr>
              <a:t> </a:t>
            </a:r>
            <a:r>
              <a:rPr sz="1400" dirty="0" err="1">
                <a:solidFill>
                  <a:srgbClr val="BCBEC4"/>
                </a:solidFill>
                <a:latin typeface="Consolas"/>
              </a:rPr>
              <a:t>Casier</a:t>
            </a:r>
            <a:r>
              <a:rPr sz="1400" dirty="0">
                <a:solidFill>
                  <a:srgbClr val="BCBEC4"/>
                </a:solidFill>
                <a:latin typeface="Consolas"/>
              </a:rPr>
              <a:t>&lt;&gt;();</a:t>
            </a:r>
          </a:p>
          <a:p>
            <a:pPr>
              <a:lnSpc>
                <a:spcPct val="100000"/>
              </a:lnSpc>
              <a:spcBef>
                <a:spcPts val="0"/>
              </a:spcBef>
              <a:spcAft>
                <a:spcPts val="0"/>
              </a:spcAft>
            </a:pPr>
            <a:r>
              <a:rPr sz="1400" dirty="0" err="1">
                <a:solidFill>
                  <a:srgbClr val="BCBEC4"/>
                </a:solidFill>
                <a:latin typeface="Consolas"/>
              </a:rPr>
              <a:t>casier.</a:t>
            </a:r>
            <a:r>
              <a:rPr sz="1400" dirty="0" err="1">
                <a:solidFill>
                  <a:srgbClr val="56A8F5"/>
                </a:solidFill>
                <a:latin typeface="Consolas"/>
              </a:rPr>
              <a:t>deposer</a:t>
            </a:r>
            <a:r>
              <a:rPr sz="1400" dirty="0">
                <a:solidFill>
                  <a:srgbClr val="BCBEC4"/>
                </a:solidFill>
                <a:latin typeface="Consolas"/>
              </a:rPr>
              <a:t>(</a:t>
            </a:r>
            <a:r>
              <a:rPr sz="1400" dirty="0">
                <a:solidFill>
                  <a:srgbClr val="CF8E6D"/>
                </a:solidFill>
                <a:latin typeface="Consolas"/>
              </a:rPr>
              <a:t>new</a:t>
            </a:r>
            <a:r>
              <a:rPr sz="1400" dirty="0">
                <a:solidFill>
                  <a:srgbClr val="BCBEC4"/>
                </a:solidFill>
                <a:latin typeface="Consolas"/>
              </a:rPr>
              <a:t> </a:t>
            </a:r>
            <a:r>
              <a:rPr sz="1400" dirty="0">
                <a:solidFill>
                  <a:srgbClr val="56A8F5"/>
                </a:solidFill>
                <a:latin typeface="Consolas"/>
              </a:rPr>
              <a:t>Valise</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bleue</a:t>
            </a:r>
            <a:r>
              <a:rPr sz="1400" dirty="0">
                <a:solidFill>
                  <a:srgbClr val="6AAB73"/>
                </a:solidFill>
                <a:latin typeface="Consolas"/>
              </a:rPr>
              <a:t>"</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Valise v = </a:t>
            </a:r>
            <a:r>
              <a:rPr sz="1400" dirty="0" err="1">
                <a:solidFill>
                  <a:srgbClr val="BCBEC4"/>
                </a:solidFill>
                <a:latin typeface="Consolas"/>
              </a:rPr>
              <a:t>casier.</a:t>
            </a:r>
            <a:r>
              <a:rPr sz="1400" dirty="0" err="1">
                <a:solidFill>
                  <a:srgbClr val="56A8F5"/>
                </a:solidFill>
                <a:latin typeface="Consolas"/>
              </a:rPr>
              <a:t>retirer</a:t>
            </a:r>
            <a:r>
              <a:rPr sz="1400" dirty="0">
                <a:solidFill>
                  <a:srgbClr val="BCBEC4"/>
                </a:solidFill>
                <a:latin typeface="Consolas"/>
              </a:rPr>
              <a:t>();</a:t>
            </a:r>
          </a:p>
          <a:p>
            <a:pPr>
              <a:lnSpc>
                <a:spcPct val="100000"/>
              </a:lnSpc>
              <a:spcBef>
                <a:spcPts val="0"/>
              </a:spcBef>
              <a:spcAft>
                <a:spcPts val="0"/>
              </a:spcAft>
            </a:pPr>
            <a:endParaRPr sz="1400" dirty="0">
              <a:solidFill>
                <a:srgbClr val="BCBEC4"/>
              </a:solidFill>
              <a:latin typeface="Consolas"/>
            </a:endParaRPr>
          </a:p>
        </p:txBody>
      </p:sp>
      <p:sp>
        <p:nvSpPr>
          <p:cNvPr id="8" name="TextBox 3">
            <a:extLst>
              <a:ext uri="{FF2B5EF4-FFF2-40B4-BE49-F238E27FC236}">
                <a16:creationId xmlns:a16="http://schemas.microsoft.com/office/drawing/2014/main" id="{B0948D1A-9529-405D-6D15-8CB5AC8C8EA7}"/>
              </a:ext>
            </a:extLst>
          </p:cNvPr>
          <p:cNvSpPr txBox="1"/>
          <p:nvPr/>
        </p:nvSpPr>
        <p:spPr>
          <a:xfrm>
            <a:off x="1188612" y="3910383"/>
            <a:ext cx="4230832" cy="400110"/>
          </a:xfrm>
          <a:prstGeom prst="rect">
            <a:avLst/>
          </a:prstGeom>
          <a:noFill/>
        </p:spPr>
        <p:txBody>
          <a:bodyPr wrap="square" anchor="ctr">
            <a:spAutoFit/>
          </a:bodyPr>
          <a:lstStyle/>
          <a:p>
            <a:r>
              <a:rPr lang="nl-BE" sz="2000" b="1" dirty="0">
                <a:solidFill>
                  <a:schemeClr val="accent4"/>
                </a:solidFill>
              </a:rPr>
              <a:t>Vous écrivez…</a:t>
            </a:r>
            <a:endParaRPr sz="2000" b="1" dirty="0">
              <a:solidFill>
                <a:schemeClr val="accent4"/>
              </a:solidFill>
            </a:endParaRPr>
          </a:p>
        </p:txBody>
      </p:sp>
      <p:sp>
        <p:nvSpPr>
          <p:cNvPr id="9" name="TextBox 4">
            <a:extLst>
              <a:ext uri="{FF2B5EF4-FFF2-40B4-BE49-F238E27FC236}">
                <a16:creationId xmlns:a16="http://schemas.microsoft.com/office/drawing/2014/main" id="{64D880A1-671E-E770-EC5E-ED533313443C}"/>
              </a:ext>
            </a:extLst>
          </p:cNvPr>
          <p:cNvSpPr txBox="1"/>
          <p:nvPr/>
        </p:nvSpPr>
        <p:spPr>
          <a:xfrm>
            <a:off x="6346826" y="3910383"/>
            <a:ext cx="4230832" cy="400110"/>
          </a:xfrm>
          <a:prstGeom prst="rect">
            <a:avLst/>
          </a:prstGeom>
          <a:noFill/>
        </p:spPr>
        <p:txBody>
          <a:bodyPr wrap="square" anchor="ctr">
            <a:spAutoFit/>
          </a:bodyPr>
          <a:lstStyle/>
          <a:p>
            <a:r>
              <a:rPr lang="nl-BE" sz="2000" b="1" dirty="0">
                <a:solidFill>
                  <a:schemeClr val="accent4"/>
                </a:solidFill>
              </a:rPr>
              <a:t>Le compilateur transforme…</a:t>
            </a:r>
            <a:endParaRPr sz="20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l'effacement interdit</a:t>
            </a:r>
          </a:p>
        </p:txBody>
      </p:sp>
      <p:sp>
        <p:nvSpPr>
          <p:cNvPr id="3" name="TextBox 2"/>
          <p:cNvSpPr txBox="1"/>
          <p:nvPr/>
        </p:nvSpPr>
        <p:spPr>
          <a:xfrm>
            <a:off x="777240" y="1371600"/>
            <a:ext cx="2401424" cy="585216"/>
          </a:xfrm>
          <a:prstGeom prst="rect">
            <a:avLst/>
          </a:prstGeom>
          <a:noFill/>
        </p:spPr>
        <p:txBody>
          <a:bodyPr wrap="square" anchor="ctr">
            <a:spAutoFit/>
          </a:bodyPr>
          <a:lstStyle/>
          <a:p>
            <a:r>
              <a:rPr sz="2000" b="1">
                <a:solidFill>
                  <a:schemeClr val="accent4"/>
                </a:solidFill>
              </a:rPr>
              <a:t>Refusé</a:t>
            </a:r>
          </a:p>
        </p:txBody>
      </p:sp>
      <p:sp>
        <p:nvSpPr>
          <p:cNvPr id="4" name="TextBox 3"/>
          <p:cNvSpPr txBox="1"/>
          <p:nvPr/>
        </p:nvSpPr>
        <p:spPr>
          <a:xfrm>
            <a:off x="3452984" y="1371600"/>
            <a:ext cx="7931295" cy="585216"/>
          </a:xfrm>
          <a:prstGeom prst="rect">
            <a:avLst/>
          </a:prstGeom>
          <a:noFill/>
        </p:spPr>
        <p:txBody>
          <a:bodyPr wrap="square" anchor="ctr">
            <a:spAutoFit/>
          </a:bodyPr>
          <a:lstStyle/>
          <a:p>
            <a:r>
              <a:rPr sz="2000" b="1">
                <a:solidFill>
                  <a:schemeClr val="accent4"/>
                </a:solidFill>
              </a:rPr>
              <a:t>Parce qu'à l'exécution</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401424" cy="585216"/>
            </a:xfrm>
            <a:prstGeom prst="rect">
              <a:avLst/>
            </a:prstGeom>
            <a:noFill/>
          </p:spPr>
          <p:txBody>
            <a:bodyPr wrap="square" anchor="ctr">
              <a:spAutoFit/>
            </a:bodyPr>
            <a:lstStyle/>
            <a:p>
              <a:r>
                <a:rPr sz="1900">
                  <a:solidFill>
                    <a:schemeClr val="accent4"/>
                  </a:solidFill>
                  <a:latin typeface="Consolas"/>
                </a:rPr>
                <a:t>Casier&lt;int&gt;</a:t>
              </a:r>
            </a:p>
          </p:txBody>
        </p:sp>
        <p:sp>
          <p:nvSpPr>
            <p:cNvPr id="7" name="TextBox 6"/>
            <p:cNvSpPr txBox="1"/>
            <p:nvPr/>
          </p:nvSpPr>
          <p:spPr>
            <a:xfrm>
              <a:off x="3452984" y="2029967"/>
              <a:ext cx="7931295" cy="585216"/>
            </a:xfrm>
            <a:prstGeom prst="rect">
              <a:avLst/>
            </a:prstGeom>
            <a:noFill/>
          </p:spPr>
          <p:txBody>
            <a:bodyPr wrap="square" anchor="ctr">
              <a:spAutoFit/>
            </a:bodyPr>
            <a:lstStyle/>
            <a:p>
              <a:r>
                <a:rPr sz="1900">
                  <a:solidFill>
                    <a:schemeClr val="accent4"/>
                  </a:solidFill>
                  <a:latin typeface="Consolas"/>
                </a:rPr>
                <a:t>T</a:t>
              </a:r>
              <a:r>
                <a:rPr sz="2200">
                  <a:solidFill>
                    <a:srgbClr val="FFFFFF"/>
                  </a:solidFill>
                </a:rPr>
                <a:t> devient </a:t>
              </a:r>
              <a:r>
                <a:rPr sz="1900">
                  <a:solidFill>
                    <a:schemeClr val="accent4"/>
                  </a:solidFill>
                  <a:latin typeface="Consolas"/>
                </a:rPr>
                <a:t>Object</a:t>
              </a:r>
              <a:r>
                <a:rPr sz="2200">
                  <a:solidFill>
                    <a:srgbClr val="FFFFFF"/>
                  </a:solidFill>
                </a:rPr>
                <a:t>, et un </a:t>
              </a:r>
              <a:r>
                <a:rPr sz="1900">
                  <a:solidFill>
                    <a:schemeClr val="accent4"/>
                  </a:solidFill>
                  <a:latin typeface="Consolas"/>
                </a:rPr>
                <a:t>int</a:t>
              </a:r>
              <a:r>
                <a:rPr sz="2200">
                  <a:solidFill>
                    <a:srgbClr val="FFFFFF"/>
                  </a:solidFill>
                </a:rPr>
                <a:t> n'est pas un objet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401424" cy="585216"/>
            </a:xfrm>
            <a:prstGeom prst="rect">
              <a:avLst/>
            </a:prstGeom>
            <a:noFill/>
          </p:spPr>
          <p:txBody>
            <a:bodyPr wrap="square" anchor="ctr">
              <a:spAutoFit/>
            </a:bodyPr>
            <a:lstStyle/>
            <a:p>
              <a:r>
                <a:rPr sz="1900">
                  <a:solidFill>
                    <a:schemeClr val="accent4"/>
                  </a:solidFill>
                  <a:latin typeface="Consolas"/>
                </a:rPr>
                <a:t>new T()</a:t>
              </a:r>
            </a:p>
          </p:txBody>
        </p:sp>
        <p:sp>
          <p:nvSpPr>
            <p:cNvPr id="10" name="TextBox 9"/>
            <p:cNvSpPr txBox="1"/>
            <p:nvPr/>
          </p:nvSpPr>
          <p:spPr>
            <a:xfrm>
              <a:off x="3452984" y="2688335"/>
              <a:ext cx="7931295" cy="585216"/>
            </a:xfrm>
            <a:prstGeom prst="rect">
              <a:avLst/>
            </a:prstGeom>
            <a:noFill/>
          </p:spPr>
          <p:txBody>
            <a:bodyPr wrap="square" anchor="ctr">
              <a:spAutoFit/>
            </a:bodyPr>
            <a:lstStyle/>
            <a:p>
              <a:r>
                <a:rPr sz="2200" dirty="0">
                  <a:solidFill>
                    <a:srgbClr val="FFFFFF"/>
                  </a:solidFill>
                </a:rPr>
                <a:t>on ne </a:t>
              </a:r>
              <a:r>
                <a:rPr sz="2200" dirty="0" err="1">
                  <a:solidFill>
                    <a:srgbClr val="FFFFFF"/>
                  </a:solidFill>
                </a:rPr>
                <a:t>sait</a:t>
              </a:r>
              <a:r>
                <a:rPr sz="2200" dirty="0">
                  <a:solidFill>
                    <a:srgbClr val="FFFFFF"/>
                  </a:solidFill>
                </a:rPr>
                <a:t> plus quelle </a:t>
              </a:r>
              <a:r>
                <a:rPr sz="2200" dirty="0" err="1">
                  <a:solidFill>
                    <a:srgbClr val="FFFFFF"/>
                  </a:solidFill>
                </a:rPr>
                <a:t>classe</a:t>
              </a:r>
              <a:r>
                <a:rPr sz="2200" dirty="0">
                  <a:solidFill>
                    <a:srgbClr val="FFFFFF"/>
                  </a:solidFill>
                </a:rPr>
                <a:t> </a:t>
              </a:r>
              <a:r>
                <a:rPr sz="2200" dirty="0" err="1">
                  <a:solidFill>
                    <a:srgbClr val="FFFFFF"/>
                  </a:solidFill>
                </a:rPr>
                <a:t>construire</a:t>
              </a:r>
              <a:endParaRPr sz="2200" dirty="0">
                <a:solidFill>
                  <a:srgbClr val="FFFFFF"/>
                </a:solidFill>
              </a:endParaRP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401424" cy="585216"/>
            </a:xfrm>
            <a:prstGeom prst="rect">
              <a:avLst/>
            </a:prstGeom>
            <a:noFill/>
          </p:spPr>
          <p:txBody>
            <a:bodyPr wrap="square" anchor="ctr">
              <a:spAutoFit/>
            </a:bodyPr>
            <a:lstStyle/>
            <a:p>
              <a:r>
                <a:rPr sz="1900">
                  <a:solidFill>
                    <a:schemeClr val="accent4"/>
                  </a:solidFill>
                  <a:latin typeface="Consolas"/>
                </a:rPr>
                <a:t>new T[10]</a:t>
              </a:r>
            </a:p>
          </p:txBody>
        </p:sp>
        <p:sp>
          <p:nvSpPr>
            <p:cNvPr id="13" name="TextBox 12"/>
            <p:cNvSpPr txBox="1"/>
            <p:nvPr/>
          </p:nvSpPr>
          <p:spPr>
            <a:xfrm>
              <a:off x="3452984" y="3346703"/>
              <a:ext cx="7931295" cy="585216"/>
            </a:xfrm>
            <a:prstGeom prst="rect">
              <a:avLst/>
            </a:prstGeom>
            <a:noFill/>
          </p:spPr>
          <p:txBody>
            <a:bodyPr wrap="square" anchor="ctr">
              <a:spAutoFit/>
            </a:bodyPr>
            <a:lstStyle/>
            <a:p>
              <a:r>
                <a:rPr sz="2200">
                  <a:solidFill>
                    <a:srgbClr val="FFFFFF"/>
                  </a:solidFill>
                </a:rPr>
                <a:t>un tableau doit connaître le type de ses cases</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401424" cy="585216"/>
            </a:xfrm>
            <a:prstGeom prst="rect">
              <a:avLst/>
            </a:prstGeom>
            <a:noFill/>
          </p:spPr>
          <p:txBody>
            <a:bodyPr wrap="square" anchor="ctr">
              <a:spAutoFit/>
            </a:bodyPr>
            <a:lstStyle/>
            <a:p>
              <a:r>
                <a:rPr sz="1900">
                  <a:solidFill>
                    <a:schemeClr val="accent4"/>
                  </a:solidFill>
                  <a:latin typeface="Consolas"/>
                </a:rPr>
                <a:t>static T champ;</a:t>
              </a:r>
            </a:p>
          </p:txBody>
        </p:sp>
        <p:sp>
          <p:nvSpPr>
            <p:cNvPr id="16" name="TextBox 15"/>
            <p:cNvSpPr txBox="1"/>
            <p:nvPr/>
          </p:nvSpPr>
          <p:spPr>
            <a:xfrm>
              <a:off x="3452984" y="4005071"/>
              <a:ext cx="7931295" cy="585216"/>
            </a:xfrm>
            <a:prstGeom prst="rect">
              <a:avLst/>
            </a:prstGeom>
            <a:noFill/>
          </p:spPr>
          <p:txBody>
            <a:bodyPr wrap="square" anchor="ctr">
              <a:spAutoFit/>
            </a:bodyPr>
            <a:lstStyle/>
            <a:p>
              <a:r>
                <a:rPr sz="2200">
                  <a:solidFill>
                    <a:srgbClr val="FFFFFF"/>
                  </a:solidFill>
                </a:rPr>
                <a:t>tous les casiers partagent une seule classe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transtypage qu'on ne peut pas éviter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Parfois, seul le programmeur sait ce que contient un </a:t>
            </a:r>
            <a:r>
              <a:rPr sz="2200">
                <a:solidFill>
                  <a:schemeClr val="accent4"/>
                </a:solidFill>
                <a:latin typeface="Consolas"/>
              </a:rPr>
              <a:t>Object</a:t>
            </a:r>
          </a:p>
          <a:p>
            <a:pPr marL="0" indent="0">
              <a:spcAft>
                <a:spcPts val="1000"/>
              </a:spcAft>
              <a:buNone/>
            </a:pPr>
            <a:r>
              <a:rPr sz="2600"/>
              <a:t>Le compilateur accepte le transtypage, mais ne peut pas le vérifier</a:t>
            </a:r>
          </a:p>
          <a:p>
            <a:pPr marL="0" indent="0">
              <a:spcAft>
                <a:spcPts val="1000"/>
              </a:spcAft>
              <a:buNone/>
            </a:pPr>
            <a:r>
              <a:rPr sz="2200">
                <a:solidFill>
                  <a:schemeClr val="accent4"/>
                </a:solidFill>
                <a:latin typeface="Consolas"/>
              </a:rPr>
              <a:t>@SuppressWarnings("unchecked")</a:t>
            </a:r>
            <a:r>
              <a:rPr sz="2600"/>
              <a:t> signe : je l'ai vérifié</a:t>
            </a:r>
          </a:p>
        </p:txBody>
      </p:sp>
      <p:sp>
        <p:nvSpPr>
          <p:cNvPr id="4" name="Code"/>
          <p:cNvSpPr txBox="1"/>
          <p:nvPr/>
        </p:nvSpPr>
        <p:spPr>
          <a:xfrm>
            <a:off x="1892300" y="4008119"/>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une classe generique, sur un tableau d'Object</a:t>
            </a:r>
          </a:p>
          <a:p>
            <a:pPr>
              <a:lnSpc>
                <a:spcPct val="100000"/>
              </a:lnSpc>
              <a:spcBef>
                <a:spcPts val="0"/>
              </a:spcBef>
              <a:spcAft>
                <a:spcPts val="0"/>
              </a:spcAft>
            </a:pPr>
            <a:r>
              <a:rPr sz="1800">
                <a:solidFill>
                  <a:srgbClr val="B3AE60"/>
                </a:solidFill>
                <a:latin typeface="Consolas"/>
              </a:rPr>
              <a:t>@SuppressWarnings</a:t>
            </a:r>
            <a:r>
              <a:rPr sz="1800">
                <a:solidFill>
                  <a:srgbClr val="BCBEC4"/>
                </a:solidFill>
                <a:latin typeface="Consolas"/>
              </a:rPr>
              <a:t>(</a:t>
            </a:r>
            <a:r>
              <a:rPr sz="1800">
                <a:solidFill>
                  <a:srgbClr val="6AAB73"/>
                </a:solidFill>
                <a:latin typeface="Consolas"/>
              </a:rPr>
              <a:t>"unchecked"</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 objet = (T) cases[i];</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au module FIC, en relisant un fichier</a:t>
            </a:r>
          </a:p>
          <a:p>
            <a:pPr>
              <a:lnSpc>
                <a:spcPct val="100000"/>
              </a:lnSpc>
              <a:spcBef>
                <a:spcPts val="0"/>
              </a:spcBef>
              <a:spcAft>
                <a:spcPts val="0"/>
              </a:spcAft>
            </a:pPr>
            <a:r>
              <a:rPr sz="1800">
                <a:solidFill>
                  <a:srgbClr val="BCBEC4"/>
                </a:solidFill>
                <a:latin typeface="Consolas"/>
              </a:rPr>
              <a:t>List&lt;Valise&gt; valises = (List&lt;Valise&gt;) entree.</a:t>
            </a:r>
            <a:r>
              <a:rPr sz="1800">
                <a:solidFill>
                  <a:srgbClr val="56A8F5"/>
                </a:solidFill>
                <a:latin typeface="Consolas"/>
              </a:rPr>
              <a:t>readObject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4.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25243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famille de types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a:t>
            </a:r>
            <a:r>
              <a:rPr sz="3400">
                <a:solidFill>
                  <a:schemeClr val="accent4"/>
                </a:solidFill>
                <a:latin typeface="Consolas"/>
              </a:rPr>
              <a:t>Valise</a:t>
            </a:r>
            <a:r>
              <a:rPr sz="4000"/>
              <a:t> est un </a:t>
            </a:r>
            <a:r>
              <a:rPr sz="3400">
                <a:solidFill>
                  <a:schemeClr val="accent4"/>
                </a:solidFill>
                <a:latin typeface="Consolas"/>
              </a:rPr>
              <a:t>Bagage</a:t>
            </a:r>
          </a:p>
        </p:txBody>
      </p:sp>
      <p:sp>
        <p:nvSpPr>
          <p:cNvPr id="3" name="Content Placeholder 2"/>
          <p:cNvSpPr>
            <a:spLocks noGrp="1"/>
          </p:cNvSpPr>
          <p:nvPr>
            <p:ph idx="1"/>
          </p:nvPr>
        </p:nvSpPr>
        <p:spPr>
          <a:xfrm>
            <a:off x="640080" y="1371600"/>
            <a:ext cx="10996866" cy="1798320"/>
          </a:xfrm>
        </p:spPr>
        <p:txBody>
          <a:bodyPr>
            <a:normAutofit fontScale="92500"/>
          </a:bodyPr>
          <a:lstStyle/>
          <a:p>
            <a:pPr marL="0" indent="0">
              <a:spcAft>
                <a:spcPts val="1000"/>
              </a:spcAft>
              <a:buNone/>
            </a:pPr>
            <a:r>
              <a:rPr sz="2400" dirty="0">
                <a:solidFill>
                  <a:schemeClr val="accent4"/>
                </a:solidFill>
                <a:latin typeface="Consolas"/>
              </a:rPr>
              <a:t>Valise</a:t>
            </a:r>
            <a:r>
              <a:rPr sz="2800" dirty="0"/>
              <a:t> et </a:t>
            </a:r>
            <a:r>
              <a:rPr sz="2400" dirty="0">
                <a:solidFill>
                  <a:schemeClr val="accent4"/>
                </a:solidFill>
                <a:latin typeface="Consolas"/>
              </a:rPr>
              <a:t>Sac</a:t>
            </a:r>
            <a:r>
              <a:rPr sz="2800" dirty="0"/>
              <a:t> </a:t>
            </a:r>
            <a:r>
              <a:rPr sz="2800" dirty="0" err="1"/>
              <a:t>héritent</a:t>
            </a:r>
            <a:r>
              <a:rPr sz="2800" dirty="0"/>
              <a:t> de </a:t>
            </a:r>
            <a:r>
              <a:rPr sz="2400" dirty="0" err="1">
                <a:solidFill>
                  <a:schemeClr val="accent4"/>
                </a:solidFill>
                <a:latin typeface="Consolas"/>
              </a:rPr>
              <a:t>Bagage</a:t>
            </a:r>
            <a:endParaRPr sz="2400" dirty="0">
              <a:solidFill>
                <a:schemeClr val="accent4"/>
              </a:solidFill>
              <a:latin typeface="Consolas"/>
            </a:endParaRPr>
          </a:p>
          <a:p>
            <a:pPr marL="0" indent="0">
              <a:spcAft>
                <a:spcPts val="1000"/>
              </a:spcAft>
              <a:buNone/>
            </a:pPr>
            <a:r>
              <a:rPr sz="2800" dirty="0"/>
              <a:t>Une </a:t>
            </a:r>
            <a:r>
              <a:rPr sz="2400" dirty="0">
                <a:solidFill>
                  <a:schemeClr val="accent4"/>
                </a:solidFill>
                <a:latin typeface="Consolas"/>
              </a:rPr>
              <a:t>List&lt;</a:t>
            </a:r>
            <a:r>
              <a:rPr sz="2400" dirty="0" err="1">
                <a:solidFill>
                  <a:schemeClr val="accent4"/>
                </a:solidFill>
                <a:latin typeface="Consolas"/>
              </a:rPr>
              <a:t>Bagage</a:t>
            </a:r>
            <a:r>
              <a:rPr sz="2400" dirty="0">
                <a:solidFill>
                  <a:schemeClr val="accent4"/>
                </a:solidFill>
                <a:latin typeface="Consolas"/>
              </a:rPr>
              <a:t>&gt;</a:t>
            </a:r>
            <a:r>
              <a:rPr sz="2800" dirty="0"/>
              <a:t> </a:t>
            </a:r>
            <a:r>
              <a:rPr sz="2800" dirty="0" err="1"/>
              <a:t>accepte</a:t>
            </a:r>
            <a:r>
              <a:rPr sz="2800" dirty="0"/>
              <a:t> </a:t>
            </a:r>
            <a:r>
              <a:rPr sz="2800" dirty="0" err="1"/>
              <a:t>donc</a:t>
            </a:r>
            <a:r>
              <a:rPr sz="2800" dirty="0"/>
              <a:t> des valises et des sacs</a:t>
            </a:r>
          </a:p>
          <a:p>
            <a:pPr marL="0" indent="0">
              <a:buNone/>
            </a:pPr>
            <a:r>
              <a:rPr lang="fr-BE" dirty="0"/>
              <a:t>Peut-on passer une </a:t>
            </a:r>
            <a:r>
              <a:rPr lang="fr-BE" sz="2400" dirty="0">
                <a:solidFill>
                  <a:schemeClr val="accent4"/>
                </a:solidFill>
                <a:latin typeface="Consolas"/>
              </a:rPr>
              <a:t>List&lt;Valise&gt;</a:t>
            </a:r>
            <a:r>
              <a:rPr lang="fr-BE" dirty="0"/>
              <a:t> à une méthode qui attend une </a:t>
            </a:r>
            <a:r>
              <a:rPr lang="fr-BE" sz="2400" dirty="0">
                <a:solidFill>
                  <a:schemeClr val="accent4"/>
                </a:solidFill>
                <a:latin typeface="Consolas"/>
              </a:rPr>
              <a:t>List&lt;Bagage&gt;</a:t>
            </a:r>
            <a:r>
              <a:rPr lang="fr-BE" dirty="0"/>
              <a:t> ?</a:t>
            </a:r>
          </a:p>
        </p:txBody>
      </p:sp>
      <p:sp>
        <p:nvSpPr>
          <p:cNvPr id="4" name="Code"/>
          <p:cNvSpPr txBox="1"/>
          <p:nvPr/>
        </p:nvSpPr>
        <p:spPr>
          <a:xfrm>
            <a:off x="2590800" y="3556462"/>
            <a:ext cx="70104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Valise extends Bagage, Sac extends Bagage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List&lt;Bagage&gt; soute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"bleue"</a:t>
            </a:r>
            <a:r>
              <a:rPr sz="1800">
                <a:solidFill>
                  <a:srgbClr val="BCBEC4"/>
                </a:solidFill>
                <a:latin typeface="Consolas"/>
              </a:rPr>
              <a:t>));       </a:t>
            </a:r>
            <a:r>
              <a:rPr sz="1800">
                <a:solidFill>
                  <a:srgbClr val="7A7E85"/>
                </a:solidFill>
                <a:latin typeface="Consolas"/>
              </a:rPr>
              <a:t>// accepte</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Sac</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joker</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D'abord la version évidente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extends</a:t>
            </a:r>
            <a:r>
              <a:rPr sz="4000"/>
              <a:t> : on lit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 extends Bagage</a:t>
            </a:r>
            <a:r>
              <a:rPr sz="2800"/>
              <a:t> : une liste de quelque chose qui est un </a:t>
            </a:r>
            <a:r>
              <a:rPr sz="2400">
                <a:solidFill>
                  <a:schemeClr val="accent4"/>
                </a:solidFill>
                <a:latin typeface="Consolas"/>
              </a:rPr>
              <a:t>Bagage</a:t>
            </a:r>
          </a:p>
          <a:p>
            <a:pPr marL="0" indent="0">
              <a:spcAft>
                <a:spcPts val="1000"/>
              </a:spcAft>
              <a:buNone/>
            </a:pPr>
            <a:r>
              <a:rPr sz="2800"/>
              <a:t>Une </a:t>
            </a:r>
            <a:r>
              <a:rPr sz="2400">
                <a:solidFill>
                  <a:schemeClr val="accent4"/>
                </a:solidFill>
                <a:latin typeface="Consolas"/>
              </a:rPr>
              <a:t>List&lt;Valise&gt;</a:t>
            </a:r>
            <a:r>
              <a:rPr sz="2800"/>
              <a:t> ou une </a:t>
            </a:r>
            <a:r>
              <a:rPr sz="2400">
                <a:solidFill>
                  <a:schemeClr val="accent4"/>
                </a:solidFill>
                <a:latin typeface="Consolas"/>
              </a:rPr>
              <a:t>List&lt;Sac&gt;</a:t>
            </a:r>
            <a:r>
              <a:rPr sz="2800"/>
              <a:t> y passent</a:t>
            </a:r>
          </a:p>
          <a:p>
            <a:pPr marL="0" indent="0">
              <a:spcAft>
                <a:spcPts val="1000"/>
              </a:spcAft>
              <a:buNone/>
            </a:pPr>
            <a:r>
              <a:rPr sz="2800"/>
              <a:t>On en lit des </a:t>
            </a:r>
            <a:r>
              <a:rPr sz="2400">
                <a:solidFill>
                  <a:schemeClr val="accent4"/>
                </a:solidFill>
                <a:latin typeface="Consolas"/>
              </a:rPr>
              <a:t>Bagage</a:t>
            </a:r>
            <a:r>
              <a:rPr sz="2800"/>
              <a:t>, on n'y ajoute rien</a:t>
            </a:r>
          </a:p>
        </p:txBody>
      </p:sp>
      <p:sp>
        <p:nvSpPr>
          <p:cNvPr id="4" name="Code"/>
          <p:cNvSpPr txBox="1"/>
          <p:nvPr/>
        </p:nvSpPr>
        <p:spPr>
          <a:xfrm>
            <a:off x="1403350" y="3733799"/>
            <a:ext cx="93853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poidsTotal</a:t>
            </a:r>
            <a:r>
              <a:rPr sz="1800">
                <a:solidFill>
                  <a:srgbClr val="BCBEC4"/>
                </a:solidFill>
                <a:latin typeface="Consolas"/>
              </a:rPr>
              <a:t>(List&lt;? </a:t>
            </a:r>
            <a:r>
              <a:rPr sz="1800">
                <a:solidFill>
                  <a:srgbClr val="CF8E6D"/>
                </a:solidFill>
                <a:latin typeface="Consolas"/>
              </a:rPr>
              <a:t>extends</a:t>
            </a:r>
            <a:r>
              <a:rPr sz="1800">
                <a:solidFill>
                  <a:srgbClr val="BCBEC4"/>
                </a:solidFill>
                <a:latin typeface="Consolas"/>
              </a:rPr>
              <a:t> Bagage&gt; bagages)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total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(Bagage b : bagages) {</a:t>
            </a:r>
          </a:p>
          <a:p>
            <a:pPr>
              <a:lnSpc>
                <a:spcPct val="100000"/>
              </a:lnSpc>
              <a:spcBef>
                <a:spcPts val="0"/>
              </a:spcBef>
              <a:spcAft>
                <a:spcPts val="0"/>
              </a:spcAft>
            </a:pPr>
            <a:r>
              <a:rPr sz="1800">
                <a:solidFill>
                  <a:srgbClr val="BCBEC4"/>
                </a:solidFill>
                <a:latin typeface="Consolas"/>
              </a:rPr>
              <a:t>        total += b.</a:t>
            </a:r>
            <a:r>
              <a:rPr sz="1800">
                <a:solidFill>
                  <a:srgbClr val="56A8F5"/>
                </a:solidFill>
                <a:latin typeface="Consolas"/>
              </a:rPr>
              <a:t>getPoids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bagages.add(new Sac());   ne compile pas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total;</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super</a:t>
            </a:r>
            <a:r>
              <a:rPr sz="4000"/>
              <a:t> : on ajoute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200">
                <a:solidFill>
                  <a:schemeClr val="accent4"/>
                </a:solidFill>
                <a:latin typeface="Consolas"/>
              </a:rPr>
              <a:t>? super Valise</a:t>
            </a:r>
            <a:r>
              <a:rPr sz="2600"/>
              <a:t> : une liste de quelque chose dont </a:t>
            </a:r>
            <a:r>
              <a:rPr sz="2200">
                <a:solidFill>
                  <a:schemeClr val="accent4"/>
                </a:solidFill>
                <a:latin typeface="Consolas"/>
              </a:rPr>
              <a:t>Valise</a:t>
            </a:r>
            <a:r>
              <a:rPr sz="2600"/>
              <a:t> hérite</a:t>
            </a:r>
          </a:p>
          <a:p>
            <a:pPr marL="0" indent="0">
              <a:spcAft>
                <a:spcPts val="1000"/>
              </a:spcAft>
              <a:buNone/>
            </a:pPr>
            <a:r>
              <a:rPr sz="2600"/>
              <a:t>Une </a:t>
            </a:r>
            <a:r>
              <a:rPr sz="2200">
                <a:solidFill>
                  <a:schemeClr val="accent4"/>
                </a:solidFill>
                <a:latin typeface="Consolas"/>
              </a:rPr>
              <a:t>List&lt;Valise&gt;</a:t>
            </a:r>
            <a:r>
              <a:rPr sz="2600"/>
              <a:t>, </a:t>
            </a:r>
            <a:r>
              <a:rPr sz="2200">
                <a:solidFill>
                  <a:schemeClr val="accent4"/>
                </a:solidFill>
                <a:latin typeface="Consolas"/>
              </a:rPr>
              <a:t>List&lt;Bagage&gt;</a:t>
            </a:r>
            <a:r>
              <a:rPr sz="2600"/>
              <a:t> ou </a:t>
            </a:r>
            <a:r>
              <a:rPr sz="2200">
                <a:solidFill>
                  <a:schemeClr val="accent4"/>
                </a:solidFill>
                <a:latin typeface="Consolas"/>
              </a:rPr>
              <a:t>List&lt;Object&gt;</a:t>
            </a:r>
            <a:r>
              <a:rPr sz="2600"/>
              <a:t> y passent</a:t>
            </a:r>
          </a:p>
          <a:p>
            <a:pPr marL="0" indent="0">
              <a:spcAft>
                <a:spcPts val="1000"/>
              </a:spcAft>
              <a:buNone/>
            </a:pPr>
            <a:r>
              <a:rPr sz="2600"/>
              <a:t>On y ajoute des valises, on n'en lit que des </a:t>
            </a:r>
            <a:r>
              <a:rPr sz="2200">
                <a:solidFill>
                  <a:schemeClr val="accent4"/>
                </a:solidFill>
                <a:latin typeface="Consolas"/>
              </a:rPr>
              <a:t>Object</a:t>
            </a:r>
          </a:p>
        </p:txBody>
      </p:sp>
      <p:sp>
        <p:nvSpPr>
          <p:cNvPr id="4" name="Code"/>
          <p:cNvSpPr txBox="1"/>
          <p:nvPr/>
        </p:nvSpPr>
        <p:spPr>
          <a:xfrm>
            <a:off x="1543051" y="3611879"/>
            <a:ext cx="9105898"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charger</a:t>
            </a:r>
            <a:r>
              <a:rPr sz="1800">
                <a:solidFill>
                  <a:srgbClr val="BCBEC4"/>
                </a:solidFill>
                <a:latin typeface="Consolas"/>
              </a:rPr>
              <a:t>(List&lt;? </a:t>
            </a:r>
            <a:r>
              <a:rPr sz="1800">
                <a:solidFill>
                  <a:srgbClr val="CF8E6D"/>
                </a:solidFill>
                <a:latin typeface="Consolas"/>
              </a:rPr>
              <a:t>super</a:t>
            </a:r>
            <a:r>
              <a:rPr sz="1800">
                <a:solidFill>
                  <a:srgbClr val="BCBEC4"/>
                </a:solidFill>
                <a:latin typeface="Consolas"/>
              </a:rPr>
              <a:t> Valise&gt; soute, </a:t>
            </a:r>
            <a:r>
              <a:rPr sz="1800">
                <a:solidFill>
                  <a:srgbClr val="CF8E6D"/>
                </a:solidFill>
                <a:latin typeface="Consolas"/>
              </a:rPr>
              <a:t>int</a:t>
            </a:r>
            <a:r>
              <a:rPr sz="1800">
                <a:solidFill>
                  <a:srgbClr val="BCBEC4"/>
                </a:solidFill>
                <a:latin typeface="Consolas"/>
              </a:rPr>
              <a:t> n)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n; i++) {</a:t>
            </a:r>
          </a:p>
          <a:p>
            <a:pPr>
              <a:lnSpc>
                <a:spcPct val="100000"/>
              </a:lnSpc>
              <a:spcBef>
                <a:spcPts val="0"/>
              </a:spcBef>
              <a:spcAft>
                <a:spcPts val="0"/>
              </a:spcAft>
            </a:pPr>
            <a:r>
              <a:rPr sz="1800">
                <a:solidFill>
                  <a:srgbClr val="BCBEC4"/>
                </a:solidFill>
                <a:latin typeface="Consolas"/>
              </a:rPr>
              <a:t>        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"grise"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56A8F5"/>
                </a:solidFill>
                <a:latin typeface="Consolas"/>
              </a:rPr>
              <a:t>charger</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ArrayList&lt;Bagage&gt;(), </a:t>
            </a:r>
            <a:r>
              <a:rPr sz="1800">
                <a:solidFill>
                  <a:srgbClr val="2AACB8"/>
                </a:solidFill>
                <a:latin typeface="Consolas"/>
              </a:rPr>
              <a:t>3</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solidFill>
                  <a:schemeClr val="accent4"/>
                </a:solidFill>
                <a:latin typeface="Consolas"/>
              </a:rPr>
              <a:t>?</a:t>
            </a:r>
            <a:r>
              <a:rPr lang="fr-BE" sz="3600" dirty="0">
                <a:solidFill>
                  <a:schemeClr val="accent4"/>
                </a:solidFill>
                <a:latin typeface="Consolas"/>
              </a:rPr>
              <a:t> </a:t>
            </a:r>
            <a:r>
              <a:rPr sz="3600" dirty="0">
                <a:solidFill>
                  <a:schemeClr val="accent4"/>
                </a:solidFill>
                <a:latin typeface="Consolas"/>
              </a:rPr>
              <a:t>extends</a:t>
            </a:r>
            <a:r>
              <a:rPr sz="4000" dirty="0"/>
              <a:t> </a:t>
            </a:r>
            <a:r>
              <a:rPr sz="4000" dirty="0" err="1"/>
              <a:t>ou</a:t>
            </a:r>
            <a:r>
              <a:rPr sz="4000" dirty="0"/>
              <a:t> </a:t>
            </a:r>
            <a:r>
              <a:rPr sz="3600" dirty="0">
                <a:solidFill>
                  <a:schemeClr val="accent4"/>
                </a:solidFill>
                <a:latin typeface="Consolas"/>
              </a:rPr>
              <a:t>?</a:t>
            </a:r>
            <a:r>
              <a:rPr lang="fr-BE" sz="3600" dirty="0">
                <a:solidFill>
                  <a:schemeClr val="accent4"/>
                </a:solidFill>
                <a:latin typeface="Consolas"/>
              </a:rPr>
              <a:t> </a:t>
            </a:r>
            <a:r>
              <a:rPr sz="3600" dirty="0">
                <a:solidFill>
                  <a:schemeClr val="accent4"/>
                </a:solidFill>
                <a:latin typeface="Consolas"/>
              </a:rPr>
              <a:t>super</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Tout dépend de ce que la méthode fait de la liste : la lire, ou la remplir.</a:t>
            </a:r>
          </a:p>
        </p:txBody>
      </p:sp>
      <p:sp>
        <p:nvSpPr>
          <p:cNvPr id="4" name="TextBox 3"/>
          <p:cNvSpPr txBox="1"/>
          <p:nvPr/>
        </p:nvSpPr>
        <p:spPr>
          <a:xfrm>
            <a:off x="777240" y="2011680"/>
            <a:ext cx="1859280" cy="536448"/>
          </a:xfrm>
          <a:prstGeom prst="rect">
            <a:avLst/>
          </a:prstGeom>
          <a:noFill/>
        </p:spPr>
        <p:txBody>
          <a:bodyPr wrap="square" anchor="ctr">
            <a:spAutoFit/>
          </a:bodyPr>
          <a:lstStyle/>
          <a:p>
            <a:endParaRPr/>
          </a:p>
        </p:txBody>
      </p:sp>
      <p:sp>
        <p:nvSpPr>
          <p:cNvPr id="5" name="TextBox 4"/>
          <p:cNvSpPr txBox="1"/>
          <p:nvPr/>
        </p:nvSpPr>
        <p:spPr>
          <a:xfrm>
            <a:off x="2910840" y="2011680"/>
            <a:ext cx="3779520" cy="536448"/>
          </a:xfrm>
          <a:prstGeom prst="rect">
            <a:avLst/>
          </a:prstGeom>
          <a:noFill/>
        </p:spPr>
        <p:txBody>
          <a:bodyPr wrap="square" anchor="ctr">
            <a:spAutoFit/>
          </a:bodyPr>
          <a:lstStyle/>
          <a:p>
            <a:r>
              <a:rPr sz="1800" b="1">
                <a:solidFill>
                  <a:schemeClr val="accent4"/>
                </a:solidFill>
                <a:latin typeface="Consolas"/>
              </a:rPr>
              <a:t>? extends Bagage</a:t>
            </a:r>
          </a:p>
        </p:txBody>
      </p:sp>
      <p:sp>
        <p:nvSpPr>
          <p:cNvPr id="6" name="TextBox 5"/>
          <p:cNvSpPr txBox="1"/>
          <p:nvPr/>
        </p:nvSpPr>
        <p:spPr>
          <a:xfrm>
            <a:off x="6964680" y="2011680"/>
            <a:ext cx="4419600" cy="536448"/>
          </a:xfrm>
          <a:prstGeom prst="rect">
            <a:avLst/>
          </a:prstGeom>
          <a:noFill/>
        </p:spPr>
        <p:txBody>
          <a:bodyPr wrap="square" anchor="ctr">
            <a:spAutoFit/>
          </a:bodyPr>
          <a:lstStyle/>
          <a:p>
            <a:r>
              <a:rPr sz="1800" b="1">
                <a:solidFill>
                  <a:schemeClr val="accent4"/>
                </a:solidFill>
                <a:latin typeface="Consolas"/>
              </a:rPr>
              <a:t>? super Valise</a:t>
            </a:r>
          </a:p>
        </p:txBody>
      </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2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grpSp>
        <p:nvGrpSpPr>
          <p:cNvPr id="28" name="Ligne 1"/>
          <p:cNvGrpSpPr/>
          <p:nvPr/>
        </p:nvGrpSpPr>
        <p:grpSpPr>
          <a:xfrm>
            <a:off x="640080" y="2621280"/>
            <a:ext cx="10881360" cy="536448"/>
            <a:chOff x="640080" y="2621280"/>
            <a:chExt cx="10881360" cy="536448"/>
          </a:xfrm>
        </p:grpSpPr>
        <p:sp>
          <p:nvSpPr>
            <p:cNvPr id="7" name="Rounded Rectangle 6"/>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21280"/>
              <a:ext cx="1859280" cy="536448"/>
            </a:xfrm>
            <a:prstGeom prst="rect">
              <a:avLst/>
            </a:prstGeom>
            <a:noFill/>
          </p:spPr>
          <p:txBody>
            <a:bodyPr wrap="square" anchor="ctr">
              <a:spAutoFit/>
            </a:bodyPr>
            <a:lstStyle/>
            <a:p>
              <a:r>
                <a:rPr sz="2200">
                  <a:solidFill>
                    <a:srgbClr val="FFFFFF"/>
                  </a:solidFill>
                </a:rPr>
                <a:t>Accepte</a:t>
              </a:r>
            </a:p>
          </p:txBody>
        </p:sp>
        <p:sp>
          <p:nvSpPr>
            <p:cNvPr id="9" name="TextBox 8"/>
            <p:cNvSpPr txBox="1"/>
            <p:nvPr/>
          </p:nvSpPr>
          <p:spPr>
            <a:xfrm>
              <a:off x="2910840" y="2621280"/>
              <a:ext cx="3779520" cy="536448"/>
            </a:xfrm>
            <a:prstGeom prst="rect">
              <a:avLst/>
            </a:prstGeom>
            <a:noFill/>
          </p:spPr>
          <p:txBody>
            <a:bodyPr wrap="square" anchor="ctr">
              <a:spAutoFit/>
            </a:bodyPr>
            <a:lstStyle/>
            <a:p>
              <a:r>
                <a:rPr sz="2000">
                  <a:solidFill>
                    <a:schemeClr val="accent4"/>
                  </a:solidFill>
                  <a:latin typeface="Consolas"/>
                </a:rPr>
                <a:t>Bagage</a:t>
              </a:r>
              <a:r>
                <a:rPr sz="2200">
                  <a:solidFill>
                    <a:srgbClr val="FFFFFF"/>
                  </a:solidFill>
                </a:rPr>
                <a:t>, </a:t>
              </a:r>
              <a:r>
                <a:rPr sz="2000">
                  <a:solidFill>
                    <a:schemeClr val="accent4"/>
                  </a:solidFill>
                  <a:latin typeface="Consolas"/>
                </a:rPr>
                <a:t>Valise</a:t>
              </a:r>
              <a:r>
                <a:rPr sz="2200">
                  <a:solidFill>
                    <a:srgbClr val="FFFFFF"/>
                  </a:solidFill>
                </a:rPr>
                <a:t>, </a:t>
              </a:r>
              <a:r>
                <a:rPr sz="2000">
                  <a:solidFill>
                    <a:schemeClr val="accent4"/>
                  </a:solidFill>
                  <a:latin typeface="Consolas"/>
                </a:rPr>
                <a:t>Sac</a:t>
              </a:r>
            </a:p>
          </p:txBody>
        </p:sp>
        <p:sp>
          <p:nvSpPr>
            <p:cNvPr id="10" name="TextBox 9"/>
            <p:cNvSpPr txBox="1"/>
            <p:nvPr/>
          </p:nvSpPr>
          <p:spPr>
            <a:xfrm>
              <a:off x="6964680" y="2621280"/>
              <a:ext cx="4419600" cy="536448"/>
            </a:xfrm>
            <a:prstGeom prst="rect">
              <a:avLst/>
            </a:prstGeom>
            <a:noFill/>
          </p:spPr>
          <p:txBody>
            <a:bodyPr wrap="square" anchor="ctr">
              <a:spAutoFit/>
            </a:bodyPr>
            <a:lstStyle/>
            <a:p>
              <a:r>
                <a:rPr sz="2000">
                  <a:solidFill>
                    <a:schemeClr val="accent4"/>
                  </a:solidFill>
                  <a:latin typeface="Consolas"/>
                </a:rPr>
                <a:t>Valise</a:t>
              </a:r>
              <a:r>
                <a:rPr sz="2200">
                  <a:solidFill>
                    <a:srgbClr val="FFFFFF"/>
                  </a:solidFill>
                </a:rPr>
                <a:t>, </a:t>
              </a:r>
              <a:r>
                <a:rPr sz="2000">
                  <a:solidFill>
                    <a:schemeClr val="accent4"/>
                  </a:solidFill>
                  <a:latin typeface="Consolas"/>
                </a:rPr>
                <a:t>Bagage</a:t>
              </a:r>
              <a:r>
                <a:rPr sz="2200">
                  <a:solidFill>
                    <a:srgbClr val="FFFFFF"/>
                  </a:solidFill>
                </a:rPr>
                <a:t>, </a:t>
              </a:r>
              <a:r>
                <a:rPr sz="2000">
                  <a:solidFill>
                    <a:schemeClr val="accent4"/>
                  </a:solidFill>
                  <a:latin typeface="Consolas"/>
                </a:rPr>
                <a:t>Object</a:t>
              </a:r>
            </a:p>
          </p:txBody>
        </p:sp>
      </p:grpSp>
      <p:grpSp>
        <p:nvGrpSpPr>
          <p:cNvPr id="29" name="Ligne 2"/>
          <p:cNvGrpSpPr/>
          <p:nvPr/>
        </p:nvGrpSpPr>
        <p:grpSpPr>
          <a:xfrm>
            <a:off x="640080" y="3230880"/>
            <a:ext cx="10881360" cy="536448"/>
            <a:chOff x="640080" y="3230880"/>
            <a:chExt cx="10881360" cy="536448"/>
          </a:xfrm>
        </p:grpSpPr>
        <p:sp>
          <p:nvSpPr>
            <p:cNvPr id="11" name="Rounded Rectangle 10"/>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230880"/>
              <a:ext cx="1859280" cy="536448"/>
            </a:xfrm>
            <a:prstGeom prst="rect">
              <a:avLst/>
            </a:prstGeom>
            <a:noFill/>
          </p:spPr>
          <p:txBody>
            <a:bodyPr wrap="square" anchor="ctr">
              <a:spAutoFit/>
            </a:bodyPr>
            <a:lstStyle/>
            <a:p>
              <a:r>
                <a:rPr sz="2200">
                  <a:solidFill>
                    <a:srgbClr val="FFFFFF"/>
                  </a:solidFill>
                </a:rPr>
                <a:t>Lire</a:t>
              </a:r>
            </a:p>
          </p:txBody>
        </p:sp>
        <p:sp>
          <p:nvSpPr>
            <p:cNvPr id="13" name="TextBox 12"/>
            <p:cNvSpPr txBox="1"/>
            <p:nvPr/>
          </p:nvSpPr>
          <p:spPr>
            <a:xfrm>
              <a:off x="2910840" y="3230880"/>
              <a:ext cx="3779520" cy="536448"/>
            </a:xfrm>
            <a:prstGeom prst="rect">
              <a:avLst/>
            </a:prstGeom>
            <a:noFill/>
          </p:spPr>
          <p:txBody>
            <a:bodyPr wrap="square" anchor="ctr">
              <a:spAutoFit/>
            </a:bodyPr>
            <a:lstStyle/>
            <a:p>
              <a:r>
                <a:rPr sz="2200">
                  <a:solidFill>
                    <a:srgbClr val="FFFFFF"/>
                  </a:solidFill>
                </a:rPr>
                <a:t>oui, des </a:t>
              </a:r>
              <a:r>
                <a:rPr sz="2000">
                  <a:solidFill>
                    <a:schemeClr val="accent4"/>
                  </a:solidFill>
                  <a:latin typeface="Consolas"/>
                </a:rPr>
                <a:t>Bagage</a:t>
              </a:r>
            </a:p>
          </p:txBody>
        </p:sp>
        <p:sp>
          <p:nvSpPr>
            <p:cNvPr id="14" name="TextBox 13"/>
            <p:cNvSpPr txBox="1"/>
            <p:nvPr/>
          </p:nvSpPr>
          <p:spPr>
            <a:xfrm>
              <a:off x="6964680" y="3230880"/>
              <a:ext cx="4419600" cy="536448"/>
            </a:xfrm>
            <a:prstGeom prst="rect">
              <a:avLst/>
            </a:prstGeom>
            <a:noFill/>
          </p:spPr>
          <p:txBody>
            <a:bodyPr wrap="square" anchor="ctr">
              <a:spAutoFit/>
            </a:bodyPr>
            <a:lstStyle/>
            <a:p>
              <a:r>
                <a:rPr sz="2200">
                  <a:solidFill>
                    <a:srgbClr val="FFFFFF"/>
                  </a:solidFill>
                </a:rPr>
                <a:t>des </a:t>
              </a:r>
              <a:r>
                <a:rPr sz="2000">
                  <a:solidFill>
                    <a:schemeClr val="accent4"/>
                  </a:solidFill>
                  <a:latin typeface="Consolas"/>
                </a:rPr>
                <a:t>Object</a:t>
              </a:r>
              <a:r>
                <a:rPr sz="2200">
                  <a:solidFill>
                    <a:srgbClr val="FFFFFF"/>
                  </a:solidFill>
                </a:rPr>
                <a:t> seulement</a:t>
              </a:r>
            </a:p>
          </p:txBody>
        </p:sp>
      </p:grpSp>
      <p:grpSp>
        <p:nvGrpSpPr>
          <p:cNvPr id="30" name="Ligne 3"/>
          <p:cNvGrpSpPr/>
          <p:nvPr/>
        </p:nvGrpSpPr>
        <p:grpSpPr>
          <a:xfrm>
            <a:off x="640080" y="3840480"/>
            <a:ext cx="10881360" cy="536448"/>
            <a:chOff x="640080" y="3840480"/>
            <a:chExt cx="10881360" cy="536448"/>
          </a:xfrm>
        </p:grpSpPr>
        <p:sp>
          <p:nvSpPr>
            <p:cNvPr id="15" name="Rounded Rectangle 14"/>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840480"/>
              <a:ext cx="1859280" cy="536448"/>
            </a:xfrm>
            <a:prstGeom prst="rect">
              <a:avLst/>
            </a:prstGeom>
            <a:noFill/>
          </p:spPr>
          <p:txBody>
            <a:bodyPr wrap="square" anchor="ctr">
              <a:spAutoFit/>
            </a:bodyPr>
            <a:lstStyle/>
            <a:p>
              <a:r>
                <a:rPr sz="2200">
                  <a:solidFill>
                    <a:srgbClr val="FFFFFF"/>
                  </a:solidFill>
                </a:rPr>
                <a:t>Ajouter</a:t>
              </a:r>
            </a:p>
          </p:txBody>
        </p:sp>
        <p:sp>
          <p:nvSpPr>
            <p:cNvPr id="17" name="TextBox 16"/>
            <p:cNvSpPr txBox="1"/>
            <p:nvPr/>
          </p:nvSpPr>
          <p:spPr>
            <a:xfrm>
              <a:off x="2910840" y="3840480"/>
              <a:ext cx="3779520" cy="536448"/>
            </a:xfrm>
            <a:prstGeom prst="rect">
              <a:avLst/>
            </a:prstGeom>
            <a:noFill/>
          </p:spPr>
          <p:txBody>
            <a:bodyPr wrap="square" anchor="ctr">
              <a:spAutoFit/>
            </a:bodyPr>
            <a:lstStyle/>
            <a:p>
              <a:r>
                <a:rPr sz="2200">
                  <a:solidFill>
                    <a:srgbClr val="FFFFFF"/>
                  </a:solidFill>
                </a:rPr>
                <a:t>non</a:t>
              </a:r>
            </a:p>
          </p:txBody>
        </p:sp>
        <p:sp>
          <p:nvSpPr>
            <p:cNvPr id="18" name="TextBox 17"/>
            <p:cNvSpPr txBox="1"/>
            <p:nvPr/>
          </p:nvSpPr>
          <p:spPr>
            <a:xfrm>
              <a:off x="6964680" y="3840480"/>
              <a:ext cx="4419600" cy="536448"/>
            </a:xfrm>
            <a:prstGeom prst="rect">
              <a:avLst/>
            </a:prstGeom>
            <a:noFill/>
          </p:spPr>
          <p:txBody>
            <a:bodyPr wrap="square" anchor="ctr">
              <a:spAutoFit/>
            </a:bodyPr>
            <a:lstStyle/>
            <a:p>
              <a:r>
                <a:rPr sz="2200">
                  <a:solidFill>
                    <a:srgbClr val="FFFFFF"/>
                  </a:solidFill>
                </a:rPr>
                <a:t>oui, des </a:t>
              </a:r>
              <a:r>
                <a:rPr sz="2000">
                  <a:solidFill>
                    <a:schemeClr val="accent4"/>
                  </a:solidFill>
                  <a:latin typeface="Consolas"/>
                </a:rPr>
                <a:t>Valise</a:t>
              </a:r>
            </a:p>
          </p:txBody>
        </p:sp>
      </p:grpSp>
      <p:grpSp>
        <p:nvGrpSpPr>
          <p:cNvPr id="31" name="Ligne 4"/>
          <p:cNvGrpSpPr/>
          <p:nvPr/>
        </p:nvGrpSpPr>
        <p:grpSpPr>
          <a:xfrm>
            <a:off x="640080" y="4450080"/>
            <a:ext cx="10881360" cy="536448"/>
            <a:chOff x="640080" y="4450080"/>
            <a:chExt cx="10881360" cy="536448"/>
          </a:xfrm>
        </p:grpSpPr>
        <p:sp>
          <p:nvSpPr>
            <p:cNvPr id="19" name="Rounded Rectangle 18"/>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450080"/>
              <a:ext cx="1859280" cy="536448"/>
            </a:xfrm>
            <a:prstGeom prst="rect">
              <a:avLst/>
            </a:prstGeom>
            <a:noFill/>
          </p:spPr>
          <p:txBody>
            <a:bodyPr wrap="square" anchor="ctr">
              <a:spAutoFit/>
            </a:bodyPr>
            <a:lstStyle/>
            <a:p>
              <a:r>
                <a:rPr sz="2200">
                  <a:solidFill>
                    <a:srgbClr val="FFFFFF"/>
                  </a:solidFill>
                </a:rPr>
                <a:t>La liste</a:t>
              </a:r>
            </a:p>
          </p:txBody>
        </p:sp>
        <p:sp>
          <p:nvSpPr>
            <p:cNvPr id="21" name="TextBox 20"/>
            <p:cNvSpPr txBox="1"/>
            <p:nvPr/>
          </p:nvSpPr>
          <p:spPr>
            <a:xfrm>
              <a:off x="2910840" y="4450080"/>
              <a:ext cx="3779520" cy="536448"/>
            </a:xfrm>
            <a:prstGeom prst="rect">
              <a:avLst/>
            </a:prstGeom>
            <a:noFill/>
          </p:spPr>
          <p:txBody>
            <a:bodyPr wrap="square" anchor="ctr">
              <a:spAutoFit/>
            </a:bodyPr>
            <a:lstStyle/>
            <a:p>
              <a:r>
                <a:rPr sz="2200">
                  <a:solidFill>
                    <a:srgbClr val="FFFFFF"/>
                  </a:solidFill>
                </a:rPr>
                <a:t>fournit</a:t>
              </a:r>
            </a:p>
          </p:txBody>
        </p:sp>
        <p:sp>
          <p:nvSpPr>
            <p:cNvPr id="22" name="TextBox 21"/>
            <p:cNvSpPr txBox="1"/>
            <p:nvPr/>
          </p:nvSpPr>
          <p:spPr>
            <a:xfrm>
              <a:off x="6964680" y="4450080"/>
              <a:ext cx="4419600" cy="536448"/>
            </a:xfrm>
            <a:prstGeom prst="rect">
              <a:avLst/>
            </a:prstGeom>
            <a:noFill/>
          </p:spPr>
          <p:txBody>
            <a:bodyPr wrap="square" anchor="ctr">
              <a:spAutoFit/>
            </a:bodyPr>
            <a:lstStyle/>
            <a:p>
              <a:r>
                <a:rPr sz="2200">
                  <a:solidFill>
                    <a:srgbClr val="FFFFFF"/>
                  </a:solidFill>
                </a:rPr>
                <a:t>reçoit</a:t>
              </a:r>
            </a:p>
          </p:txBody>
        </p:sp>
      </p:grpSp>
      <p:grpSp>
        <p:nvGrpSpPr>
          <p:cNvPr id="32" name="Ligne 5"/>
          <p:cNvGrpSpPr/>
          <p:nvPr/>
        </p:nvGrpSpPr>
        <p:grpSpPr>
          <a:xfrm>
            <a:off x="640080" y="5059680"/>
            <a:ext cx="10881360" cy="536448"/>
            <a:chOff x="640080" y="5059680"/>
            <a:chExt cx="10881360" cy="536448"/>
          </a:xfrm>
        </p:grpSpPr>
        <p:sp>
          <p:nvSpPr>
            <p:cNvPr id="23" name="Rounded Rectangle 22"/>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59680"/>
              <a:ext cx="1859280" cy="536448"/>
            </a:xfrm>
            <a:prstGeom prst="rect">
              <a:avLst/>
            </a:prstGeom>
            <a:noFill/>
          </p:spPr>
          <p:txBody>
            <a:bodyPr wrap="square" anchor="ctr">
              <a:spAutoFit/>
            </a:bodyPr>
            <a:lstStyle/>
            <a:p>
              <a:r>
                <a:rPr sz="2200">
                  <a:solidFill>
                    <a:srgbClr val="FFFFFF"/>
                  </a:solidFill>
                </a:rPr>
                <a:t>Exemple</a:t>
              </a:r>
            </a:p>
          </p:txBody>
        </p:sp>
        <p:sp>
          <p:nvSpPr>
            <p:cNvPr id="25" name="TextBox 24"/>
            <p:cNvSpPr txBox="1"/>
            <p:nvPr/>
          </p:nvSpPr>
          <p:spPr>
            <a:xfrm>
              <a:off x="2910840" y="5059680"/>
              <a:ext cx="3779520" cy="536448"/>
            </a:xfrm>
            <a:prstGeom prst="rect">
              <a:avLst/>
            </a:prstGeom>
            <a:noFill/>
          </p:spPr>
          <p:txBody>
            <a:bodyPr wrap="square" anchor="ctr">
              <a:spAutoFit/>
            </a:bodyPr>
            <a:lstStyle/>
            <a:p>
              <a:r>
                <a:rPr sz="2000">
                  <a:solidFill>
                    <a:schemeClr val="accent4"/>
                  </a:solidFill>
                  <a:latin typeface="Consolas"/>
                </a:rPr>
                <a:t>poidsTotal(...)</a:t>
              </a:r>
            </a:p>
          </p:txBody>
        </p:sp>
        <p:sp>
          <p:nvSpPr>
            <p:cNvPr id="26" name="TextBox 25"/>
            <p:cNvSpPr txBox="1"/>
            <p:nvPr/>
          </p:nvSpPr>
          <p:spPr>
            <a:xfrm>
              <a:off x="6964680" y="5059680"/>
              <a:ext cx="4419600" cy="536448"/>
            </a:xfrm>
            <a:prstGeom prst="rect">
              <a:avLst/>
            </a:prstGeom>
            <a:noFill/>
          </p:spPr>
          <p:txBody>
            <a:bodyPr wrap="square" anchor="ctr">
              <a:spAutoFit/>
            </a:bodyPr>
            <a:lstStyle/>
            <a:p>
              <a:r>
                <a:rPr sz="2000">
                  <a:solidFill>
                    <a:schemeClr val="accent4"/>
                  </a:solidFill>
                  <a:latin typeface="Consolas"/>
                </a:rPr>
                <a:t>charger(...)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5.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9578916"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méthode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compilateur déduit le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a:t>
            </a:r>
            <a:r>
              <a:rPr sz="2400">
                <a:solidFill>
                  <a:schemeClr val="accent4"/>
                </a:solidFill>
                <a:latin typeface="Consolas"/>
              </a:rPr>
              <a:t>T</a:t>
            </a:r>
            <a:r>
              <a:rPr sz="2800"/>
              <a:t> d'une méthode se fixe à chaque appel</a:t>
            </a:r>
          </a:p>
          <a:p>
            <a:pPr marL="0" indent="0">
              <a:spcAft>
                <a:spcPts val="1000"/>
              </a:spcAft>
              <a:buNone/>
            </a:pPr>
            <a:r>
              <a:rPr sz="2800"/>
              <a:t>Le compilateur le déduit des arguments</a:t>
            </a:r>
          </a:p>
          <a:p>
            <a:pPr marL="0" indent="0">
              <a:spcAft>
                <a:spcPts val="1000"/>
              </a:spcAft>
              <a:buNone/>
            </a:pPr>
            <a:r>
              <a:rPr sz="2800"/>
              <a:t>On peut le donner soi-même, mais c'est rarement utile</a:t>
            </a:r>
          </a:p>
        </p:txBody>
      </p:sp>
      <p:sp>
        <p:nvSpPr>
          <p:cNvPr id="4" name="Code"/>
          <p:cNvSpPr txBox="1"/>
          <p:nvPr/>
        </p:nvSpPr>
        <p:spPr>
          <a:xfrm>
            <a:off x="2032000" y="3307080"/>
            <a:ext cx="81280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&lt;T&gt; T </a:t>
            </a:r>
            <a:r>
              <a:rPr sz="1800">
                <a:solidFill>
                  <a:srgbClr val="56A8F5"/>
                </a:solidFill>
                <a:latin typeface="Consolas"/>
              </a:rPr>
              <a:t>auHasard</a:t>
            </a:r>
            <a:r>
              <a:rPr sz="1800">
                <a:solidFill>
                  <a:srgbClr val="BCBEC4"/>
                </a:solidFill>
                <a:latin typeface="Consolas"/>
              </a:rPr>
              <a:t>(List&lt;T&gt; elements)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CF8E6D"/>
                </a:solidFill>
                <a:latin typeface="Consolas"/>
              </a:rPr>
              <a:t>int</a:t>
            </a:r>
            <a:r>
              <a:rPr sz="1800">
                <a:solidFill>
                  <a:srgbClr val="BCBEC4"/>
                </a:solidFill>
                <a:latin typeface="Consolas"/>
              </a:rPr>
              <a:t>) (Math.</a:t>
            </a:r>
            <a:r>
              <a:rPr sz="1800">
                <a:solidFill>
                  <a:srgbClr val="56A8F5"/>
                </a:solidFill>
                <a:latin typeface="Consolas"/>
              </a:rPr>
              <a:t>random</a:t>
            </a:r>
            <a:r>
              <a:rPr sz="1800">
                <a:solidFill>
                  <a:srgbClr val="BCBEC4"/>
                </a:solidFill>
                <a:latin typeface="Consolas"/>
              </a:rPr>
              <a:t>() * elements.</a:t>
            </a:r>
            <a:r>
              <a:rPr sz="1800">
                <a:solidFill>
                  <a:srgbClr val="56A8F5"/>
                </a:solidFill>
                <a:latin typeface="Consolas"/>
              </a:rPr>
              <a:t>size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elements.</a:t>
            </a:r>
            <a:r>
              <a:rPr sz="1800">
                <a:solidFill>
                  <a:srgbClr val="56A8F5"/>
                </a:solidFill>
                <a:latin typeface="Consolas"/>
              </a:rPr>
              <a:t>get</a:t>
            </a:r>
            <a:r>
              <a:rPr sz="1800">
                <a:solidFill>
                  <a:srgbClr val="BCBEC4"/>
                </a:solidFill>
                <a:latin typeface="Consolas"/>
              </a:rPr>
              <a:t>(i);</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Valise v = Tirage.</a:t>
            </a:r>
            <a:r>
              <a:rPr sz="1800">
                <a:solidFill>
                  <a:srgbClr val="56A8F5"/>
                </a:solidFill>
                <a:latin typeface="Consolas"/>
              </a:rPr>
              <a:t>auHasard</a:t>
            </a:r>
            <a:r>
              <a:rPr sz="1800">
                <a:solidFill>
                  <a:srgbClr val="BCBEC4"/>
                </a:solidFill>
                <a:latin typeface="Consolas"/>
              </a:rPr>
              <a:t>(valises);    </a:t>
            </a:r>
            <a:r>
              <a:rPr sz="1800">
                <a:solidFill>
                  <a:srgbClr val="7A7E85"/>
                </a:solidFill>
                <a:latin typeface="Consolas"/>
              </a:rPr>
              <a:t>// T vaut Valise</a:t>
            </a:r>
          </a:p>
          <a:p>
            <a:pPr>
              <a:lnSpc>
                <a:spcPct val="100000"/>
              </a:lnSpc>
              <a:spcBef>
                <a:spcPts val="0"/>
              </a:spcBef>
              <a:spcAft>
                <a:spcPts val="0"/>
              </a:spcAft>
            </a:pPr>
            <a:r>
              <a:rPr sz="1800">
                <a:solidFill>
                  <a:srgbClr val="BCBEC4"/>
                </a:solidFill>
                <a:latin typeface="Consolas"/>
              </a:rPr>
              <a:t>String s = Tirage.</a:t>
            </a:r>
            <a:r>
              <a:rPr sz="1800">
                <a:solidFill>
                  <a:srgbClr val="56A8F5"/>
                </a:solidFill>
                <a:latin typeface="Consolas"/>
              </a:rPr>
              <a:t>auHasard</a:t>
            </a:r>
            <a:r>
              <a:rPr sz="1800">
                <a:solidFill>
                  <a:srgbClr val="BCBEC4"/>
                </a:solidFill>
                <a:latin typeface="Consolas"/>
              </a:rPr>
              <a:t>(messages);   </a:t>
            </a:r>
            <a:r>
              <a:rPr sz="1800">
                <a:solidFill>
                  <a:srgbClr val="7A7E85"/>
                </a:solidFill>
                <a:latin typeface="Consolas"/>
              </a:rPr>
              <a:t>// T vaut String</a:t>
            </a:r>
          </a:p>
          <a:p>
            <a:pPr>
              <a:lnSpc>
                <a:spcPct val="100000"/>
              </a:lnSpc>
              <a:spcBef>
                <a:spcPts val="0"/>
              </a:spcBef>
              <a:spcAft>
                <a:spcPts val="0"/>
              </a:spcAft>
            </a:pPr>
            <a:r>
              <a:rPr sz="1800">
                <a:solidFill>
                  <a:srgbClr val="BCBEC4"/>
                </a:solidFill>
                <a:latin typeface="Consolas"/>
              </a:rPr>
              <a:t>Valise w = Tirage.&lt;Valise&gt;</a:t>
            </a:r>
            <a:r>
              <a:rPr sz="1800">
                <a:solidFill>
                  <a:srgbClr val="56A8F5"/>
                </a:solidFill>
                <a:latin typeface="Consolas"/>
              </a:rPr>
              <a:t>auHasard</a:t>
            </a:r>
            <a:r>
              <a:rPr sz="1800">
                <a:solidFill>
                  <a:srgbClr val="BCBEC4"/>
                </a:solidFill>
                <a:latin typeface="Consolas"/>
              </a:rPr>
              <a:t>(valises);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statique déclare son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Le </a:t>
            </a:r>
            <a:r>
              <a:rPr sz="2200">
                <a:solidFill>
                  <a:schemeClr val="accent4"/>
                </a:solidFill>
                <a:latin typeface="Consolas"/>
              </a:rPr>
              <a:t>T</a:t>
            </a:r>
            <a:r>
              <a:rPr sz="2600"/>
              <a:t> d'une classe appartient à chacun de ses objets</a:t>
            </a:r>
          </a:p>
          <a:p>
            <a:pPr marL="0" indent="0">
              <a:spcAft>
                <a:spcPts val="1000"/>
              </a:spcAft>
              <a:buNone/>
            </a:pPr>
            <a:r>
              <a:rPr sz="2600"/>
              <a:t>Une méthode </a:t>
            </a:r>
            <a:r>
              <a:rPr sz="2200">
                <a:solidFill>
                  <a:schemeClr val="accent4"/>
                </a:solidFill>
                <a:latin typeface="Consolas"/>
              </a:rPr>
              <a:t>static</a:t>
            </a:r>
            <a:r>
              <a:rPr sz="2600"/>
              <a:t> n'a pas d'objet : elle ne le voit pas</a:t>
            </a:r>
          </a:p>
          <a:p>
            <a:pPr marL="0" indent="0">
              <a:spcAft>
                <a:spcPts val="1000"/>
              </a:spcAft>
              <a:buNone/>
            </a:pPr>
            <a:r>
              <a:rPr sz="2600"/>
              <a:t>Elle déclare le sien, comme cette fabrique</a:t>
            </a:r>
          </a:p>
        </p:txBody>
      </p:sp>
      <p:sp>
        <p:nvSpPr>
          <p:cNvPr id="4" name="Code"/>
          <p:cNvSpPr txBox="1"/>
          <p:nvPr/>
        </p:nvSpPr>
        <p:spPr>
          <a:xfrm>
            <a:off x="2714978" y="3215639"/>
            <a:ext cx="6762043" cy="2956559"/>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Casier&lt;T&gt;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&lt;T&gt; Casier&lt;T&gt; </a:t>
            </a:r>
            <a:r>
              <a:rPr sz="1600">
                <a:solidFill>
                  <a:srgbClr val="56A8F5"/>
                </a:solidFill>
                <a:latin typeface="Consolas"/>
              </a:rPr>
              <a:t>contenant</a:t>
            </a:r>
            <a:r>
              <a:rPr sz="1600">
                <a:solidFill>
                  <a:srgbClr val="BCBEC4"/>
                </a:solidFill>
                <a:latin typeface="Consolas"/>
              </a:rPr>
              <a:t>(T objet) {</a:t>
            </a:r>
          </a:p>
          <a:p>
            <a:pPr>
              <a:lnSpc>
                <a:spcPct val="100000"/>
              </a:lnSpc>
              <a:spcBef>
                <a:spcPts val="0"/>
              </a:spcBef>
              <a:spcAft>
                <a:spcPts val="0"/>
              </a:spcAft>
            </a:pPr>
            <a:r>
              <a:rPr sz="1600">
                <a:solidFill>
                  <a:srgbClr val="BCBEC4"/>
                </a:solidFill>
                <a:latin typeface="Consolas"/>
              </a:rPr>
              <a:t>        Casier&lt;T&gt; casier = </a:t>
            </a:r>
            <a:r>
              <a:rPr sz="1600">
                <a:solidFill>
                  <a:srgbClr val="CF8E6D"/>
                </a:solidFill>
                <a:latin typeface="Consolas"/>
              </a:rPr>
              <a:t>new</a:t>
            </a:r>
            <a:r>
              <a:rPr sz="1600">
                <a:solidFill>
                  <a:srgbClr val="BCBEC4"/>
                </a:solidFill>
                <a:latin typeface="Consolas"/>
              </a:rPr>
              <a:t> Casier&lt;&gt;();</a:t>
            </a:r>
          </a:p>
          <a:p>
            <a:pPr>
              <a:lnSpc>
                <a:spcPct val="100000"/>
              </a:lnSpc>
              <a:spcBef>
                <a:spcPts val="0"/>
              </a:spcBef>
              <a:spcAft>
                <a:spcPts val="0"/>
              </a:spcAft>
            </a:pPr>
            <a:r>
              <a:rPr sz="1600">
                <a:solidFill>
                  <a:srgbClr val="BCBEC4"/>
                </a:solidFill>
                <a:latin typeface="Consolas"/>
              </a:rPr>
              <a:t>        casier.</a:t>
            </a:r>
            <a:r>
              <a:rPr sz="1600">
                <a:solidFill>
                  <a:srgbClr val="56A8F5"/>
                </a:solidFill>
                <a:latin typeface="Consolas"/>
              </a:rPr>
              <a:t>deposer</a:t>
            </a:r>
            <a:r>
              <a:rPr sz="1600">
                <a:solidFill>
                  <a:srgbClr val="BCBEC4"/>
                </a:solidFill>
                <a:latin typeface="Consolas"/>
              </a:rPr>
              <a:t>(objet);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casier;</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Casier&lt;Valise&gt; casier = Casier.</a:t>
            </a:r>
            <a:r>
              <a:rPr sz="1600">
                <a:solidFill>
                  <a:srgbClr val="56A8F5"/>
                </a:solidFill>
                <a:latin typeface="Consolas"/>
              </a:rPr>
              <a:t>contenant</a:t>
            </a:r>
            <a:r>
              <a:rPr sz="1600">
                <a:solidFill>
                  <a:srgbClr val="BCBEC4"/>
                </a:solidFill>
                <a:latin typeface="Consolas"/>
              </a:rPr>
              <a:t>(valise);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méthode générique</a:t>
            </a:r>
          </a:p>
          <a:p>
            <a:r>
              <a:rPr sz="1400">
                <a:solidFill>
                  <a:srgbClr val="BCBEC4"/>
                </a:solidFill>
              </a:rPr>
              <a:t>fascicule GEN</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6.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635448"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6. Hériter d'une classe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façons d'hériter</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Une fille peut rester générique : </a:t>
            </a:r>
            <a:r>
              <a:rPr sz="2100">
                <a:solidFill>
                  <a:schemeClr val="accent4"/>
                </a:solidFill>
                <a:latin typeface="Consolas"/>
              </a:rPr>
              <a:t>extends Casier&lt;T&gt;</a:t>
            </a:r>
          </a:p>
          <a:p>
            <a:pPr marL="0" indent="0">
              <a:spcAft>
                <a:spcPts val="1000"/>
              </a:spcAft>
              <a:buNone/>
            </a:pPr>
            <a:r>
              <a:rPr sz="2400"/>
              <a:t>Ou fixer le type une fois pour toutes : </a:t>
            </a:r>
            <a:r>
              <a:rPr sz="2100">
                <a:solidFill>
                  <a:schemeClr val="accent4"/>
                </a:solidFill>
                <a:latin typeface="Consolas"/>
              </a:rPr>
              <a:t>extends Casier&lt;Velo&gt;</a:t>
            </a:r>
          </a:p>
          <a:p>
            <a:pPr marL="0" indent="0">
              <a:spcAft>
                <a:spcPts val="1000"/>
              </a:spcAft>
              <a:buNone/>
            </a:pPr>
            <a:r>
              <a:rPr sz="2400"/>
              <a:t>Les méthodes héritées suivent l'argument donné à la mère</a:t>
            </a:r>
          </a:p>
        </p:txBody>
      </p:sp>
      <p:sp>
        <p:nvSpPr>
          <p:cNvPr id="4" name="Code"/>
          <p:cNvSpPr txBox="1"/>
          <p:nvPr/>
        </p:nvSpPr>
        <p:spPr>
          <a:xfrm>
            <a:off x="2101850" y="3124200"/>
            <a:ext cx="7988300"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CasierFerme&lt;T&gt; </a:t>
            </a:r>
            <a:r>
              <a:rPr sz="1650">
                <a:solidFill>
                  <a:srgbClr val="CF8E6D"/>
                </a:solidFill>
                <a:latin typeface="Consolas"/>
              </a:rPr>
              <a:t>extends</a:t>
            </a:r>
            <a:r>
              <a:rPr sz="1650">
                <a:solidFill>
                  <a:srgbClr val="BCBEC4"/>
                </a:solidFill>
                <a:latin typeface="Consolas"/>
              </a:rPr>
              <a:t> Casier&lt;T&gt;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String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56A8F5"/>
                </a:solidFill>
                <a:latin typeface="Consolas"/>
              </a:rPr>
              <a:t>CasierFerme</a:t>
            </a:r>
            <a:r>
              <a:rPr sz="1650">
                <a:solidFill>
                  <a:srgbClr val="BCBEC4"/>
                </a:solidFill>
                <a:latin typeface="Consolas"/>
              </a:rPr>
              <a:t>(String code)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this</a:t>
            </a:r>
            <a:r>
              <a:rPr sz="1650">
                <a:solidFill>
                  <a:srgbClr val="BCBEC4"/>
                </a:solidFill>
                <a:latin typeface="Consolas"/>
              </a:rPr>
              <a:t>.code =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CasierVelo </a:t>
            </a:r>
            <a:r>
              <a:rPr sz="1650">
                <a:solidFill>
                  <a:srgbClr val="CF8E6D"/>
                </a:solidFill>
                <a:latin typeface="Consolas"/>
              </a:rPr>
              <a:t>extends</a:t>
            </a:r>
            <a:r>
              <a:rPr sz="1650">
                <a:solidFill>
                  <a:srgbClr val="BCBEC4"/>
                </a:solidFill>
                <a:latin typeface="Consolas"/>
              </a:rPr>
              <a:t> Casier&lt;Velo&gt; {</a:t>
            </a:r>
          </a:p>
          <a:p>
            <a:pPr>
              <a:lnSpc>
                <a:spcPct val="100000"/>
              </a:lnSpc>
              <a:spcBef>
                <a:spcPts val="0"/>
              </a:spcBef>
              <a:spcAft>
                <a:spcPts val="0"/>
              </a:spcAft>
            </a:pPr>
            <a:r>
              <a:rPr sz="1650">
                <a:solidFill>
                  <a:srgbClr val="BCBEC4"/>
                </a:solidFill>
                <a:latin typeface="Consolas"/>
              </a:rPr>
              <a:t>    </a:t>
            </a:r>
            <a:r>
              <a:rPr sz="1650">
                <a:solidFill>
                  <a:srgbClr val="7A7E85"/>
                </a:solidFill>
                <a:latin typeface="Consolas"/>
              </a:rPr>
              <a:t>// deposer(Velo) et retirer() : Velo, herites tels quels</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générique</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Une interface aussi peut être générique : </a:t>
            </a:r>
            <a:r>
              <a:rPr sz="2200">
                <a:solidFill>
                  <a:schemeClr val="accent4"/>
                </a:solidFill>
                <a:latin typeface="Consolas"/>
              </a:rPr>
              <a:t>Depot&lt;T&gt;</a:t>
            </a:r>
          </a:p>
          <a:p>
            <a:pPr marL="0" indent="0">
              <a:spcAft>
                <a:spcPts val="1000"/>
              </a:spcAft>
              <a:buNone/>
            </a:pPr>
            <a:r>
              <a:rPr sz="2600"/>
              <a:t>Elle déclare ici </a:t>
            </a:r>
            <a:r>
              <a:rPr sz="2200">
                <a:solidFill>
                  <a:schemeClr val="accent4"/>
                </a:solidFill>
                <a:latin typeface="Consolas"/>
              </a:rPr>
              <a:t>deposer(T)</a:t>
            </a:r>
            <a:r>
              <a:rPr sz="2600"/>
              <a:t> et </a:t>
            </a:r>
            <a:r>
              <a:rPr sz="2200">
                <a:solidFill>
                  <a:schemeClr val="accent4"/>
                </a:solidFill>
                <a:latin typeface="Consolas"/>
              </a:rPr>
              <a:t>retirer()</a:t>
            </a:r>
            <a:r>
              <a:rPr sz="2600"/>
              <a:t>, qui retourne un </a:t>
            </a:r>
            <a:r>
              <a:rPr sz="2200">
                <a:solidFill>
                  <a:schemeClr val="accent4"/>
                </a:solidFill>
                <a:latin typeface="Consolas"/>
              </a:rPr>
              <a:t>T</a:t>
            </a:r>
          </a:p>
          <a:p>
            <a:pPr marL="0" indent="0">
              <a:spcAft>
                <a:spcPts val="1000"/>
              </a:spcAft>
              <a:buNone/>
            </a:pPr>
            <a:r>
              <a:rPr sz="2600"/>
              <a:t>La classe qui l'implémente transmet le type, ou le fixe</a:t>
            </a:r>
          </a:p>
        </p:txBody>
      </p:sp>
      <p:sp>
        <p:nvSpPr>
          <p:cNvPr id="4" name="Code"/>
          <p:cNvSpPr txBox="1"/>
          <p:nvPr/>
        </p:nvSpPr>
        <p:spPr>
          <a:xfrm>
            <a:off x="2311400" y="3215639"/>
            <a:ext cx="75692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Vestiaire </a:t>
            </a:r>
            <a:r>
              <a:rPr sz="1800">
                <a:solidFill>
                  <a:srgbClr val="CF8E6D"/>
                </a:solidFill>
                <a:latin typeface="Consolas"/>
              </a:rPr>
              <a:t>implements</a:t>
            </a:r>
            <a:r>
              <a:rPr sz="1800">
                <a:solidFill>
                  <a:srgbClr val="BCBEC4"/>
                </a:solidFill>
                <a:latin typeface="Consolas"/>
              </a:rPr>
              <a:t> Depot&lt;Manteau&gt;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Manteau accroche;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(Manteau m) { accroche = m;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Manteau </a:t>
            </a:r>
            <a:r>
              <a:rPr sz="1800">
                <a:solidFill>
                  <a:srgbClr val="56A8F5"/>
                </a:solidFill>
                <a:latin typeface="Consolas"/>
              </a:rPr>
              <a:t>retirer</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accroche;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Hériter d'une classe générique</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Code commun : </a:t>
            </a:r>
            <a:r>
              <a:rPr sz="2400">
                <a:solidFill>
                  <a:schemeClr val="accent4"/>
                </a:solidFill>
                <a:latin typeface="Consolas"/>
              </a:rPr>
              <a:t>CC-CLS.3</a:t>
            </a:r>
            <a:r>
              <a:rPr sz="2400"/>
              <a:t>, tests : </a:t>
            </a:r>
            <a:r>
              <a:rPr sz="2400">
                <a:solidFill>
                  <a:schemeClr val="accent4"/>
                </a:solidFill>
                <a:latin typeface="Consolas"/>
              </a:rPr>
              <a:t>CC-MET.7</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objet par joueur</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Deux champs jumeaux deviennent un objet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pic>
        <p:nvPicPr>
          <p:cNvPr id="9"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115132</TotalTime>
  <Words>4644</Words>
  <Application>Microsoft Macintosh PowerPoint</Application>
  <PresentationFormat>Grand écran</PresentationFormat>
  <Paragraphs>401</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Quelqu'un a écrit ce E</vt:lpstr>
      <vt:lpstr>Démonstration</vt:lpstr>
      <vt:lpstr>Déclarer un paramètre, le fixer à l'usage</vt:lpstr>
      <vt:lpstr>Un T se transmet</vt:lpstr>
      <vt:lpstr>Exercices</vt:lpstr>
      <vt:lpstr>Présentation PowerPoint</vt:lpstr>
      <vt:lpstr>Plusieurs paramètres</vt:lpstr>
      <vt:lpstr>Un argument de type peut être générique</vt:lpstr>
      <vt:lpstr>Exercices</vt:lpstr>
      <vt:lpstr>Présentation PowerPoint</vt:lpstr>
      <vt:lpstr>Une seule classe à l'exécution</vt:lpstr>
      <vt:lpstr>Vérifier, puis effacer</vt:lpstr>
      <vt:lpstr>Ce que l'effacement interdit</vt:lpstr>
      <vt:lpstr>Le transtypage qu'on ne peut pas éviter</vt:lpstr>
      <vt:lpstr>Présentation PowerPoint</vt:lpstr>
      <vt:lpstr>Une Valise est un Bagage</vt:lpstr>
      <vt:lpstr>Exercices</vt:lpstr>
      <vt:lpstr>? extends : on lit</vt:lpstr>
      <vt:lpstr>? super : on ajoute</vt:lpstr>
      <vt:lpstr>? extends ou ? super</vt:lpstr>
      <vt:lpstr>Présentation PowerPoint</vt:lpstr>
      <vt:lpstr>Le compilateur déduit le T</vt:lpstr>
      <vt:lpstr>Une méthode statique déclare son T</vt:lpstr>
      <vt:lpstr>Exercices</vt:lpstr>
      <vt:lpstr>Présentation PowerPoint</vt:lpstr>
      <vt:lpstr>Deux façons d'hériter</vt:lpstr>
      <vt:lpstr>Une interface générique</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2026-10-22T21:56:41Z</dcterms:modified>
</cp:coreProperties>
</file>