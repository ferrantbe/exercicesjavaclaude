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7"/>
  </p:notesMasterIdLst>
  <p:handoutMasterIdLst>
    <p:handoutMasterId r:id="rId38"/>
  </p:handoutMasterIdLst>
  <p:sldIdLst>
    <p:sldId id="568" r:id="rId2"/>
    <p:sldId id="599" r:id="rId3"/>
    <p:sldId id="569" r:id="rId4"/>
    <p:sldId id="570" r:id="rId5"/>
    <p:sldId id="571" r:id="rId6"/>
    <p:sldId id="572" r:id="rId7"/>
    <p:sldId id="573" r:id="rId8"/>
    <p:sldId id="574" r:id="rId9"/>
    <p:sldId id="575" r:id="rId10"/>
    <p:sldId id="576" r:id="rId11"/>
    <p:sldId id="602" r:id="rId12"/>
    <p:sldId id="577" r:id="rId13"/>
    <p:sldId id="578" r:id="rId14"/>
    <p:sldId id="579" r:id="rId15"/>
    <p:sldId id="580" r:id="rId16"/>
    <p:sldId id="581" r:id="rId17"/>
    <p:sldId id="582" r:id="rId18"/>
    <p:sldId id="583" r:id="rId19"/>
    <p:sldId id="584" r:id="rId20"/>
    <p:sldId id="585" r:id="rId21"/>
    <p:sldId id="586" r:id="rId22"/>
    <p:sldId id="587" r:id="rId23"/>
    <p:sldId id="600" r:id="rId24"/>
    <p:sldId id="601" r:id="rId25"/>
    <p:sldId id="588" r:id="rId26"/>
    <p:sldId id="589" r:id="rId27"/>
    <p:sldId id="590" r:id="rId28"/>
    <p:sldId id="591" r:id="rId29"/>
    <p:sldId id="592" r:id="rId30"/>
    <p:sldId id="593" r:id="rId31"/>
    <p:sldId id="594" r:id="rId32"/>
    <p:sldId id="595" r:id="rId33"/>
    <p:sldId id="596" r:id="rId34"/>
    <p:sldId id="597" r:id="rId35"/>
    <p:sldId id="598"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53A4E6D-F2B3-51C4-9D2A-B866F4B1F4EB}">
          <p14:sldIdLst>
            <p14:sldId id="568"/>
            <p14:sldId id="599"/>
          </p14:sldIdLst>
        </p14:section>
        <p14:section name="1. À vous d'écrire les tests" id="{C6294D61-A290-55AE-8F0F-9562FA0921CA}">
          <p14:sldIdLst>
            <p14:sldId id="569"/>
            <p14:sldId id="570"/>
            <p14:sldId id="571"/>
            <p14:sldId id="572"/>
          </p14:sldIdLst>
        </p14:section>
        <p14:section name="2. Écrire un test" id="{6A89644B-4F7E-5AB5-8971-32D9736C9030}">
          <p14:sldIdLst>
            <p14:sldId id="573"/>
            <p14:sldId id="574"/>
            <p14:sldId id="575"/>
            <p14:sldId id="576"/>
            <p14:sldId id="602"/>
            <p14:sldId id="577"/>
            <p14:sldId id="578"/>
          </p14:sldIdLst>
        </p14:section>
        <p14:section name="3. Vérifier un contrat" id="{0B3A6E7E-8AAE-5ECA-A42F-EA39185B2FE8}">
          <p14:sldIdLst>
            <p14:sldId id="579"/>
            <p14:sldId id="580"/>
            <p14:sldId id="581"/>
            <p14:sldId id="582"/>
            <p14:sldId id="583"/>
            <p14:sldId id="584"/>
          </p14:sldIdLst>
        </p14:section>
        <p14:section name="4. Choisir et justifier" id="{C32433EB-2DD6-531F-88AA-B0BC85379917}">
          <p14:sldIdLst>
            <p14:sldId id="585"/>
            <p14:sldId id="586"/>
            <p14:sldId id="587"/>
            <p14:sldId id="600"/>
            <p14:sldId id="601"/>
            <p14:sldId id="588"/>
            <p14:sldId id="589"/>
            <p14:sldId id="590"/>
            <p14:sldId id="591"/>
          </p14:sldIdLst>
        </p14:section>
        <p14:section name="5. La testabilité" id="{1CBE72B9-BA93-57BB-A9AB-7E63CA9089A8}">
          <p14:sldIdLst>
            <p14:sldId id="592"/>
            <p14:sldId id="593"/>
            <p14:sldId id="594"/>
            <p14:sldId id="595"/>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le début de l'année, un test vous dit si votre code est juste. Ce module vous apprend à écrire ce test vous-mêmes : du code qui dira, tout seul et à chaque lancement, que quelque chose s'est cassé.</a:t>
            </a:r>
          </a:p>
          <a:p>
            <a:r>
              <a:t>Le module ne compte que trois exercices, et ce chiffre est trompeur. Quatre objectifs de l'examen ne reposent que sur lui : écrire la classe de test d'une classe écrite par quelqu'un d'autre, écrire une classe et ses tests, repérer un défaut grâce aux tests, et justifier les cas que l'on a choisi de tester. Chaque session consacre sa troisième question à une classe de test.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cinq sections : 1. À vous d'écrire les tests ; 2. Écrire un test ; 3. Vérifier un contrat ; 4. Choisir et justifier ; 5. La testabilité.</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ce tableau de haut en bas : la colonne de droite change de nature. La dernière ligne est la troisième question de chaque session d'examen. Depuis janvier, vous cherchiez quoi implémenter. Dans ce module, à partir de JUN.2, le code est déjà écrit, et souvent correct. Ce que vous rendez, c'est ce qui le vérifie.</a:t>
            </a:r>
          </a:p>
          <a:p>
            <a:r>
              <a:t>JUN.1 est la charnière. Le test y est encore fourni, mais il ne sert plus seulement à vous dire vert ou rouge : il est l'énoncé, et vous apprenez à le lire.</a:t>
            </a:r>
          </a:p>
          <a:p>
            <a:r>
              <a:t>Conséquence pratique : le vert n'est plus la preuve que vous avez fini. Dans JUN.3, la classe de test fournie contrôle la forme de la vôtre, pas sa valeur. Personne ne peut la contrôler à votre place, et c'est exactement ce que l'examen évalue.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ainsi que vous avez vérifié vos programmes jusqu'ici : on lance, on lit ce qui s'affiche, on décide si c'est juste. Cela marche une fois. Personne ne relance quarante programmes après chaque modification, en relisant chaque ligne et en se souvenant de ce qu'elle devait afficher.</a:t>
            </a:r>
          </a:p>
          <a:p>
            <a:r>
              <a:t>Un test fait la même chose, à une différence près : il contient la réponse attendue. Il compare lui-même, et ne dit que vert ou rouge. C'est le « S » de F.I.R.S.T., auto-vérifiant, dans CC-TST.3.</a:t>
            </a:r>
          </a:p>
          <a:p>
            <a:r>
              <a:t>La salle de spectacle servira d'exemple pour tout le module. Elle a une capacité, on y réserve des places, et elle refuse ce qu'elle ne peut pas servir. Sa documentation viendra à la section 3.</a:t>
            </a:r>
          </a:p>
          <a:p>
            <a:r>
              <a:t>Le code complet, à exécuter : demos, classe </a:t>
            </a:r>
            <a:r>
              <a:rPr>
                <a:latin typeface="Consolas"/>
              </a:rPr>
              <a:t>demo.jun.slides.UnProgrammeQuiAfficheNeVerifieRien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écrit un test avant la classe qu'il vérifie, le regarde échouer, puis le fait passer avec le code le plus bête possible. Un test de plus, et le code doit s'améliorer. Un cas inattendu apparaît, que seul le fait de chercher quoi tester a fait découvrir.</a:t>
            </a:r>
          </a:p>
          <a:p>
            <a:r>
              <a:t>Retenez deux choses. Un test qu'on n'a jamais vu échouer ne prouve rien. Et un test sans assertion passe au vert quoi qu'il arrive : la démonstration le montre exprès, parce que c'est le défaut le plus fréquent dans les copies d'examen.</a:t>
            </a:r>
          </a:p>
          <a:p>
            <a:r>
              <a:t>La section suivante met des noms sur ce que vous venez de voir.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arborescences, </a:t>
            </a:r>
            <a:r>
              <a:rPr>
                <a:latin typeface="Consolas"/>
              </a:rPr>
              <a:t>main</a:t>
            </a:r>
            <a:r>
              <a:t> et </a:t>
            </a:r>
            <a:r>
              <a:rPr>
                <a:latin typeface="Consolas"/>
              </a:rPr>
              <a:t>test</a:t>
            </a:r>
            <a:r>
              <a:t>, se superposent : une classe de test placée dans le même package voit sa classe comme une voisine. Le projet Maven du cours ne laisse JUnit entrer que dans </a:t>
            </a:r>
            <a:r>
              <a:rPr>
                <a:latin typeface="Consolas"/>
              </a:rPr>
              <a:t>src/test</a:t>
            </a:r>
            <a:r>
              <a:t> ; tenter de l'importer dans </a:t>
            </a:r>
            <a:r>
              <a:rPr>
                <a:latin typeface="Consolas"/>
              </a:rPr>
              <a:t>src/main</a:t>
            </a:r>
            <a:r>
              <a:t> ne compile pas, et c'est voulu.</a:t>
            </a:r>
          </a:p>
          <a:p>
            <a:r>
              <a:t>L'import </a:t>
            </a:r>
            <a:r>
              <a:rPr>
                <a:latin typeface="Consolas"/>
              </a:rPr>
              <a:t>static</a:t>
            </a:r>
            <a:r>
              <a:t> est nouveau. Il importe une méthode statique, ici </a:t>
            </a:r>
            <a:r>
              <a:rPr>
                <a:latin typeface="Consolas"/>
              </a:rPr>
              <a:t>assertEquals</a:t>
            </a:r>
            <a:r>
              <a:t> de la classe </a:t>
            </a:r>
            <a:r>
              <a:rPr>
                <a:latin typeface="Consolas"/>
              </a:rPr>
              <a:t>Assertions</a:t>
            </a:r>
            <a:r>
              <a:t>, pour l'appeler sans écrire le nom de la classe devant. Toutes les assertions de JUnit 5 vivent dans </a:t>
            </a:r>
            <a:r>
              <a:rPr>
                <a:latin typeface="Consolas"/>
              </a:rPr>
              <a:t>org.junit.jupiter.api.Assertions</a:t>
            </a:r>
            <a:r>
              <a:t>.</a:t>
            </a:r>
          </a:p>
          <a:p>
            <a:r>
              <a:t>Dans IntelliJ, Ctrl+Shift+T depuis la classe propose de créer sa classe de test au bon endroit. À l'examen, si les noms de JUnit restent en rouge, l'énoncé rappelle l'option qui l'ajoute au projet.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méthode de test ne reçoit rien et ne retourne rien. Pas de </a:t>
            </a:r>
            <a:r>
              <a:rPr>
                <a:latin typeface="Consolas"/>
              </a:rPr>
              <a:t>main</a:t>
            </a:r>
            <a:r>
              <a:t> : JUnit cherche toutes les méthodes annotées </a:t>
            </a:r>
            <a:r>
              <a:rPr>
                <a:latin typeface="Consolas"/>
              </a:rPr>
              <a:t>@Test</a:t>
            </a:r>
            <a:r>
              <a:t> et les lance une à une.</a:t>
            </a:r>
          </a:p>
          <a:p>
            <a:r>
              <a:t>Les trois temps se lisent dans le code : préparer la salle, agir en demandant les places libres, vérifier le résultat. Une ligne vide les sépare, et c'est la forme à donner à vos propres tests. Vous ne la retrouverez pas dans tous les tests fournis avec les exercices : beaucoup ne vérifient que la forme d'une classe, en une ligne, sans rien à préparer ni à exécuter.</a:t>
            </a:r>
          </a:p>
          <a:p>
            <a:r>
              <a:t>L'ordre des arguments compte. En cas d'échec, JUnit affiche « expected: &lt;100&gt; but was: &lt;0&gt; ». Inversez-les, et le message mentira : il vous dira que la salle aurait dû valoir ce qu'elle vaut.</a:t>
            </a:r>
          </a:p>
          <a:p>
            <a:r>
              <a:t>Enfin, la ligne qui fait le test est la dernière. Sans elle, la méthode appelle du code, ne vérifie rien, et passe au vert. C'est ce que la démonstration a montré.</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Cinq assertions suffisent à tout ce que le cours et l'examen demandent. Chacune a sa contraire (</a:t>
            </a:r>
            <a:r>
              <a:rPr>
                <a:latin typeface="Consolas"/>
              </a:rPr>
              <a:t>assertNotEquals</a:t>
            </a:r>
            <a:r>
              <a:t>, </a:t>
            </a:r>
            <a:r>
              <a:rPr>
                <a:latin typeface="Consolas"/>
              </a:rPr>
              <a:t>assertNotNull</a:t>
            </a:r>
            <a:r>
              <a:t>) et toutes acceptent un dernier argument, un message affiché en cas d'échec.</a:t>
            </a:r>
          </a:p>
          <a:p>
            <a:r>
              <a:t>Pour des objets, </a:t>
            </a:r>
            <a:r>
              <a:rPr>
                <a:latin typeface="Consolas"/>
              </a:rPr>
              <a:t>assertEquals</a:t>
            </a:r>
            <a:r>
              <a:t> appelle </a:t>
            </a:r>
            <a:r>
              <a:rPr>
                <a:latin typeface="Consolas"/>
              </a:rPr>
              <a:t>equals</a:t>
            </a:r>
            <a:r>
              <a:t> : un objet qui ne le redéfinit pas n'est égal qu'à lui-même. Pour des </a:t>
            </a:r>
            <a:r>
              <a:rPr>
                <a:latin typeface="Consolas"/>
              </a:rPr>
              <a:t>double</a:t>
            </a:r>
            <a:r>
              <a:t>, elle demande une tolérance ; le fascicule de JUN.3 dit pourquoi.</a:t>
            </a:r>
          </a:p>
          <a:p>
            <a:r>
              <a:t>Préférez toujours l'assertion la plus précise. Un </a:t>
            </a:r>
            <a:r>
              <a:rPr>
                <a:latin typeface="Consolas"/>
              </a:rPr>
              <a:t>assertTrue(libres == 100)</a:t>
            </a:r>
            <a:r>
              <a:t> qui échoue dit seulement « expected: &lt;true&gt; but was: &lt;false&gt; ». Un </a:t>
            </a:r>
            <a:r>
              <a:rPr>
                <a:latin typeface="Consolas"/>
              </a:rPr>
              <a:t>assertEquals(100, libres)</a:t>
            </a:r>
            <a:r>
              <a:t> dit ce qu'il a obtenu.</a:t>
            </a:r>
          </a:p>
          <a:p>
            <a:r>
              <a:rPr>
                <a:latin typeface="Consolas"/>
              </a:rPr>
              <a:t>assertThrows</a:t>
            </a:r>
            <a:r>
              <a:t> est à la section 3.</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Toutes les assertions acceptent un dernier argument, facultatif pour JUnit : un message, affiché en cas d'échec avant l'attendu et l'obtenu.</a:t>
            </a:r>
          </a:p>
          <a:p>
            <a:r>
              <a:t>Dans ce cours, on l'ajoute systématiquement. « expected: &lt;98&gt; but was: &lt;100&gt; » dit qu'un nombre est faux ; le message dit lequel, et pourquoi il aurait dû valoir 98. Celui qui lira l'échec, vous-même dans six mois ou un collègue, comprend ce qui s'est cassé sans ouvrir le test.</a:t>
            </a:r>
          </a:p>
          <a:p>
            <a:r>
              <a:t>Le message décrit l'attente, pas le défaut supposé : « doivent en laisser 98 », et non « la réservation est cassée ». Le test ne sait pas pourquoi il échoue ; il sait seulement ce qu'il attendait. Pas d'accent dans la chaîne, comme partout dans le code du cours.</a:t>
            </a:r>
          </a:p>
          <a:p>
            <a:r>
              <a:t>Sur les slides, le message est parfois omis, pour que le code reste lisible à l'écran. Les sections 3 et 4, qui servent de modèle à la question d'examen, l'écrivent ; vos tests, eux, le portent toujours.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test rouge dit qu'il y a un désaccord, pas qui a tort. Le code peut être faux. Le test aussi : un attendu mal calculé, des arguments inversés, une préparation incomplète.</a:t>
            </a:r>
          </a:p>
          <a:p>
            <a:r>
              <a:t>L'arbitre n'est ni l'un ni l'autre, c'est la spécification : la documentation de la méthode, ou l'énoncé. On la relit, on décide qui a tort, et on ne corrige que celui-là.</a:t>
            </a:r>
          </a:p>
          <a:p>
            <a:r>
              <a:t>Le second cas vous est familier : c'est le message de chacun de vos squelettes. Une exception qui sort d'un test le fait échouer, et sa trace se lit comme au module EXC.</a:t>
            </a:r>
          </a:p>
          <a:p>
            <a:r>
              <a:t>C'est le troisième objectif de l'examen : exécuter les tests de quelqu'un d'autre, et s'en servir pour trouver le défaut dans une classe que vous n'avez pas écrite.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dernier exercice où le test est fourni, et la manière de s'en servir change. Ouvrez </a:t>
            </a:r>
            <a:r>
              <a:rPr>
                <a:latin typeface="Consolas"/>
              </a:rPr>
              <a:t>CalculatriceTest</a:t>
            </a:r>
            <a:r>
              <a:t> d'abord, et lisez-le comme un énoncé : les signatures, les valeurs, et ce qui doit arriver quand on divise par zéro y sont, et nulle part ailleurs.</a:t>
            </a:r>
          </a:p>
          <a:p>
            <a:r>
              <a:t>Vous y croiserez </a:t>
            </a:r>
            <a:r>
              <a:rPr>
                <a:latin typeface="Consolas"/>
              </a:rPr>
              <a:t>assertThrows</a:t>
            </a:r>
            <a:r>
              <a:t>, que la section suivante explique.</a:t>
            </a:r>
          </a:p>
          <a:p>
            <a:r>
              <a:t>Gardez les trois questions de fin pour la discussion. Celle sur les </a:t>
            </a:r>
            <a:r>
              <a:rPr>
                <a:latin typeface="Consolas"/>
              </a:rPr>
              <a:t>assertEquals</a:t>
            </a:r>
            <a:r>
              <a:t> multiples mérite d'être confrontée à CC-TST.2.</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vous testez la classe de quelqu'un d'autre, vous ne partez pas de son code, vous partez de ce qu'elle promet. Ici, quatre promesses : une réservation diminue les places libres d'autant, zéro place est refusé, une demande trop grande est refusée, et ce refus ne réserve rien.</a:t>
            </a:r>
          </a:p>
          <a:p>
            <a:r>
              <a:t>La dernière est la plus souvent oubliée. Elle est écrite en fin de phrase, presque en passant, et c'est pourtant elle qui distingue une salle correcte d'une salle qui réserve quand même la moitié de la demande.</a:t>
            </a:r>
          </a:p>
          <a:p>
            <a:r>
              <a:t>C'est ce que l'examen appelle tester « sur base d'une classe implémentée par un tiers et/ou de spécifications techniques ». La spécification, c'est ceci.</a:t>
            </a:r>
          </a:p>
          <a:p>
            <a:r>
              <a:t>Le code complet : demos, classe </a:t>
            </a:r>
            <a:r>
              <a:rPr>
                <a:latin typeface="Consolas"/>
              </a:rPr>
              <a:t>demo.jun.slides.Salle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Appeler </a:t>
            </a:r>
            <a:r>
              <a:rPr>
                <a:latin typeface="Consolas"/>
              </a:rPr>
              <a:t>salle.reserver(0)</a:t>
            </a:r>
            <a:r>
              <a:t> directement ne marcherait pas : l'exception interromprait le test, qui passerait au rouge précisément quand la salle fait ce qu'on attend d'elle. </a:t>
            </a:r>
            <a:r>
              <a:rPr>
                <a:latin typeface="Consolas"/>
              </a:rPr>
              <a:t>assertThrows</a:t>
            </a:r>
            <a:r>
              <a:t> fait l'appel pour vous, attrape l'exception, et vérifie son type.</a:t>
            </a:r>
          </a:p>
          <a:p>
            <a:r>
              <a:t>L'écriture </a:t>
            </a:r>
            <a:r>
              <a:rPr>
                <a:latin typeface="Consolas"/>
              </a:rPr>
              <a:t>() -&gt; salle.reserver(0)</a:t>
            </a:r>
            <a:r>
              <a:t> emballe l'appel pour qu'</a:t>
            </a:r>
            <a:r>
              <a:rPr>
                <a:latin typeface="Consolas"/>
              </a:rPr>
              <a:t>assertThrows</a:t>
            </a:r>
            <a:r>
              <a:t> l'exécute elle-même, au bon moment. Pour l'instant, retenez la forme : des parenthèses vides, une flèche, l'appel. Le module LAM dira ce qu'elle est. La notation </a:t>
            </a:r>
            <a:r>
              <a:rPr>
                <a:latin typeface="Consolas"/>
              </a:rPr>
              <a:t>IllegalArgumentException.class</a:t>
            </a:r>
            <a:r>
              <a:t> désigne la classe elle-même.</a:t>
            </a:r>
          </a:p>
          <a:p>
            <a:r>
              <a:t>Nommez le type le plus précis. Une sous-classe convient aussi, si bien qu'</a:t>
            </a:r>
            <a:r>
              <a:rPr>
                <a:latin typeface="Consolas"/>
              </a:rPr>
              <a:t>assertThrows(Exception.class, ...)</a:t>
            </a:r>
            <a:r>
              <a:t> accepterait n'importe quelle exception, y compris celle d'un bug. </a:t>
            </a:r>
            <a:r>
              <a:rPr>
                <a:latin typeface="Consolas"/>
              </a:rPr>
              <a:t>assertThrows</a:t>
            </a:r>
            <a:r>
              <a:t> retourne l'exception attrapée : on peut en vérifier le message.</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EXC l'avait annoncé : une méthode de test qui appelle </a:t>
            </a:r>
            <a:r>
              <a:rPr>
                <a:latin typeface="Consolas"/>
              </a:rPr>
              <a:t>reserver</a:t>
            </a:r>
            <a:r>
              <a:t> doit choisir, attraper ou déclarer. Dans un test, on déclare. Si l'exception survient alors qu'on ne l'attendait pas, JUnit marque le test en rouge avec sa trace : c'est exactement ce qu'on veut.</a:t>
            </a:r>
          </a:p>
          <a:p>
            <a:r>
              <a:t>L'attraper serait pire que tout. Un </a:t>
            </a:r>
            <a:r>
              <a:rPr>
                <a:latin typeface="Consolas"/>
              </a:rPr>
              <a:t>catch</a:t>
            </a:r>
            <a:r>
              <a:t> vide, ou qui affiche un message, fait passer le test au vert alors que la réservation a échoué. C'est un test sans assertion déguisé, et un </a:t>
            </a:r>
            <a:r>
              <a:rPr>
                <a:latin typeface="Consolas"/>
              </a:rPr>
              <a:t>catch</a:t>
            </a:r>
            <a:r>
              <a:t> qui ne traite rien, contraire à CC-ERR.6.</a:t>
            </a:r>
          </a:p>
          <a:p>
            <a:r>
              <a:t>Dans </a:t>
            </a:r>
            <a:r>
              <a:rPr>
                <a:latin typeface="Consolas"/>
              </a:rPr>
              <a:t>assertThrows</a:t>
            </a:r>
            <a:r>
              <a:t>, en revanche, rien à déclarer : c'est JUnit qui attrape.</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salle qui réserverait les deux places restantes avant de lever l'exception passerait la première assertion. Seule la seconde la démasque.</a:t>
            </a:r>
          </a:p>
          <a:p>
            <a:r>
              <a:t>Les deux assertions ne contredisent pas CC-TST.2 : elles décrivent un seul comportement, le refus d'une demande trop grande, vu sous ses deux faces.</a:t>
            </a:r>
          </a:p>
          <a:p>
            <a:r>
              <a:t>C'est la même idée qu'en EXC.1, où le test vérifiait que le point ne bougeait pas quand le déplacement était refusé. Cette fois, c'est vous qui l'écrivez.</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JUN.2</a:t>
            </a:r>
            <a:r>
              <a:t> met la section en pratique sans JUnit. Vous n'y écrivez pas de </a:t>
            </a:r>
            <a:r>
              <a:rPr>
                <a:latin typeface="Consolas"/>
              </a:rPr>
              <a:t>@Test</a:t>
            </a:r>
            <a:r>
              <a:t> : chaque clause du contrat devient une vérification dans une méthode ordinaire, qui retourne </a:t>
            </a:r>
            <a:r>
              <a:rPr>
                <a:latin typeface="Consolas"/>
              </a:rPr>
              <a:t>true</a:t>
            </a:r>
            <a:r>
              <a:t> ou </a:t>
            </a:r>
            <a:r>
              <a:rPr>
                <a:latin typeface="Consolas"/>
              </a:rPr>
              <a:t>false</a:t>
            </a:r>
            <a:r>
              <a:t>, avec ce que vous savez depuis le module EXC.</a:t>
            </a:r>
          </a:p>
          <a:p>
            <a:r>
              <a:t>L'intérêt est que la qualité de votre vérification devient mesurable. Chaque tirelire défectueuse n'est démasquée que par une clause précise : en oublier une, c'est en laisser passer une.</a:t>
            </a:r>
          </a:p>
          <a:p>
            <a:r>
              <a:t>Résistez à l'envie d'ouvrir les classes pour trouver le défaut. Le repérer en lisant ne prouve rien, et ne servira plus le jour où le code changera.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ne peut pas tout tester. On découpe donc les entrées en familles qui devraient se comporter de la même façon, et l'on prend un représentant de chacune. Puis on teste les frontières entre familles, parce que c'est là que les défauts se logent : un </a:t>
            </a:r>
            <a:r>
              <a:rPr>
                <a:latin typeface="Consolas"/>
              </a:rPr>
              <a:t>&gt;</a:t>
            </a:r>
            <a:r>
              <a:t> au lieu d'un </a:t>
            </a:r>
            <a:r>
              <a:rPr>
                <a:latin typeface="Consolas"/>
              </a:rPr>
              <a:t>&gt;=</a:t>
            </a:r>
            <a:r>
              <a:t>, un indice qui commence à 1.</a:t>
            </a:r>
          </a:p>
          <a:p>
            <a:r>
              <a:t>Le cas ordinaire est nécessaire et ne suffit jamais. Un test qui ne couvre que lui ne protège que de ce qui n'arrive pas.</a:t>
            </a:r>
          </a:p>
          <a:p>
            <a:r>
              <a:t>La répétition est la famille la plus oubliée : beaucoup de défauts n'apparaissent qu'au deuxième appel, quand l'objet n'est plus neuf.</a:t>
            </a:r>
          </a:p>
          <a:p>
            <a:r>
              <a:t>Le fascicule de JUN.3 donne la liste des cas de </a:t>
            </a:r>
            <a:r>
              <a:rPr>
                <a:latin typeface="Consolas"/>
              </a:rPr>
              <a:t>Moyenne</a:t>
            </a:r>
            <a:r>
              <a:t>. Ce tableau est la méthode qui produit une telle liste quand personne ne vous la donne.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Quand ce test passera au rouge, son nom sera la première chose que vous lirez, et souvent la seule dont vous aurez besoin. </a:t>
            </a:r>
            <a:r>
              <a:rPr>
                <a:latin typeface="Consolas"/>
              </a:rPr>
              <a:t>test1</a:t>
            </a:r>
            <a:r>
              <a:t> ne dit rien. L'ancienne habitude de commencer chaque nom par </a:t>
            </a:r>
            <a:r>
              <a:rPr>
                <a:latin typeface="Consolas"/>
              </a:rPr>
              <a:t>test</a:t>
            </a:r>
            <a:r>
              <a:t> n'apporte rien non plus : l'annotation le dit déjà.</a:t>
            </a:r>
          </a:p>
          <a:p>
            <a:r>
              <a:t>IntelliJ affiche le </a:t>
            </a:r>
            <a:r>
              <a:rPr>
                <a:latin typeface="Consolas"/>
              </a:rPr>
              <a:t>@DisplayName</a:t>
            </a:r>
            <a:r>
              <a:t> à la place du nom de la méthode. Pas d'accent dans la chaîne, comme partout dans le code du cours. JUN.3 exige un </a:t>
            </a:r>
            <a:r>
              <a:rPr>
                <a:latin typeface="Consolas"/>
              </a:rPr>
              <a:t>@DisplayName</a:t>
            </a:r>
            <a:r>
              <a:t> sur chaque test, et refuse les noms numérotés.</a:t>
            </a:r>
          </a:p>
          <a:p>
            <a:r>
              <a:t>Une exception : si l'énoncé impose un nom, on le respecte à la lettre. L'examen de 2022 imposait testConcatene, et la correspondance exacte à l'énoncé fait partie des critères.</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revient chaque année : faut-il vérifier plusieurs valeurs dans une même méthode de test, ou écrire une méthode par valeur ? La règle est une méthode par valeur.</a:t>
            </a:r>
          </a:p>
          <a:p>
            <a:r>
              <a:t>La raison est pratique. Une assertion qui échoue arrête la méthode : si la première de cinq valeurs est fausse, les quatre autres ne sont jamais vérifiées, et vous corrigez à l'aveugle. Et le nom de la méthode ne dit pas quelle valeur a cassé, alors qu'un test par valeur le dit d'un coup d'œil.</a:t>
            </a:r>
          </a:p>
          <a:p>
            <a:r>
              <a:t>La règle connaît des exceptions raisonnables. Après une seule action, on peut vérifier plusieurs choses sur son résultat : la slide « Après l'échec, l'état » vérifie l'exception, puis que rien n'a changé. Et un test qui contrôle la forme d'une classe peut vérifier tous ses champs d'un coup. Ce qu'on évite, c'est d'enchaîner plusieurs actions indépendantes dans une seule méthode.</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ceux que cela intéresse. Quand une même vérification doit porter sur beaucoup de valeurs, écrire une méthode par valeur devient répétitif. JUnit propose un compromis : une seule méthode, que JUnit lance une fois par ligne de </a:t>
            </a:r>
            <a:r>
              <a:rPr>
                <a:latin typeface="Consolas"/>
              </a:rPr>
              <a:t>@CsvSource</a:t>
            </a:r>
            <a:r>
              <a:t>, et qu'il rapporte comme autant de tests séparés. Si le cas « 5, 5 » échoue, les deux autres sont quand même vérifiés, et le rapport dit lequel a cassé.</a:t>
            </a:r>
          </a:p>
          <a:p>
            <a:r>
              <a:t>Chaque ligne de </a:t>
            </a:r>
            <a:r>
              <a:rPr>
                <a:latin typeface="Consolas"/>
              </a:rPr>
              <a:t>@CsvSource</a:t>
            </a:r>
            <a:r>
              <a:t> est une chaîne : JUnit découpe aux virgules et convertit chaque morceau vers le type du paramètre. Pour une seule valeur par cas, </a:t>
            </a:r>
            <a:r>
              <a:rPr>
                <a:latin typeface="Consolas"/>
              </a:rPr>
              <a:t>@ValueSource(ints = {1, 5, 10})</a:t>
            </a:r>
            <a:r>
              <a:t> suffit.</a:t>
            </a:r>
          </a:p>
          <a:p>
            <a:r>
              <a:t>Les annotations viennent de </a:t>
            </a:r>
            <a:r>
              <a:rPr>
                <a:latin typeface="Consolas"/>
              </a:rPr>
              <a:t>org.junit.jupiter.params</a:t>
            </a:r>
            <a:r>
              <a:t>, déjà présent dans le projet : la dépendance </a:t>
            </a:r>
            <a:r>
              <a:rPr>
                <a:latin typeface="Consolas"/>
              </a:rPr>
              <a:t>junit-jupiter</a:t>
            </a:r>
            <a:r>
              <a:t> du </a:t>
            </a:r>
            <a:r>
              <a:rPr>
                <a:latin typeface="Consolas"/>
              </a:rPr>
              <a:t>pom.xml</a:t>
            </a:r>
            <a:r>
              <a:t> l'inclut. Rien n'oblige à s'en servir : une méthode par valeur reste toujours correcte.</a:t>
            </a:r>
          </a:p>
          <a:p>
            <a:r>
              <a:t>Le code complet, à lancer : demos, test </a:t>
            </a:r>
            <a:r>
              <a:rPr>
                <a:latin typeface="Consolas"/>
              </a:rPr>
              <a:t>demo.jun.slides.SalleTest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méthode de test tourne sur une instance neuve de </a:t>
            </a:r>
            <a:r>
              <a:rPr>
                <a:latin typeface="Consolas"/>
              </a:rPr>
              <a:t>SalleTest</a:t>
            </a:r>
            <a:r>
              <a:t>, et la méthode </a:t>
            </a:r>
            <a:r>
              <a:rPr>
                <a:latin typeface="Consolas"/>
              </a:rPr>
              <a:t>@BeforeEach</a:t>
            </a:r>
            <a:r>
              <a:t> s'exécute juste avant elle. Un test qui remplit la salle ne gêne donc pas le suivant. JUnit ne promet aucun ordre d'exécution : un test qui a besoin qu'un autre ait tourné avant lui finira par échouer sans raison apparente.</a:t>
            </a:r>
          </a:p>
          <a:p>
            <a:r>
              <a:t>Ne confondez pas avec l'ordre d'écriture. Dans </a:t>
            </a:r>
            <a:r>
              <a:rPr>
                <a:latin typeface="Consolas"/>
              </a:rPr>
              <a:t>RomainTest</a:t>
            </a:r>
            <a:r>
              <a:t>, publiée avec les corrigés, l'ordre des méthodes raconte comment le code est né : c'est une histoire pour le lecteur, pas un ordre d'exécution.</a:t>
            </a:r>
          </a:p>
          <a:p>
            <a:r>
              <a:t>C'est aussi pour cela que </a:t>
            </a:r>
            <a:r>
              <a:rPr>
                <a:latin typeface="Consolas"/>
              </a:rPr>
              <a:t>CalculatriceTest</a:t>
            </a:r>
            <a:r>
              <a:t>, en JUN.1, peut déclarer sa calculatrice dans un champ : chaque test en reçoit une neuve.</a:t>
            </a:r>
          </a:p>
          <a:p>
            <a:r>
              <a:t>N'en abusez pas. Si la valeur qui compte pour un test est cachée dans </a:t>
            </a:r>
            <a:r>
              <a:rPr>
                <a:latin typeface="Consolas"/>
              </a:rPr>
              <a:t>preparer</a:t>
            </a:r>
            <a:r>
              <a:t>, le lecteur doit remonter la chercher. Ce qui fait le cas d'un test reste visible dans le test. JUnit propose d'autres annotations du même genre ; vous n'en aurez pas besoin.</a:t>
            </a:r>
          </a:p>
          <a:p>
            <a:r>
              <a:t>Le code complet, à lancer : demos, test </a:t>
            </a:r>
            <a:r>
              <a:rPr>
                <a:latin typeface="Consolas"/>
              </a:rPr>
              <a:t>demo.jun.slides.SalleAvecPreparationTest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Justifier un test, c'est nommer le défaut qu'il attraperait. Ici, la salle refuse une demande qu'elle pouvait servir. Le cas ordinaire ne le voit pas, la place de trop non plus : seul le test de la borne atteinte passe au rouge. C'est sa justification, en une phrase.</a:t>
            </a:r>
          </a:p>
          <a:p>
            <a:r>
              <a:t>La question se pose dans les deux sens. Un test pour lequel on ne trouve aucun défaut qu'il attraperait est décoratif. Deux tests qui attrapent exactement les mêmes défauts en font un de trop.</a:t>
            </a:r>
          </a:p>
          <a:p>
            <a:r>
              <a:t>C'est le quatrième objectif de l'examen, « justifier ses choix quant aux tests implémentés ». La réponse la plus solide ne dit pas « pour tester le cas limite », elle dit quelle erreur ce cas limite démasque.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troisième question de l'examen a toujours la même forme : une classe fournie, une classe de test à écrire, puis lancer les tests. La classe fournie peut contenir une erreur, à corriger si vos tests la trouvent.</a:t>
            </a:r>
          </a:p>
          <a:p>
            <a:r>
              <a:t>Le plus souvent, l'énoncé dicte les cas : vous traduisez chaque phrase en méthode, comme à la section 3. À la première session de 2024, il ne disait que « envisagez les différents cas possibles » : c'est le tableau de la slide 4.2 qui répond. Deux sessions demandaient de vérifier qu'une exception est levée.</a:t>
            </a:r>
          </a:p>
          <a:p>
            <a:r>
              <a:t>Quand un test passe au rouge, revenez à la slide 2.5. Si l'énoncé vous donne raison, la classe est fausse : corrigez-la, et relancez tout. Modifier l'attendu pour retrouver le vert, c'est rendre un test qui ment.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JUN.3</a:t>
            </a:r>
            <a:r>
              <a:t> est la forme exacte de la question d'examen, sans la correction : la classe </a:t>
            </a:r>
            <a:r>
              <a:rPr>
                <a:latin typeface="Consolas"/>
              </a:rPr>
              <a:t>Moyenne</a:t>
            </a:r>
            <a:r>
              <a:t> est juste. Vous écrivez </a:t>
            </a:r>
            <a:r>
              <a:rPr>
                <a:latin typeface="Consolas"/>
              </a:rPr>
              <a:t>MoyenneTest</a:t>
            </a:r>
            <a:r>
              <a:t>, au moins cinq tests, chacun avec son </a:t>
            </a:r>
            <a:r>
              <a:rPr>
                <a:latin typeface="Consolas"/>
              </a:rPr>
              <a:t>@DisplayName</a:t>
            </a:r>
            <a:r>
              <a:t>.</a:t>
            </a:r>
          </a:p>
          <a:p>
            <a:r>
              <a:rPr>
                <a:latin typeface="Consolas"/>
              </a:rPr>
              <a:t>RedactionTest</a:t>
            </a:r>
            <a:r>
              <a:t> vérifie que votre classe existe et qu'elle a la bonne forme. Elle ne peut pas juger si vos tests sont pertinents. Ce jugement-là, c'est vous qui le portez, avec la question de la slide 4.5.</a:t>
            </a:r>
          </a:p>
          <a:p>
            <a:r>
              <a:t>Faites l'expérience proposée par le fascicule : glisser un défaut dans </a:t>
            </a:r>
            <a:r>
              <a:rPr>
                <a:latin typeface="Consolas"/>
              </a:rPr>
              <a:t>Moyenne</a:t>
            </a:r>
            <a:r>
              <a:t>, et regarder si vos tests le voient. C'est la seule mesure honnête de ce que vous avez écrit.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les classes testées étaient sages : une salle, une tirelire, une moyenne. On les crée, on les appelle, on regarde le résultat. Toutes les classes ne se laissent pas faire aussi facilement.</a:t>
            </a:r>
          </a:p>
          <a:p>
            <a:r>
              <a:t>Une classe qui ouvre une fenêtre ne peut pas tourner dans un test : il faudrait que quelqu'un regarde l'écran. Une classe qui lit la date du jour donne un résultat qui change d'une année à l'autre : un test juste aujourd'hui sera faux demain. Une classe qui tire au hasard ne donne jamais deux fois la même chose : que vérifier ?</a:t>
            </a:r>
          </a:p>
          <a:p>
            <a:r>
              <a:t>Dans les trois cas, ce n'est pas le test qu'il faut changer, c'est la classe. Les slides qui suivent montrent les deux remèdes : une interface, que vous connaissez depuis le module ITF, et un paramètre. Retenez l'idée générale : une classe difficile à tester est souvent une classe mal découpée.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rappel du module ITF, avant de s'en servir. Le contrôleur ne tient plus une référence vers la fenêtre, mais vers l'interface Afficheur, qui ne promet qu'une chose : afficher un message. Qui affiche, et comment, le contrôleur l'ignore. On le lui dit par setAfficheur.</a:t>
            </a:r>
          </a:p>
          <a:p>
            <a:r>
              <a:t>La méthode annoncer est un exemple d'action du contrôleur : elle ne sait pas où part son message, elle le confie à l'afficheur qu'on lui a donné. C'est exactement cette ignorance qui rend le test possible.</a:t>
            </a:r>
          </a:p>
          <a:p>
            <a:r>
              <a:t>Le code complet : demos, classe </a:t>
            </a:r>
            <a:r>
              <a:rPr>
                <a:latin typeface="Consolas"/>
              </a:rPr>
              <a:t>demo.itf.slides.Controleur</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contrôleur accepte n'importe quel Afficheur. Le test en profite pour lui en donner un qui lui convient : une classe qui implémente Afficheur, mais au lieu d'afficher, range le message dans un champ, que le test pourra lire.</a:t>
            </a:r>
          </a:p>
          <a:p>
            <a:r>
              <a:t>On appelle ce genre de remplaçant une doublure, comme au cinéma : elle tient le rôle à la place de la vraie, le temps d'une scène. Elle ne sert qu'au test, et vit donc dans src/test.</a:t>
            </a:r>
          </a:p>
          <a:p>
            <a:r>
              <a:t>Vous avez déjà rencontré le principe, dans l'autre sens, avec JUN.2 : le vérificateur ne connaît que l'interface Tirelire, et accepte n'importe laquelle.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test suit les trois temps habituels. Préparer : un contrôleur, et la doublure qu'on lui branche par setAfficheur. Agir : annoncer un événement. Vérifier : la doublure a-t-elle reçu le bon message ?</a:t>
            </a:r>
          </a:p>
          <a:p>
            <a:r>
              <a:t>Le contrôleur n'a pas changé d'une ligne pour être testé : c'est le même que celui qui pilotera la vraie fenêtre. C'est tout l'intérêt de l'interface du module ITF. Sans elle, ce test serait impossible.</a:t>
            </a:r>
          </a:p>
          <a:p>
            <a:r>
              <a:t>Le code complet, à lancer : demos, test </a:t>
            </a:r>
            <a:r>
              <a:rPr>
                <a:latin typeface="Consolas"/>
              </a:rPr>
              <a:t>demo.jun.slides.ControleurTest</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rappel du module POO. L'âge d'un livre n'est pas une donnée qu'on range dans un champ : il se déduit de l'année de parution et de l'année en cours. La méthode getAge le calcule donc à chaque appel, en lisant la date du jour.</a:t>
            </a:r>
          </a:p>
          <a:p>
            <a:r>
              <a:t>C'était le bon choix au module POO, et il reste juste. Mais essayez d'écrire son test : pour Dune, paru en 1965, faut-il attendre 61, ou 62 ? Cela dépend du jour où le test tourne. Un test écrit aujourd'hui deviendra rouge le premier janvier, alors que personne n'aura touché au code. La slide suivante montre comment découper la méthode pour lever ce problème.</a:t>
            </a:r>
          </a:p>
          <a:p>
            <a:r>
              <a:t>Le code complet : demos, classe </a:t>
            </a:r>
            <a:r>
              <a:rPr>
                <a:latin typeface="Consolas"/>
              </a:rPr>
              <a:t>demo.poo.slides.Livre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sépare le calcul de la commodité. Le calcul reçoit l'année en paramètre : le test la fixe, et le résultat ne bouge plus. La version sans paramètre, celle qu'on appelle d'habitude, se contente d'aller chercher l'année et de déléguer. Vous avez déjà fait ce découpage au module POO, avec computeAge(int annee).</a:t>
            </a:r>
          </a:p>
          <a:p>
            <a:r>
              <a:t>Le hasard se traite de la même façon : la classe reçoit son Random au lieu de le créer, et le test lui en donne un avec une graine, qui tire toujours les mêmes nombres. Le mémento Clean Code montre l'exemple complet en CC-TST.3.</a:t>
            </a:r>
          </a:p>
          <a:p>
            <a:r>
              <a:t>Le code complet, à lancer : demos, test </a:t>
            </a:r>
            <a:r>
              <a:rPr>
                <a:latin typeface="Consolas"/>
              </a:rPr>
              <a:t>demo.jun.slides.LivreTest</a:t>
            </a:r>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JUN</a:t>
            </a:r>
          </a:p>
          <a:p>
            <a:r>
              <a:t>Tests unitaires avec JUnit</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3" name="Section 1"/>
          <p:cNvGrpSpPr/>
          <p:nvPr/>
        </p:nvGrpSpPr>
        <p:grpSpPr>
          <a:xfrm>
            <a:off x="640080" y="1463040"/>
            <a:ext cx="5394960" cy="914400"/>
            <a:chOff x="640080" y="1463040"/>
            <a:chExt cx="5394960" cy="914400"/>
          </a:xfrm>
        </p:grpSpPr>
        <p:sp>
          <p:nvSpPr>
            <p:cNvPr id="18"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À vous d'écrire les tests</a:t>
              </a:r>
            </a:p>
          </p:txBody>
        </p:sp>
      </p:grpSp>
      <p:grpSp>
        <p:nvGrpSpPr>
          <p:cNvPr id="14"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Écrire un test</a:t>
              </a:r>
            </a:p>
          </p:txBody>
        </p:sp>
      </p:grpSp>
      <p:grpSp>
        <p:nvGrpSpPr>
          <p:cNvPr id="15"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Vérifier un contrat</a:t>
              </a:r>
            </a:p>
          </p:txBody>
        </p:sp>
      </p:grpSp>
      <p:grpSp>
        <p:nvGrpSpPr>
          <p:cNvPr id="16"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Choisir et justifier</a:t>
              </a:r>
            </a:p>
          </p:txBody>
        </p:sp>
      </p:grpSp>
      <p:grpSp>
        <p:nvGrpSpPr>
          <p:cNvPr id="17"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La testabilité</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CD831363-19AF-F87B-3540-1D9E14BBD2C3}"/>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9248992"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À vous d'écrire les tests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écrit quoi</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Jusqu'ici, le test était fourni et vous écriviez le code. Dans ce module, les rôles s'inversent : c'est à vous d'écrire les tests.</a:t>
            </a:r>
          </a:p>
        </p:txBody>
      </p:sp>
      <p:sp>
        <p:nvSpPr>
          <p:cNvPr id="4" name="TextBox 3"/>
          <p:cNvSpPr txBox="1"/>
          <p:nvPr/>
        </p:nvSpPr>
        <p:spPr>
          <a:xfrm>
            <a:off x="777240" y="2011680"/>
            <a:ext cx="1634690" cy="536448"/>
          </a:xfrm>
          <a:prstGeom prst="rect">
            <a:avLst/>
          </a:prstGeom>
          <a:noFill/>
        </p:spPr>
        <p:txBody>
          <a:bodyPr wrap="square" anchor="ctr">
            <a:spAutoFit/>
          </a:bodyPr>
          <a:lstStyle/>
          <a:p>
            <a:r>
              <a:rPr sz="2000" b="1">
                <a:solidFill>
                  <a:schemeClr val="accent4"/>
                </a:solidFill>
              </a:rPr>
              <a:t>Exercice</a:t>
            </a:r>
          </a:p>
        </p:txBody>
      </p:sp>
      <p:sp>
        <p:nvSpPr>
          <p:cNvPr id="5" name="TextBox 4"/>
          <p:cNvSpPr txBox="1"/>
          <p:nvPr/>
        </p:nvSpPr>
        <p:spPr>
          <a:xfrm>
            <a:off x="2686250" y="2011680"/>
            <a:ext cx="3734602" cy="536448"/>
          </a:xfrm>
          <a:prstGeom prst="rect">
            <a:avLst/>
          </a:prstGeom>
          <a:noFill/>
        </p:spPr>
        <p:txBody>
          <a:bodyPr wrap="square" anchor="ctr">
            <a:spAutoFit/>
          </a:bodyPr>
          <a:lstStyle/>
          <a:p>
            <a:r>
              <a:rPr sz="2000" b="1">
                <a:solidFill>
                  <a:schemeClr val="accent4"/>
                </a:solidFill>
              </a:rPr>
              <a:t>Fourni</a:t>
            </a:r>
          </a:p>
        </p:txBody>
      </p:sp>
      <p:sp>
        <p:nvSpPr>
          <p:cNvPr id="6" name="TextBox 5"/>
          <p:cNvSpPr txBox="1"/>
          <p:nvPr/>
        </p:nvSpPr>
        <p:spPr>
          <a:xfrm>
            <a:off x="6695172" y="2011680"/>
            <a:ext cx="4689107" cy="536448"/>
          </a:xfrm>
          <a:prstGeom prst="rect">
            <a:avLst/>
          </a:prstGeom>
          <a:noFill/>
        </p:spPr>
        <p:txBody>
          <a:bodyPr wrap="square" anchor="ctr">
            <a:spAutoFit/>
          </a:bodyPr>
          <a:lstStyle/>
          <a:p>
            <a:r>
              <a:rPr sz="2000" b="1">
                <a:solidFill>
                  <a:schemeClr val="accent4"/>
                </a:solidFill>
              </a:rPr>
              <a:t>À écrire</a:t>
            </a:r>
          </a:p>
        </p:txBody>
      </p:sp>
      <p:sp>
        <p:nvSpPr>
          <p:cNvPr id="3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2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1. À vous d'écrire les tests</a:t>
            </a:r>
          </a:p>
        </p:txBody>
      </p:sp>
      <p:grpSp>
        <p:nvGrpSpPr>
          <p:cNvPr id="28" name="Ligne 1"/>
          <p:cNvGrpSpPr/>
          <p:nvPr/>
        </p:nvGrpSpPr>
        <p:grpSpPr>
          <a:xfrm>
            <a:off x="640080" y="2621280"/>
            <a:ext cx="10881360" cy="536448"/>
            <a:chOff x="640080" y="2621280"/>
            <a:chExt cx="10881360" cy="536448"/>
          </a:xfrm>
        </p:grpSpPr>
        <p:sp>
          <p:nvSpPr>
            <p:cNvPr id="7" name="Rounded Rectangle 6"/>
            <p:cNvSpPr/>
            <p:nvPr/>
          </p:nvSpPr>
          <p:spPr>
            <a:xfrm>
              <a:off x="640080" y="26212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621280"/>
              <a:ext cx="1634690" cy="536448"/>
            </a:xfrm>
            <a:prstGeom prst="rect">
              <a:avLst/>
            </a:prstGeom>
            <a:noFill/>
          </p:spPr>
          <p:txBody>
            <a:bodyPr wrap="square" anchor="ctr">
              <a:spAutoFit/>
            </a:bodyPr>
            <a:lstStyle/>
            <a:p>
              <a:r>
                <a:rPr sz="2200">
                  <a:solidFill>
                    <a:srgbClr val="FFFFFF"/>
                  </a:solidFill>
                </a:rPr>
                <a:t>Jusqu'ici</a:t>
              </a:r>
            </a:p>
          </p:txBody>
        </p:sp>
        <p:sp>
          <p:nvSpPr>
            <p:cNvPr id="9" name="TextBox 8"/>
            <p:cNvSpPr txBox="1"/>
            <p:nvPr/>
          </p:nvSpPr>
          <p:spPr>
            <a:xfrm>
              <a:off x="2686250" y="2621280"/>
              <a:ext cx="3734602" cy="536448"/>
            </a:xfrm>
            <a:prstGeom prst="rect">
              <a:avLst/>
            </a:prstGeom>
            <a:noFill/>
          </p:spPr>
          <p:txBody>
            <a:bodyPr wrap="square" anchor="ctr">
              <a:spAutoFit/>
            </a:bodyPr>
            <a:lstStyle/>
            <a:p>
              <a:r>
                <a:rPr sz="2200">
                  <a:solidFill>
                    <a:srgbClr val="FFFFFF"/>
                  </a:solidFill>
                </a:rPr>
                <a:t>le test</a:t>
              </a:r>
            </a:p>
          </p:txBody>
        </p:sp>
        <p:sp>
          <p:nvSpPr>
            <p:cNvPr id="10" name="TextBox 9"/>
            <p:cNvSpPr txBox="1"/>
            <p:nvPr/>
          </p:nvSpPr>
          <p:spPr>
            <a:xfrm>
              <a:off x="6695172" y="2621280"/>
              <a:ext cx="4689107" cy="536448"/>
            </a:xfrm>
            <a:prstGeom prst="rect">
              <a:avLst/>
            </a:prstGeom>
            <a:noFill/>
          </p:spPr>
          <p:txBody>
            <a:bodyPr wrap="square" anchor="ctr">
              <a:spAutoFit/>
            </a:bodyPr>
            <a:lstStyle/>
            <a:p>
              <a:r>
                <a:rPr sz="2200">
                  <a:solidFill>
                    <a:srgbClr val="FFFFFF"/>
                  </a:solidFill>
                </a:rPr>
                <a:t>le code</a:t>
              </a:r>
            </a:p>
          </p:txBody>
        </p:sp>
      </p:grpSp>
      <p:grpSp>
        <p:nvGrpSpPr>
          <p:cNvPr id="29" name="Ligne 2"/>
          <p:cNvGrpSpPr/>
          <p:nvPr/>
        </p:nvGrpSpPr>
        <p:grpSpPr>
          <a:xfrm>
            <a:off x="640080" y="3230880"/>
            <a:ext cx="10881360" cy="536448"/>
            <a:chOff x="640080" y="3230880"/>
            <a:chExt cx="10881360" cy="536448"/>
          </a:xfrm>
        </p:grpSpPr>
        <p:sp>
          <p:nvSpPr>
            <p:cNvPr id="11" name="Rounded Rectangle 10"/>
            <p:cNvSpPr/>
            <p:nvPr/>
          </p:nvSpPr>
          <p:spPr>
            <a:xfrm>
              <a:off x="640080" y="32308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230880"/>
              <a:ext cx="1634690" cy="536448"/>
            </a:xfrm>
            <a:prstGeom prst="rect">
              <a:avLst/>
            </a:prstGeom>
            <a:noFill/>
          </p:spPr>
          <p:txBody>
            <a:bodyPr wrap="square" anchor="ctr">
              <a:spAutoFit/>
            </a:bodyPr>
            <a:lstStyle/>
            <a:p>
              <a:r>
                <a:rPr sz="2200">
                  <a:solidFill>
                    <a:schemeClr val="accent4"/>
                  </a:solidFill>
                  <a:latin typeface="Consolas"/>
                </a:rPr>
                <a:t>JUN.1</a:t>
              </a:r>
            </a:p>
          </p:txBody>
        </p:sp>
        <p:sp>
          <p:nvSpPr>
            <p:cNvPr id="13" name="TextBox 12"/>
            <p:cNvSpPr txBox="1"/>
            <p:nvPr/>
          </p:nvSpPr>
          <p:spPr>
            <a:xfrm>
              <a:off x="2686250" y="3230880"/>
              <a:ext cx="3734602" cy="536448"/>
            </a:xfrm>
            <a:prstGeom prst="rect">
              <a:avLst/>
            </a:prstGeom>
            <a:noFill/>
          </p:spPr>
          <p:txBody>
            <a:bodyPr wrap="square" anchor="ctr">
              <a:spAutoFit/>
            </a:bodyPr>
            <a:lstStyle/>
            <a:p>
              <a:r>
                <a:rPr sz="2200">
                  <a:solidFill>
                    <a:srgbClr val="FFFFFF"/>
                  </a:solidFill>
                </a:rPr>
                <a:t>le test</a:t>
              </a:r>
            </a:p>
          </p:txBody>
        </p:sp>
        <p:sp>
          <p:nvSpPr>
            <p:cNvPr id="14" name="TextBox 13"/>
            <p:cNvSpPr txBox="1"/>
            <p:nvPr/>
          </p:nvSpPr>
          <p:spPr>
            <a:xfrm>
              <a:off x="6695172" y="3230880"/>
              <a:ext cx="4689107" cy="536448"/>
            </a:xfrm>
            <a:prstGeom prst="rect">
              <a:avLst/>
            </a:prstGeom>
            <a:noFill/>
          </p:spPr>
          <p:txBody>
            <a:bodyPr wrap="square" anchor="ctr">
              <a:spAutoFit/>
            </a:bodyPr>
            <a:lstStyle/>
            <a:p>
              <a:r>
                <a:rPr sz="2200">
                  <a:solidFill>
                    <a:srgbClr val="FFFFFF"/>
                  </a:solidFill>
                </a:rPr>
                <a:t>le code, une dernière fois</a:t>
              </a:r>
            </a:p>
          </p:txBody>
        </p:sp>
      </p:grpSp>
      <p:grpSp>
        <p:nvGrpSpPr>
          <p:cNvPr id="30" name="Ligne 3"/>
          <p:cNvGrpSpPr/>
          <p:nvPr/>
        </p:nvGrpSpPr>
        <p:grpSpPr>
          <a:xfrm>
            <a:off x="640080" y="3840480"/>
            <a:ext cx="10881360" cy="536448"/>
            <a:chOff x="640080" y="3840480"/>
            <a:chExt cx="10881360" cy="536448"/>
          </a:xfrm>
        </p:grpSpPr>
        <p:sp>
          <p:nvSpPr>
            <p:cNvPr id="15" name="Rounded Rectangle 14"/>
            <p:cNvSpPr/>
            <p:nvPr/>
          </p:nvSpPr>
          <p:spPr>
            <a:xfrm>
              <a:off x="640080" y="38404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3840480"/>
              <a:ext cx="1634690" cy="536448"/>
            </a:xfrm>
            <a:prstGeom prst="rect">
              <a:avLst/>
            </a:prstGeom>
            <a:noFill/>
          </p:spPr>
          <p:txBody>
            <a:bodyPr wrap="square" anchor="ctr">
              <a:spAutoFit/>
            </a:bodyPr>
            <a:lstStyle/>
            <a:p>
              <a:r>
                <a:rPr sz="2200">
                  <a:solidFill>
                    <a:schemeClr val="accent4"/>
                  </a:solidFill>
                  <a:latin typeface="Consolas"/>
                </a:rPr>
                <a:t>JUN.2</a:t>
              </a:r>
            </a:p>
          </p:txBody>
        </p:sp>
        <p:sp>
          <p:nvSpPr>
            <p:cNvPr id="17" name="TextBox 16"/>
            <p:cNvSpPr txBox="1"/>
            <p:nvPr/>
          </p:nvSpPr>
          <p:spPr>
            <a:xfrm>
              <a:off x="2686250" y="3840480"/>
              <a:ext cx="3734602" cy="536448"/>
            </a:xfrm>
            <a:prstGeom prst="rect">
              <a:avLst/>
            </a:prstGeom>
            <a:noFill/>
          </p:spPr>
          <p:txBody>
            <a:bodyPr wrap="square" anchor="ctr">
              <a:spAutoFit/>
            </a:bodyPr>
            <a:lstStyle/>
            <a:p>
              <a:r>
                <a:rPr sz="2200">
                  <a:solidFill>
                    <a:srgbClr val="FFFFFF"/>
                  </a:solidFill>
                </a:rPr>
                <a:t>quatre tirelires</a:t>
              </a:r>
            </a:p>
          </p:txBody>
        </p:sp>
        <p:sp>
          <p:nvSpPr>
            <p:cNvPr id="18" name="TextBox 17"/>
            <p:cNvSpPr txBox="1"/>
            <p:nvPr/>
          </p:nvSpPr>
          <p:spPr>
            <a:xfrm>
              <a:off x="6695172" y="3840480"/>
              <a:ext cx="4689107" cy="536448"/>
            </a:xfrm>
            <a:prstGeom prst="rect">
              <a:avLst/>
            </a:prstGeom>
            <a:noFill/>
          </p:spPr>
          <p:txBody>
            <a:bodyPr wrap="square" anchor="ctr">
              <a:spAutoFit/>
            </a:bodyPr>
            <a:lstStyle/>
            <a:p>
              <a:r>
                <a:rPr sz="2200">
                  <a:solidFill>
                    <a:srgbClr val="FFFFFF"/>
                  </a:solidFill>
                </a:rPr>
                <a:t>la vérification</a:t>
              </a:r>
            </a:p>
          </p:txBody>
        </p:sp>
      </p:grpSp>
      <p:grpSp>
        <p:nvGrpSpPr>
          <p:cNvPr id="31" name="Ligne 4"/>
          <p:cNvGrpSpPr/>
          <p:nvPr/>
        </p:nvGrpSpPr>
        <p:grpSpPr>
          <a:xfrm>
            <a:off x="640080" y="4450080"/>
            <a:ext cx="10881360" cy="536448"/>
            <a:chOff x="640080" y="4450080"/>
            <a:chExt cx="10881360" cy="536448"/>
          </a:xfrm>
        </p:grpSpPr>
        <p:sp>
          <p:nvSpPr>
            <p:cNvPr id="19" name="Rounded Rectangle 18"/>
            <p:cNvSpPr/>
            <p:nvPr/>
          </p:nvSpPr>
          <p:spPr>
            <a:xfrm>
              <a:off x="640080" y="44500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77240" y="4450080"/>
              <a:ext cx="1634690" cy="536448"/>
            </a:xfrm>
            <a:prstGeom prst="rect">
              <a:avLst/>
            </a:prstGeom>
            <a:noFill/>
          </p:spPr>
          <p:txBody>
            <a:bodyPr wrap="square" anchor="ctr">
              <a:spAutoFit/>
            </a:bodyPr>
            <a:lstStyle/>
            <a:p>
              <a:r>
                <a:rPr sz="2200">
                  <a:solidFill>
                    <a:schemeClr val="accent4"/>
                  </a:solidFill>
                  <a:latin typeface="Consolas"/>
                </a:rPr>
                <a:t>JUN.3</a:t>
              </a:r>
            </a:p>
          </p:txBody>
        </p:sp>
        <p:sp>
          <p:nvSpPr>
            <p:cNvPr id="21" name="TextBox 20"/>
            <p:cNvSpPr txBox="1"/>
            <p:nvPr/>
          </p:nvSpPr>
          <p:spPr>
            <a:xfrm>
              <a:off x="2686250" y="4450080"/>
              <a:ext cx="3734602" cy="536448"/>
            </a:xfrm>
            <a:prstGeom prst="rect">
              <a:avLst/>
            </a:prstGeom>
            <a:noFill/>
          </p:spPr>
          <p:txBody>
            <a:bodyPr wrap="square" anchor="ctr">
              <a:spAutoFit/>
            </a:bodyPr>
            <a:lstStyle/>
            <a:p>
              <a:r>
                <a:rPr sz="2200">
                  <a:solidFill>
                    <a:srgbClr val="FFFFFF"/>
                  </a:solidFill>
                </a:rPr>
                <a:t>la classe </a:t>
              </a:r>
              <a:r>
                <a:rPr sz="2000">
                  <a:solidFill>
                    <a:schemeClr val="accent4"/>
                  </a:solidFill>
                  <a:latin typeface="Consolas"/>
                </a:rPr>
                <a:t>Moyenne</a:t>
              </a:r>
            </a:p>
          </p:txBody>
        </p:sp>
        <p:sp>
          <p:nvSpPr>
            <p:cNvPr id="22" name="TextBox 21"/>
            <p:cNvSpPr txBox="1"/>
            <p:nvPr/>
          </p:nvSpPr>
          <p:spPr>
            <a:xfrm>
              <a:off x="6695172" y="4450080"/>
              <a:ext cx="4689107" cy="536448"/>
            </a:xfrm>
            <a:prstGeom prst="rect">
              <a:avLst/>
            </a:prstGeom>
            <a:noFill/>
          </p:spPr>
          <p:txBody>
            <a:bodyPr wrap="square" anchor="ctr">
              <a:spAutoFit/>
            </a:bodyPr>
            <a:lstStyle/>
            <a:p>
              <a:r>
                <a:rPr sz="2200">
                  <a:solidFill>
                    <a:srgbClr val="FFFFFF"/>
                  </a:solidFill>
                </a:rPr>
                <a:t>sa classe de test</a:t>
              </a:r>
            </a:p>
          </p:txBody>
        </p:sp>
      </p:grpSp>
      <p:grpSp>
        <p:nvGrpSpPr>
          <p:cNvPr id="32" name="Ligne 5"/>
          <p:cNvGrpSpPr/>
          <p:nvPr/>
        </p:nvGrpSpPr>
        <p:grpSpPr>
          <a:xfrm>
            <a:off x="640080" y="5059680"/>
            <a:ext cx="10881360" cy="536448"/>
            <a:chOff x="640080" y="5059680"/>
            <a:chExt cx="10881360" cy="536448"/>
          </a:xfrm>
        </p:grpSpPr>
        <p:sp>
          <p:nvSpPr>
            <p:cNvPr id="23" name="Rounded Rectangle 22"/>
            <p:cNvSpPr/>
            <p:nvPr/>
          </p:nvSpPr>
          <p:spPr>
            <a:xfrm>
              <a:off x="640080" y="50596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7240" y="5059680"/>
              <a:ext cx="1634690" cy="536448"/>
            </a:xfrm>
            <a:prstGeom prst="rect">
              <a:avLst/>
            </a:prstGeom>
            <a:noFill/>
          </p:spPr>
          <p:txBody>
            <a:bodyPr wrap="square" anchor="ctr">
              <a:spAutoFit/>
            </a:bodyPr>
            <a:lstStyle/>
            <a:p>
              <a:r>
                <a:rPr sz="2200">
                  <a:solidFill>
                    <a:srgbClr val="FFFFFF"/>
                  </a:solidFill>
                </a:rPr>
                <a:t>Examen</a:t>
              </a:r>
            </a:p>
          </p:txBody>
        </p:sp>
        <p:sp>
          <p:nvSpPr>
            <p:cNvPr id="25" name="TextBox 24"/>
            <p:cNvSpPr txBox="1"/>
            <p:nvPr/>
          </p:nvSpPr>
          <p:spPr>
            <a:xfrm>
              <a:off x="2686250" y="5059680"/>
              <a:ext cx="3734602" cy="536448"/>
            </a:xfrm>
            <a:prstGeom prst="rect">
              <a:avLst/>
            </a:prstGeom>
            <a:noFill/>
          </p:spPr>
          <p:txBody>
            <a:bodyPr wrap="square" anchor="ctr">
              <a:spAutoFit/>
            </a:bodyPr>
            <a:lstStyle/>
            <a:p>
              <a:r>
                <a:rPr sz="2200">
                  <a:solidFill>
                    <a:srgbClr val="FFFFFF"/>
                  </a:solidFill>
                </a:rPr>
                <a:t>une classe d'un tiers</a:t>
              </a:r>
            </a:p>
          </p:txBody>
        </p:sp>
        <p:sp>
          <p:nvSpPr>
            <p:cNvPr id="26" name="TextBox 25"/>
            <p:cNvSpPr txBox="1"/>
            <p:nvPr/>
          </p:nvSpPr>
          <p:spPr>
            <a:xfrm>
              <a:off x="6695172" y="5059680"/>
              <a:ext cx="4689107" cy="536448"/>
            </a:xfrm>
            <a:prstGeom prst="rect">
              <a:avLst/>
            </a:prstGeom>
            <a:noFill/>
          </p:spPr>
          <p:txBody>
            <a:bodyPr wrap="square" anchor="ctr">
              <a:spAutoFit/>
            </a:bodyPr>
            <a:lstStyle/>
            <a:p>
              <a:r>
                <a:rPr sz="2200">
                  <a:solidFill>
                    <a:srgbClr val="FFFFFF"/>
                  </a:solidFill>
                </a:rPr>
                <a:t>sa classe de test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wipe(left)">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wipe(left)">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programme qui affiche ne vérifie rien</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Le programme affiche, et c'est vous qui jugez</a:t>
            </a:r>
          </a:p>
          <a:p>
            <a:pPr marL="0" indent="0">
              <a:spcAft>
                <a:spcPts val="1000"/>
              </a:spcAft>
              <a:buNone/>
            </a:pPr>
            <a:r>
              <a:rPr sz="2800"/>
              <a:t>Il faut connaître la bonne réponse, et relire à chaque lancement</a:t>
            </a:r>
          </a:p>
          <a:p>
            <a:pPr marL="0" indent="0">
              <a:spcAft>
                <a:spcPts val="1000"/>
              </a:spcAft>
              <a:buNone/>
            </a:pPr>
            <a:r>
              <a:rPr sz="2800"/>
              <a:t>Un test connaît la réponse, et la vérifie seul</a:t>
            </a:r>
          </a:p>
        </p:txBody>
      </p:sp>
      <p:sp>
        <p:nvSpPr>
          <p:cNvPr id="4" name="Code"/>
          <p:cNvSpPr txBox="1"/>
          <p:nvPr/>
        </p:nvSpPr>
        <p:spPr>
          <a:xfrm>
            <a:off x="2101850" y="3733799"/>
            <a:ext cx="79883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main</a:t>
            </a:r>
            <a:r>
              <a:rPr sz="1800">
                <a:solidFill>
                  <a:srgbClr val="BCBEC4"/>
                </a:solidFill>
                <a:latin typeface="Consolas"/>
              </a:rPr>
              <a:t>(String[] args)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SalleCompleteException {</a:t>
            </a:r>
          </a:p>
          <a:p>
            <a:pPr>
              <a:lnSpc>
                <a:spcPct val="100000"/>
              </a:lnSpc>
              <a:spcBef>
                <a:spcPts val="0"/>
              </a:spcBef>
              <a:spcAft>
                <a:spcPts val="0"/>
              </a:spcAft>
            </a:pPr>
            <a:r>
              <a:rPr sz="1800">
                <a:solidFill>
                  <a:srgbClr val="BCBEC4"/>
                </a:solidFill>
                <a:latin typeface="Consolas"/>
              </a:rPr>
              <a:t>    Salle salle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a:t>
            </a:r>
            <a:r>
              <a:rPr sz="1800">
                <a:solidFill>
                  <a:srgbClr val="BCBEC4"/>
                </a:solidFill>
                <a:latin typeface="Consolas"/>
              </a:rPr>
              <a:t>(</a:t>
            </a:r>
            <a:r>
              <a:rPr sz="1800">
                <a:solidFill>
                  <a:srgbClr val="2AACB8"/>
                </a:solidFill>
                <a:latin typeface="Consolas"/>
              </a:rPr>
              <a:t>100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salle.</a:t>
            </a:r>
            <a:r>
              <a:rPr sz="1800">
                <a:solidFill>
                  <a:srgbClr val="56A8F5"/>
                </a:solidFill>
                <a:latin typeface="Consolas"/>
              </a:rPr>
              <a:t>reserver</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(salle.</a:t>
            </a:r>
            <a:r>
              <a:rPr sz="1800">
                <a:solidFill>
                  <a:srgbClr val="56A8F5"/>
                </a:solidFill>
                <a:latin typeface="Consolas"/>
              </a:rPr>
              <a:t>placesLibres</a:t>
            </a:r>
            <a:r>
              <a:rPr sz="1800">
                <a:solidFill>
                  <a:srgbClr val="BCBEC4"/>
                </a:solidFill>
                <a:latin typeface="Consolas"/>
              </a:rPr>
              <a:t>());   </a:t>
            </a:r>
            <a:r>
              <a:rPr sz="1800">
                <a:solidFill>
                  <a:srgbClr val="7A7E85"/>
                </a:solidFill>
                <a:latin typeface="Consolas"/>
              </a:rPr>
              <a:t>// 98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1. À vous d'écrire les tests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Rouge, vert, puis nettoyer</a:t>
            </a:r>
          </a:p>
          <a:p>
            <a:pPr>
              <a:spcBef>
                <a:spcPts val="1200"/>
              </a:spcBef>
            </a:pPr>
            <a:r>
              <a:rPr sz="1400">
                <a:solidFill>
                  <a:srgbClr val="BCBEC4"/>
                </a:solidFill>
              </a:rPr>
              <a:t>Déroulé : Demo_JUN</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1. À vous d'écrire les tests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EF4FFA0B-1833-B49B-013E-E919242E2667}"/>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743977"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Ce qu'un test contient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vit une classe de test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Dans </a:t>
            </a:r>
            <a:r>
              <a:rPr sz="2000">
                <a:solidFill>
                  <a:schemeClr val="accent4"/>
                </a:solidFill>
                <a:latin typeface="Consolas"/>
              </a:rPr>
              <a:t>src/test/java</a:t>
            </a:r>
            <a:r>
              <a:rPr sz="2400"/>
              <a:t>, sous le même package que la classe testée</a:t>
            </a:r>
          </a:p>
          <a:p>
            <a:pPr marL="0" indent="0">
              <a:spcAft>
                <a:spcPts val="1000"/>
              </a:spcAft>
              <a:buNone/>
            </a:pPr>
            <a:r>
              <a:rPr sz="2400"/>
              <a:t>Son nom : celui de la classe, suivi de </a:t>
            </a:r>
            <a:r>
              <a:rPr sz="2000">
                <a:solidFill>
                  <a:schemeClr val="accent4"/>
                </a:solidFill>
                <a:latin typeface="Consolas"/>
              </a:rPr>
              <a:t>Test</a:t>
            </a:r>
          </a:p>
          <a:p>
            <a:pPr marL="0" indent="0">
              <a:spcAft>
                <a:spcPts val="1000"/>
              </a:spcAft>
              <a:buNone/>
            </a:pPr>
            <a:r>
              <a:rPr sz="2400">
                <a:solidFill>
                  <a:schemeClr val="accent4"/>
                </a:solidFill>
                <a:latin typeface="Consolas"/>
              </a:rPr>
              <a:t>JUnit</a:t>
            </a:r>
            <a:r>
              <a:rPr sz="2400"/>
              <a:t> n'est visible que de ce côté : </a:t>
            </a:r>
            <a:r>
              <a:rPr sz="2400">
                <a:solidFill>
                  <a:schemeClr val="accent4"/>
                </a:solidFill>
                <a:latin typeface="Consolas"/>
              </a:rPr>
              <a:t>TEC-MVN.2</a:t>
            </a:r>
          </a:p>
        </p:txBody>
      </p:sp>
      <p:sp>
        <p:nvSpPr>
          <p:cNvPr id="4" name="Code"/>
          <p:cNvSpPr txBox="1"/>
          <p:nvPr/>
        </p:nvSpPr>
        <p:spPr>
          <a:xfrm>
            <a:off x="1752600" y="3124200"/>
            <a:ext cx="8686800" cy="3017520"/>
          </a:xfrm>
          <a:prstGeom prst="roundRect">
            <a:avLst>
              <a:gd name="adj" fmla="val 303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be.ephec.java.spectacle;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org.junit.jupiter.api.Test;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org.junit.jupiter.api.Assertions.assertEquals;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SalleTest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une methode par comportement verifie</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@Test</a:t>
            </a:r>
            <a:r>
              <a:rPr sz="4000"/>
              <a:t>, puis une assertion</a:t>
            </a:r>
          </a:p>
        </p:txBody>
      </p:sp>
      <p:sp>
        <p:nvSpPr>
          <p:cNvPr id="3" name="Content Placeholder 2"/>
          <p:cNvSpPr>
            <a:spLocks noGrp="1"/>
          </p:cNvSpPr>
          <p:nvPr>
            <p:ph idx="1"/>
          </p:nvPr>
        </p:nvSpPr>
        <p:spPr>
          <a:xfrm>
            <a:off x="640079" y="1371600"/>
            <a:ext cx="4814789" cy="4800600"/>
          </a:xfrm>
        </p:spPr>
        <p:txBody>
          <a:bodyPr>
            <a:normAutofit/>
          </a:bodyPr>
          <a:lstStyle/>
          <a:p>
            <a:pPr marL="0" indent="0">
              <a:spcAft>
                <a:spcPts val="1000"/>
              </a:spcAft>
              <a:buNone/>
            </a:pPr>
            <a:r>
              <a:rPr sz="1800" dirty="0">
                <a:solidFill>
                  <a:schemeClr val="accent4"/>
                </a:solidFill>
                <a:latin typeface="Consolas"/>
              </a:rPr>
              <a:t>@Test</a:t>
            </a:r>
            <a:r>
              <a:rPr sz="2200" dirty="0"/>
              <a:t> fait </a:t>
            </a:r>
            <a:r>
              <a:rPr sz="2200" dirty="0" err="1"/>
              <a:t>d'une</a:t>
            </a:r>
            <a:r>
              <a:rPr sz="2200" dirty="0"/>
              <a:t> </a:t>
            </a:r>
            <a:r>
              <a:rPr sz="2200" dirty="0" err="1"/>
              <a:t>méthode</a:t>
            </a:r>
            <a:r>
              <a:rPr sz="2200" dirty="0"/>
              <a:t> un test, </a:t>
            </a:r>
            <a:r>
              <a:rPr sz="2200" dirty="0" err="1"/>
              <a:t>que</a:t>
            </a:r>
            <a:r>
              <a:rPr sz="2200" dirty="0"/>
              <a:t> </a:t>
            </a:r>
            <a:r>
              <a:rPr sz="2200" dirty="0">
                <a:solidFill>
                  <a:schemeClr val="accent4"/>
                </a:solidFill>
                <a:latin typeface="Consolas"/>
              </a:rPr>
              <a:t>JUnit</a:t>
            </a:r>
            <a:r>
              <a:rPr sz="2200" dirty="0"/>
              <a:t> lance seul</a:t>
            </a:r>
          </a:p>
          <a:p>
            <a:pPr marL="0" indent="0">
              <a:spcAft>
                <a:spcPts val="1000"/>
              </a:spcAft>
              <a:buNone/>
            </a:pPr>
            <a:r>
              <a:rPr sz="1800" dirty="0" err="1">
                <a:solidFill>
                  <a:schemeClr val="accent4"/>
                </a:solidFill>
                <a:latin typeface="Consolas"/>
              </a:rPr>
              <a:t>assertEquals</a:t>
            </a:r>
            <a:r>
              <a:rPr sz="2200" dirty="0"/>
              <a:t> </a:t>
            </a:r>
            <a:r>
              <a:rPr sz="2200" dirty="0" err="1"/>
              <a:t>reçoit</a:t>
            </a:r>
            <a:r>
              <a:rPr sz="2200" dirty="0"/>
              <a:t> </a:t>
            </a:r>
            <a:r>
              <a:rPr sz="2200" dirty="0" err="1"/>
              <a:t>l'attendu</a:t>
            </a:r>
            <a:r>
              <a:rPr sz="2200" dirty="0"/>
              <a:t> </a:t>
            </a:r>
            <a:r>
              <a:rPr sz="2200" dirty="0" err="1"/>
              <a:t>d'abord</a:t>
            </a:r>
            <a:r>
              <a:rPr sz="2200" dirty="0"/>
              <a:t>, </a:t>
            </a:r>
            <a:r>
              <a:rPr sz="2200" dirty="0" err="1"/>
              <a:t>l'obtenu</a:t>
            </a:r>
            <a:r>
              <a:rPr sz="2200" dirty="0"/>
              <a:t> ensuite</a:t>
            </a:r>
          </a:p>
          <a:p>
            <a:pPr marL="0" indent="0">
              <a:spcAft>
                <a:spcPts val="1000"/>
              </a:spcAft>
              <a:buNone/>
            </a:pPr>
            <a:r>
              <a:rPr sz="2200" dirty="0"/>
              <a:t>Sans assertion, le test ne </a:t>
            </a:r>
            <a:r>
              <a:rPr sz="2200" dirty="0" err="1"/>
              <a:t>peut</a:t>
            </a:r>
            <a:r>
              <a:rPr sz="2200" dirty="0"/>
              <a:t> </a:t>
            </a:r>
            <a:r>
              <a:rPr sz="2200" dirty="0" err="1"/>
              <a:t>qu'être</a:t>
            </a:r>
            <a:r>
              <a:rPr sz="2200" dirty="0"/>
              <a:t> vert : </a:t>
            </a:r>
            <a:r>
              <a:rPr sz="2200" dirty="0">
                <a:solidFill>
                  <a:schemeClr val="accent4"/>
                </a:solidFill>
                <a:latin typeface="Consolas"/>
              </a:rPr>
              <a:t>CC-TST.2</a:t>
            </a:r>
          </a:p>
          <a:p>
            <a:pPr marL="0" indent="0">
              <a:buNone/>
            </a:pPr>
            <a:r>
              <a:rPr sz="2200" dirty="0"/>
              <a:t>Trois temps, </a:t>
            </a:r>
            <a:r>
              <a:rPr sz="2200" dirty="0" err="1"/>
              <a:t>séparés</a:t>
            </a:r>
            <a:r>
              <a:rPr sz="2200" dirty="0"/>
              <a:t> par </a:t>
            </a:r>
            <a:r>
              <a:rPr sz="2200" dirty="0" err="1"/>
              <a:t>une</a:t>
            </a:r>
            <a:r>
              <a:rPr sz="2200" dirty="0"/>
              <a:t> </a:t>
            </a:r>
            <a:r>
              <a:rPr sz="2200" dirty="0" err="1"/>
              <a:t>ligne</a:t>
            </a:r>
            <a:r>
              <a:rPr sz="2200" dirty="0"/>
              <a:t> vide : </a:t>
            </a:r>
            <a:endParaRPr lang="nl-BE" sz="2200" dirty="0"/>
          </a:p>
          <a:p>
            <a:pPr>
              <a:lnSpc>
                <a:spcPct val="110000"/>
              </a:lnSpc>
              <a:spcBef>
                <a:spcPts val="0"/>
              </a:spcBef>
            </a:pPr>
            <a:r>
              <a:rPr sz="2200" dirty="0" err="1"/>
              <a:t>préparer</a:t>
            </a:r>
            <a:r>
              <a:rPr sz="2200" dirty="0"/>
              <a:t>, </a:t>
            </a:r>
            <a:endParaRPr lang="nl-BE" sz="2200" dirty="0"/>
          </a:p>
          <a:p>
            <a:pPr>
              <a:lnSpc>
                <a:spcPct val="110000"/>
              </a:lnSpc>
              <a:spcBef>
                <a:spcPts val="0"/>
              </a:spcBef>
            </a:pPr>
            <a:r>
              <a:rPr sz="2200" dirty="0" err="1"/>
              <a:t>agir</a:t>
            </a:r>
            <a:r>
              <a:rPr sz="2200" dirty="0"/>
              <a:t>, </a:t>
            </a:r>
            <a:endParaRPr lang="nl-BE" sz="2200" dirty="0"/>
          </a:p>
          <a:p>
            <a:pPr>
              <a:lnSpc>
                <a:spcPct val="110000"/>
              </a:lnSpc>
              <a:spcBef>
                <a:spcPts val="0"/>
              </a:spcBef>
            </a:pPr>
            <a:r>
              <a:rPr sz="2200" dirty="0" err="1"/>
              <a:t>vérifier</a:t>
            </a:r>
            <a:endParaRPr sz="2200" dirty="0"/>
          </a:p>
        </p:txBody>
      </p:sp>
      <p:sp>
        <p:nvSpPr>
          <p:cNvPr id="4" name="Code"/>
          <p:cNvSpPr txBox="1"/>
          <p:nvPr/>
        </p:nvSpPr>
        <p:spPr>
          <a:xfrm>
            <a:off x="5647626" y="1371600"/>
            <a:ext cx="5989320" cy="2407920"/>
          </a:xfrm>
          <a:prstGeom prst="roundRect">
            <a:avLst>
              <a:gd name="adj" fmla="val 379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3AE60"/>
                </a:solidFill>
                <a:latin typeface="Consolas"/>
              </a:rPr>
              <a:t>@Test</a:t>
            </a:r>
          </a:p>
          <a:p>
            <a:pPr>
              <a:lnSpc>
                <a:spcPct val="100000"/>
              </a:lnSpc>
              <a:spcBef>
                <a:spcPts val="0"/>
              </a:spcBef>
              <a:spcAft>
                <a:spcPts val="0"/>
              </a:spcAft>
            </a:pPr>
            <a:r>
              <a:rPr sz="1750">
                <a:solidFill>
                  <a:srgbClr val="CF8E6D"/>
                </a:solidFill>
                <a:latin typeface="Consolas"/>
              </a:rPr>
              <a:t>void</a:t>
            </a:r>
            <a:r>
              <a:rPr sz="1750">
                <a:solidFill>
                  <a:srgbClr val="BCBEC4"/>
                </a:solidFill>
                <a:latin typeface="Consolas"/>
              </a:rPr>
              <a:t> </a:t>
            </a:r>
            <a:r>
              <a:rPr sz="1750">
                <a:solidFill>
                  <a:srgbClr val="56A8F5"/>
                </a:solidFill>
                <a:latin typeface="Consolas"/>
              </a:rPr>
              <a:t>uneSalleNeuveEstEntierementLibre</a:t>
            </a: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Salle salle = </a:t>
            </a:r>
            <a:r>
              <a:rPr sz="1750">
                <a:solidFill>
                  <a:srgbClr val="CF8E6D"/>
                </a:solidFill>
                <a:latin typeface="Consolas"/>
              </a:rPr>
              <a:t>new</a:t>
            </a:r>
            <a:r>
              <a:rPr sz="1750">
                <a:solidFill>
                  <a:srgbClr val="BCBEC4"/>
                </a:solidFill>
                <a:latin typeface="Consolas"/>
              </a:rPr>
              <a:t> </a:t>
            </a:r>
            <a:r>
              <a:rPr sz="1750">
                <a:solidFill>
                  <a:srgbClr val="56A8F5"/>
                </a:solidFill>
                <a:latin typeface="Consolas"/>
              </a:rPr>
              <a:t>Salle</a:t>
            </a:r>
            <a:r>
              <a:rPr sz="1750">
                <a:solidFill>
                  <a:srgbClr val="BCBEC4"/>
                </a:solidFill>
                <a:latin typeface="Consolas"/>
              </a:rPr>
              <a:t>(</a:t>
            </a:r>
            <a:r>
              <a:rPr sz="1750">
                <a:solidFill>
                  <a:srgbClr val="2AACB8"/>
                </a:solidFill>
                <a:latin typeface="Consolas"/>
              </a:rPr>
              <a:t>100</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int</a:t>
            </a:r>
            <a:r>
              <a:rPr sz="1750">
                <a:solidFill>
                  <a:srgbClr val="BCBEC4"/>
                </a:solidFill>
                <a:latin typeface="Consolas"/>
              </a:rPr>
              <a:t> libres = salle.</a:t>
            </a:r>
            <a:r>
              <a:rPr sz="1750">
                <a:solidFill>
                  <a:srgbClr val="56A8F5"/>
                </a:solidFill>
                <a:latin typeface="Consolas"/>
              </a:rPr>
              <a:t>placesLibres</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BCBEC4"/>
                </a:solidFill>
                <a:latin typeface="Consolas"/>
              </a:rPr>
              <a:t>    </a:t>
            </a:r>
            <a:r>
              <a:rPr sz="1750">
                <a:solidFill>
                  <a:srgbClr val="56A8F5"/>
                </a:solidFill>
                <a:latin typeface="Consolas"/>
              </a:rPr>
              <a:t>assertEquals</a:t>
            </a:r>
            <a:r>
              <a:rPr sz="1750">
                <a:solidFill>
                  <a:srgbClr val="BCBEC4"/>
                </a:solidFill>
                <a:latin typeface="Consolas"/>
              </a:rPr>
              <a:t>(</a:t>
            </a:r>
            <a:r>
              <a:rPr sz="1750">
                <a:solidFill>
                  <a:srgbClr val="2AACB8"/>
                </a:solidFill>
                <a:latin typeface="Consolas"/>
              </a:rPr>
              <a:t>100</a:t>
            </a:r>
            <a:r>
              <a:rPr sz="1750">
                <a:solidFill>
                  <a:srgbClr val="BCBEC4"/>
                </a:solidFill>
                <a:latin typeface="Consolas"/>
              </a:rPr>
              <a:t>, libres);</a:t>
            </a:r>
          </a:p>
          <a:p>
            <a:pPr>
              <a:lnSpc>
                <a:spcPct val="100000"/>
              </a:lnSpc>
              <a:spcBef>
                <a:spcPts val="0"/>
              </a:spcBef>
              <a:spcAft>
                <a:spcPts val="0"/>
              </a:spcAft>
            </a:pPr>
            <a:r>
              <a:rPr sz="17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assertions dont vous aurez besoin</a:t>
            </a:r>
          </a:p>
        </p:txBody>
      </p:sp>
      <p:sp>
        <p:nvSpPr>
          <p:cNvPr id="3" name="TextBox 2"/>
          <p:cNvSpPr txBox="1"/>
          <p:nvPr/>
        </p:nvSpPr>
        <p:spPr>
          <a:xfrm>
            <a:off x="777240" y="1371600"/>
            <a:ext cx="5261810" cy="585216"/>
          </a:xfrm>
          <a:prstGeom prst="rect">
            <a:avLst/>
          </a:prstGeom>
          <a:noFill/>
        </p:spPr>
        <p:txBody>
          <a:bodyPr wrap="square" anchor="ctr">
            <a:spAutoFit/>
          </a:bodyPr>
          <a:lstStyle/>
          <a:p>
            <a:r>
              <a:rPr sz="2000" b="1">
                <a:solidFill>
                  <a:schemeClr val="accent4"/>
                </a:solidFill>
              </a:rPr>
              <a:t>Assertion</a:t>
            </a:r>
          </a:p>
        </p:txBody>
      </p:sp>
      <p:sp>
        <p:nvSpPr>
          <p:cNvPr id="4" name="TextBox 3"/>
          <p:cNvSpPr txBox="1"/>
          <p:nvPr/>
        </p:nvSpPr>
        <p:spPr>
          <a:xfrm>
            <a:off x="6313370" y="1371600"/>
            <a:ext cx="5070909" cy="585216"/>
          </a:xfrm>
          <a:prstGeom prst="rect">
            <a:avLst/>
          </a:prstGeom>
          <a:noFill/>
        </p:spPr>
        <p:txBody>
          <a:bodyPr wrap="square" anchor="ctr">
            <a:spAutoFit/>
          </a:bodyPr>
          <a:lstStyle/>
          <a:p>
            <a:r>
              <a:rPr sz="2000" b="1">
                <a:solidFill>
                  <a:schemeClr val="accent4"/>
                </a:solidFill>
              </a:rPr>
              <a:t>Réussit si</a:t>
            </a:r>
          </a:p>
        </p:txBody>
      </p:sp>
      <p:sp>
        <p:nvSpPr>
          <p:cNvPr id="2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grpSp>
        <p:nvGrpSpPr>
          <p:cNvPr id="21"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5261810" cy="585216"/>
            </a:xfrm>
            <a:prstGeom prst="rect">
              <a:avLst/>
            </a:prstGeom>
            <a:noFill/>
          </p:spPr>
          <p:txBody>
            <a:bodyPr wrap="square" anchor="ctr">
              <a:spAutoFit/>
            </a:bodyPr>
            <a:lstStyle/>
            <a:p>
              <a:r>
                <a:rPr sz="2000">
                  <a:solidFill>
                    <a:schemeClr val="accent4"/>
                  </a:solidFill>
                  <a:latin typeface="Consolas"/>
                </a:rPr>
                <a:t>assertEquals(attendu, obtenu)</a:t>
              </a:r>
            </a:p>
          </p:txBody>
        </p:sp>
        <p:sp>
          <p:nvSpPr>
            <p:cNvPr id="7" name="TextBox 6"/>
            <p:cNvSpPr txBox="1"/>
            <p:nvPr/>
          </p:nvSpPr>
          <p:spPr>
            <a:xfrm>
              <a:off x="6313370" y="2029967"/>
              <a:ext cx="5070909" cy="585216"/>
            </a:xfrm>
            <a:prstGeom prst="rect">
              <a:avLst/>
            </a:prstGeom>
            <a:noFill/>
          </p:spPr>
          <p:txBody>
            <a:bodyPr wrap="square" anchor="ctr">
              <a:spAutoFit/>
            </a:bodyPr>
            <a:lstStyle/>
            <a:p>
              <a:r>
                <a:rPr sz="2200">
                  <a:solidFill>
                    <a:srgbClr val="FFFFFF"/>
                  </a:solidFill>
                </a:rPr>
                <a:t>les deux valeurs sont égales</a:t>
              </a:r>
            </a:p>
          </p:txBody>
        </p:sp>
      </p:grpSp>
      <p:grpSp>
        <p:nvGrpSpPr>
          <p:cNvPr id="22"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5261810" cy="585216"/>
            </a:xfrm>
            <a:prstGeom prst="rect">
              <a:avLst/>
            </a:prstGeom>
            <a:noFill/>
          </p:spPr>
          <p:txBody>
            <a:bodyPr wrap="square" anchor="ctr">
              <a:spAutoFit/>
            </a:bodyPr>
            <a:lstStyle/>
            <a:p>
              <a:r>
                <a:rPr sz="2000">
                  <a:solidFill>
                    <a:schemeClr val="accent4"/>
                  </a:solidFill>
                  <a:latin typeface="Consolas"/>
                </a:rPr>
                <a:t>assertTrue(condition)</a:t>
              </a:r>
            </a:p>
          </p:txBody>
        </p:sp>
        <p:sp>
          <p:nvSpPr>
            <p:cNvPr id="10" name="TextBox 9"/>
            <p:cNvSpPr txBox="1"/>
            <p:nvPr/>
          </p:nvSpPr>
          <p:spPr>
            <a:xfrm>
              <a:off x="6313370" y="2688335"/>
              <a:ext cx="5070909" cy="585216"/>
            </a:xfrm>
            <a:prstGeom prst="rect">
              <a:avLst/>
            </a:prstGeom>
            <a:noFill/>
          </p:spPr>
          <p:txBody>
            <a:bodyPr wrap="square" anchor="ctr">
              <a:spAutoFit/>
            </a:bodyPr>
            <a:lstStyle/>
            <a:p>
              <a:r>
                <a:rPr sz="2200">
                  <a:solidFill>
                    <a:srgbClr val="FFFFFF"/>
                  </a:solidFill>
                </a:rPr>
                <a:t>la condition est vraie</a:t>
              </a:r>
            </a:p>
          </p:txBody>
        </p:sp>
      </p:grpSp>
      <p:grpSp>
        <p:nvGrpSpPr>
          <p:cNvPr id="23"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5261810" cy="585216"/>
            </a:xfrm>
            <a:prstGeom prst="rect">
              <a:avLst/>
            </a:prstGeom>
            <a:noFill/>
          </p:spPr>
          <p:txBody>
            <a:bodyPr wrap="square" anchor="ctr">
              <a:spAutoFit/>
            </a:bodyPr>
            <a:lstStyle/>
            <a:p>
              <a:r>
                <a:rPr sz="2000">
                  <a:solidFill>
                    <a:schemeClr val="accent4"/>
                  </a:solidFill>
                  <a:latin typeface="Consolas"/>
                </a:rPr>
                <a:t>assertFalse(condition)</a:t>
              </a:r>
            </a:p>
          </p:txBody>
        </p:sp>
        <p:sp>
          <p:nvSpPr>
            <p:cNvPr id="13" name="TextBox 12"/>
            <p:cNvSpPr txBox="1"/>
            <p:nvPr/>
          </p:nvSpPr>
          <p:spPr>
            <a:xfrm>
              <a:off x="6313370" y="3346703"/>
              <a:ext cx="5070909" cy="585216"/>
            </a:xfrm>
            <a:prstGeom prst="rect">
              <a:avLst/>
            </a:prstGeom>
            <a:noFill/>
          </p:spPr>
          <p:txBody>
            <a:bodyPr wrap="square" anchor="ctr">
              <a:spAutoFit/>
            </a:bodyPr>
            <a:lstStyle/>
            <a:p>
              <a:r>
                <a:rPr sz="2200">
                  <a:solidFill>
                    <a:srgbClr val="FFFFFF"/>
                  </a:solidFill>
                </a:rPr>
                <a:t>la condition est fausse</a:t>
              </a:r>
            </a:p>
          </p:txBody>
        </p:sp>
      </p:grpSp>
      <p:grpSp>
        <p:nvGrpSpPr>
          <p:cNvPr id="24"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5261810" cy="585216"/>
            </a:xfrm>
            <a:prstGeom prst="rect">
              <a:avLst/>
            </a:prstGeom>
            <a:noFill/>
          </p:spPr>
          <p:txBody>
            <a:bodyPr wrap="square" anchor="ctr">
              <a:spAutoFit/>
            </a:bodyPr>
            <a:lstStyle/>
            <a:p>
              <a:r>
                <a:rPr sz="2000">
                  <a:solidFill>
                    <a:schemeClr val="accent4"/>
                  </a:solidFill>
                  <a:latin typeface="Consolas"/>
                </a:rPr>
                <a:t>assertNull(valeur)</a:t>
              </a:r>
            </a:p>
          </p:txBody>
        </p:sp>
        <p:sp>
          <p:nvSpPr>
            <p:cNvPr id="16" name="TextBox 15"/>
            <p:cNvSpPr txBox="1"/>
            <p:nvPr/>
          </p:nvSpPr>
          <p:spPr>
            <a:xfrm>
              <a:off x="6313370" y="4005071"/>
              <a:ext cx="5070909" cy="585216"/>
            </a:xfrm>
            <a:prstGeom prst="rect">
              <a:avLst/>
            </a:prstGeom>
            <a:noFill/>
          </p:spPr>
          <p:txBody>
            <a:bodyPr wrap="square" anchor="ctr">
              <a:spAutoFit/>
            </a:bodyPr>
            <a:lstStyle/>
            <a:p>
              <a:r>
                <a:rPr sz="2200">
                  <a:solidFill>
                    <a:srgbClr val="FFFFFF"/>
                  </a:solidFill>
                </a:rPr>
                <a:t>la valeur est </a:t>
              </a:r>
              <a:r>
                <a:rPr sz="2000">
                  <a:solidFill>
                    <a:schemeClr val="accent4"/>
                  </a:solidFill>
                  <a:latin typeface="Consolas"/>
                </a:rPr>
                <a:t>null</a:t>
              </a:r>
            </a:p>
          </p:txBody>
        </p:sp>
      </p:grpSp>
      <p:grpSp>
        <p:nvGrpSpPr>
          <p:cNvPr id="25" name="Ligne 5"/>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5261810" cy="585216"/>
            </a:xfrm>
            <a:prstGeom prst="rect">
              <a:avLst/>
            </a:prstGeom>
            <a:noFill/>
          </p:spPr>
          <p:txBody>
            <a:bodyPr wrap="square" anchor="ctr">
              <a:spAutoFit/>
            </a:bodyPr>
            <a:lstStyle/>
            <a:p>
              <a:r>
                <a:rPr sz="2000">
                  <a:solidFill>
                    <a:schemeClr val="accent4"/>
                  </a:solidFill>
                  <a:latin typeface="Consolas"/>
                </a:rPr>
                <a:t>assertThrows(Type.class, ...)</a:t>
              </a:r>
            </a:p>
          </p:txBody>
        </p:sp>
        <p:sp>
          <p:nvSpPr>
            <p:cNvPr id="19" name="TextBox 18"/>
            <p:cNvSpPr txBox="1"/>
            <p:nvPr/>
          </p:nvSpPr>
          <p:spPr>
            <a:xfrm>
              <a:off x="6313370" y="4663439"/>
              <a:ext cx="5070909" cy="585216"/>
            </a:xfrm>
            <a:prstGeom prst="rect">
              <a:avLst/>
            </a:prstGeom>
            <a:noFill/>
          </p:spPr>
          <p:txBody>
            <a:bodyPr wrap="square" anchor="ctr">
              <a:spAutoFit/>
            </a:bodyPr>
            <a:lstStyle/>
            <a:p>
              <a:r>
                <a:rPr sz="2200">
                  <a:solidFill>
                    <a:srgbClr val="FFFFFF"/>
                  </a:solidFill>
                </a:rPr>
                <a:t>l'appel lève cette exception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t>Un message qui explique l'échec</a:t>
            </a:r>
          </a:p>
        </p:txBody>
      </p:sp>
      <p:sp>
        <p:nvSpPr>
          <p:cNvPr id="3" name="Content Placeholder 2"/>
          <p:cNvSpPr>
            <a:spLocks noGrp="1"/>
          </p:cNvSpPr>
          <p:nvPr>
            <p:ph idx="1"/>
          </p:nvPr>
        </p:nvSpPr>
        <p:spPr>
          <a:xfrm>
            <a:off x="640080" y="1500000"/>
            <a:ext cx="10900000" cy="1900000"/>
          </a:xfrm>
        </p:spPr>
        <p:txBody>
          <a:bodyPr>
            <a:normAutofit fontScale="92500" lnSpcReduction="10000"/>
          </a:bodyPr>
          <a:lstStyle/>
          <a:p>
            <a:pPr marL="0" indent="0">
              <a:spcAft>
                <a:spcPts val="1000"/>
              </a:spcAft>
              <a:buNone/>
            </a:pPr>
            <a:r>
              <a:rPr sz="2200" dirty="0"/>
              <a:t>Le dernier argument : un message, facultatif pour </a:t>
            </a:r>
            <a:r>
              <a:rPr sz="2200" dirty="0">
                <a:solidFill>
                  <a:schemeClr val="accent4"/>
                </a:solidFill>
                <a:latin typeface="Consolas"/>
              </a:rPr>
              <a:t>JUnit</a:t>
            </a:r>
          </a:p>
          <a:p>
            <a:pPr marL="0" indent="0">
              <a:spcAft>
                <a:spcPts val="1000"/>
              </a:spcAft>
              <a:buNone/>
            </a:pPr>
            <a:r>
              <a:rPr sz="2200" dirty="0"/>
              <a:t>Dans vos tests : toujours</a:t>
            </a:r>
          </a:p>
          <a:p>
            <a:pPr marL="0" indent="0">
              <a:spcAft>
                <a:spcPts val="1000"/>
              </a:spcAft>
              <a:buNone/>
            </a:pPr>
            <a:r>
              <a:rPr sz="2200" dirty="0"/>
              <a:t>Il décrit l'attente, avec les mots du métier</a:t>
            </a:r>
          </a:p>
          <a:p>
            <a:pPr marL="0" indent="0">
              <a:spcAft>
                <a:spcPts val="1000"/>
              </a:spcAft>
              <a:buNone/>
            </a:pPr>
            <a:r>
              <a:rPr sz="2200" dirty="0"/>
              <a:t>Sur les slides, il est parfois omis pour la lisibilité</a:t>
            </a:r>
          </a:p>
        </p:txBody>
      </p:sp>
      <p:sp>
        <p:nvSpPr>
          <p:cNvPr id="4" name="Code"/>
          <p:cNvSpPr txBox="1"/>
          <p:nvPr/>
        </p:nvSpPr>
        <p:spPr>
          <a:xfrm>
            <a:off x="1100000" y="3650000"/>
            <a:ext cx="9900000" cy="2100000"/>
          </a:xfrm>
          <a:prstGeom prst="roundRect">
            <a:avLst>
              <a:gd name="adj" fmla="val 379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assertEquals(98, salle.placesLibres(),</a:t>
            </a:r>
          </a:p>
          <a:p>
            <a:pPr>
              <a:lnSpc>
                <a:spcPct val="100000"/>
              </a:lnSpc>
              <a:spcBef>
                <a:spcPts val="0"/>
              </a:spcBef>
              <a:spcAft>
                <a:spcPts val="0"/>
              </a:spcAft>
            </a:pPr>
            <a:r>
              <a:rPr sz="1750">
                <a:solidFill>
                  <a:srgbClr val="BCBEC4"/>
                </a:solidFill>
                <a:latin typeface="Consolas"/>
              </a:rPr>
              <a:t>        </a:t>
            </a:r>
            <a:r>
              <a:rPr sz="1750">
                <a:solidFill>
                  <a:srgbClr val="6AAB73"/>
                </a:solidFill>
                <a:latin typeface="Consolas"/>
              </a:rPr>
              <a:t>"Deux places reservees sur 100 doivent en laisser 98"</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7A7E85"/>
                </a:solidFill>
                <a:latin typeface="Consolas"/>
              </a:rPr>
              <a:t>// en cas d'echec, JUnit affiche :</a:t>
            </a:r>
          </a:p>
          <a:p>
            <a:pPr>
              <a:lnSpc>
                <a:spcPct val="100000"/>
              </a:lnSpc>
              <a:spcBef>
                <a:spcPts val="0"/>
              </a:spcBef>
              <a:spcAft>
                <a:spcPts val="0"/>
              </a:spcAft>
            </a:pPr>
            <a:r>
              <a:rPr sz="1750">
                <a:solidFill>
                  <a:srgbClr val="7A7E85"/>
                </a:solidFill>
                <a:latin typeface="Consolas"/>
              </a:rPr>
              <a:t>// Deux places reservees sur 100 doivent en laisser 98</a:t>
            </a:r>
          </a:p>
          <a:p>
            <a:pPr>
              <a:lnSpc>
                <a:spcPct val="100000"/>
              </a:lnSpc>
              <a:spcBef>
                <a:spcPts val="0"/>
              </a:spcBef>
              <a:spcAft>
                <a:spcPts val="0"/>
              </a:spcAft>
            </a:pPr>
            <a:r>
              <a:rPr sz="1750">
                <a:solidFill>
                  <a:srgbClr val="7A7E85"/>
                </a:solidFill>
                <a:latin typeface="Consolas"/>
              </a:rPr>
              <a:t>//     ==&gt; expected: &lt;98&gt; but was: &lt;100&gt;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test rouge accuse le code, ou le test</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Une assertion fausse : </a:t>
            </a:r>
            <a:r>
              <a:rPr sz="2800">
                <a:solidFill>
                  <a:schemeClr val="accent4"/>
                </a:solidFill>
                <a:latin typeface="Consolas"/>
              </a:rPr>
              <a:t>JUnit</a:t>
            </a:r>
            <a:r>
              <a:rPr sz="2800"/>
              <a:t> affiche l'attendu et l'obtenu</a:t>
            </a:r>
          </a:p>
          <a:p>
            <a:pPr marL="0" indent="0">
              <a:spcAft>
                <a:spcPts val="1000"/>
              </a:spcAft>
              <a:buNone/>
            </a:pPr>
            <a:r>
              <a:rPr sz="2800"/>
              <a:t>Une exception imprévue : le test échoue sur sa trace</a:t>
            </a:r>
          </a:p>
          <a:p>
            <a:pPr marL="0" indent="0">
              <a:spcAft>
                <a:spcPts val="1000"/>
              </a:spcAft>
              <a:buNone/>
            </a:pPr>
            <a:r>
              <a:rPr sz="2800"/>
              <a:t>Avant de corriger quoi que ce soit, relire la spécification</a:t>
            </a:r>
          </a:p>
        </p:txBody>
      </p:sp>
      <p:sp>
        <p:nvSpPr>
          <p:cNvPr id="4" name="Code"/>
          <p:cNvSpPr txBox="1"/>
          <p:nvPr/>
        </p:nvSpPr>
        <p:spPr>
          <a:xfrm>
            <a:off x="3079750" y="4160520"/>
            <a:ext cx="60325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une assertion fausse</a:t>
            </a:r>
          </a:p>
          <a:p>
            <a:pPr>
              <a:lnSpc>
                <a:spcPct val="100000"/>
              </a:lnSpc>
              <a:spcBef>
                <a:spcPts val="0"/>
              </a:spcBef>
              <a:spcAft>
                <a:spcPts val="0"/>
              </a:spcAft>
            </a:pPr>
            <a:r>
              <a:rPr sz="1800">
                <a:solidFill>
                  <a:srgbClr val="BCBEC4"/>
                </a:solidFill>
                <a:latin typeface="Consolas"/>
              </a:rPr>
              <a:t>expected: &lt;</a:t>
            </a:r>
            <a:r>
              <a:rPr sz="1800">
                <a:solidFill>
                  <a:srgbClr val="2AACB8"/>
                </a:solidFill>
                <a:latin typeface="Consolas"/>
              </a:rPr>
              <a:t>98</a:t>
            </a:r>
            <a:r>
              <a:rPr sz="1800">
                <a:solidFill>
                  <a:srgbClr val="BCBEC4"/>
                </a:solidFill>
                <a:latin typeface="Consolas"/>
              </a:rPr>
              <a:t>&gt; but was: &lt;</a:t>
            </a:r>
            <a:r>
              <a:rPr sz="1800">
                <a:solidFill>
                  <a:srgbClr val="2AACB8"/>
                </a:solidFill>
                <a:latin typeface="Consolas"/>
              </a:rPr>
              <a:t>100</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une exception que personne n'attendait</a:t>
            </a:r>
          </a:p>
          <a:p>
            <a:pPr>
              <a:lnSpc>
                <a:spcPct val="100000"/>
              </a:lnSpc>
              <a:spcBef>
                <a:spcPts val="0"/>
              </a:spcBef>
              <a:spcAft>
                <a:spcPts val="0"/>
              </a:spcAft>
            </a:pPr>
            <a:r>
              <a:rPr sz="1800">
                <a:solidFill>
                  <a:srgbClr val="BCBEC4"/>
                </a:solidFill>
                <a:latin typeface="Consolas"/>
              </a:rPr>
              <a:t>java.lang.UnsupportedOperationException:</a:t>
            </a:r>
          </a:p>
          <a:p>
            <a:pPr>
              <a:lnSpc>
                <a:spcPct val="100000"/>
              </a:lnSpc>
              <a:spcBef>
                <a:spcPts val="0"/>
              </a:spcBef>
              <a:spcAft>
                <a:spcPts val="0"/>
              </a:spcAft>
            </a:pPr>
            <a:r>
              <a:rPr sz="1800">
                <a:solidFill>
                  <a:srgbClr val="BCBEC4"/>
                </a:solidFill>
                <a:latin typeface="Consolas"/>
              </a:rPr>
              <a:t>    reserver n'est pas encore implementee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JUN.1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 test comme spécification</a:t>
            </a:r>
          </a:p>
          <a:p>
            <a:r>
              <a:rPr sz="1400">
                <a:solidFill>
                  <a:srgbClr val="BCBEC4"/>
                </a:solidFill>
              </a:rPr>
              <a:t>fascicule JUN</a:t>
            </a:r>
          </a:p>
        </p:txBody>
      </p:sp>
      <p:sp>
        <p:nvSpPr>
          <p:cNvPr id="6" name="TextBox 5"/>
          <p:cNvSpPr txBox="1"/>
          <p:nvPr/>
        </p:nvSpPr>
        <p:spPr>
          <a:xfrm>
            <a:off x="640080" y="2651760"/>
            <a:ext cx="9326880" cy="822960"/>
          </a:xfrm>
          <a:prstGeom prst="rect">
            <a:avLst/>
          </a:prstGeom>
          <a:noFill/>
        </p:spPr>
        <p:txBody>
          <a:bodyPr wrap="square">
            <a:spAutoFit/>
          </a:bodyPr>
          <a:lstStyle/>
          <a:p>
            <a:r>
              <a:rPr sz="1800"/>
              <a:t>Lire </a:t>
            </a:r>
            <a:r>
              <a:rPr sz="1600">
                <a:solidFill>
                  <a:schemeClr val="accent4"/>
                </a:solidFill>
                <a:latin typeface="Consolas"/>
              </a:rPr>
              <a:t>CalculatriceTest</a:t>
            </a:r>
            <a:r>
              <a:rPr sz="1800"/>
              <a:t> avant d'écrire une ligne</a:t>
            </a:r>
          </a:p>
          <a:p>
            <a:r>
              <a:rPr sz="1800"/>
              <a:t>Tests : </a:t>
            </a:r>
            <a:r>
              <a:rPr sz="1800">
                <a:solidFill>
                  <a:schemeClr val="accent4"/>
                </a:solidFill>
                <a:latin typeface="Consolas"/>
              </a:rPr>
              <a:t>CC-TST.1</a:t>
            </a:r>
            <a:r>
              <a:rPr sz="1800"/>
              <a:t>, </a:t>
            </a:r>
            <a:r>
              <a:rPr sz="1800">
                <a:solidFill>
                  <a:schemeClr val="accent4"/>
                </a:solidFill>
                <a:latin typeface="Consolas"/>
              </a:rPr>
              <a:t>CC-TST.2</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2. Écrire un test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9ADE910B-6C13-2D01-6E2C-E06866E6E2F5}"/>
              </a:ext>
            </a:extLst>
          </p:cNvPr>
          <p:cNvPicPr>
            <a:picLocks noChangeAspect="1"/>
          </p:cNvPicPr>
          <p:nvPr/>
        </p:nvPicPr>
        <p:blipFill>
          <a:blip r:embed="rId3"/>
          <a:stretch>
            <a:fillRect/>
          </a:stretch>
        </p:blipFill>
        <p:spPr>
          <a:xfrm>
            <a:off x="0" y="1824"/>
            <a:ext cx="12192000" cy="6854352"/>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851214"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Vérifier tout le contrat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documentation est une liste de tests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Chaque phrase de la documentation est une promesse</a:t>
            </a:r>
          </a:p>
          <a:p>
            <a:pPr marL="0" indent="0">
              <a:spcAft>
                <a:spcPts val="1000"/>
              </a:spcAft>
              <a:buNone/>
            </a:pPr>
            <a:r>
              <a:rPr sz="2800"/>
              <a:t>Chaque promesse mérite son test</a:t>
            </a:r>
          </a:p>
          <a:p>
            <a:pPr marL="0" indent="0">
              <a:spcAft>
                <a:spcPts val="1000"/>
              </a:spcAft>
              <a:buNone/>
            </a:pPr>
            <a:r>
              <a:rPr sz="2800"/>
              <a:t>Les promesses faites en cas d'échec aussi</a:t>
            </a:r>
          </a:p>
        </p:txBody>
      </p:sp>
      <p:sp>
        <p:nvSpPr>
          <p:cNvPr id="4" name="Code"/>
          <p:cNvSpPr txBox="1"/>
          <p:nvPr/>
        </p:nvSpPr>
        <p:spPr>
          <a:xfrm>
            <a:off x="2032000" y="3307080"/>
            <a:ext cx="81280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 Reserve des places.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 </a:t>
            </a:r>
            <a:r>
              <a:rPr sz="1800">
                <a:solidFill>
                  <a:srgbClr val="B3AE60"/>
                </a:solidFill>
                <a:latin typeface="Consolas"/>
              </a:rPr>
              <a:t>@throws</a:t>
            </a:r>
            <a:r>
              <a:rPr sz="1800">
                <a:solidFill>
                  <a:srgbClr val="BCBEC4"/>
                </a:solidFill>
                <a:latin typeface="Consolas"/>
              </a:rPr>
              <a:t> IllegalArgumentException si places &lt;= </a:t>
            </a:r>
            <a:r>
              <a:rPr sz="1800">
                <a:solidFill>
                  <a:srgbClr val="2AACB8"/>
                </a:solidFill>
                <a:latin typeface="Consolas"/>
              </a:rPr>
              <a:t>0</a:t>
            </a:r>
          </a:p>
          <a:p>
            <a:pPr>
              <a:lnSpc>
                <a:spcPct val="100000"/>
              </a:lnSpc>
              <a:spcBef>
                <a:spcPts val="0"/>
              </a:spcBef>
              <a:spcAft>
                <a:spcPts val="0"/>
              </a:spcAft>
            </a:pPr>
            <a:r>
              <a:rPr sz="1800">
                <a:solidFill>
                  <a:srgbClr val="BCBEC4"/>
                </a:solidFill>
                <a:latin typeface="Consolas"/>
              </a:rPr>
              <a:t> * </a:t>
            </a:r>
            <a:r>
              <a:rPr sz="1800">
                <a:solidFill>
                  <a:srgbClr val="B3AE60"/>
                </a:solidFill>
                <a:latin typeface="Consolas"/>
              </a:rPr>
              <a:t>@throws</a:t>
            </a:r>
            <a:r>
              <a:rPr sz="1800">
                <a:solidFill>
                  <a:srgbClr val="BCBEC4"/>
                </a:solidFill>
                <a:latin typeface="Consolas"/>
              </a:rPr>
              <a:t> SalleCompleteException   s'il reste moins de</a:t>
            </a:r>
          </a:p>
          <a:p>
            <a:pPr>
              <a:lnSpc>
                <a:spcPct val="100000"/>
              </a:lnSpc>
              <a:spcBef>
                <a:spcPts val="0"/>
              </a:spcBef>
              <a:spcAft>
                <a:spcPts val="0"/>
              </a:spcAft>
            </a:pPr>
            <a:r>
              <a:rPr sz="1800">
                <a:solidFill>
                  <a:srgbClr val="BCBEC4"/>
                </a:solidFill>
                <a:latin typeface="Consolas"/>
              </a:rPr>
              <a:t> *         places que demande ; rien n'est alors reserve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reserver</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places)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SalleCompleteException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qu'une exception est levée</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400">
                <a:solidFill>
                  <a:schemeClr val="accent4"/>
                </a:solidFill>
                <a:latin typeface="Consolas"/>
              </a:rPr>
              <a:t>assertThrows</a:t>
            </a:r>
            <a:r>
              <a:rPr sz="2600"/>
              <a:t> reçoit le type attendu et l'appel à surveiller</a:t>
            </a:r>
          </a:p>
          <a:p>
            <a:pPr marL="0" indent="0">
              <a:spcAft>
                <a:spcPts val="1000"/>
              </a:spcAft>
              <a:buNone/>
            </a:pPr>
            <a:r>
              <a:rPr sz="2600"/>
              <a:t>Le test échoue si rien n'est levé, ou autre chose</a:t>
            </a:r>
          </a:p>
          <a:p>
            <a:pPr marL="0" indent="0">
              <a:spcAft>
                <a:spcPts val="1000"/>
              </a:spcAft>
              <a:buNone/>
            </a:pPr>
            <a:r>
              <a:rPr sz="2600"/>
              <a:t>La flèche </a:t>
            </a:r>
            <a:r>
              <a:rPr sz="2400">
                <a:solidFill>
                  <a:schemeClr val="accent4"/>
                </a:solidFill>
                <a:latin typeface="Consolas"/>
              </a:rPr>
              <a:t>-&gt;</a:t>
            </a:r>
            <a:r>
              <a:rPr sz="2600"/>
              <a:t> est une lambda : recopiez la forme, LAM l'expliquera</a:t>
            </a:r>
          </a:p>
        </p:txBody>
      </p:sp>
      <p:sp>
        <p:nvSpPr>
          <p:cNvPr id="4" name="Code"/>
          <p:cNvSpPr txBox="1"/>
          <p:nvPr/>
        </p:nvSpPr>
        <p:spPr>
          <a:xfrm>
            <a:off x="2590800" y="3700000"/>
            <a:ext cx="7010400" cy="2450000"/>
          </a:xfrm>
          <a:prstGeom prst="roundRect">
            <a:avLst>
              <a:gd name="adj" fmla="val 422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@Test</a:t>
            </a:r>
          </a:p>
          <a:p>
            <a:pPr>
              <a:lnSpc>
                <a:spcPct val="100000"/>
              </a:lnSpc>
              <a:spcBef>
                <a:spcPts val="0"/>
              </a:spcBef>
              <a:spcAft>
                <a:spcPts val="0"/>
              </a:spcAft>
            </a:pP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reserverZeroPlaceEstRefuse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Salle salle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a:t>
            </a:r>
            <a:r>
              <a:rPr sz="1800">
                <a:solidFill>
                  <a:srgbClr val="BCBEC4"/>
                </a:solidFill>
                <a:latin typeface="Consolas"/>
              </a:rPr>
              <a:t>(</a:t>
            </a:r>
            <a:r>
              <a:rPr sz="1800">
                <a:solidFill>
                  <a:srgbClr val="2AACB8"/>
                </a:solidFill>
                <a:latin typeface="Consolas"/>
              </a:rPr>
              <a:t>100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assertThrows</a:t>
            </a:r>
            <a:r>
              <a:rPr sz="1800">
                <a:solidFill>
                  <a:srgbClr val="BCBEC4"/>
                </a:solidFill>
                <a:latin typeface="Consolas"/>
              </a:rPr>
              <a:t>(IllegalArgumentException.</a:t>
            </a:r>
            <a:r>
              <a:rPr sz="1800">
                <a:solidFill>
                  <a:srgbClr val="CF8E6D"/>
                </a:solidFill>
                <a:latin typeface="Consolas"/>
              </a:rPr>
              <a:t>class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 -&gt; salle.</a:t>
            </a:r>
            <a:r>
              <a:rPr sz="1800">
                <a:solidFill>
                  <a:srgbClr val="56A8F5"/>
                </a:solidFill>
                <a:latin typeface="Consolas"/>
              </a:rPr>
              <a:t>reserver</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6AAB73"/>
                </a:solidFill>
                <a:latin typeface="Consolas"/>
              </a:rPr>
              <a:t>"Reserver zero place doit etre refuse"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a:t>
            </a:r>
            <a:r>
              <a:rPr sz="3600">
                <a:solidFill>
                  <a:schemeClr val="accent4"/>
                </a:solidFill>
                <a:latin typeface="Consolas"/>
              </a:rPr>
              <a:t>throws</a:t>
            </a:r>
            <a:r>
              <a:rPr sz="4000"/>
              <a:t> d'une méthode de test</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800"/>
              <a:t>Préparer ou agir peut appeler une méthode qui déclare une exception</a:t>
            </a:r>
          </a:p>
          <a:p>
            <a:pPr marL="0" indent="0">
              <a:spcAft>
                <a:spcPts val="1000"/>
              </a:spcAft>
              <a:buNone/>
            </a:pPr>
            <a:r>
              <a:rPr sz="2800"/>
              <a:t>La méthode de test la déclare à son tour</a:t>
            </a:r>
          </a:p>
          <a:p>
            <a:pPr marL="0" indent="0">
              <a:spcAft>
                <a:spcPts val="1000"/>
              </a:spcAft>
              <a:buNone/>
            </a:pPr>
            <a:r>
              <a:rPr sz="2800"/>
              <a:t>Jamais de </a:t>
            </a:r>
            <a:r>
              <a:rPr sz="2400">
                <a:solidFill>
                  <a:schemeClr val="accent4"/>
                </a:solidFill>
                <a:latin typeface="Consolas"/>
              </a:rPr>
              <a:t>catch</a:t>
            </a:r>
            <a:r>
              <a:rPr sz="2800"/>
              <a:t> dans un test : il le rendrait vert</a:t>
            </a:r>
          </a:p>
        </p:txBody>
      </p:sp>
      <p:sp>
        <p:nvSpPr>
          <p:cNvPr id="4" name="Code"/>
          <p:cNvSpPr txBox="1"/>
          <p:nvPr/>
        </p:nvSpPr>
        <p:spPr>
          <a:xfrm>
            <a:off x="5257800" y="1371600"/>
            <a:ext cx="5989320" cy="2537459"/>
          </a:xfrm>
          <a:prstGeom prst="roundRect">
            <a:avLst>
              <a:gd name="adj" fmla="val 36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B3AE60"/>
                </a:solidFill>
                <a:latin typeface="Consolas"/>
              </a:rPr>
              <a:t>@Test</a:t>
            </a:r>
          </a:p>
          <a:p>
            <a:pPr>
              <a:lnSpc>
                <a:spcPct val="100000"/>
              </a:lnSpc>
              <a:spcBef>
                <a:spcPts val="0"/>
              </a:spcBef>
              <a:spcAft>
                <a:spcPts val="0"/>
              </a:spcAft>
            </a:pP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deuxPlacesReserveesNeSontPlusLibres</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throws</a:t>
            </a:r>
            <a:r>
              <a:rPr sz="1650">
                <a:solidFill>
                  <a:srgbClr val="BCBEC4"/>
                </a:solidFill>
                <a:latin typeface="Consolas"/>
              </a:rPr>
              <a:t> SalleCompleteException {</a:t>
            </a:r>
          </a:p>
          <a:p>
            <a:pPr>
              <a:lnSpc>
                <a:spcPct val="100000"/>
              </a:lnSpc>
              <a:spcBef>
                <a:spcPts val="0"/>
              </a:spcBef>
              <a:spcAft>
                <a:spcPts val="0"/>
              </a:spcAft>
            </a:pPr>
            <a:r>
              <a:rPr sz="1650">
                <a:solidFill>
                  <a:srgbClr val="BCBEC4"/>
                </a:solidFill>
                <a:latin typeface="Consolas"/>
              </a:rPr>
              <a:t>    Salle salle = </a:t>
            </a:r>
            <a:r>
              <a:rPr sz="1650">
                <a:solidFill>
                  <a:srgbClr val="CF8E6D"/>
                </a:solidFill>
                <a:latin typeface="Consolas"/>
              </a:rPr>
              <a:t>new</a:t>
            </a:r>
            <a:r>
              <a:rPr sz="1650">
                <a:solidFill>
                  <a:srgbClr val="BCBEC4"/>
                </a:solidFill>
                <a:latin typeface="Consolas"/>
              </a:rPr>
              <a:t> </a:t>
            </a:r>
            <a:r>
              <a:rPr sz="1650">
                <a:solidFill>
                  <a:srgbClr val="56A8F5"/>
                </a:solidFill>
                <a:latin typeface="Consolas"/>
              </a:rPr>
              <a:t>Salle</a:t>
            </a:r>
            <a:r>
              <a:rPr sz="1650">
                <a:solidFill>
                  <a:srgbClr val="BCBEC4"/>
                </a:solidFill>
                <a:latin typeface="Consolas"/>
              </a:rPr>
              <a:t>(</a:t>
            </a:r>
            <a:r>
              <a:rPr sz="1650">
                <a:solidFill>
                  <a:srgbClr val="2AACB8"/>
                </a:solidFill>
                <a:latin typeface="Consolas"/>
              </a:rPr>
              <a:t>100</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salle.</a:t>
            </a:r>
            <a:r>
              <a:rPr sz="1650">
                <a:solidFill>
                  <a:srgbClr val="56A8F5"/>
                </a:solidFill>
                <a:latin typeface="Consolas"/>
              </a:rPr>
              <a:t>reserver</a:t>
            </a:r>
            <a:r>
              <a:rPr sz="1650">
                <a:solidFill>
                  <a:srgbClr val="BCBEC4"/>
                </a:solidFill>
                <a:latin typeface="Consolas"/>
              </a:rPr>
              <a:t>(</a:t>
            </a:r>
            <a:r>
              <a:rPr sz="1650">
                <a:solidFill>
                  <a:srgbClr val="2AACB8"/>
                </a:solidFill>
                <a:latin typeface="Consolas"/>
              </a:rPr>
              <a:t>2</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56A8F5"/>
                </a:solidFill>
                <a:latin typeface="Consolas"/>
              </a:rPr>
              <a:t>assertEquals</a:t>
            </a:r>
            <a:r>
              <a:rPr sz="1650">
                <a:solidFill>
                  <a:srgbClr val="BCBEC4"/>
                </a:solidFill>
                <a:latin typeface="Consolas"/>
              </a:rPr>
              <a:t>(</a:t>
            </a:r>
            <a:r>
              <a:rPr sz="1650">
                <a:solidFill>
                  <a:srgbClr val="2AACB8"/>
                </a:solidFill>
                <a:latin typeface="Consolas"/>
              </a:rPr>
              <a:t>98</a:t>
            </a:r>
            <a:r>
              <a:rPr sz="1650">
                <a:solidFill>
                  <a:srgbClr val="BCBEC4"/>
                </a:solidFill>
                <a:latin typeface="Consolas"/>
              </a:rPr>
              <a:t>, salle.</a:t>
            </a:r>
            <a:r>
              <a:rPr sz="1650">
                <a:solidFill>
                  <a:srgbClr val="56A8F5"/>
                </a:solidFill>
                <a:latin typeface="Consolas"/>
              </a:rPr>
              <a:t>placesLibres</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r>
              <a:rPr sz="1650">
                <a:solidFill>
                  <a:srgbClr val="6AAB73"/>
                </a:solidFill>
                <a:latin typeface="Consolas"/>
              </a:rPr>
              <a:t>"Deux places reservees sur 100 doivent en laisser 98"</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Après l'échec, l'état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Lever la bonne exception ne suffit pas</a:t>
            </a:r>
          </a:p>
          <a:p>
            <a:pPr marL="0" indent="0">
              <a:spcAft>
                <a:spcPts val="1000"/>
              </a:spcAft>
              <a:buNone/>
            </a:pPr>
            <a:r>
              <a:rPr sz="2800"/>
              <a:t>Le refus ne doit rien avoir changé</a:t>
            </a:r>
          </a:p>
          <a:p>
            <a:pPr marL="0" indent="0">
              <a:spcAft>
                <a:spcPts val="1000"/>
              </a:spcAft>
              <a:buNone/>
            </a:pPr>
            <a:r>
              <a:rPr sz="2800"/>
              <a:t>Une assertion pour l'échec, une pour l'état</a:t>
            </a:r>
          </a:p>
        </p:txBody>
      </p:sp>
      <p:sp>
        <p:nvSpPr>
          <p:cNvPr id="4" name="Code"/>
          <p:cNvSpPr txBox="1"/>
          <p:nvPr/>
        </p:nvSpPr>
        <p:spPr>
          <a:xfrm>
            <a:off x="3176764" y="3150000"/>
            <a:ext cx="5838472" cy="315000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B3AE60"/>
                </a:solidFill>
                <a:latin typeface="Consolas"/>
              </a:rPr>
              <a:t>@Test</a:t>
            </a:r>
          </a:p>
          <a:p>
            <a:pPr>
              <a:lnSpc>
                <a:spcPct val="100000"/>
              </a:lnSpc>
              <a:spcBef>
                <a:spcPts val="0"/>
              </a:spcBef>
              <a:spcAft>
                <a:spcPts val="0"/>
              </a:spcAft>
            </a:pPr>
            <a:r>
              <a:rPr sz="1550">
                <a:solidFill>
                  <a:srgbClr val="CF8E6D"/>
                </a:solidFill>
                <a:latin typeface="Consolas"/>
              </a:rPr>
              <a:t>void</a:t>
            </a:r>
            <a:r>
              <a:rPr sz="1550">
                <a:solidFill>
                  <a:srgbClr val="BCBEC4"/>
                </a:solidFill>
                <a:latin typeface="Consolas"/>
              </a:rPr>
              <a:t> </a:t>
            </a:r>
            <a:r>
              <a:rPr sz="1550">
                <a:solidFill>
                  <a:srgbClr val="56A8F5"/>
                </a:solidFill>
                <a:latin typeface="Consolas"/>
              </a:rPr>
              <a:t>unePlaceDeTropNeReserveRien</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throws</a:t>
            </a:r>
            <a:r>
              <a:rPr sz="1550">
                <a:solidFill>
                  <a:srgbClr val="BCBEC4"/>
                </a:solidFill>
                <a:latin typeface="Consolas"/>
              </a:rPr>
              <a:t> SalleCompleteException {</a:t>
            </a:r>
          </a:p>
          <a:p>
            <a:pPr>
              <a:lnSpc>
                <a:spcPct val="100000"/>
              </a:lnSpc>
              <a:spcBef>
                <a:spcPts val="0"/>
              </a:spcBef>
              <a:spcAft>
                <a:spcPts val="0"/>
              </a:spcAft>
            </a:pPr>
            <a:r>
              <a:rPr sz="1550">
                <a:solidFill>
                  <a:srgbClr val="BCBEC4"/>
                </a:solidFill>
                <a:latin typeface="Consolas"/>
              </a:rPr>
              <a:t>    Salle salle = </a:t>
            </a:r>
            <a:r>
              <a:rPr sz="1550">
                <a:solidFill>
                  <a:srgbClr val="CF8E6D"/>
                </a:solidFill>
                <a:latin typeface="Consolas"/>
              </a:rPr>
              <a:t>new</a:t>
            </a:r>
            <a:r>
              <a:rPr sz="1550">
                <a:solidFill>
                  <a:srgbClr val="BCBEC4"/>
                </a:solidFill>
                <a:latin typeface="Consolas"/>
              </a:rPr>
              <a:t> </a:t>
            </a:r>
            <a:r>
              <a:rPr sz="1550">
                <a:solidFill>
                  <a:srgbClr val="56A8F5"/>
                </a:solidFill>
                <a:latin typeface="Consolas"/>
              </a:rPr>
              <a:t>Salle</a:t>
            </a:r>
            <a:r>
              <a:rPr sz="1550">
                <a:solidFill>
                  <a:srgbClr val="BCBEC4"/>
                </a:solidFill>
                <a:latin typeface="Consolas"/>
              </a:rPr>
              <a:t>(</a:t>
            </a:r>
            <a:r>
              <a:rPr sz="1550">
                <a:solidFill>
                  <a:srgbClr val="2AACB8"/>
                </a:solidFill>
                <a:latin typeface="Consolas"/>
              </a:rPr>
              <a:t>10</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salle.</a:t>
            </a:r>
            <a:r>
              <a:rPr sz="1550">
                <a:solidFill>
                  <a:srgbClr val="56A8F5"/>
                </a:solidFill>
                <a:latin typeface="Consolas"/>
              </a:rPr>
              <a:t>reserver</a:t>
            </a:r>
            <a:r>
              <a:rPr sz="1550">
                <a:solidFill>
                  <a:srgbClr val="BCBEC4"/>
                </a:solidFill>
                <a:latin typeface="Consolas"/>
              </a:rPr>
              <a:t>(</a:t>
            </a:r>
            <a:r>
              <a:rPr sz="1550">
                <a:solidFill>
                  <a:srgbClr val="2AACB8"/>
                </a:solidFill>
                <a:latin typeface="Consolas"/>
              </a:rPr>
              <a:t>8</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56A8F5"/>
                </a:solidFill>
                <a:latin typeface="Consolas"/>
              </a:rPr>
              <a:t>assertThrows</a:t>
            </a:r>
            <a:r>
              <a:rPr sz="1550">
                <a:solidFill>
                  <a:srgbClr val="BCBEC4"/>
                </a:solidFill>
                <a:latin typeface="Consolas"/>
              </a:rPr>
              <a:t>(SalleCompleteException.</a:t>
            </a:r>
            <a:r>
              <a:rPr sz="1550">
                <a:solidFill>
                  <a:srgbClr val="CF8E6D"/>
                </a:solidFill>
                <a:latin typeface="Consolas"/>
              </a:rPr>
              <a:t>class</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 -&gt; salle.</a:t>
            </a:r>
            <a:r>
              <a:rPr sz="1550">
                <a:solidFill>
                  <a:srgbClr val="56A8F5"/>
                </a:solidFill>
                <a:latin typeface="Consolas"/>
              </a:rPr>
              <a:t>reserver</a:t>
            </a:r>
            <a:r>
              <a:rPr sz="1550">
                <a:solidFill>
                  <a:srgbClr val="BCBEC4"/>
                </a:solidFill>
                <a:latin typeface="Consolas"/>
              </a:rPr>
              <a:t>(</a:t>
            </a:r>
            <a:r>
              <a:rPr sz="1550">
                <a:solidFill>
                  <a:srgbClr val="2AACB8"/>
                </a:solidFill>
                <a:latin typeface="Consolas"/>
              </a:rPr>
              <a:t>3</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6AAB73"/>
                </a:solidFill>
                <a:latin typeface="Consolas"/>
              </a:rPr>
              <a:t>"Une demande trop grande doit etre refusee"</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56A8F5"/>
                </a:solidFill>
                <a:latin typeface="Consolas"/>
              </a:rPr>
              <a:t>assertEquals</a:t>
            </a:r>
            <a:r>
              <a:rPr sz="1550">
                <a:solidFill>
                  <a:srgbClr val="BCBEC4"/>
                </a:solidFill>
                <a:latin typeface="Consolas"/>
              </a:rPr>
              <a:t>(</a:t>
            </a:r>
            <a:r>
              <a:rPr sz="1550">
                <a:solidFill>
                  <a:srgbClr val="2AACB8"/>
                </a:solidFill>
                <a:latin typeface="Consolas"/>
              </a:rPr>
              <a:t>2</a:t>
            </a:r>
            <a:r>
              <a:rPr sz="1550">
                <a:solidFill>
                  <a:srgbClr val="BCBEC4"/>
                </a:solidFill>
                <a:latin typeface="Consolas"/>
              </a:rPr>
              <a:t>, salle.</a:t>
            </a:r>
            <a:r>
              <a:rPr sz="1550">
                <a:solidFill>
                  <a:srgbClr val="56A8F5"/>
                </a:solidFill>
                <a:latin typeface="Consolas"/>
              </a:rPr>
              <a:t>placesLibres</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r>
              <a:rPr sz="1550">
                <a:solidFill>
                  <a:srgbClr val="6AAB73"/>
                </a:solidFill>
                <a:latin typeface="Consolas"/>
              </a:rPr>
              <a:t>"Le refus ne doit rien reserver"</a:t>
            </a: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JUN.2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Détecter un défaut</a:t>
            </a:r>
          </a:p>
          <a:p>
            <a:r>
              <a:rPr sz="1400">
                <a:solidFill>
                  <a:srgbClr val="BCBEC4"/>
                </a:solidFill>
              </a:rPr>
              <a:t>fascicule JUN</a:t>
            </a:r>
          </a:p>
        </p:txBody>
      </p:sp>
      <p:sp>
        <p:nvSpPr>
          <p:cNvPr id="6" name="TextBox 5"/>
          <p:cNvSpPr txBox="1"/>
          <p:nvPr/>
        </p:nvSpPr>
        <p:spPr>
          <a:xfrm>
            <a:off x="640080" y="2651760"/>
            <a:ext cx="9326880" cy="822960"/>
          </a:xfrm>
          <a:prstGeom prst="rect">
            <a:avLst/>
          </a:prstGeom>
          <a:noFill/>
        </p:spPr>
        <p:txBody>
          <a:bodyPr wrap="square">
            <a:spAutoFit/>
          </a:bodyPr>
          <a:lstStyle/>
          <a:p>
            <a:r>
              <a:rPr sz="2400"/>
              <a:t>Ne lisez pas le code des tirelires : faites-les travailler</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3. Vérifier un contrat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2F383F5F-AD3B-6543-B029-F0D00231773B}"/>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190416" cy="101304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4. Choisir ses cas, et les justifier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se logent les défauts</a:t>
            </a:r>
          </a:p>
        </p:txBody>
      </p:sp>
      <p:sp>
        <p:nvSpPr>
          <p:cNvPr id="3" name="Introduction"/>
          <p:cNvSpPr txBox="1"/>
          <p:nvPr/>
        </p:nvSpPr>
        <p:spPr>
          <a:xfrm>
            <a:off x="777240" y="1234440"/>
            <a:ext cx="10607040" cy="731520"/>
          </a:xfrm>
          <a:prstGeom prst="rect">
            <a:avLst/>
          </a:prstGeom>
          <a:noFill/>
        </p:spPr>
        <p:txBody>
          <a:bodyPr wrap="square">
            <a:spAutoFit/>
          </a:bodyPr>
          <a:lstStyle/>
          <a:p>
            <a:r>
              <a:rPr sz="2200">
                <a:solidFill>
                  <a:srgbClr val="FFFFFF"/>
                </a:solidFill>
              </a:rPr>
              <a:t>On ne peut pas tout tester : on regroupe les cas en familles, on en teste un de chaque, et l'on vise les frontières.</a:t>
            </a:r>
          </a:p>
        </p:txBody>
      </p:sp>
      <p:sp>
        <p:nvSpPr>
          <p:cNvPr id="4" name="TextBox 3"/>
          <p:cNvSpPr txBox="1"/>
          <p:nvPr/>
        </p:nvSpPr>
        <p:spPr>
          <a:xfrm>
            <a:off x="777240" y="2011680"/>
            <a:ext cx="3417570" cy="536448"/>
          </a:xfrm>
          <a:prstGeom prst="rect">
            <a:avLst/>
          </a:prstGeom>
          <a:noFill/>
        </p:spPr>
        <p:txBody>
          <a:bodyPr wrap="square" anchor="ctr">
            <a:spAutoFit/>
          </a:bodyPr>
          <a:lstStyle/>
          <a:p>
            <a:r>
              <a:rPr sz="2000" b="1">
                <a:solidFill>
                  <a:schemeClr val="accent4"/>
                </a:solidFill>
              </a:rPr>
              <a:t>Famille de cas</a:t>
            </a:r>
          </a:p>
        </p:txBody>
      </p:sp>
      <p:sp>
        <p:nvSpPr>
          <p:cNvPr id="5" name="TextBox 4"/>
          <p:cNvSpPr txBox="1"/>
          <p:nvPr/>
        </p:nvSpPr>
        <p:spPr>
          <a:xfrm>
            <a:off x="4469130" y="2011680"/>
            <a:ext cx="6915150" cy="536448"/>
          </a:xfrm>
          <a:prstGeom prst="rect">
            <a:avLst/>
          </a:prstGeom>
          <a:noFill/>
        </p:spPr>
        <p:txBody>
          <a:bodyPr wrap="square" anchor="ctr">
            <a:spAutoFit/>
          </a:bodyPr>
          <a:lstStyle/>
          <a:p>
            <a:r>
              <a:rPr sz="2000" b="1">
                <a:solidFill>
                  <a:schemeClr val="accent4"/>
                </a:solidFill>
              </a:rPr>
              <a:t>Pour une salle de 10 places</a:t>
            </a:r>
          </a:p>
        </p:txBody>
      </p:sp>
      <p:sp>
        <p:nvSpPr>
          <p:cNvPr id="2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2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grpSp>
        <p:nvGrpSpPr>
          <p:cNvPr id="22" name="Ligne 1"/>
          <p:cNvGrpSpPr/>
          <p:nvPr/>
        </p:nvGrpSpPr>
        <p:grpSpPr>
          <a:xfrm>
            <a:off x="640080" y="2621280"/>
            <a:ext cx="10881360" cy="536448"/>
            <a:chOff x="640080" y="2621280"/>
            <a:chExt cx="10881360" cy="536448"/>
          </a:xfrm>
        </p:grpSpPr>
        <p:sp>
          <p:nvSpPr>
            <p:cNvPr id="6" name="Rounded Rectangle 5"/>
            <p:cNvSpPr/>
            <p:nvPr/>
          </p:nvSpPr>
          <p:spPr>
            <a:xfrm>
              <a:off x="640080" y="26212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621280"/>
              <a:ext cx="3417570" cy="536448"/>
            </a:xfrm>
            <a:prstGeom prst="rect">
              <a:avLst/>
            </a:prstGeom>
            <a:noFill/>
          </p:spPr>
          <p:txBody>
            <a:bodyPr wrap="square" anchor="ctr">
              <a:spAutoFit/>
            </a:bodyPr>
            <a:lstStyle/>
            <a:p>
              <a:r>
                <a:rPr sz="2200">
                  <a:solidFill>
                    <a:srgbClr val="FFFFFF"/>
                  </a:solidFill>
                </a:rPr>
                <a:t>le cas ordinaire</a:t>
              </a:r>
            </a:p>
          </p:txBody>
        </p:sp>
        <p:sp>
          <p:nvSpPr>
            <p:cNvPr id="8" name="TextBox 7"/>
            <p:cNvSpPr txBox="1"/>
            <p:nvPr/>
          </p:nvSpPr>
          <p:spPr>
            <a:xfrm>
              <a:off x="4469130" y="2621280"/>
              <a:ext cx="6915150" cy="536448"/>
            </a:xfrm>
            <a:prstGeom prst="rect">
              <a:avLst/>
            </a:prstGeom>
            <a:noFill/>
          </p:spPr>
          <p:txBody>
            <a:bodyPr wrap="square" anchor="ctr">
              <a:spAutoFit/>
            </a:bodyPr>
            <a:lstStyle/>
            <a:p>
              <a:r>
                <a:rPr sz="2200">
                  <a:solidFill>
                    <a:srgbClr val="FFFFFF"/>
                  </a:solidFill>
                </a:rPr>
                <a:t>réserver 3 places</a:t>
              </a:r>
            </a:p>
          </p:txBody>
        </p:sp>
      </p:grpSp>
      <p:grpSp>
        <p:nvGrpSpPr>
          <p:cNvPr id="23" name="Ligne 2"/>
          <p:cNvGrpSpPr/>
          <p:nvPr/>
        </p:nvGrpSpPr>
        <p:grpSpPr>
          <a:xfrm>
            <a:off x="640080" y="3230880"/>
            <a:ext cx="10881360" cy="536448"/>
            <a:chOff x="640080" y="3230880"/>
            <a:chExt cx="10881360" cy="536448"/>
          </a:xfrm>
        </p:grpSpPr>
        <p:sp>
          <p:nvSpPr>
            <p:cNvPr id="9" name="Rounded Rectangle 8"/>
            <p:cNvSpPr/>
            <p:nvPr/>
          </p:nvSpPr>
          <p:spPr>
            <a:xfrm>
              <a:off x="640080" y="32308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3230880"/>
              <a:ext cx="3417570" cy="536448"/>
            </a:xfrm>
            <a:prstGeom prst="rect">
              <a:avLst/>
            </a:prstGeom>
            <a:noFill/>
          </p:spPr>
          <p:txBody>
            <a:bodyPr wrap="square" anchor="ctr">
              <a:spAutoFit/>
            </a:bodyPr>
            <a:lstStyle/>
            <a:p>
              <a:r>
                <a:rPr sz="2200">
                  <a:solidFill>
                    <a:srgbClr val="FFFFFF"/>
                  </a:solidFill>
                </a:rPr>
                <a:t>la borne atteinte</a:t>
              </a:r>
            </a:p>
          </p:txBody>
        </p:sp>
        <p:sp>
          <p:nvSpPr>
            <p:cNvPr id="11" name="TextBox 10"/>
            <p:cNvSpPr txBox="1"/>
            <p:nvPr/>
          </p:nvSpPr>
          <p:spPr>
            <a:xfrm>
              <a:off x="4469130" y="3230880"/>
              <a:ext cx="6915150" cy="536448"/>
            </a:xfrm>
            <a:prstGeom prst="rect">
              <a:avLst/>
            </a:prstGeom>
            <a:noFill/>
          </p:spPr>
          <p:txBody>
            <a:bodyPr wrap="square" anchor="ctr">
              <a:spAutoFit/>
            </a:bodyPr>
            <a:lstStyle/>
            <a:p>
              <a:r>
                <a:rPr sz="2200">
                  <a:solidFill>
                    <a:srgbClr val="FFFFFF"/>
                  </a:solidFill>
                </a:rPr>
                <a:t>réserver exactement les places libres</a:t>
              </a:r>
            </a:p>
          </p:txBody>
        </p:sp>
      </p:grpSp>
      <p:grpSp>
        <p:nvGrpSpPr>
          <p:cNvPr id="24" name="Ligne 3"/>
          <p:cNvGrpSpPr/>
          <p:nvPr/>
        </p:nvGrpSpPr>
        <p:grpSpPr>
          <a:xfrm>
            <a:off x="640080" y="3840480"/>
            <a:ext cx="10881360" cy="536448"/>
            <a:chOff x="640080" y="3840480"/>
            <a:chExt cx="10881360" cy="536448"/>
          </a:xfrm>
        </p:grpSpPr>
        <p:sp>
          <p:nvSpPr>
            <p:cNvPr id="12" name="Rounded Rectangle 11"/>
            <p:cNvSpPr/>
            <p:nvPr/>
          </p:nvSpPr>
          <p:spPr>
            <a:xfrm>
              <a:off x="640080" y="38404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3840480"/>
              <a:ext cx="3417570" cy="536448"/>
            </a:xfrm>
            <a:prstGeom prst="rect">
              <a:avLst/>
            </a:prstGeom>
            <a:noFill/>
          </p:spPr>
          <p:txBody>
            <a:bodyPr wrap="square" anchor="ctr">
              <a:spAutoFit/>
            </a:bodyPr>
            <a:lstStyle/>
            <a:p>
              <a:r>
                <a:rPr sz="2200">
                  <a:solidFill>
                    <a:srgbClr val="FFFFFF"/>
                  </a:solidFill>
                </a:rPr>
                <a:t>la borne dépassée</a:t>
              </a:r>
            </a:p>
          </p:txBody>
        </p:sp>
        <p:sp>
          <p:nvSpPr>
            <p:cNvPr id="14" name="TextBox 13"/>
            <p:cNvSpPr txBox="1"/>
            <p:nvPr/>
          </p:nvSpPr>
          <p:spPr>
            <a:xfrm>
              <a:off x="4469130" y="3840480"/>
              <a:ext cx="6915150" cy="536448"/>
            </a:xfrm>
            <a:prstGeom prst="rect">
              <a:avLst/>
            </a:prstGeom>
            <a:noFill/>
          </p:spPr>
          <p:txBody>
            <a:bodyPr wrap="square" anchor="ctr">
              <a:spAutoFit/>
            </a:bodyPr>
            <a:lstStyle/>
            <a:p>
              <a:r>
                <a:rPr sz="2200">
                  <a:solidFill>
                    <a:srgbClr val="FFFFFF"/>
                  </a:solidFill>
                </a:rPr>
                <a:t>réserver une place de trop</a:t>
              </a:r>
            </a:p>
          </p:txBody>
        </p:sp>
      </p:grpSp>
      <p:grpSp>
        <p:nvGrpSpPr>
          <p:cNvPr id="25" name="Ligne 4"/>
          <p:cNvGrpSpPr/>
          <p:nvPr/>
        </p:nvGrpSpPr>
        <p:grpSpPr>
          <a:xfrm>
            <a:off x="640080" y="4450080"/>
            <a:ext cx="10881360" cy="536448"/>
            <a:chOff x="640080" y="4450080"/>
            <a:chExt cx="10881360" cy="536448"/>
          </a:xfrm>
        </p:grpSpPr>
        <p:sp>
          <p:nvSpPr>
            <p:cNvPr id="15" name="Rounded Rectangle 14"/>
            <p:cNvSpPr/>
            <p:nvPr/>
          </p:nvSpPr>
          <p:spPr>
            <a:xfrm>
              <a:off x="640080" y="44500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450080"/>
              <a:ext cx="3417570" cy="536448"/>
            </a:xfrm>
            <a:prstGeom prst="rect">
              <a:avLst/>
            </a:prstGeom>
            <a:noFill/>
          </p:spPr>
          <p:txBody>
            <a:bodyPr wrap="square" anchor="ctr">
              <a:spAutoFit/>
            </a:bodyPr>
            <a:lstStyle/>
            <a:p>
              <a:r>
                <a:rPr sz="2200">
                  <a:solidFill>
                    <a:srgbClr val="FFFFFF"/>
                  </a:solidFill>
                </a:rPr>
                <a:t>la valeur interdite</a:t>
              </a:r>
            </a:p>
          </p:txBody>
        </p:sp>
        <p:sp>
          <p:nvSpPr>
            <p:cNvPr id="17" name="TextBox 16"/>
            <p:cNvSpPr txBox="1"/>
            <p:nvPr/>
          </p:nvSpPr>
          <p:spPr>
            <a:xfrm>
              <a:off x="4469130" y="4450080"/>
              <a:ext cx="6915150" cy="536448"/>
            </a:xfrm>
            <a:prstGeom prst="rect">
              <a:avLst/>
            </a:prstGeom>
            <a:noFill/>
          </p:spPr>
          <p:txBody>
            <a:bodyPr wrap="square" anchor="ctr">
              <a:spAutoFit/>
            </a:bodyPr>
            <a:lstStyle/>
            <a:p>
              <a:r>
                <a:rPr sz="2200">
                  <a:solidFill>
                    <a:srgbClr val="FFFFFF"/>
                  </a:solidFill>
                </a:rPr>
                <a:t>réserver 0 place, ou -1</a:t>
              </a:r>
            </a:p>
          </p:txBody>
        </p:sp>
      </p:grpSp>
      <p:grpSp>
        <p:nvGrpSpPr>
          <p:cNvPr id="26" name="Ligne 5"/>
          <p:cNvGrpSpPr/>
          <p:nvPr/>
        </p:nvGrpSpPr>
        <p:grpSpPr>
          <a:xfrm>
            <a:off x="640080" y="5059680"/>
            <a:ext cx="10881360" cy="536448"/>
            <a:chOff x="640080" y="5059680"/>
            <a:chExt cx="10881360" cy="536448"/>
          </a:xfrm>
        </p:grpSpPr>
        <p:sp>
          <p:nvSpPr>
            <p:cNvPr id="18" name="Rounded Rectangle 17"/>
            <p:cNvSpPr/>
            <p:nvPr/>
          </p:nvSpPr>
          <p:spPr>
            <a:xfrm>
              <a:off x="640080" y="5059680"/>
              <a:ext cx="10881360" cy="536448"/>
            </a:xfrm>
            <a:prstGeom prst="roundRect">
              <a:avLst>
                <a:gd name="adj" fmla="val 1704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5059680"/>
              <a:ext cx="3417570" cy="536448"/>
            </a:xfrm>
            <a:prstGeom prst="rect">
              <a:avLst/>
            </a:prstGeom>
            <a:noFill/>
          </p:spPr>
          <p:txBody>
            <a:bodyPr wrap="square" anchor="ctr">
              <a:spAutoFit/>
            </a:bodyPr>
            <a:lstStyle/>
            <a:p>
              <a:r>
                <a:rPr sz="2200">
                  <a:solidFill>
                    <a:srgbClr val="FFFFFF"/>
                  </a:solidFill>
                </a:rPr>
                <a:t>la répétition</a:t>
              </a:r>
            </a:p>
          </p:txBody>
        </p:sp>
        <p:sp>
          <p:nvSpPr>
            <p:cNvPr id="20" name="TextBox 19"/>
            <p:cNvSpPr txBox="1"/>
            <p:nvPr/>
          </p:nvSpPr>
          <p:spPr>
            <a:xfrm>
              <a:off x="4469130" y="5059680"/>
              <a:ext cx="6915150" cy="536448"/>
            </a:xfrm>
            <a:prstGeom prst="rect">
              <a:avLst/>
            </a:prstGeom>
            <a:noFill/>
          </p:spPr>
          <p:txBody>
            <a:bodyPr wrap="square" anchor="ctr">
              <a:spAutoFit/>
            </a:bodyPr>
            <a:lstStyle/>
            <a:p>
              <a:r>
                <a:rPr sz="2200">
                  <a:solidFill>
                    <a:srgbClr val="FFFFFF"/>
                  </a:solidFill>
                </a:rPr>
                <a:t>deux réservations successives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cas, un test, un nom</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Une méthode par comportement : </a:t>
            </a:r>
            <a:r>
              <a:rPr sz="2400">
                <a:solidFill>
                  <a:schemeClr val="accent4"/>
                </a:solidFill>
                <a:latin typeface="Consolas"/>
              </a:rPr>
              <a:t>CC-TST.2</a:t>
            </a:r>
          </a:p>
          <a:p>
            <a:pPr marL="0" indent="0">
              <a:spcAft>
                <a:spcPts val="1000"/>
              </a:spcAft>
              <a:buNone/>
            </a:pPr>
            <a:r>
              <a:rPr sz="2400"/>
              <a:t>Son nom dit ce qui est vérifié, jamais un numéro : </a:t>
            </a:r>
            <a:r>
              <a:rPr sz="2400">
                <a:solidFill>
                  <a:schemeClr val="accent4"/>
                </a:solidFill>
                <a:latin typeface="Consolas"/>
              </a:rPr>
              <a:t>CC-NOM.1</a:t>
            </a:r>
          </a:p>
          <a:p>
            <a:pPr marL="0" indent="0">
              <a:spcAft>
                <a:spcPts val="1000"/>
              </a:spcAft>
              <a:buNone/>
            </a:pPr>
            <a:r>
              <a:rPr sz="2000">
                <a:solidFill>
                  <a:schemeClr val="accent4"/>
                </a:solidFill>
                <a:latin typeface="Consolas"/>
              </a:rPr>
              <a:t>@DisplayName</a:t>
            </a:r>
            <a:r>
              <a:rPr sz="2400"/>
              <a:t> l'énonce en clair, avec des espaces</a:t>
            </a:r>
          </a:p>
        </p:txBody>
      </p:sp>
      <p:sp>
        <p:nvSpPr>
          <p:cNvPr id="4" name="Code"/>
          <p:cNvSpPr txBox="1"/>
          <p:nvPr/>
        </p:nvSpPr>
        <p:spPr>
          <a:xfrm>
            <a:off x="1333500" y="3100000"/>
            <a:ext cx="9525000" cy="3150000"/>
          </a:xfrm>
          <a:prstGeom prst="roundRect">
            <a:avLst>
              <a:gd name="adj" fmla="val 303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3AE60"/>
                </a:solidFill>
                <a:latin typeface="Consolas"/>
              </a:rPr>
              <a:t>@Test</a:t>
            </a:r>
          </a:p>
          <a:p>
            <a:pPr>
              <a:lnSpc>
                <a:spcPct val="100000"/>
              </a:lnSpc>
              <a:spcBef>
                <a:spcPts val="0"/>
              </a:spcBef>
              <a:spcAft>
                <a:spcPts val="0"/>
              </a:spcAft>
            </a:pPr>
            <a:r>
              <a:rPr sz="1800">
                <a:solidFill>
                  <a:srgbClr val="B3AE60"/>
                </a:solidFill>
                <a:latin typeface="Consolas"/>
              </a:rPr>
              <a:t>@DisplayName</a:t>
            </a:r>
            <a:r>
              <a:rPr sz="1800">
                <a:solidFill>
                  <a:srgbClr val="BCBEC4"/>
                </a:solidFill>
                <a:latin typeface="Consolas"/>
              </a:rPr>
              <a:t>(</a:t>
            </a:r>
            <a:r>
              <a:rPr sz="1800">
                <a:solidFill>
                  <a:srgbClr val="6AAB73"/>
                </a:solidFill>
                <a:latin typeface="Consolas"/>
              </a:rPr>
              <a:t>"Reserver toutes les places libres remplit la salle"</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reserverToutesLesPlacesLibres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SalleCompleteException {</a:t>
            </a:r>
          </a:p>
          <a:p>
            <a:pPr>
              <a:lnSpc>
                <a:spcPct val="100000"/>
              </a:lnSpc>
              <a:spcBef>
                <a:spcPts val="0"/>
              </a:spcBef>
              <a:spcAft>
                <a:spcPts val="0"/>
              </a:spcAft>
            </a:pPr>
            <a:r>
              <a:rPr sz="1800">
                <a:solidFill>
                  <a:srgbClr val="BCBEC4"/>
                </a:solidFill>
                <a:latin typeface="Consolas"/>
              </a:rPr>
              <a:t>    Salle salle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a:t>
            </a:r>
            <a:r>
              <a:rPr sz="1800">
                <a:solidFill>
                  <a:srgbClr val="BCBEC4"/>
                </a:solidFill>
                <a:latin typeface="Consolas"/>
              </a:rPr>
              <a:t>(</a:t>
            </a:r>
            <a:r>
              <a:rPr sz="1800">
                <a:solidFill>
                  <a:srgbClr val="2AACB8"/>
                </a:solidFill>
                <a:latin typeface="Consolas"/>
              </a:rPr>
              <a:t>10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salle.</a:t>
            </a:r>
            <a:r>
              <a:rPr sz="1800">
                <a:solidFill>
                  <a:srgbClr val="56A8F5"/>
                </a:solidFill>
                <a:latin typeface="Consolas"/>
              </a:rPr>
              <a:t>reserver</a:t>
            </a:r>
            <a:r>
              <a:rPr sz="1800">
                <a:solidFill>
                  <a:srgbClr val="BCBEC4"/>
                </a:solidFill>
                <a:latin typeface="Consolas"/>
              </a:rPr>
              <a:t>(</a:t>
            </a:r>
            <a:r>
              <a:rPr sz="1800">
                <a:solidFill>
                  <a:srgbClr val="2AACB8"/>
                </a:solidFill>
                <a:latin typeface="Consolas"/>
              </a:rPr>
              <a:t>10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assertEquals</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salle.</a:t>
            </a:r>
            <a:r>
              <a:rPr sz="1800">
                <a:solidFill>
                  <a:srgbClr val="56A8F5"/>
                </a:solidFill>
                <a:latin typeface="Consolas"/>
              </a:rPr>
              <a:t>placesLibres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6AAB73"/>
                </a:solidFill>
                <a:latin typeface="Consolas"/>
              </a:rPr>
              <a:t>"Reserver les 10 places doit remplir la salle"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p:spPr>
        <p:txBody>
          <a:bodyPr/>
          <a:lstStyle/>
          <a:p>
            <a:r>
              <a:rPr sz="4000"/>
              <a:t>Une valeur, un test</a:t>
            </a:r>
          </a:p>
        </p:txBody>
      </p:sp>
      <p:sp>
        <p:nvSpPr>
          <p:cNvPr id="3" name="Content Placeholder 2"/>
          <p:cNvSpPr>
            <a:spLocks noGrp="1"/>
          </p:cNvSpPr>
          <p:nvPr>
            <p:ph idx="1"/>
          </p:nvPr>
        </p:nvSpPr>
        <p:spPr>
          <a:xfrm>
            <a:off x="640080" y="1371600"/>
            <a:ext cx="4552030" cy="4800600"/>
          </a:xfrm>
        </p:spPr>
        <p:txBody>
          <a:bodyPr/>
          <a:lstStyle/>
          <a:p>
            <a:pPr marL="0" indent="0">
              <a:spcAft>
                <a:spcPts val="1000"/>
              </a:spcAft>
              <a:buNone/>
            </a:pPr>
            <a:r>
              <a:rPr sz="2400" dirty="0"/>
              <a:t>Une </a:t>
            </a:r>
            <a:r>
              <a:rPr sz="2400" dirty="0" err="1"/>
              <a:t>valeur</a:t>
            </a:r>
            <a:r>
              <a:rPr sz="2400" dirty="0"/>
              <a:t> </a:t>
            </a:r>
            <a:r>
              <a:rPr sz="2400" dirty="0" err="1"/>
              <a:t>vérifiée</a:t>
            </a:r>
            <a:r>
              <a:rPr sz="2400" dirty="0"/>
              <a:t> par </a:t>
            </a:r>
            <a:r>
              <a:rPr sz="2400" dirty="0" err="1"/>
              <a:t>méthode</a:t>
            </a:r>
            <a:r>
              <a:rPr sz="2400" dirty="0"/>
              <a:t> de test : </a:t>
            </a:r>
            <a:r>
              <a:rPr sz="2000" dirty="0">
                <a:solidFill>
                  <a:schemeClr val="accent4"/>
                </a:solidFill>
                <a:latin typeface="Consolas" panose="020B0609020204030204" pitchFamily="49" charset="0"/>
                <a:cs typeface="Consolas" panose="020B0609020204030204" pitchFamily="49" charset="0"/>
              </a:rPr>
              <a:t>CC-TST.2</a:t>
            </a:r>
            <a:endParaRPr sz="2400" dirty="0">
              <a:solidFill>
                <a:schemeClr val="accent4"/>
              </a:solidFill>
              <a:latin typeface="Consolas" panose="020B0609020204030204" pitchFamily="49" charset="0"/>
              <a:cs typeface="Consolas" panose="020B0609020204030204" pitchFamily="49" charset="0"/>
            </a:endParaRPr>
          </a:p>
          <a:p>
            <a:pPr marL="0" indent="0">
              <a:spcAft>
                <a:spcPts val="1000"/>
              </a:spcAft>
              <a:buNone/>
            </a:pPr>
            <a:r>
              <a:rPr sz="2400" dirty="0"/>
              <a:t>Au premier </a:t>
            </a:r>
            <a:r>
              <a:rPr sz="2400" dirty="0" err="1"/>
              <a:t>échec</a:t>
            </a:r>
            <a:r>
              <a:rPr sz="2400" dirty="0"/>
              <a:t>, </a:t>
            </a:r>
            <a:r>
              <a:rPr sz="2400" dirty="0">
                <a:solidFill>
                  <a:schemeClr val="accent4"/>
                </a:solidFill>
                <a:latin typeface="Consolas"/>
              </a:rPr>
              <a:t>JUnit</a:t>
            </a:r>
            <a:r>
              <a:rPr sz="2400" dirty="0"/>
              <a:t> </a:t>
            </a:r>
            <a:r>
              <a:rPr sz="2400" dirty="0" err="1"/>
              <a:t>arrête</a:t>
            </a:r>
            <a:r>
              <a:rPr sz="2400" dirty="0"/>
              <a:t> la </a:t>
            </a:r>
            <a:r>
              <a:rPr sz="2400" dirty="0" err="1"/>
              <a:t>méthode</a:t>
            </a:r>
            <a:r>
              <a:rPr sz="2400" dirty="0"/>
              <a:t> : les </a:t>
            </a:r>
            <a:r>
              <a:rPr sz="2400" dirty="0" err="1"/>
              <a:t>valeurs</a:t>
            </a:r>
            <a:r>
              <a:rPr sz="2400" dirty="0"/>
              <a:t> </a:t>
            </a:r>
            <a:r>
              <a:rPr sz="2400" dirty="0" err="1"/>
              <a:t>suivantes</a:t>
            </a:r>
            <a:r>
              <a:rPr sz="2400" dirty="0"/>
              <a:t> ne </a:t>
            </a:r>
            <a:r>
              <a:rPr sz="2400" dirty="0" err="1"/>
              <a:t>sont</a:t>
            </a:r>
            <a:r>
              <a:rPr sz="2400" dirty="0"/>
              <a:t> plus </a:t>
            </a:r>
            <a:r>
              <a:rPr sz="2400" dirty="0" err="1"/>
              <a:t>vérifiées</a:t>
            </a:r>
            <a:endParaRPr sz="2400" dirty="0"/>
          </a:p>
          <a:p>
            <a:pPr marL="0" indent="0">
              <a:spcAft>
                <a:spcPts val="1000"/>
              </a:spcAft>
              <a:buNone/>
            </a:pPr>
            <a:r>
              <a:rPr sz="2400" dirty="0" err="1"/>
              <a:t>Plusieurs</a:t>
            </a:r>
            <a:r>
              <a:rPr sz="2400" dirty="0"/>
              <a:t> assertions </a:t>
            </a:r>
            <a:r>
              <a:rPr sz="2400" dirty="0" err="1"/>
              <a:t>restent</a:t>
            </a:r>
            <a:r>
              <a:rPr sz="2400" dirty="0"/>
              <a:t> </a:t>
            </a:r>
            <a:r>
              <a:rPr sz="2400" dirty="0" err="1"/>
              <a:t>permises</a:t>
            </a:r>
            <a:r>
              <a:rPr sz="2400" dirty="0"/>
              <a:t> sur le </a:t>
            </a:r>
            <a:r>
              <a:rPr sz="2400" dirty="0" err="1"/>
              <a:t>résultat</a:t>
            </a:r>
            <a:r>
              <a:rPr sz="2400" dirty="0"/>
              <a:t> </a:t>
            </a:r>
            <a:r>
              <a:rPr sz="2400" dirty="0" err="1"/>
              <a:t>d'une</a:t>
            </a:r>
            <a:r>
              <a:rPr sz="2400" dirty="0"/>
              <a:t> </a:t>
            </a:r>
            <a:r>
              <a:rPr sz="2400" dirty="0" err="1"/>
              <a:t>seule</a:t>
            </a:r>
            <a:r>
              <a:rPr sz="2400" dirty="0"/>
              <a:t> action</a:t>
            </a:r>
          </a:p>
        </p:txBody>
      </p:sp>
      <p:sp>
        <p:nvSpPr>
          <p:cNvPr id="4" name="Code"/>
          <p:cNvSpPr txBox="1"/>
          <p:nvPr/>
        </p:nvSpPr>
        <p:spPr>
          <a:xfrm>
            <a:off x="5751787" y="1371600"/>
            <a:ext cx="5989320" cy="2788920"/>
          </a:xfrm>
          <a:prstGeom prst="rect">
            <a:avLst/>
          </a:prstGeom>
          <a:solidFill>
            <a:srgbClr val="1D1F22"/>
          </a:solidFill>
        </p:spPr>
        <p:txBody>
          <a:bodyPr wrap="none" lIns="137160" tIns="91440" rIns="137160" bIns="91440"/>
          <a:lstStyle/>
          <a:p>
            <a:pPr>
              <a:lnSpc>
                <a:spcPct val="100000"/>
              </a:lnSpc>
              <a:spcBef>
                <a:spcPts val="0"/>
              </a:spcBef>
              <a:spcAft>
                <a:spcPts val="0"/>
              </a:spcAft>
            </a:pPr>
            <a:r>
              <a:rPr sz="1500">
                <a:solidFill>
                  <a:srgbClr val="B3AE60"/>
                </a:solidFill>
                <a:latin typeface="Consolas"/>
              </a:rPr>
              <a:t>@Test</a:t>
            </a:r>
          </a:p>
          <a:p>
            <a:pPr>
              <a:lnSpc>
                <a:spcPct val="100000"/>
              </a:lnSpc>
              <a:spcBef>
                <a:spcPts val="0"/>
              </a:spcBef>
              <a:spcAft>
                <a:spcPts val="0"/>
              </a:spcAft>
            </a:pP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reserverUnePlaceEnLaisseNeuf</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throws</a:t>
            </a:r>
            <a:r>
              <a:rPr sz="1500">
                <a:solidFill>
                  <a:srgbClr val="BCBEC4"/>
                </a:solidFill>
                <a:latin typeface="Consolas"/>
              </a:rPr>
              <a:t> SalleCompleteException {</a:t>
            </a:r>
          </a:p>
          <a:p>
            <a:pPr>
              <a:lnSpc>
                <a:spcPct val="100000"/>
              </a:lnSpc>
              <a:spcBef>
                <a:spcPts val="0"/>
              </a:spcBef>
              <a:spcAft>
                <a:spcPts val="0"/>
              </a:spcAft>
            </a:pPr>
            <a:r>
              <a:rPr sz="1500">
                <a:solidFill>
                  <a:srgbClr val="BCBEC4"/>
                </a:solidFill>
                <a:latin typeface="Consolas"/>
              </a:rPr>
              <a:t>    Salle salle = </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Salle</a:t>
            </a:r>
            <a:r>
              <a:rPr sz="1500">
                <a:solidFill>
                  <a:srgbClr val="BCBEC4"/>
                </a:solidFill>
                <a:latin typeface="Consolas"/>
              </a:rPr>
              <a:t>(</a:t>
            </a:r>
            <a:r>
              <a:rPr sz="1500">
                <a:solidFill>
                  <a:srgbClr val="2AACB8"/>
                </a:solidFill>
                <a:latin typeface="Consolas"/>
              </a:rPr>
              <a:t>10</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salle.</a:t>
            </a:r>
            <a:r>
              <a:rPr sz="1500">
                <a:solidFill>
                  <a:srgbClr val="56A8F5"/>
                </a:solidFill>
                <a:latin typeface="Consolas"/>
              </a:rPr>
              <a:t>reserver</a:t>
            </a:r>
            <a:r>
              <a:rPr sz="1500">
                <a:solidFill>
                  <a:srgbClr val="BCBEC4"/>
                </a:solidFill>
                <a:latin typeface="Consolas"/>
              </a:rPr>
              <a:t>(</a:t>
            </a:r>
            <a:r>
              <a:rPr sz="1500">
                <a:solidFill>
                  <a:srgbClr val="2AACB8"/>
                </a:solidFill>
                <a:latin typeface="Consolas"/>
              </a:rPr>
              <a:t>1</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56A8F5"/>
                </a:solidFill>
                <a:latin typeface="Consolas"/>
              </a:rPr>
              <a:t>assertEquals</a:t>
            </a:r>
            <a:r>
              <a:rPr sz="1500">
                <a:solidFill>
                  <a:srgbClr val="BCBEC4"/>
                </a:solidFill>
                <a:latin typeface="Consolas"/>
              </a:rPr>
              <a:t>(</a:t>
            </a:r>
            <a:r>
              <a:rPr sz="1500">
                <a:solidFill>
                  <a:srgbClr val="2AACB8"/>
                </a:solidFill>
                <a:latin typeface="Consolas"/>
              </a:rPr>
              <a:t>9</a:t>
            </a:r>
            <a:r>
              <a:rPr sz="1500">
                <a:solidFill>
                  <a:srgbClr val="BCBEC4"/>
                </a:solidFill>
                <a:latin typeface="Consolas"/>
              </a:rPr>
              <a:t>, salle.</a:t>
            </a:r>
            <a:r>
              <a:rPr sz="1500">
                <a:solidFill>
                  <a:srgbClr val="56A8F5"/>
                </a:solidFill>
                <a:latin typeface="Consolas"/>
              </a:rPr>
              <a:t>placesLibres</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6AAB73"/>
                </a:solidFill>
                <a:latin typeface="Consolas"/>
              </a:rPr>
              <a:t>"Une place reservee sur 10 doit en laisser 9"</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7A7E85"/>
                </a:solidFill>
                <a:latin typeface="Consolas"/>
              </a:rPr>
              <a:t>// un autre test pour 5 places, un autre pour 10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1325563"/>
          </a:xfrm>
        </p:spPr>
        <p:txBody>
          <a:bodyPr/>
          <a:lstStyle/>
          <a:p>
            <a:r>
              <a:rPr sz="3400"/>
              <a:t>Pour aller plus loin : </a:t>
            </a:r>
            <a:r>
              <a:rPr sz="3200">
                <a:solidFill>
                  <a:schemeClr val="accent4"/>
                </a:solidFill>
                <a:latin typeface="Consolas"/>
              </a:rPr>
              <a:t>@ParameterizedTest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Facultatif : une seule méthode, lancée une fois par cas</a:t>
            </a:r>
          </a:p>
          <a:p>
            <a:pPr marL="0" indent="0">
              <a:spcAft>
                <a:spcPts val="1000"/>
              </a:spcAft>
              <a:buNone/>
            </a:pPr>
            <a:r>
              <a:rPr sz="2400"/>
              <a:t>Chaque cas apparaît comme un test distinct dans les résultats</a:t>
            </a:r>
          </a:p>
          <a:p>
            <a:pPr marL="0" indent="0">
              <a:spcAft>
                <a:spcPts val="1000"/>
              </a:spcAft>
              <a:buNone/>
            </a:pPr>
            <a:r>
              <a:rPr sz="2000">
                <a:solidFill>
                  <a:schemeClr val="accent4"/>
                </a:solidFill>
                <a:latin typeface="Consolas"/>
              </a:rPr>
              <a:t>@CsvSource</a:t>
            </a:r>
            <a:r>
              <a:rPr sz="2400"/>
              <a:t> donne à chaque cas son entrée et son attendu</a:t>
            </a:r>
          </a:p>
        </p:txBody>
      </p:sp>
      <p:sp>
        <p:nvSpPr>
          <p:cNvPr id="4" name="Code"/>
          <p:cNvSpPr txBox="1"/>
          <p:nvPr/>
        </p:nvSpPr>
        <p:spPr>
          <a:xfrm>
            <a:off x="640080" y="3100000"/>
            <a:ext cx="10881360" cy="3150000"/>
          </a:xfrm>
          <a:prstGeom prst="rect">
            <a:avLst/>
          </a:prstGeom>
          <a:solidFill>
            <a:srgbClr val="1D1F22"/>
          </a:solidFill>
        </p:spPr>
        <p:txBody>
          <a:bodyPr wrap="none" lIns="137160" tIns="91440" rIns="137160" bIns="91440"/>
          <a:lstStyle/>
          <a:p>
            <a:pPr>
              <a:lnSpc>
                <a:spcPct val="100000"/>
              </a:lnSpc>
              <a:spcBef>
                <a:spcPts val="0"/>
              </a:spcBef>
              <a:spcAft>
                <a:spcPts val="0"/>
              </a:spcAft>
            </a:pPr>
            <a:r>
              <a:rPr sz="1800">
                <a:solidFill>
                  <a:srgbClr val="B3AE60"/>
                </a:solidFill>
                <a:latin typeface="Consolas"/>
              </a:rPr>
              <a:t>@ParameterizedTest</a:t>
            </a:r>
          </a:p>
          <a:p>
            <a:pPr>
              <a:lnSpc>
                <a:spcPct val="100000"/>
              </a:lnSpc>
              <a:spcBef>
                <a:spcPts val="0"/>
              </a:spcBef>
              <a:spcAft>
                <a:spcPts val="0"/>
              </a:spcAft>
            </a:pPr>
            <a:r>
              <a:rPr sz="1800">
                <a:solidFill>
                  <a:srgbClr val="B3AE60"/>
                </a:solidFill>
                <a:latin typeface="Consolas"/>
              </a:rPr>
              <a:t>@CsvSource</a:t>
            </a:r>
            <a:r>
              <a:rPr sz="1800">
                <a:solidFill>
                  <a:srgbClr val="BCBEC4"/>
                </a:solidFill>
                <a:latin typeface="Consolas"/>
              </a:rPr>
              <a:t>({</a:t>
            </a:r>
            <a:r>
              <a:rPr sz="1800">
                <a:solidFill>
                  <a:srgbClr val="6AAB73"/>
                </a:solidFill>
                <a:latin typeface="Consolas"/>
              </a:rPr>
              <a:t>"1, 9"</a:t>
            </a:r>
            <a:r>
              <a:rPr sz="1800">
                <a:solidFill>
                  <a:srgbClr val="BCBEC4"/>
                </a:solidFill>
                <a:latin typeface="Consolas"/>
              </a:rPr>
              <a:t>, </a:t>
            </a:r>
            <a:r>
              <a:rPr sz="1800">
                <a:solidFill>
                  <a:srgbClr val="6AAB73"/>
                </a:solidFill>
                <a:latin typeface="Consolas"/>
              </a:rPr>
              <a:t>"5, 5"</a:t>
            </a:r>
            <a:r>
              <a:rPr sz="1800">
                <a:solidFill>
                  <a:srgbClr val="BCBEC4"/>
                </a:solidFill>
                <a:latin typeface="Consolas"/>
              </a:rPr>
              <a:t>, </a:t>
            </a:r>
            <a:r>
              <a:rPr sz="1800">
                <a:solidFill>
                  <a:srgbClr val="6AAB73"/>
                </a:solidFill>
                <a:latin typeface="Consolas"/>
              </a:rPr>
              <a:t>"10, 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reserverDiminueLesPlacesLibres</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places, </a:t>
            </a:r>
            <a:r>
              <a:rPr sz="1800">
                <a:solidFill>
                  <a:srgbClr val="CF8E6D"/>
                </a:solidFill>
                <a:latin typeface="Consolas"/>
              </a:rPr>
              <a:t>int</a:t>
            </a:r>
            <a:r>
              <a:rPr sz="1800">
                <a:solidFill>
                  <a:srgbClr val="BCBEC4"/>
                </a:solidFill>
                <a:latin typeface="Consolas"/>
              </a:rPr>
              <a:t> attendu)</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throws</a:t>
            </a:r>
            <a:r>
              <a:rPr sz="1800">
                <a:solidFill>
                  <a:srgbClr val="BCBEC4"/>
                </a:solidFill>
                <a:latin typeface="Consolas"/>
              </a:rPr>
              <a:t> SalleCompleteException {</a:t>
            </a:r>
          </a:p>
          <a:p>
            <a:pPr>
              <a:lnSpc>
                <a:spcPct val="100000"/>
              </a:lnSpc>
              <a:spcBef>
                <a:spcPts val="0"/>
              </a:spcBef>
              <a:spcAft>
                <a:spcPts val="0"/>
              </a:spcAft>
            </a:pPr>
            <a:r>
              <a:rPr sz="1800">
                <a:solidFill>
                  <a:srgbClr val="BCBEC4"/>
                </a:solidFill>
                <a:latin typeface="Consolas"/>
              </a:rPr>
              <a:t>    Salle salle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a:t>
            </a:r>
            <a:r>
              <a:rPr sz="1800">
                <a:solidFill>
                  <a:srgbClr val="BCBEC4"/>
                </a:solidFill>
                <a:latin typeface="Consolas"/>
              </a:rPr>
              <a:t>(</a:t>
            </a:r>
            <a:r>
              <a:rPr sz="1800">
                <a:solidFill>
                  <a:srgbClr val="2AACB8"/>
                </a:solidFill>
                <a:latin typeface="Consolas"/>
              </a:rPr>
              <a:t>10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salle.</a:t>
            </a:r>
            <a:r>
              <a:rPr sz="1800">
                <a:solidFill>
                  <a:srgbClr val="56A8F5"/>
                </a:solidFill>
                <a:latin typeface="Consolas"/>
              </a:rPr>
              <a:t>reserver</a:t>
            </a:r>
            <a:r>
              <a:rPr sz="1800">
                <a:solidFill>
                  <a:srgbClr val="BCBEC4"/>
                </a:solidFill>
                <a:latin typeface="Consolas"/>
              </a:rPr>
              <a:t>(places);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assertEquals</a:t>
            </a:r>
            <a:r>
              <a:rPr sz="1800">
                <a:solidFill>
                  <a:srgbClr val="BCBEC4"/>
                </a:solidFill>
                <a:latin typeface="Consolas"/>
              </a:rPr>
              <a:t>(attendu, salle.</a:t>
            </a:r>
            <a:r>
              <a:rPr sz="1800">
                <a:solidFill>
                  <a:srgbClr val="56A8F5"/>
                </a:solidFill>
                <a:latin typeface="Consolas"/>
              </a:rPr>
              <a:t>placesLibres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6AAB73"/>
                </a:solidFill>
                <a:latin typeface="Consolas"/>
              </a:rPr>
              <a:t>"Le nombre de places libres doit diminuer d'autant"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Chaque test repart de zéro</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800">
                <a:solidFill>
                  <a:schemeClr val="accent4"/>
                </a:solidFill>
                <a:latin typeface="Consolas"/>
              </a:rPr>
              <a:t>JUnit</a:t>
            </a:r>
            <a:r>
              <a:rPr sz="2800"/>
              <a:t> crée un nouvel objet de test pour chaque méthode</a:t>
            </a:r>
          </a:p>
          <a:p>
            <a:pPr marL="0" indent="0">
              <a:spcAft>
                <a:spcPts val="1000"/>
              </a:spcAft>
              <a:buNone/>
            </a:pPr>
            <a:r>
              <a:rPr sz="2800"/>
              <a:t>Aucun test ne compte sur un autre, ni sur l'ordre : </a:t>
            </a:r>
            <a:r>
              <a:rPr sz="2800">
                <a:solidFill>
                  <a:schemeClr val="accent4"/>
                </a:solidFill>
                <a:latin typeface="Consolas"/>
              </a:rPr>
              <a:t>CC-TST.3</a:t>
            </a:r>
          </a:p>
          <a:p>
            <a:pPr marL="0" indent="0">
              <a:spcAft>
                <a:spcPts val="1000"/>
              </a:spcAft>
              <a:buNone/>
            </a:pPr>
            <a:r>
              <a:rPr sz="2400">
                <a:solidFill>
                  <a:schemeClr val="accent4"/>
                </a:solidFill>
                <a:latin typeface="Consolas"/>
              </a:rPr>
              <a:t>@BeforeEach</a:t>
            </a:r>
            <a:r>
              <a:rPr sz="2800"/>
              <a:t> regroupe ce que tous les tests préparent</a:t>
            </a:r>
          </a:p>
        </p:txBody>
      </p:sp>
      <p:sp>
        <p:nvSpPr>
          <p:cNvPr id="4" name="Code"/>
          <p:cNvSpPr txBox="1"/>
          <p:nvPr/>
        </p:nvSpPr>
        <p:spPr>
          <a:xfrm>
            <a:off x="5257800" y="1371600"/>
            <a:ext cx="5962650" cy="3474720"/>
          </a:xfrm>
          <a:prstGeom prst="roundRect">
            <a:avLst>
              <a:gd name="adj" fmla="val 263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00">
                <a:solidFill>
                  <a:srgbClr val="CF8E6D"/>
                </a:solidFill>
                <a:latin typeface="Consolas"/>
              </a:rPr>
              <a:t>class</a:t>
            </a:r>
            <a:r>
              <a:rPr sz="1500">
                <a:solidFill>
                  <a:srgbClr val="BCBEC4"/>
                </a:solidFill>
                <a:latin typeface="Consolas"/>
              </a:rPr>
              <a:t> SalleTest {</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private</a:t>
            </a:r>
            <a:r>
              <a:rPr sz="1500">
                <a:solidFill>
                  <a:srgbClr val="BCBEC4"/>
                </a:solidFill>
                <a:latin typeface="Consolas"/>
              </a:rPr>
              <a:t> Salle salle;</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B3AE60"/>
                </a:solidFill>
                <a:latin typeface="Consolas"/>
              </a:rPr>
              <a:t>@BeforeEach</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preparer</a:t>
            </a: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salle = </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Salle</a:t>
            </a:r>
            <a:r>
              <a:rPr sz="1500">
                <a:solidFill>
                  <a:srgbClr val="BCBEC4"/>
                </a:solidFill>
                <a:latin typeface="Consolas"/>
              </a:rPr>
              <a:t>(</a:t>
            </a:r>
            <a:r>
              <a:rPr sz="1500">
                <a:solidFill>
                  <a:srgbClr val="2AACB8"/>
                </a:solidFill>
                <a:latin typeface="Consolas"/>
              </a:rPr>
              <a:t>10</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B3AE60"/>
                </a:solidFill>
                <a:latin typeface="Consolas"/>
              </a:rPr>
              <a:t>@Test</a:t>
            </a:r>
          </a:p>
          <a:p>
            <a:pPr>
              <a:lnSpc>
                <a:spcPct val="100000"/>
              </a:lnSpc>
              <a:spcBef>
                <a:spcPts val="0"/>
              </a:spcBef>
              <a:spcAft>
                <a:spcPts val="0"/>
              </a:spcAft>
            </a:pPr>
            <a:r>
              <a:rPr sz="1500">
                <a:solidFill>
                  <a:srgbClr val="BCBEC4"/>
                </a:solidFill>
                <a:latin typeface="Consolas"/>
              </a:rPr>
              <a:t>    </a:t>
            </a: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uneSalleNeuveEstEntierementLibre</a:t>
            </a: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56A8F5"/>
                </a:solidFill>
                <a:latin typeface="Consolas"/>
              </a:rPr>
              <a:t>assertEquals</a:t>
            </a:r>
            <a:r>
              <a:rPr sz="1500">
                <a:solidFill>
                  <a:srgbClr val="BCBEC4"/>
                </a:solidFill>
                <a:latin typeface="Consolas"/>
              </a:rPr>
              <a:t>(</a:t>
            </a:r>
            <a:r>
              <a:rPr sz="1500">
                <a:solidFill>
                  <a:srgbClr val="2AACB8"/>
                </a:solidFill>
                <a:latin typeface="Consolas"/>
              </a:rPr>
              <a:t>10</a:t>
            </a:r>
            <a:r>
              <a:rPr sz="1500">
                <a:solidFill>
                  <a:srgbClr val="BCBEC4"/>
                </a:solidFill>
                <a:latin typeface="Consolas"/>
              </a:rPr>
              <a:t>, salle.</a:t>
            </a:r>
            <a:r>
              <a:rPr sz="1500">
                <a:solidFill>
                  <a:srgbClr val="56A8F5"/>
                </a:solidFill>
                <a:latin typeface="Consolas"/>
              </a:rPr>
              <a:t>placesLibres</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6AAB73"/>
                </a:solidFill>
                <a:latin typeface="Consolas"/>
              </a:rPr>
              <a:t>"Une salle neuve doit etre libre"</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test se justifie par le défaut qu'il attrape</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Pour chaque test : quelle erreur le ferait passer au rouge ?</a:t>
            </a:r>
          </a:p>
          <a:p>
            <a:pPr marL="0" indent="0">
              <a:spcAft>
                <a:spcPts val="1000"/>
              </a:spcAft>
              <a:buNone/>
            </a:pPr>
            <a:r>
              <a:rPr sz="2400"/>
              <a:t>S'il n'y en a aucune, il ne protège de rien</a:t>
            </a:r>
          </a:p>
          <a:p>
            <a:pPr marL="0" indent="0">
              <a:spcAft>
                <a:spcPts val="1000"/>
              </a:spcAft>
              <a:buNone/>
            </a:pPr>
            <a:r>
              <a:rPr sz="2400"/>
              <a:t>Un test qui attrape les mêmes erreurs qu'un autre n'ajoute rien</a:t>
            </a:r>
          </a:p>
        </p:txBody>
      </p:sp>
      <p:sp>
        <p:nvSpPr>
          <p:cNvPr id="4" name="Code"/>
          <p:cNvSpPr txBox="1"/>
          <p:nvPr/>
        </p:nvSpPr>
        <p:spPr>
          <a:xfrm>
            <a:off x="2171700" y="3489960"/>
            <a:ext cx="78486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le defaut :  &gt;=  au lieu de  &gt;</a:t>
            </a:r>
          </a:p>
          <a:p>
            <a:pPr>
              <a:lnSpc>
                <a:spcPct val="100000"/>
              </a:lnSpc>
              <a:spcBef>
                <a:spcPts val="0"/>
              </a:spcBef>
              <a:spcAft>
                <a:spcPts val="0"/>
              </a:spcAft>
            </a:pPr>
            <a:r>
              <a:rPr sz="1800">
                <a:solidFill>
                  <a:srgbClr val="CF8E6D"/>
                </a:solidFill>
                <a:latin typeface="Consolas"/>
              </a:rPr>
              <a:t>if</a:t>
            </a:r>
            <a:r>
              <a:rPr sz="1800">
                <a:solidFill>
                  <a:srgbClr val="BCBEC4"/>
                </a:solidFill>
                <a:latin typeface="Consolas"/>
              </a:rPr>
              <a:t> (places &gt;= </a:t>
            </a:r>
            <a:r>
              <a:rPr sz="1800">
                <a:solidFill>
                  <a:srgbClr val="56A8F5"/>
                </a:solidFill>
                <a:latin typeface="Consolas"/>
              </a:rPr>
              <a:t>placesLibres</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throw</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SalleCompleteException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6AAB73"/>
                </a:solidFill>
                <a:latin typeface="Consolas"/>
              </a:rPr>
              <a:t>"Plus que "</a:t>
            </a:r>
            <a:r>
              <a:rPr sz="1800">
                <a:solidFill>
                  <a:srgbClr val="BCBEC4"/>
                </a:solidFill>
                <a:latin typeface="Consolas"/>
              </a:rPr>
              <a:t> + </a:t>
            </a:r>
            <a:r>
              <a:rPr sz="1800">
                <a:solidFill>
                  <a:srgbClr val="56A8F5"/>
                </a:solidFill>
                <a:latin typeface="Consolas"/>
              </a:rPr>
              <a:t>placesLibres</a:t>
            </a:r>
            <a:r>
              <a:rPr sz="1800">
                <a:solidFill>
                  <a:srgbClr val="BCBEC4"/>
                </a:solidFill>
                <a:latin typeface="Consolas"/>
              </a:rPr>
              <a:t>() + </a:t>
            </a:r>
            <a:r>
              <a:rPr sz="1800">
                <a:solidFill>
                  <a:srgbClr val="6AAB73"/>
                </a:solidFill>
                <a:latin typeface="Consolas"/>
              </a:rPr>
              <a:t>" places"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un seul test passe au rouge :</a:t>
            </a:r>
          </a:p>
          <a:p>
            <a:pPr>
              <a:lnSpc>
                <a:spcPct val="100000"/>
              </a:lnSpc>
              <a:spcBef>
                <a:spcPts val="0"/>
              </a:spcBef>
              <a:spcAft>
                <a:spcPts val="0"/>
              </a:spcAft>
            </a:pPr>
            <a:r>
              <a:rPr sz="1800">
                <a:solidFill>
                  <a:srgbClr val="7A7E85"/>
                </a:solidFill>
                <a:latin typeface="Consolas"/>
              </a:rPr>
              <a:t>// reserverToutesLesPlacesLibres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À l'examen : écrire, lancer, corriger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On vous donne une classe, et parfois la liste des cas</a:t>
            </a:r>
          </a:p>
          <a:p>
            <a:pPr marL="0" indent="0">
              <a:spcAft>
                <a:spcPts val="1000"/>
              </a:spcAft>
              <a:buNone/>
            </a:pPr>
            <a:r>
              <a:rPr sz="2800"/>
              <a:t>Vos tests peuvent révéler un défaut : c'est prévu</a:t>
            </a:r>
          </a:p>
          <a:p>
            <a:pPr marL="0" indent="0">
              <a:spcAft>
                <a:spcPts val="1000"/>
              </a:spcAft>
              <a:buNone/>
            </a:pPr>
            <a:r>
              <a:rPr sz="2800"/>
              <a:t>Corrigez alors la classe, jamais le test qui a raison</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JUN.3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Écrire une classe de test</a:t>
            </a:r>
          </a:p>
          <a:p>
            <a:r>
              <a:rPr sz="1400">
                <a:solidFill>
                  <a:srgbClr val="BCBEC4"/>
                </a:solidFill>
              </a:rPr>
              <a:t>fascicule JUN</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 vert de </a:t>
            </a:r>
            <a:r>
              <a:rPr sz="1600">
                <a:solidFill>
                  <a:schemeClr val="accent4"/>
                </a:solidFill>
                <a:latin typeface="Consolas"/>
              </a:rPr>
              <a:t>RedactionTest</a:t>
            </a:r>
            <a:r>
              <a:rPr sz="1800"/>
              <a:t> ne dit rien de vos tests</a:t>
            </a:r>
          </a:p>
          <a:p>
            <a:r>
              <a:rPr sz="1800"/>
              <a:t>Tests : </a:t>
            </a:r>
            <a:r>
              <a:rPr sz="1800">
                <a:solidFill>
                  <a:schemeClr val="accent4"/>
                </a:solidFill>
                <a:latin typeface="Consolas"/>
              </a:rPr>
              <a:t>CC-TST.1</a:t>
            </a:r>
            <a:r>
              <a:rPr sz="1800"/>
              <a:t>, </a:t>
            </a:r>
            <a:r>
              <a:rPr sz="1800">
                <a:solidFill>
                  <a:schemeClr val="accent4"/>
                </a:solidFill>
                <a:latin typeface="Consolas"/>
              </a:rPr>
              <a:t>CC-TST.2</a:t>
            </a:r>
            <a:r>
              <a:rPr sz="1800"/>
              <a:t>, </a:t>
            </a:r>
            <a:r>
              <a:rPr sz="1800">
                <a:solidFill>
                  <a:schemeClr val="accent4"/>
                </a:solidFill>
                <a:latin typeface="Consolas"/>
              </a:rPr>
              <a:t>CC-TST.3</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4. Choisir et justifier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14CC35BA-B39E-A701-BF4E-74641808D712}"/>
              </a:ext>
            </a:extLst>
          </p:cNvPr>
          <p:cNvPicPr>
            <a:picLocks noChangeAspect="1"/>
          </p:cNvPicPr>
          <p:nvPr/>
        </p:nvPicPr>
        <p:blipFill>
          <a:blip r:embed="rId3"/>
          <a:stretch>
            <a:fillRect/>
          </a:stretch>
        </p:blipFill>
        <p:spPr>
          <a:xfrm>
            <a:off x="-3244" y="0"/>
            <a:ext cx="12198488" cy="6858000"/>
          </a:xfrm>
          <a:prstGeom prst="rect">
            <a:avLst/>
          </a:prstGeom>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512880"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Du code qui se laisse tester</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Pourquoi certaines classes résistent aux tests</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test prépare une situation, déclenche une action, vérifie le résultat : seul, et en un instant</a:t>
            </a:r>
          </a:p>
          <a:p>
            <a:pPr marL="0" indent="0">
              <a:spcAft>
                <a:spcPts val="1000"/>
              </a:spcAft>
              <a:buNone/>
            </a:pPr>
            <a:r>
              <a:rPr sz="2800"/>
              <a:t>Certaines classes l'en empêchent : elles ouvrent une fenêtre, lisent la date du jour, ou tirent au hasard</a:t>
            </a:r>
          </a:p>
          <a:p>
            <a:pPr marL="0" indent="0">
              <a:spcAft>
                <a:spcPts val="1000"/>
              </a:spcAft>
              <a:buNone/>
            </a:pPr>
            <a:r>
              <a:rPr sz="2800"/>
              <a:t>Le remède est dans la classe elle-même : une interface à la place de la fenêtre, un paramètre à la place de la date ou du hasard</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Rappel : le contrôleur du module </a:t>
            </a:r>
            <a:r>
              <a:rPr sz="4000">
                <a:solidFill>
                  <a:schemeClr val="accent4"/>
                </a:solidFill>
                <a:latin typeface="Consolas"/>
              </a:rPr>
              <a:t>ITF</a:t>
            </a:r>
          </a:p>
        </p:txBody>
      </p:sp>
      <p:sp>
        <p:nvSpPr>
          <p:cNvPr id="3" name="Content Placeholder 2"/>
          <p:cNvSpPr>
            <a:spLocks noGrp="1"/>
          </p:cNvSpPr>
          <p:nvPr>
            <p:ph idx="1"/>
          </p:nvPr>
        </p:nvSpPr>
        <p:spPr>
          <a:xfrm>
            <a:off x="640080" y="1371600"/>
            <a:ext cx="10881360" cy="1579879"/>
          </a:xfrm>
        </p:spPr>
        <p:txBody>
          <a:bodyPr/>
          <a:lstStyle/>
          <a:p>
            <a:pPr marL="0" indent="0">
              <a:spcAft>
                <a:spcPts val="1000"/>
              </a:spcAft>
              <a:buNone/>
            </a:pPr>
            <a:r>
              <a:rPr sz="2600"/>
              <a:t>Au module </a:t>
            </a:r>
            <a:r>
              <a:rPr sz="2600">
                <a:solidFill>
                  <a:schemeClr val="accent4"/>
                </a:solidFill>
                <a:latin typeface="Consolas"/>
              </a:rPr>
              <a:t>ITF</a:t>
            </a:r>
            <a:r>
              <a:rPr sz="2600"/>
              <a:t>, le contrôleur ne dépend plus que d'une interface, </a:t>
            </a:r>
            <a:r>
              <a:rPr sz="2400">
                <a:solidFill>
                  <a:schemeClr val="accent4"/>
                </a:solidFill>
                <a:latin typeface="Consolas"/>
              </a:rPr>
              <a:t>Afficheur</a:t>
            </a:r>
            <a:r>
              <a:rPr sz="2600"/>
              <a:t>, reçue par </a:t>
            </a:r>
            <a:r>
              <a:rPr sz="2400">
                <a:solidFill>
                  <a:schemeClr val="accent4"/>
                </a:solidFill>
                <a:latin typeface="Consolas"/>
              </a:rPr>
              <a:t>setAfficheur</a:t>
            </a:r>
          </a:p>
          <a:p>
            <a:pPr marL="0" indent="0">
              <a:spcAft>
                <a:spcPts val="1000"/>
              </a:spcAft>
              <a:buNone/>
            </a:pPr>
            <a:r>
              <a:rPr sz="2600"/>
              <a:t>C'est ce qui va permettre de le tester sans rien ouvrir</a:t>
            </a:r>
          </a:p>
        </p:txBody>
      </p:sp>
      <p:sp>
        <p:nvSpPr>
          <p:cNvPr id="4" name="Code"/>
          <p:cNvSpPr txBox="1"/>
          <p:nvPr/>
        </p:nvSpPr>
        <p:spPr>
          <a:xfrm>
            <a:off x="640080" y="3088639"/>
            <a:ext cx="10881360" cy="2788920"/>
          </a:xfrm>
          <a:prstGeom prst="roundRect">
            <a:avLst>
              <a:gd name="adj" fmla="val 3278"/>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interface</a:t>
            </a:r>
            <a:r>
              <a:rPr sz="1650">
                <a:solidFill>
                  <a:srgbClr val="BCBEC4"/>
                </a:solidFill>
                <a:latin typeface="Consolas"/>
              </a:rPr>
              <a:t> Afficheur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affiche</a:t>
            </a:r>
            <a:r>
              <a:rPr sz="1650">
                <a:solidFill>
                  <a:srgbClr val="BCBEC4"/>
                </a:solidFill>
                <a:latin typeface="Consolas"/>
              </a:rPr>
              <a:t>(String message);</a:t>
            </a:r>
          </a:p>
          <a:p>
            <a:pPr>
              <a:lnSpc>
                <a:spcPct val="100000"/>
              </a:lnSpc>
              <a:spcBef>
                <a:spcPts val="0"/>
              </a:spcBef>
              <a:spcAft>
                <a:spcPts val="0"/>
              </a:spcAft>
            </a:pPr>
            <a:r>
              <a:rPr sz="1650">
                <a:solidFill>
                  <a:srgbClr val="BCBEC4"/>
                </a:solidFill>
                <a:latin typeface="Consolas"/>
              </a:rPr>
              <a:t>}</a:t>
            </a:r>
          </a:p>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Controleur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Afficheur afficheur;</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setAfficheur</a:t>
            </a:r>
            <a:r>
              <a:rPr sz="1650">
                <a:solidFill>
                  <a:srgbClr val="BCBEC4"/>
                </a:solidFill>
                <a:latin typeface="Consolas"/>
              </a:rPr>
              <a:t>(Afficheur afficheur) { </a:t>
            </a:r>
            <a:r>
              <a:rPr sz="1650">
                <a:solidFill>
                  <a:srgbClr val="CF8E6D"/>
                </a:solidFill>
                <a:latin typeface="Consolas"/>
              </a:rPr>
              <a:t>this</a:t>
            </a:r>
            <a:r>
              <a:rPr sz="1650">
                <a:solidFill>
                  <a:srgbClr val="BCBEC4"/>
                </a:solidFill>
                <a:latin typeface="Consolas"/>
              </a:rPr>
              <a:t>.afficheur = afficheur;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annoncer</a:t>
            </a:r>
            <a:r>
              <a:rPr sz="1650">
                <a:solidFill>
                  <a:srgbClr val="BCBEC4"/>
                </a:solidFill>
                <a:latin typeface="Consolas"/>
              </a:rPr>
              <a:t>(String evenement) {</a:t>
            </a:r>
          </a:p>
          <a:p>
            <a:pPr>
              <a:lnSpc>
                <a:spcPct val="100000"/>
              </a:lnSpc>
              <a:spcBef>
                <a:spcPts val="0"/>
              </a:spcBef>
              <a:spcAft>
                <a:spcPts val="0"/>
              </a:spcAft>
            </a:pPr>
            <a:r>
              <a:rPr sz="1650">
                <a:solidFill>
                  <a:srgbClr val="BCBEC4"/>
                </a:solidFill>
                <a:latin typeface="Consolas"/>
              </a:rPr>
              <a:t>        afficheur.</a:t>
            </a:r>
            <a:r>
              <a:rPr sz="1650">
                <a:solidFill>
                  <a:srgbClr val="56A8F5"/>
                </a:solidFill>
                <a:latin typeface="Consolas"/>
              </a:rPr>
              <a:t>affiche</a:t>
            </a:r>
            <a:r>
              <a:rPr sz="1650">
                <a:solidFill>
                  <a:srgbClr val="BCBEC4"/>
                </a:solidFill>
                <a:latin typeface="Consolas"/>
              </a:rPr>
              <a:t>(</a:t>
            </a:r>
            <a:r>
              <a:rPr sz="1650">
                <a:solidFill>
                  <a:srgbClr val="6AAB73"/>
                </a:solidFill>
                <a:latin typeface="Consolas"/>
              </a:rPr>
              <a:t>"Evenement : "</a:t>
            </a:r>
            <a:r>
              <a:rPr sz="1650">
                <a:solidFill>
                  <a:srgbClr val="BCBEC4"/>
                </a:solidFill>
                <a:latin typeface="Consolas"/>
              </a:rPr>
              <a:t> + evenement);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doublure à la place de la fenêtre</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Pour le test, on écrit un faux afficheur : il n'affiche rien, il retient le dernier message</a:t>
            </a:r>
          </a:p>
          <a:p>
            <a:pPr marL="0" indent="0">
              <a:spcAft>
                <a:spcPts val="1000"/>
              </a:spcAft>
              <a:buNone/>
            </a:pPr>
            <a:r>
              <a:rPr sz="2800"/>
              <a:t>Ce remplaçant s'appelle une doublure ; il vit dans </a:t>
            </a:r>
            <a:r>
              <a:rPr sz="2400">
                <a:solidFill>
                  <a:schemeClr val="accent4"/>
                </a:solidFill>
                <a:latin typeface="Consolas"/>
              </a:rPr>
              <a:t>src/test</a:t>
            </a:r>
            <a:r>
              <a:rPr sz="2800"/>
              <a:t>, à côté du test</a:t>
            </a:r>
          </a:p>
        </p:txBody>
      </p:sp>
      <p:sp>
        <p:nvSpPr>
          <p:cNvPr id="4" name="Code"/>
          <p:cNvSpPr txBox="1"/>
          <p:nvPr/>
        </p:nvSpPr>
        <p:spPr>
          <a:xfrm>
            <a:off x="2777067" y="3606800"/>
            <a:ext cx="6637866" cy="2565400"/>
          </a:xfrm>
          <a:prstGeom prst="roundRect">
            <a:avLst>
              <a:gd name="adj" fmla="val 3564"/>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class</a:t>
            </a:r>
            <a:r>
              <a:rPr sz="1700">
                <a:solidFill>
                  <a:srgbClr val="BCBEC4"/>
                </a:solidFill>
                <a:latin typeface="Consolas"/>
              </a:rPr>
              <a:t> AfficheurQuiRetient </a:t>
            </a:r>
            <a:r>
              <a:rPr sz="1700">
                <a:solidFill>
                  <a:srgbClr val="CF8E6D"/>
                </a:solidFill>
                <a:latin typeface="Consolas"/>
              </a:rPr>
              <a:t>implements</a:t>
            </a:r>
            <a:r>
              <a:rPr sz="1700">
                <a:solidFill>
                  <a:srgbClr val="BCBEC4"/>
                </a:solidFill>
                <a:latin typeface="Consolas"/>
              </a:rPr>
              <a:t> Afficheur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String dernier;</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B3AE60"/>
                </a:solidFill>
                <a:latin typeface="Consolas"/>
              </a:rPr>
              <a:t>@Override</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affiche</a:t>
            </a:r>
            <a:r>
              <a:rPr sz="1700">
                <a:solidFill>
                  <a:srgbClr val="BCBEC4"/>
                </a:solidFill>
                <a:latin typeface="Consolas"/>
              </a:rPr>
              <a:t>(String message) {</a:t>
            </a:r>
          </a:p>
          <a:p>
            <a:pPr>
              <a:lnSpc>
                <a:spcPct val="100000"/>
              </a:lnSpc>
              <a:spcBef>
                <a:spcPts val="0"/>
              </a:spcBef>
              <a:spcAft>
                <a:spcPts val="0"/>
              </a:spcAft>
            </a:pPr>
            <a:r>
              <a:rPr sz="1700">
                <a:solidFill>
                  <a:srgbClr val="BCBEC4"/>
                </a:solidFill>
                <a:latin typeface="Consolas"/>
              </a:rPr>
              <a:t>        dernier = message;</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Tester sans ouvrir la fenêtre</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Le test branche la doublure, déclenche l'action, puis lit ce qu'elle a retenu</a:t>
            </a:r>
          </a:p>
          <a:p>
            <a:pPr marL="0" indent="0">
              <a:spcAft>
                <a:spcPts val="1000"/>
              </a:spcAft>
              <a:buNone/>
            </a:pPr>
            <a:r>
              <a:rPr sz="2800"/>
              <a:t>Aucune fenêtre ne s'ouvre : le test tourne en quelques millisecondes</a:t>
            </a:r>
          </a:p>
        </p:txBody>
      </p:sp>
      <p:sp>
        <p:nvSpPr>
          <p:cNvPr id="4" name="Code"/>
          <p:cNvSpPr txBox="1"/>
          <p:nvPr/>
        </p:nvSpPr>
        <p:spPr>
          <a:xfrm>
            <a:off x="1747436" y="3018954"/>
            <a:ext cx="8697127" cy="2982486"/>
          </a:xfrm>
          <a:prstGeom prst="roundRect">
            <a:avLst>
              <a:gd name="adj" fmla="val 357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a:solidFill>
                  <a:srgbClr val="B3AE60"/>
                </a:solidFill>
                <a:latin typeface="Consolas"/>
              </a:rPr>
              <a:t>@Test</a:t>
            </a:r>
          </a:p>
          <a:p>
            <a:pPr>
              <a:lnSpc>
                <a:spcPct val="100000"/>
              </a:lnSpc>
              <a:spcBef>
                <a:spcPts val="0"/>
              </a:spcBef>
              <a:spcAft>
                <a:spcPts val="0"/>
              </a:spcAft>
            </a:pPr>
            <a:r>
              <a:rPr>
                <a:solidFill>
                  <a:srgbClr val="CF8E6D"/>
                </a:solidFill>
                <a:latin typeface="Consolas"/>
              </a:rPr>
              <a:t>void</a:t>
            </a:r>
            <a:r>
              <a:rPr>
                <a:solidFill>
                  <a:srgbClr val="BCBEC4"/>
                </a:solidFill>
                <a:latin typeface="Consolas"/>
              </a:rPr>
              <a:t> </a:t>
            </a:r>
            <a:r>
              <a:rPr>
                <a:solidFill>
                  <a:srgbClr val="56A8F5"/>
                </a:solidFill>
                <a:latin typeface="Consolas"/>
              </a:rPr>
              <a:t>leControleurSignaleLEvenement</a:t>
            </a:r>
            <a:r>
              <a:rPr>
                <a:solidFill>
                  <a:srgbClr val="BCBEC4"/>
                </a:solidFill>
                <a:latin typeface="Consolas"/>
              </a:rPr>
              <a:t>() {</a:t>
            </a:r>
          </a:p>
          <a:p>
            <a:pPr>
              <a:lnSpc>
                <a:spcPct val="100000"/>
              </a:lnSpc>
              <a:spcBef>
                <a:spcPts val="0"/>
              </a:spcBef>
              <a:spcAft>
                <a:spcPts val="0"/>
              </a:spcAft>
            </a:pPr>
            <a:r>
              <a:rPr>
                <a:solidFill>
                  <a:srgbClr val="BCBEC4"/>
                </a:solidFill>
                <a:latin typeface="Consolas"/>
              </a:rPr>
              <a:t>    Controleur controleur = </a:t>
            </a:r>
            <a:r>
              <a:rPr>
                <a:solidFill>
                  <a:srgbClr val="CF8E6D"/>
                </a:solidFill>
                <a:latin typeface="Consolas"/>
              </a:rPr>
              <a:t>new</a:t>
            </a:r>
            <a:r>
              <a:rPr>
                <a:solidFill>
                  <a:srgbClr val="BCBEC4"/>
                </a:solidFill>
                <a:latin typeface="Consolas"/>
              </a:rPr>
              <a:t> </a:t>
            </a:r>
            <a:r>
              <a:rPr>
                <a:solidFill>
                  <a:srgbClr val="56A8F5"/>
                </a:solidFill>
                <a:latin typeface="Consolas"/>
              </a:rPr>
              <a:t>Controleur</a:t>
            </a:r>
            <a:r>
              <a:rPr>
                <a:solidFill>
                  <a:srgbClr val="BCBEC4"/>
                </a:solidFill>
                <a:latin typeface="Consolas"/>
              </a:rPr>
              <a:t>();</a:t>
            </a:r>
          </a:p>
          <a:p>
            <a:pPr>
              <a:lnSpc>
                <a:spcPct val="100000"/>
              </a:lnSpc>
              <a:spcBef>
                <a:spcPts val="0"/>
              </a:spcBef>
              <a:spcAft>
                <a:spcPts val="0"/>
              </a:spcAft>
            </a:pPr>
            <a:r>
              <a:rPr>
                <a:solidFill>
                  <a:srgbClr val="BCBEC4"/>
                </a:solidFill>
                <a:latin typeface="Consolas"/>
              </a:rPr>
              <a:t>    AfficheurQuiRetient afficheur = </a:t>
            </a:r>
            <a:r>
              <a:rPr>
                <a:solidFill>
                  <a:srgbClr val="CF8E6D"/>
                </a:solidFill>
                <a:latin typeface="Consolas"/>
              </a:rPr>
              <a:t>new</a:t>
            </a:r>
            <a:r>
              <a:rPr>
                <a:solidFill>
                  <a:srgbClr val="BCBEC4"/>
                </a:solidFill>
                <a:latin typeface="Consolas"/>
              </a:rPr>
              <a:t> </a:t>
            </a:r>
            <a:r>
              <a:rPr>
                <a:solidFill>
                  <a:srgbClr val="56A8F5"/>
                </a:solidFill>
                <a:latin typeface="Consolas"/>
              </a:rPr>
              <a:t>AfficheurQuiRetient</a:t>
            </a:r>
            <a:r>
              <a:rPr>
                <a:solidFill>
                  <a:srgbClr val="BCBEC4"/>
                </a:solidFill>
                <a:latin typeface="Consolas"/>
              </a:rPr>
              <a:t>();</a:t>
            </a:r>
          </a:p>
          <a:p>
            <a:pPr>
              <a:lnSpc>
                <a:spcPct val="100000"/>
              </a:lnSpc>
              <a:spcBef>
                <a:spcPts val="0"/>
              </a:spcBef>
              <a:spcAft>
                <a:spcPts val="0"/>
              </a:spcAft>
            </a:pPr>
            <a:r>
              <a:rPr>
                <a:solidFill>
                  <a:srgbClr val="BCBEC4"/>
                </a:solidFill>
                <a:latin typeface="Consolas"/>
              </a:rPr>
              <a:t>    controleur.</a:t>
            </a:r>
            <a:r>
              <a:rPr>
                <a:solidFill>
                  <a:srgbClr val="56A8F5"/>
                </a:solidFill>
                <a:latin typeface="Consolas"/>
              </a:rPr>
              <a:t>setAfficheur</a:t>
            </a:r>
            <a:r>
              <a:rPr>
                <a:solidFill>
                  <a:srgbClr val="BCBEC4"/>
                </a:solidFill>
                <a:latin typeface="Consolas"/>
              </a:rPr>
              <a:t>(afficheur);</a:t>
            </a:r>
          </a:p>
          <a:p>
            <a:pPr>
              <a:lnSpc>
                <a:spcPct val="100000"/>
              </a:lnSpc>
              <a:spcBef>
                <a:spcPts val="0"/>
              </a:spcBef>
              <a:spcAft>
                <a:spcPts val="0"/>
              </a:spcAft>
            </a:pPr>
            <a:r>
              <a:rPr>
                <a:solidFill>
                  <a:srgbClr val="BCBEC4"/>
                </a:solidFill>
                <a:latin typeface="Consolas"/>
              </a:rPr>
              <a:t> </a:t>
            </a:r>
          </a:p>
          <a:p>
            <a:pPr>
              <a:lnSpc>
                <a:spcPct val="100000"/>
              </a:lnSpc>
              <a:spcBef>
                <a:spcPts val="0"/>
              </a:spcBef>
              <a:spcAft>
                <a:spcPts val="0"/>
              </a:spcAft>
            </a:pPr>
            <a:r>
              <a:rPr>
                <a:solidFill>
                  <a:srgbClr val="BCBEC4"/>
                </a:solidFill>
                <a:latin typeface="Consolas"/>
              </a:rPr>
              <a:t>    controleur.</a:t>
            </a:r>
            <a:r>
              <a:rPr>
                <a:solidFill>
                  <a:srgbClr val="56A8F5"/>
                </a:solidFill>
                <a:latin typeface="Consolas"/>
              </a:rPr>
              <a:t>annoncer</a:t>
            </a:r>
            <a:r>
              <a:rPr>
                <a:solidFill>
                  <a:srgbClr val="BCBEC4"/>
                </a:solidFill>
                <a:latin typeface="Consolas"/>
              </a:rPr>
              <a:t>(</a:t>
            </a:r>
            <a:r>
              <a:rPr>
                <a:solidFill>
                  <a:srgbClr val="6AAB73"/>
                </a:solidFill>
                <a:latin typeface="Consolas"/>
              </a:rPr>
              <a:t>"bouton presse"</a:t>
            </a:r>
            <a:r>
              <a:rPr>
                <a:solidFill>
                  <a:srgbClr val="BCBEC4"/>
                </a:solidFill>
                <a:latin typeface="Consolas"/>
              </a:rPr>
              <a:t>);</a:t>
            </a:r>
          </a:p>
          <a:p>
            <a:pPr>
              <a:lnSpc>
                <a:spcPct val="100000"/>
              </a:lnSpc>
              <a:spcBef>
                <a:spcPts val="0"/>
              </a:spcBef>
              <a:spcAft>
                <a:spcPts val="0"/>
              </a:spcAft>
            </a:pPr>
            <a:r>
              <a:rPr>
                <a:solidFill>
                  <a:srgbClr val="BCBEC4"/>
                </a:solidFill>
                <a:latin typeface="Consolas"/>
              </a:rPr>
              <a:t> </a:t>
            </a:r>
          </a:p>
          <a:p>
            <a:pPr>
              <a:lnSpc>
                <a:spcPct val="100000"/>
              </a:lnSpc>
              <a:spcBef>
                <a:spcPts val="0"/>
              </a:spcBef>
              <a:spcAft>
                <a:spcPts val="0"/>
              </a:spcAft>
            </a:pPr>
            <a:r>
              <a:rPr>
                <a:solidFill>
                  <a:srgbClr val="BCBEC4"/>
                </a:solidFill>
                <a:latin typeface="Consolas"/>
              </a:rPr>
              <a:t>    </a:t>
            </a:r>
            <a:r>
              <a:rPr>
                <a:solidFill>
                  <a:srgbClr val="56A8F5"/>
                </a:solidFill>
                <a:latin typeface="Consolas"/>
              </a:rPr>
              <a:t>assertEquals</a:t>
            </a:r>
            <a:r>
              <a:rPr>
                <a:solidFill>
                  <a:srgbClr val="BCBEC4"/>
                </a:solidFill>
                <a:latin typeface="Consolas"/>
              </a:rPr>
              <a:t>(</a:t>
            </a:r>
            <a:r>
              <a:rPr>
                <a:solidFill>
                  <a:srgbClr val="6AAB73"/>
                </a:solidFill>
                <a:latin typeface="Consolas"/>
              </a:rPr>
              <a:t>"Evenement : bouton presse"</a:t>
            </a:r>
            <a:r>
              <a:rPr>
                <a:solidFill>
                  <a:srgbClr val="BCBEC4"/>
                </a:solidFill>
                <a:latin typeface="Consolas"/>
              </a:rPr>
              <a:t>, afficheur.dernier);</a:t>
            </a:r>
          </a:p>
          <a:p>
            <a:pPr>
              <a:lnSpc>
                <a:spcPct val="100000"/>
              </a:lnSpc>
              <a:spcBef>
                <a:spcPts val="0"/>
              </a:spcBef>
              <a:spcAft>
                <a:spcPts val="0"/>
              </a:spcAft>
            </a:pPr>
            <a:r>
              <a:rPr>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Rappel : l'âge du livre, au module </a:t>
            </a:r>
            <a:r>
              <a:rPr sz="4000">
                <a:solidFill>
                  <a:schemeClr val="accent4"/>
                </a:solidFill>
                <a:latin typeface="Consolas"/>
              </a:rPr>
              <a:t>POO</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Au module </a:t>
            </a:r>
            <a:r>
              <a:rPr sz="2800">
                <a:solidFill>
                  <a:schemeClr val="accent4"/>
                </a:solidFill>
                <a:latin typeface="Consolas"/>
              </a:rPr>
              <a:t>POO</a:t>
            </a:r>
            <a:r>
              <a:rPr sz="2800"/>
              <a:t>, l'âge d'un livre n'était pas stocké : </a:t>
            </a:r>
            <a:r>
              <a:rPr sz="2400">
                <a:solidFill>
                  <a:schemeClr val="accent4"/>
                </a:solidFill>
                <a:latin typeface="Consolas"/>
              </a:rPr>
              <a:t>getAge</a:t>
            </a:r>
            <a:r>
              <a:rPr sz="2800"/>
              <a:t> le calculait à partir de la date du jour</a:t>
            </a:r>
          </a:p>
          <a:p>
            <a:pPr marL="0" indent="0">
              <a:spcAft>
                <a:spcPts val="1000"/>
              </a:spcAft>
              <a:buNone/>
            </a:pPr>
            <a:r>
              <a:rPr sz="2800"/>
              <a:t>Juste, mais difficile à tester : le résultat change chaque année, sans que le code change</a:t>
            </a:r>
          </a:p>
        </p:txBody>
      </p:sp>
      <p:sp>
        <p:nvSpPr>
          <p:cNvPr id="4" name="Code"/>
          <p:cNvSpPr txBox="1"/>
          <p:nvPr/>
        </p:nvSpPr>
        <p:spPr>
          <a:xfrm>
            <a:off x="1822450" y="3606800"/>
            <a:ext cx="85471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String titre;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anneeDeParution;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getAge</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LocalDate.</a:t>
            </a:r>
            <a:r>
              <a:rPr sz="1800">
                <a:solidFill>
                  <a:srgbClr val="56A8F5"/>
                </a:solidFill>
                <a:latin typeface="Consolas"/>
              </a:rPr>
              <a:t>now</a:t>
            </a:r>
            <a:r>
              <a:rPr sz="1800">
                <a:solidFill>
                  <a:srgbClr val="BCBEC4"/>
                </a:solidFill>
                <a:latin typeface="Consolas"/>
              </a:rPr>
              <a:t>().</a:t>
            </a:r>
            <a:r>
              <a:rPr sz="1800">
                <a:solidFill>
                  <a:srgbClr val="56A8F5"/>
                </a:solidFill>
                <a:latin typeface="Consolas"/>
              </a:rPr>
              <a:t>getYear</a:t>
            </a:r>
            <a:r>
              <a:rPr sz="1800">
                <a:solidFill>
                  <a:srgbClr val="BCBEC4"/>
                </a:solidFill>
                <a:latin typeface="Consolas"/>
              </a:rPr>
              <a:t>() - anneeDeParution;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Ni le jour, ni le hasard</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Le calcul reçoit l'année en paramètre : le test la fixe, et le résultat ne bouge plus</a:t>
            </a:r>
          </a:p>
          <a:p>
            <a:pPr marL="0" indent="0">
              <a:spcAft>
                <a:spcPts val="1000"/>
              </a:spcAft>
              <a:buNone/>
            </a:pPr>
            <a:r>
              <a:rPr sz="2800"/>
              <a:t>Une version de confort, sans paramètre, va chercher l'année et délègue au calcul</a:t>
            </a:r>
          </a:p>
        </p:txBody>
      </p:sp>
      <p:sp>
        <p:nvSpPr>
          <p:cNvPr id="4" name="Code"/>
          <p:cNvSpPr txBox="1"/>
          <p:nvPr/>
        </p:nvSpPr>
        <p:spPr>
          <a:xfrm>
            <a:off x="640080" y="3606800"/>
            <a:ext cx="10881360" cy="2407920"/>
          </a:xfrm>
          <a:prstGeom prst="roundRect">
            <a:avLst>
              <a:gd name="adj" fmla="val 379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int</a:t>
            </a:r>
            <a:r>
              <a:rPr sz="1750">
                <a:solidFill>
                  <a:srgbClr val="BCBEC4"/>
                </a:solidFill>
                <a:latin typeface="Consolas"/>
              </a:rPr>
              <a:t> </a:t>
            </a:r>
            <a:r>
              <a:rPr sz="1750">
                <a:solidFill>
                  <a:srgbClr val="56A8F5"/>
                </a:solidFill>
                <a:latin typeface="Consolas"/>
              </a:rPr>
              <a:t>getAge</a:t>
            </a:r>
            <a:r>
              <a:rPr sz="1750">
                <a:solidFill>
                  <a:srgbClr val="BCBEC4"/>
                </a:solidFill>
                <a:latin typeface="Consolas"/>
              </a:rPr>
              <a:t>(</a:t>
            </a:r>
            <a:r>
              <a:rPr sz="1750">
                <a:solidFill>
                  <a:srgbClr val="CF8E6D"/>
                </a:solidFill>
                <a:latin typeface="Consolas"/>
              </a:rPr>
              <a:t>int</a:t>
            </a:r>
            <a:r>
              <a:rPr sz="1750">
                <a:solidFill>
                  <a:srgbClr val="BCBEC4"/>
                </a:solidFill>
                <a:latin typeface="Consolas"/>
              </a:rPr>
              <a:t> anneeCourante) {           </a:t>
            </a:r>
            <a:r>
              <a:rPr sz="1750">
                <a:solidFill>
                  <a:srgbClr val="7A7E85"/>
                </a:solidFill>
                <a:latin typeface="Consolas"/>
              </a:rPr>
              <a:t>// testable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return</a:t>
            </a:r>
            <a:r>
              <a:rPr sz="1750">
                <a:solidFill>
                  <a:srgbClr val="BCBEC4"/>
                </a:solidFill>
                <a:latin typeface="Consolas"/>
              </a:rPr>
              <a:t> anneeCourante - anneeDeParution;</a:t>
            </a:r>
          </a:p>
          <a:p>
            <a:pPr>
              <a:lnSpc>
                <a:spcPct val="100000"/>
              </a:lnSpc>
              <a:spcBef>
                <a:spcPts val="0"/>
              </a:spcBef>
              <a:spcAft>
                <a:spcPts val="0"/>
              </a:spcAft>
            </a:pPr>
            <a:r>
              <a:rPr sz="1750">
                <a:solidFill>
                  <a:srgbClr val="BCBEC4"/>
                </a:solidFill>
                <a:latin typeface="Consolas"/>
              </a:rPr>
              <a:t>}</a:t>
            </a:r>
          </a:p>
          <a:p>
            <a:pPr>
              <a:lnSpc>
                <a:spcPct val="100000"/>
              </a:lnSpc>
              <a:spcBef>
                <a:spcPts val="0"/>
              </a:spcBef>
              <a:spcAft>
                <a:spcPts val="0"/>
              </a:spcAft>
            </a:pPr>
            <a:r>
              <a:rPr sz="1750">
                <a:solidFill>
                  <a:srgbClr val="CF8E6D"/>
                </a:solidFill>
                <a:latin typeface="Consolas"/>
              </a:rPr>
              <a:t>public</a:t>
            </a:r>
            <a:r>
              <a:rPr sz="1750">
                <a:solidFill>
                  <a:srgbClr val="BCBEC4"/>
                </a:solidFill>
                <a:latin typeface="Consolas"/>
              </a:rPr>
              <a:t> </a:t>
            </a:r>
            <a:r>
              <a:rPr sz="1750">
                <a:solidFill>
                  <a:srgbClr val="CF8E6D"/>
                </a:solidFill>
                <a:latin typeface="Consolas"/>
              </a:rPr>
              <a:t>int</a:t>
            </a:r>
            <a:r>
              <a:rPr sz="1750">
                <a:solidFill>
                  <a:srgbClr val="BCBEC4"/>
                </a:solidFill>
                <a:latin typeface="Consolas"/>
              </a:rPr>
              <a:t> </a:t>
            </a:r>
            <a:r>
              <a:rPr sz="1750">
                <a:solidFill>
                  <a:srgbClr val="56A8F5"/>
                </a:solidFill>
                <a:latin typeface="Consolas"/>
              </a:rPr>
              <a:t>getAge</a:t>
            </a:r>
            <a:r>
              <a:rPr sz="1750">
                <a:solidFill>
                  <a:srgbClr val="BCBEC4"/>
                </a:solidFill>
                <a:latin typeface="Consolas"/>
              </a:rPr>
              <a:t>() {                            </a:t>
            </a:r>
            <a:r>
              <a:rPr sz="1750">
                <a:solidFill>
                  <a:srgbClr val="7A7E85"/>
                </a:solidFill>
                <a:latin typeface="Consolas"/>
              </a:rPr>
              <a:t>// pratique</a:t>
            </a:r>
          </a:p>
          <a:p>
            <a:pPr>
              <a:lnSpc>
                <a:spcPct val="100000"/>
              </a:lnSpc>
              <a:spcBef>
                <a:spcPts val="0"/>
              </a:spcBef>
              <a:spcAft>
                <a:spcPts val="0"/>
              </a:spcAft>
            </a:pPr>
            <a:r>
              <a:rPr sz="1750">
                <a:solidFill>
                  <a:srgbClr val="BCBEC4"/>
                </a:solidFill>
                <a:latin typeface="Consolas"/>
              </a:rPr>
              <a:t>    </a:t>
            </a:r>
            <a:r>
              <a:rPr sz="1750">
                <a:solidFill>
                  <a:srgbClr val="CF8E6D"/>
                </a:solidFill>
                <a:latin typeface="Consolas"/>
              </a:rPr>
              <a:t>return</a:t>
            </a:r>
            <a:r>
              <a:rPr sz="1750">
                <a:solidFill>
                  <a:srgbClr val="BCBEC4"/>
                </a:solidFill>
                <a:latin typeface="Consolas"/>
              </a:rPr>
              <a:t> </a:t>
            </a:r>
            <a:r>
              <a:rPr sz="1750">
                <a:solidFill>
                  <a:srgbClr val="56A8F5"/>
                </a:solidFill>
                <a:latin typeface="Consolas"/>
              </a:rPr>
              <a:t>getAge</a:t>
            </a:r>
            <a:r>
              <a:rPr sz="1750">
                <a:solidFill>
                  <a:srgbClr val="BCBEC4"/>
                </a:solidFill>
                <a:latin typeface="Consolas"/>
              </a:rPr>
              <a:t>(LocalDate.</a:t>
            </a:r>
            <a:r>
              <a:rPr sz="1750">
                <a:solidFill>
                  <a:srgbClr val="56A8F5"/>
                </a:solidFill>
                <a:latin typeface="Consolas"/>
              </a:rPr>
              <a:t>now</a:t>
            </a:r>
            <a:r>
              <a:rPr sz="1750">
                <a:solidFill>
                  <a:srgbClr val="BCBEC4"/>
                </a:solidFill>
                <a:latin typeface="Consolas"/>
              </a:rPr>
              <a:t>().</a:t>
            </a:r>
            <a:r>
              <a:rPr sz="1750">
                <a:solidFill>
                  <a:srgbClr val="56A8F5"/>
                </a:solidFill>
                <a:latin typeface="Consolas"/>
              </a:rPr>
              <a:t>getYear</a:t>
            </a: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56A8F5"/>
                </a:solidFill>
                <a:latin typeface="Consolas"/>
              </a:rPr>
              <a:t>assertEquals</a:t>
            </a:r>
            <a:r>
              <a:rPr sz="1750">
                <a:solidFill>
                  <a:srgbClr val="BCBEC4"/>
                </a:solidFill>
                <a:latin typeface="Consolas"/>
              </a:rPr>
              <a:t>(</a:t>
            </a:r>
            <a:r>
              <a:rPr sz="1750">
                <a:solidFill>
                  <a:srgbClr val="2AACB8"/>
                </a:solidFill>
                <a:latin typeface="Consolas"/>
              </a:rPr>
              <a:t>61</a:t>
            </a:r>
            <a:r>
              <a:rPr sz="1750">
                <a:solidFill>
                  <a:srgbClr val="BCBEC4"/>
                </a:solidFill>
                <a:latin typeface="Consolas"/>
              </a:rPr>
              <a:t>, dune.</a:t>
            </a:r>
            <a:r>
              <a:rPr sz="1750">
                <a:solidFill>
                  <a:srgbClr val="56A8F5"/>
                </a:solidFill>
                <a:latin typeface="Consolas"/>
              </a:rPr>
              <a:t>getAge</a:t>
            </a:r>
            <a:r>
              <a:rPr sz="1750">
                <a:solidFill>
                  <a:srgbClr val="BCBEC4"/>
                </a:solidFill>
                <a:latin typeface="Consolas"/>
              </a:rPr>
              <a:t>(</a:t>
            </a:r>
            <a:r>
              <a:rPr sz="1750">
                <a:solidFill>
                  <a:srgbClr val="2AACB8"/>
                </a:solidFill>
                <a:latin typeface="Consolas"/>
              </a:rPr>
              <a:t>2026</a:t>
            </a:r>
            <a:r>
              <a:rPr sz="1750">
                <a:solidFill>
                  <a:srgbClr val="BCBEC4"/>
                </a:solidFill>
                <a:latin typeface="Consolas"/>
              </a:rPr>
              <a:t>));   </a:t>
            </a:r>
            <a:r>
              <a:rPr sz="1750">
                <a:solidFill>
                  <a:srgbClr val="7A7E85"/>
                </a:solidFill>
                <a:latin typeface="Consolas"/>
              </a:rPr>
              <a:t>// vrai aujourd'hui, et dans dix ans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JUN · </a:t>
            </a:r>
            <a:r>
              <a:rPr sz="1100" b="1">
                <a:solidFill>
                  <a:schemeClr val="accent4"/>
                </a:solidFill>
              </a:rPr>
              <a:t>5. La testabilité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115012</TotalTime>
  <Words>6538</Words>
  <Application>Microsoft Macintosh PowerPoint</Application>
  <PresentationFormat>Grand écran</PresentationFormat>
  <Paragraphs>507</Paragraphs>
  <Slides>35</Slides>
  <Notes>35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35</vt:i4>
      </vt:variant>
    </vt:vector>
  </HeadingPairs>
  <TitlesOfParts>
    <vt:vector size="41" baseType="lpstr">
      <vt:lpstr>Aptos</vt:lpstr>
      <vt:lpstr>Arial</vt:lpstr>
      <vt:lpstr>Calibri</vt:lpstr>
      <vt:lpstr>Consolas</vt:lpstr>
      <vt:lpstr>Corbel</vt:lpstr>
      <vt:lpstr>ThemeEphec2022</vt:lpstr>
      <vt:lpstr>JAVA 2</vt:lpstr>
      <vt:lpstr>Au programme</vt:lpstr>
      <vt:lpstr>Présentation PowerPoint</vt:lpstr>
      <vt:lpstr>Qui écrit quoi</vt:lpstr>
      <vt:lpstr>Un programme qui affiche ne vérifie rien</vt:lpstr>
      <vt:lpstr>Démonstration</vt:lpstr>
      <vt:lpstr>Présentation PowerPoint</vt:lpstr>
      <vt:lpstr>Où vit une classe de test</vt:lpstr>
      <vt:lpstr>@Test, puis une assertion</vt:lpstr>
      <vt:lpstr>Les assertions dont vous aurez besoin</vt:lpstr>
      <vt:lpstr>Un message qui explique l'échec</vt:lpstr>
      <vt:lpstr>Un test rouge accuse le code, ou le test</vt:lpstr>
      <vt:lpstr>Exercices</vt:lpstr>
      <vt:lpstr>Présentation PowerPoint</vt:lpstr>
      <vt:lpstr>Une documentation est une liste de tests</vt:lpstr>
      <vt:lpstr>Vérifier qu'une exception est levée</vt:lpstr>
      <vt:lpstr>Le throws d'une méthode de test</vt:lpstr>
      <vt:lpstr>Après l'échec, l'état</vt:lpstr>
      <vt:lpstr>Exercices</vt:lpstr>
      <vt:lpstr>Présentation PowerPoint</vt:lpstr>
      <vt:lpstr>Où se logent les défauts</vt:lpstr>
      <vt:lpstr>Un cas, un test, un nom</vt:lpstr>
      <vt:lpstr>Une valeur, un test</vt:lpstr>
      <vt:lpstr>Pour aller plus loin : @ParameterizedTest</vt:lpstr>
      <vt:lpstr>Chaque test repart de zéro</vt:lpstr>
      <vt:lpstr>Un test se justifie par le défaut qu'il attrape</vt:lpstr>
      <vt:lpstr>À l'examen : écrire, lancer, corriger</vt:lpstr>
      <vt:lpstr>Exercices</vt:lpstr>
      <vt:lpstr>Présentation PowerPoint</vt:lpstr>
      <vt:lpstr>Pourquoi certaines classes résistent aux tests</vt:lpstr>
      <vt:lpstr>Rappel : le contrôleur du module ITF</vt:lpstr>
      <vt:lpstr>Une doublure à la place de la fenêtre</vt:lpstr>
      <vt:lpstr>Tester sans ouvrir la fenêtre</vt:lpstr>
      <vt:lpstr>Rappel : l'âge du livre, au module POO</vt:lpstr>
      <vt:lpstr>Ni le jour, ni le hasard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39</cp:revision>
  <dcterms:created xsi:type="dcterms:W3CDTF">2023-01-04T13:50:20Z</dcterms:created>
  <dcterms:modified xsi:type="dcterms:W3CDTF">2026-10-22T21:56:55Z</dcterms:modified>
</cp:coreProperties>
</file>