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256" r:id="rId2"/>
    <p:sldId id="597" r:id="rId3"/>
    <p:sldId id="541" r:id="rId4"/>
    <p:sldId id="488" r:id="rId5"/>
    <p:sldId id="526" r:id="rId6"/>
    <p:sldId id="527" r:id="rId7"/>
    <p:sldId id="528" r:id="rId8"/>
    <p:sldId id="529" r:id="rId9"/>
    <p:sldId id="530" r:id="rId10"/>
    <p:sldId id="555" r:id="rId11"/>
    <p:sldId id="559" r:id="rId12"/>
    <p:sldId id="543" r:id="rId13"/>
    <p:sldId id="545" r:id="rId14"/>
    <p:sldId id="560" r:id="rId15"/>
    <p:sldId id="561" r:id="rId16"/>
    <p:sldId id="562" r:id="rId17"/>
    <p:sldId id="563" r:id="rId18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4" r:id="rId29"/>
    <p:sldId id="575" r:id="rId30"/>
    <p:sldId id="576" r:id="rId31"/>
    <p:sldId id="577" r:id="rId32"/>
    <p:sldId id="578" r:id="rId33"/>
    <p:sldId id="579" r:id="rId34"/>
    <p:sldId id="580" r:id="rId35"/>
    <p:sldId id="581" r:id="rId36"/>
    <p:sldId id="582" r:id="rId37"/>
    <p:sldId id="583" r:id="rId38"/>
    <p:sldId id="584" r:id="rId39"/>
    <p:sldId id="598" r:id="rId40"/>
    <p:sldId id="585" r:id="rId41"/>
    <p:sldId id="586" r:id="rId42"/>
    <p:sldId id="587" r:id="rId43"/>
    <p:sldId id="482" r:id="rId44"/>
    <p:sldId id="483" r:id="rId45"/>
    <p:sldId id="484" r:id="rId46"/>
    <p:sldId id="544" r:id="rId47"/>
    <p:sldId id="486" r:id="rId48"/>
    <p:sldId id="588" r:id="rId49"/>
    <p:sldId id="589" r:id="rId50"/>
    <p:sldId id="497" r:id="rId51"/>
    <p:sldId id="498" r:id="rId52"/>
    <p:sldId id="590" r:id="rId53"/>
    <p:sldId id="591" r:id="rId54"/>
    <p:sldId id="592" r:id="rId55"/>
    <p:sldId id="487" r:id="rId56"/>
    <p:sldId id="499" r:id="rId57"/>
    <p:sldId id="593" r:id="rId58"/>
    <p:sldId id="594" r:id="rId59"/>
    <p:sldId id="595" r:id="rId60"/>
    <p:sldId id="596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6E1BBCD-E1D0-539C-A52A-7C6765FC8FEC}">
          <p14:sldIdLst>
            <p14:sldId id="256"/>
            <p14:sldId id="597"/>
          </p14:sldIdLst>
        </p14:section>
        <p14:section name="1. De C# à Java" id="{682549D5-115F-59A8-994E-ED77B52B65D7}">
          <p14:sldIdLst>
            <p14:sldId id="541"/>
            <p14:sldId id="488"/>
            <p14:sldId id="526"/>
            <p14:sldId id="527"/>
            <p14:sldId id="528"/>
            <p14:sldId id="529"/>
            <p14:sldId id="530"/>
            <p14:sldId id="555"/>
            <p14:sldId id="559"/>
            <p14:sldId id="543"/>
          </p14:sldIdLst>
        </p14:section>
        <p14:section name="2. Classe et objet" id="{8B10FD78-387A-5972-851F-341415047E18}">
          <p14:sldIdLst>
            <p14:sldId id="545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</p14:sldIdLst>
        </p14:section>
        <p14:section name="3. Encapsulation" id="{BC4D8736-D173-5880-80F8-2D9AA29EC749}">
          <p14:sldIdLst>
            <p14:sldId id="568"/>
            <p14:sldId id="569"/>
            <p14:sldId id="570"/>
            <p14:sldId id="571"/>
            <p14:sldId id="572"/>
            <p14:sldId id="573"/>
            <p14:sldId id="574"/>
          </p14:sldIdLst>
        </p14:section>
        <p14:section name="4. Membres de classe (static)" id="{B8A8A407-CD7A-5849-B107-C0CC55C4F63B}">
          <p14:sldIdLst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98"/>
            <p14:sldId id="585"/>
            <p14:sldId id="586"/>
            <p14:sldId id="587"/>
          </p14:sldIdLst>
        </p14:section>
        <p14:section name="5. Saisie clavier et Javadoc" id="{375490DD-AFD8-5FE8-ADCC-DB6FB104C130}">
          <p14:sldIdLst>
            <p14:sldId id="482"/>
            <p14:sldId id="483"/>
            <p14:sldId id="484"/>
            <p14:sldId id="544"/>
            <p14:sldId id="486"/>
            <p14:sldId id="588"/>
            <p14:sldId id="589"/>
          </p14:sldIdLst>
        </p14:section>
        <p14:section name="6. Primitifs et références" id="{A4118CE9-C283-5C69-BD62-FED7607FEE43}">
          <p14:sldIdLst>
            <p14:sldId id="497"/>
            <p14:sldId id="498"/>
            <p14:sldId id="590"/>
            <p14:sldId id="591"/>
            <p14:sldId id="592"/>
          </p14:sldIdLst>
        </p14:section>
        <p14:section name="7. Les wrappers" id="{8E908A4B-411D-50FF-A94E-6D3E87996A5D}">
          <p14:sldIdLst>
            <p14:sldId id="487"/>
            <p14:sldId id="499"/>
            <p14:sldId id="593"/>
            <p14:sldId id="594"/>
            <p14:sldId id="595"/>
            <p14:sldId id="5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1D1F22"/>
    <a:srgbClr val="38FF4F"/>
    <a:srgbClr val="FFDF8B"/>
    <a:srgbClr val="802C31"/>
    <a:srgbClr val="AE6B68"/>
    <a:srgbClr val="9A5239"/>
    <a:srgbClr val="6DC3FB"/>
    <a:srgbClr val="0675AE"/>
    <a:srgbClr val="2868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7"/>
    <p:restoredTop sz="96301"/>
  </p:normalViewPr>
  <p:slideViewPr>
    <p:cSldViewPr snapToGrid="0">
      <p:cViewPr varScale="1">
        <p:scale>
          <a:sx n="122" d="100"/>
          <a:sy n="122" d="100"/>
        </p:scale>
        <p:origin x="1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EF95896-A5CA-E0F9-6478-20C4C67B6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65C7378-3DCF-38D5-275F-80FB217DC7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26FB5-9412-C54B-AA2C-289AC0CE5DB6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7A2A70-0FFB-D89E-7D51-BFA1FA869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8B06B3-0B47-FD16-2A18-E70D0ABE48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F1A8C-C0E1-EC45-8701-F9C9A0343E3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011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22/10/2026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module compte sept sections : 1. De C# à Java ; 2. Classe et </a:t>
            </a:r>
            <a:r>
              <a:rPr dirty="0" err="1"/>
              <a:t>objet</a:t>
            </a:r>
            <a:r>
              <a:rPr dirty="0"/>
              <a:t> ; 3. Encapsulation ; 4. </a:t>
            </a:r>
            <a:r>
              <a:rPr dirty="0" err="1"/>
              <a:t>Membres</a:t>
            </a:r>
            <a:r>
              <a:rPr dirty="0"/>
              <a:t> de </a:t>
            </a:r>
            <a:r>
              <a:rPr dirty="0" err="1"/>
              <a:t>classe</a:t>
            </a:r>
            <a:r>
              <a:rPr dirty="0"/>
              <a:t> (static) ; 5. </a:t>
            </a:r>
            <a:r>
              <a:rPr dirty="0" err="1"/>
              <a:t>Saisie</a:t>
            </a:r>
            <a:r>
              <a:rPr dirty="0"/>
              <a:t> clavier et Javadoc ; 6. </a:t>
            </a:r>
            <a:r>
              <a:rPr dirty="0" err="1"/>
              <a:t>Primitifs</a:t>
            </a:r>
            <a:r>
              <a:rPr dirty="0"/>
              <a:t> et </a:t>
            </a:r>
            <a:r>
              <a:rPr dirty="0" err="1"/>
              <a:t>références</a:t>
            </a:r>
            <a:r>
              <a:rPr dirty="0"/>
              <a:t> ; 7. Les wrappers.</a:t>
            </a:r>
          </a:p>
          <a:p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intercalaire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le </a:t>
            </a:r>
            <a:r>
              <a:rPr dirty="0" err="1"/>
              <a:t>numéro</a:t>
            </a:r>
            <a:r>
              <a:rPr dirty="0"/>
              <a:t> de </a:t>
            </a:r>
            <a:r>
              <a:rPr dirty="0" err="1"/>
              <a:t>sa</a:t>
            </a:r>
            <a:r>
              <a:rPr dirty="0"/>
              <a:t> section, et </a:t>
            </a:r>
            <a:r>
              <a:rPr dirty="0" err="1"/>
              <a:t>chaque</a:t>
            </a:r>
            <a:r>
              <a:rPr dirty="0"/>
              <a:t> page </a:t>
            </a:r>
            <a:r>
              <a:rPr dirty="0" err="1"/>
              <a:t>rappelle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bas à droite la section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Vous </a:t>
            </a:r>
            <a:r>
              <a:rPr dirty="0" err="1"/>
              <a:t>connaissez</a:t>
            </a:r>
            <a:r>
              <a:rPr dirty="0"/>
              <a:t> déjà la </a:t>
            </a:r>
            <a:r>
              <a:rPr dirty="0" err="1"/>
              <a:t>programmation</a:t>
            </a:r>
            <a:r>
              <a:rPr dirty="0"/>
              <a:t> </a:t>
            </a:r>
            <a:r>
              <a:rPr dirty="0" err="1"/>
              <a:t>orientée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C#. Java </a:t>
            </a:r>
            <a:r>
              <a:rPr dirty="0" err="1"/>
              <a:t>en</a:t>
            </a:r>
            <a:r>
              <a:rPr dirty="0"/>
              <a:t> est très </a:t>
            </a:r>
            <a:r>
              <a:rPr dirty="0" err="1"/>
              <a:t>proche</a:t>
            </a:r>
            <a:r>
              <a:rPr dirty="0"/>
              <a:t> : la </a:t>
            </a:r>
            <a:r>
              <a:rPr dirty="0" err="1"/>
              <a:t>plupart</a:t>
            </a:r>
            <a:r>
              <a:rPr dirty="0"/>
              <a:t> de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savez</a:t>
            </a:r>
            <a:r>
              <a:rPr dirty="0"/>
              <a:t> se transpose </a:t>
            </a:r>
            <a:r>
              <a:rPr dirty="0" err="1"/>
              <a:t>directement</a:t>
            </a:r>
            <a:r>
              <a:rPr dirty="0"/>
              <a:t>. Cette section fait </a:t>
            </a:r>
            <a:r>
              <a:rPr dirty="0" err="1"/>
              <a:t>l'inventaire</a:t>
            </a:r>
            <a:r>
              <a:rPr dirty="0"/>
              <a:t> des </a:t>
            </a:r>
            <a:r>
              <a:rPr dirty="0" err="1"/>
              <a:t>différences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rencontrerez</a:t>
            </a:r>
            <a:r>
              <a:rPr dirty="0"/>
              <a:t> </a:t>
            </a:r>
            <a:r>
              <a:rPr dirty="0" err="1"/>
              <a:t>dès</a:t>
            </a:r>
            <a:r>
              <a:rPr dirty="0"/>
              <a:t> le premier </a:t>
            </a:r>
            <a:r>
              <a:rPr dirty="0" err="1"/>
              <a:t>programme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deux </a:t>
            </a:r>
            <a:r>
              <a:rPr dirty="0" err="1"/>
              <a:t>programmes</a:t>
            </a:r>
            <a:r>
              <a:rPr dirty="0"/>
              <a:t> font </a:t>
            </a:r>
            <a:r>
              <a:rPr dirty="0" err="1"/>
              <a:t>exactement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chose. Cinq </a:t>
            </a:r>
            <a:r>
              <a:rPr dirty="0" err="1"/>
              <a:t>différences</a:t>
            </a:r>
            <a:r>
              <a:rPr dirty="0"/>
              <a:t> les </a:t>
            </a:r>
            <a:r>
              <a:rPr dirty="0" err="1"/>
              <a:t>séparent</a:t>
            </a:r>
            <a:r>
              <a:rPr dirty="0"/>
              <a:t>.</a:t>
            </a:r>
          </a:p>
          <a:p>
            <a:r>
              <a:rPr dirty="0"/>
              <a:t>Java range </a:t>
            </a:r>
            <a:r>
              <a:rPr dirty="0" err="1"/>
              <a:t>ses</a:t>
            </a:r>
            <a:r>
              <a:rPr dirty="0"/>
              <a:t> classes dans des </a:t>
            </a:r>
            <a:r>
              <a:rPr b="1" dirty="0"/>
              <a:t>packages</a:t>
            </a:r>
            <a:r>
              <a:rPr dirty="0"/>
              <a:t>,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C# </a:t>
            </a:r>
            <a:r>
              <a:rPr dirty="0" err="1"/>
              <a:t>utilise</a:t>
            </a:r>
            <a:r>
              <a:rPr dirty="0"/>
              <a:t> des namespaces. Un package correspond </a:t>
            </a:r>
            <a:r>
              <a:rPr dirty="0" err="1"/>
              <a:t>en</a:t>
            </a:r>
            <a:r>
              <a:rPr dirty="0"/>
              <a:t> plus à un dossier sur le </a:t>
            </a:r>
            <a:r>
              <a:rPr dirty="0" err="1"/>
              <a:t>disque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progoo</a:t>
            </a:r>
            <a:r>
              <a:rPr dirty="0"/>
              <a:t> vit dans le dossier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b="1" dirty="0"/>
              <a:t>conventions de </a:t>
            </a:r>
            <a:r>
              <a:rPr b="1" dirty="0" err="1"/>
              <a:t>nommage</a:t>
            </a:r>
            <a:r>
              <a:rPr dirty="0"/>
              <a:t> </a:t>
            </a:r>
            <a:r>
              <a:rPr dirty="0" err="1"/>
              <a:t>diffèrent</a:t>
            </a:r>
            <a:r>
              <a:rPr dirty="0"/>
              <a:t>. Java </a:t>
            </a:r>
            <a:r>
              <a:rPr dirty="0" err="1"/>
              <a:t>réserve</a:t>
            </a:r>
            <a:r>
              <a:rPr dirty="0"/>
              <a:t> la majuscule </a:t>
            </a:r>
            <a:r>
              <a:rPr dirty="0" err="1"/>
              <a:t>initiale</a:t>
            </a:r>
            <a:r>
              <a:rPr dirty="0"/>
              <a:t> aux classes, aux </a:t>
            </a:r>
            <a:r>
              <a:rPr dirty="0" err="1"/>
              <a:t>énumérations</a:t>
            </a:r>
            <a:r>
              <a:rPr dirty="0"/>
              <a:t> et aux interfaces. Les champs, les variables, les </a:t>
            </a:r>
            <a:r>
              <a:rPr dirty="0" err="1"/>
              <a:t>méthodes</a:t>
            </a:r>
            <a:r>
              <a:rPr dirty="0"/>
              <a:t> et les packages </a:t>
            </a:r>
            <a:r>
              <a:rPr dirty="0" err="1"/>
              <a:t>commencent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minuscule : </a:t>
            </a:r>
            <a:r>
              <a:rPr dirty="0">
                <a:latin typeface="Consolas"/>
              </a:rPr>
              <a:t>nom</a:t>
            </a:r>
            <a:r>
              <a:rPr dirty="0"/>
              <a:t>, </a:t>
            </a:r>
            <a:r>
              <a:rPr dirty="0" err="1">
                <a:latin typeface="Consolas"/>
              </a:rPr>
              <a:t>afficher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>
                <a:latin typeface="Consolas"/>
              </a:rPr>
              <a:t>progoo</a:t>
            </a:r>
            <a:r>
              <a:rPr dirty="0"/>
              <a:t>.</a:t>
            </a:r>
          </a:p>
          <a:p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>
                <a:latin typeface="Consolas"/>
              </a:rPr>
              <a:t>.java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b="1" dirty="0"/>
              <a:t>au plus </a:t>
            </a:r>
            <a:r>
              <a:rPr b="1" dirty="0" err="1"/>
              <a:t>une</a:t>
            </a:r>
            <a:r>
              <a:rPr b="1" dirty="0"/>
              <a:t> </a:t>
            </a:r>
            <a:r>
              <a:rPr b="1" dirty="0" err="1"/>
              <a:t>classe</a:t>
            </a:r>
            <a:r>
              <a:rPr b="1" dirty="0"/>
              <a:t> `public`</a:t>
            </a:r>
            <a:r>
              <a:rPr dirty="0"/>
              <a:t>, et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son nom. </a:t>
            </a:r>
            <a:r>
              <a:rPr dirty="0" err="1"/>
              <a:t>Ici</a:t>
            </a:r>
            <a:r>
              <a:rPr dirty="0"/>
              <a:t>, le </a:t>
            </a:r>
            <a:r>
              <a:rPr dirty="0" err="1"/>
              <a:t>fichier</a:t>
            </a:r>
            <a:r>
              <a:rPr dirty="0"/>
              <a:t>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>
                <a:latin typeface="Consolas"/>
              </a:rPr>
              <a:t>Program.java</a:t>
            </a:r>
            <a:r>
              <a:rPr dirty="0"/>
              <a:t>.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Personne</a:t>
            </a:r>
            <a:r>
              <a:rPr dirty="0"/>
              <a:t>, </a:t>
            </a:r>
            <a:r>
              <a:rPr dirty="0" err="1"/>
              <a:t>déclarée</a:t>
            </a:r>
            <a:r>
              <a:rPr dirty="0"/>
              <a:t> sans </a:t>
            </a:r>
            <a:r>
              <a:rPr dirty="0" err="1"/>
              <a:t>modificateur</a:t>
            </a:r>
            <a:r>
              <a:rPr dirty="0"/>
              <a:t>, </a:t>
            </a:r>
            <a:r>
              <a:rPr dirty="0" err="1"/>
              <a:t>n'est</a:t>
            </a:r>
            <a:r>
              <a:rPr dirty="0"/>
              <a:t> visible </a:t>
            </a:r>
            <a:r>
              <a:rPr dirty="0" err="1"/>
              <a:t>que</a:t>
            </a:r>
            <a:r>
              <a:rPr dirty="0"/>
              <a:t> dans son package.</a:t>
            </a:r>
          </a:p>
          <a:p>
            <a:r>
              <a:rPr dirty="0"/>
              <a:t>Les </a:t>
            </a:r>
            <a:r>
              <a:rPr b="1" dirty="0"/>
              <a:t>classes du framework</a:t>
            </a:r>
            <a:r>
              <a:rPr dirty="0"/>
              <a:t> ne </a:t>
            </a:r>
            <a:r>
              <a:rPr dirty="0" err="1"/>
              <a:t>sont</a:t>
            </a:r>
            <a:r>
              <a:rPr dirty="0"/>
              <a:t> pas les </a:t>
            </a:r>
            <a:r>
              <a:rPr dirty="0" err="1"/>
              <a:t>mêmes</a:t>
            </a:r>
            <a:r>
              <a:rPr dirty="0"/>
              <a:t> : </a:t>
            </a:r>
            <a:r>
              <a:rPr dirty="0" err="1"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>
                <a:latin typeface="Consolas"/>
              </a:rPr>
              <a:t>System.out.println</a:t>
            </a:r>
            <a:r>
              <a:rPr dirty="0"/>
              <a:t>.</a:t>
            </a:r>
          </a:p>
          <a:p>
            <a:r>
              <a:rPr dirty="0" err="1"/>
              <a:t>Enfin</a:t>
            </a:r>
            <a:r>
              <a:rPr dirty="0"/>
              <a:t>, la </a:t>
            </a:r>
            <a:r>
              <a:rPr b="1" dirty="0" err="1"/>
              <a:t>méthode</a:t>
            </a:r>
            <a:r>
              <a:rPr b="1" dirty="0"/>
              <a:t> `main`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>
                <a:latin typeface="Consolas"/>
              </a:rPr>
              <a:t>public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qu'en</a:t>
            </a:r>
            <a:r>
              <a:rPr dirty="0"/>
              <a:t> C#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rester</a:t>
            </a:r>
            <a:r>
              <a:rPr dirty="0"/>
              <a:t> </a:t>
            </a:r>
            <a:r>
              <a:rPr dirty="0" err="1"/>
              <a:t>privée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 Java, </a:t>
            </a:r>
            <a:r>
              <a:rPr dirty="0" err="1"/>
              <a:t>n'importe</a:t>
            </a:r>
            <a:r>
              <a:rPr dirty="0"/>
              <a:t> quelle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dirty="0" err="1"/>
              <a:t>exécutable</a:t>
            </a:r>
            <a:r>
              <a:rPr dirty="0"/>
              <a:t>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qu'elle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portant</a:t>
            </a:r>
            <a:r>
              <a:rPr dirty="0"/>
              <a:t> </a:t>
            </a:r>
            <a:r>
              <a:rPr dirty="0" err="1"/>
              <a:t>exactement</a:t>
            </a:r>
            <a:r>
              <a:rPr dirty="0"/>
              <a:t> </a:t>
            </a:r>
            <a:r>
              <a:rPr dirty="0" err="1"/>
              <a:t>cette</a:t>
            </a:r>
            <a:r>
              <a:rPr dirty="0"/>
              <a:t> signature. IntelliJ affiche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flèche verte dans la marge, à </a:t>
            </a:r>
            <a:r>
              <a:rPr dirty="0" err="1"/>
              <a:t>côté</a:t>
            </a:r>
            <a:r>
              <a:rPr dirty="0"/>
              <a:t> de la </a:t>
            </a:r>
            <a:r>
              <a:rPr dirty="0" err="1"/>
              <a:t>classe</a:t>
            </a:r>
            <a:r>
              <a:rPr dirty="0"/>
              <a:t> (voir IDE.16).</a:t>
            </a:r>
          </a:p>
          <a:p>
            <a:r>
              <a:rPr dirty="0"/>
              <a:t>Pour essayer un ensemble de classes, </a:t>
            </a:r>
            <a:r>
              <a:rPr dirty="0" err="1"/>
              <a:t>écrivez</a:t>
            </a:r>
            <a:r>
              <a:rPr dirty="0"/>
              <a:t> </a:t>
            </a:r>
            <a:r>
              <a:rPr dirty="0" err="1"/>
              <a:t>plutôt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>
                <a:latin typeface="Consolas"/>
              </a:rPr>
              <a:t>Programme</a:t>
            </a:r>
            <a:r>
              <a:rPr dirty="0"/>
              <a:t> </a:t>
            </a:r>
            <a:r>
              <a:rPr dirty="0" err="1"/>
              <a:t>séparée</a:t>
            </a:r>
            <a:r>
              <a:rPr dirty="0"/>
              <a:t>, qui les </a:t>
            </a:r>
            <a:r>
              <a:rPr dirty="0" err="1"/>
              <a:t>utilise</a:t>
            </a:r>
            <a:r>
              <a:rPr dirty="0"/>
              <a:t> : </a:t>
            </a:r>
            <a:r>
              <a:rPr dirty="0" err="1"/>
              <a:t>vos</a:t>
            </a:r>
            <a:r>
              <a:rPr dirty="0"/>
              <a:t> classes métier </a:t>
            </a:r>
            <a:r>
              <a:rPr dirty="0" err="1"/>
              <a:t>restent</a:t>
            </a:r>
            <a:r>
              <a:rPr dirty="0"/>
              <a:t> </a:t>
            </a:r>
            <a:r>
              <a:rPr dirty="0" err="1"/>
              <a:t>ainsi</a:t>
            </a:r>
            <a:r>
              <a:rPr dirty="0"/>
              <a:t> </a:t>
            </a:r>
            <a:r>
              <a:rPr dirty="0" err="1"/>
              <a:t>débarrassées</a:t>
            </a:r>
            <a:r>
              <a:rPr dirty="0"/>
              <a:t> de tout code d'essai. Vous </a:t>
            </a:r>
            <a:r>
              <a:rPr dirty="0" err="1"/>
              <a:t>verrez</a:t>
            </a:r>
            <a:r>
              <a:rPr dirty="0"/>
              <a:t> dans le module JUN </a:t>
            </a:r>
            <a:r>
              <a:rPr dirty="0" err="1"/>
              <a:t>une</a:t>
            </a:r>
            <a:r>
              <a:rPr dirty="0"/>
              <a:t> manière bien plus </a:t>
            </a:r>
            <a:r>
              <a:rPr dirty="0" err="1"/>
              <a:t>fiable</a:t>
            </a:r>
            <a:r>
              <a:rPr dirty="0"/>
              <a:t> de </a:t>
            </a:r>
            <a:r>
              <a:rPr dirty="0" err="1"/>
              <a:t>vérifier</a:t>
            </a:r>
            <a:r>
              <a:rPr dirty="0"/>
              <a:t> </a:t>
            </a:r>
            <a:r>
              <a:rPr dirty="0" err="1"/>
              <a:t>qu'une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fonctionne</a:t>
            </a:r>
            <a:r>
              <a:rPr dirty="0"/>
              <a:t> : les classes de test.</a:t>
            </a:r>
          </a:p>
          <a:p>
            <a:r>
              <a:rPr dirty="0"/>
              <a:t>Une </a:t>
            </a:r>
            <a:r>
              <a:rPr dirty="0" err="1"/>
              <a:t>précision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vous </a:t>
            </a:r>
            <a:r>
              <a:rPr dirty="0" err="1"/>
              <a:t>installez</a:t>
            </a:r>
            <a:r>
              <a:rPr dirty="0"/>
              <a:t> un JDK </a:t>
            </a:r>
            <a:r>
              <a:rPr dirty="0" err="1"/>
              <a:t>récent</a:t>
            </a:r>
            <a:r>
              <a:rPr dirty="0"/>
              <a:t> chez vous : </a:t>
            </a:r>
            <a:r>
              <a:rPr dirty="0" err="1"/>
              <a:t>depuis</a:t>
            </a:r>
            <a:r>
              <a:rPr dirty="0"/>
              <a:t> Java 25, </a:t>
            </a:r>
            <a:r>
              <a:rPr dirty="0">
                <a:latin typeface="Consolas"/>
              </a:rPr>
              <a:t>main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plus </a:t>
            </a:r>
            <a:r>
              <a:rPr dirty="0" err="1"/>
              <a:t>obligée</a:t>
            </a:r>
            <a:r>
              <a:rPr dirty="0"/>
              <a:t> d'être </a:t>
            </a:r>
            <a:r>
              <a:rPr dirty="0">
                <a:latin typeface="Consolas"/>
              </a:rPr>
              <a:t>public static</a:t>
            </a:r>
            <a:r>
              <a:rPr dirty="0"/>
              <a:t>. Le </a:t>
            </a:r>
            <a:r>
              <a:rPr dirty="0" err="1"/>
              <a:t>cours</a:t>
            </a:r>
            <a:r>
              <a:rPr dirty="0"/>
              <a:t> et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utilisent</a:t>
            </a:r>
            <a:r>
              <a:rPr dirty="0"/>
              <a:t> Java 21, </a:t>
            </a:r>
            <a:r>
              <a:rPr dirty="0" err="1"/>
              <a:t>où</a:t>
            </a:r>
            <a:r>
              <a:rPr dirty="0"/>
              <a:t> la signature ci-dessus </a:t>
            </a:r>
            <a:r>
              <a:rPr dirty="0" err="1"/>
              <a:t>reste</a:t>
            </a:r>
            <a:r>
              <a:rPr dirty="0"/>
              <a:t> la </a:t>
            </a:r>
            <a:r>
              <a:rPr dirty="0" err="1"/>
              <a:t>seule</a:t>
            </a:r>
            <a:r>
              <a:rPr dirty="0"/>
              <a:t> </a:t>
            </a:r>
            <a:r>
              <a:rPr dirty="0" err="1"/>
              <a:t>valide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code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écrivez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pas </a:t>
            </a:r>
            <a:r>
              <a:rPr dirty="0" err="1"/>
              <a:t>exécuté</a:t>
            </a:r>
            <a:r>
              <a:rPr dirty="0"/>
              <a:t> </a:t>
            </a:r>
            <a:r>
              <a:rPr dirty="0" err="1"/>
              <a:t>tel</a:t>
            </a:r>
            <a:r>
              <a:rPr dirty="0"/>
              <a:t> </a:t>
            </a:r>
            <a:r>
              <a:rPr dirty="0" err="1"/>
              <a:t>quel</a:t>
            </a:r>
            <a:r>
              <a:rPr dirty="0"/>
              <a:t>. Le </a:t>
            </a:r>
            <a:r>
              <a:rPr dirty="0" err="1"/>
              <a:t>compilateur</a:t>
            </a:r>
            <a:r>
              <a:rPr dirty="0"/>
              <a:t> </a:t>
            </a:r>
            <a:r>
              <a:rPr dirty="0" err="1">
                <a:latin typeface="Consolas"/>
              </a:rPr>
              <a:t>javac</a:t>
            </a:r>
            <a:r>
              <a:rPr dirty="0"/>
              <a:t> le </a:t>
            </a:r>
            <a:r>
              <a:rPr dirty="0" err="1"/>
              <a:t>traduit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bytecode, </a:t>
            </a:r>
            <a:r>
              <a:rPr dirty="0" err="1"/>
              <a:t>rangé</a:t>
            </a:r>
            <a:r>
              <a:rPr dirty="0"/>
              <a:t> dans des </a:t>
            </a:r>
            <a:r>
              <a:rPr dirty="0" err="1"/>
              <a:t>fichiers</a:t>
            </a:r>
            <a:r>
              <a:rPr dirty="0"/>
              <a:t> </a:t>
            </a:r>
            <a:r>
              <a:rPr dirty="0">
                <a:latin typeface="Consolas"/>
              </a:rPr>
              <a:t>.class</a:t>
            </a:r>
            <a:r>
              <a:rPr dirty="0"/>
              <a:t>, et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bytecode </a:t>
            </a:r>
            <a:r>
              <a:rPr dirty="0" err="1"/>
              <a:t>que</a:t>
            </a:r>
            <a:r>
              <a:rPr dirty="0"/>
              <a:t> la machine </a:t>
            </a:r>
            <a:r>
              <a:rPr dirty="0" err="1"/>
              <a:t>virtuelle</a:t>
            </a:r>
            <a:r>
              <a:rPr dirty="0"/>
              <a:t> Java </a:t>
            </a:r>
            <a:r>
              <a:rPr dirty="0" err="1"/>
              <a:t>exécute</a:t>
            </a:r>
            <a:r>
              <a:rPr dirty="0"/>
              <a:t>, sur </a:t>
            </a:r>
            <a:r>
              <a:rPr dirty="0" err="1"/>
              <a:t>n'importe</a:t>
            </a:r>
            <a:r>
              <a:rPr dirty="0"/>
              <a:t>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système</a:t>
            </a:r>
            <a:r>
              <a:rPr dirty="0"/>
              <a:t>. Le </a:t>
            </a:r>
            <a:r>
              <a:rPr dirty="0" err="1"/>
              <a:t>mémento</a:t>
            </a:r>
            <a:r>
              <a:rPr dirty="0"/>
              <a:t> technique </a:t>
            </a:r>
            <a:r>
              <a:rPr dirty="0" err="1"/>
              <a:t>détaille</a:t>
            </a:r>
            <a:r>
              <a:rPr dirty="0"/>
              <a:t> </a:t>
            </a:r>
            <a:r>
              <a:rPr dirty="0" err="1"/>
              <a:t>ces</a:t>
            </a:r>
            <a:r>
              <a:rPr dirty="0"/>
              <a:t> trois états (TEC-CMP.1) et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pourquoi</a:t>
            </a:r>
            <a:r>
              <a:rPr dirty="0"/>
              <a:t> un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>
                <a:latin typeface="Consolas"/>
              </a:rPr>
              <a:t>.class</a:t>
            </a:r>
            <a:r>
              <a:rPr dirty="0"/>
              <a:t> </a:t>
            </a:r>
            <a:r>
              <a:rPr dirty="0" err="1"/>
              <a:t>tourne</a:t>
            </a:r>
            <a:r>
              <a:rPr dirty="0"/>
              <a:t> </a:t>
            </a:r>
            <a:r>
              <a:rPr dirty="0" err="1"/>
              <a:t>partout</a:t>
            </a:r>
            <a:r>
              <a:rPr dirty="0"/>
              <a:t> (TEC-CMP.2).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Cette section </a:t>
            </a:r>
            <a:r>
              <a:rPr dirty="0" err="1"/>
              <a:t>reprend</a:t>
            </a:r>
            <a:r>
              <a:rPr dirty="0"/>
              <a:t> les notions de base de la </a:t>
            </a:r>
            <a:r>
              <a:rPr dirty="0" err="1"/>
              <a:t>programmation</a:t>
            </a:r>
            <a:r>
              <a:rPr dirty="0"/>
              <a:t> </a:t>
            </a:r>
            <a:r>
              <a:rPr dirty="0" err="1"/>
              <a:t>orientée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et montre comment Java les </a:t>
            </a:r>
            <a:r>
              <a:rPr dirty="0" err="1"/>
              <a:t>écrit</a:t>
            </a:r>
            <a:r>
              <a:rPr dirty="0"/>
              <a:t> : la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l'objet</a:t>
            </a:r>
            <a:r>
              <a:rPr dirty="0"/>
              <a:t>, le </a:t>
            </a:r>
            <a:r>
              <a:rPr dirty="0" err="1"/>
              <a:t>constructeur</a:t>
            </a:r>
            <a:r>
              <a:rPr dirty="0"/>
              <a:t>, le mot-</a:t>
            </a:r>
            <a:r>
              <a:rPr dirty="0" err="1"/>
              <a:t>clé</a:t>
            </a:r>
            <a:r>
              <a:rPr dirty="0"/>
              <a:t> </a:t>
            </a:r>
            <a:r>
              <a:rPr dirty="0">
                <a:latin typeface="Consolas"/>
              </a:rPr>
              <a:t>this</a:t>
            </a:r>
            <a:r>
              <a:rPr dirty="0"/>
              <a:t>, les champs </a:t>
            </a:r>
            <a:r>
              <a:rPr dirty="0">
                <a:latin typeface="Consolas"/>
              </a:rPr>
              <a:t>final</a:t>
            </a:r>
            <a:r>
              <a:rPr dirty="0"/>
              <a:t> et la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>
                <a:latin typeface="Consolas"/>
              </a:rPr>
              <a:t>toString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programmation</a:t>
            </a:r>
            <a:r>
              <a:rPr dirty="0"/>
              <a:t> </a:t>
            </a:r>
            <a:r>
              <a:rPr dirty="0" err="1"/>
              <a:t>orientée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repose sur quatre principes.</a:t>
            </a:r>
          </a:p>
          <a:p>
            <a:r>
              <a:rPr dirty="0" err="1"/>
              <a:t>L'</a:t>
            </a:r>
            <a:r>
              <a:rPr b="1" dirty="0" err="1"/>
              <a:t>encapsulation</a:t>
            </a:r>
            <a:r>
              <a:rPr dirty="0"/>
              <a:t> </a:t>
            </a:r>
            <a:r>
              <a:rPr dirty="0" err="1"/>
              <a:t>regroupe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les données et les </a:t>
            </a:r>
            <a:r>
              <a:rPr dirty="0" err="1"/>
              <a:t>méthodes</a:t>
            </a:r>
            <a:r>
              <a:rPr dirty="0"/>
              <a:t> qui les </a:t>
            </a:r>
            <a:r>
              <a:rPr dirty="0" err="1"/>
              <a:t>manipulent</a:t>
            </a:r>
            <a:r>
              <a:rPr dirty="0"/>
              <a:t>, et cache les </a:t>
            </a:r>
            <a:r>
              <a:rPr dirty="0" err="1"/>
              <a:t>détails</a:t>
            </a:r>
            <a:r>
              <a:rPr dirty="0"/>
              <a:t> internes : on agit sur un </a:t>
            </a:r>
            <a:r>
              <a:rPr dirty="0" err="1"/>
              <a:t>objet</a:t>
            </a:r>
            <a:r>
              <a:rPr dirty="0"/>
              <a:t> par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, pas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touchant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à </a:t>
            </a:r>
            <a:r>
              <a:rPr dirty="0" err="1"/>
              <a:t>ses</a:t>
            </a:r>
            <a:r>
              <a:rPr dirty="0"/>
              <a:t> champs.</a:t>
            </a:r>
          </a:p>
          <a:p>
            <a:r>
              <a:rPr dirty="0" err="1"/>
              <a:t>L'</a:t>
            </a:r>
            <a:r>
              <a:rPr b="1" dirty="0" err="1"/>
              <a:t>abstraction</a:t>
            </a:r>
            <a:r>
              <a:rPr dirty="0"/>
              <a:t> </a:t>
            </a:r>
            <a:r>
              <a:rPr dirty="0" err="1"/>
              <a:t>consiste</a:t>
            </a:r>
            <a:r>
              <a:rPr dirty="0"/>
              <a:t> à ne </a:t>
            </a:r>
            <a:r>
              <a:rPr dirty="0" err="1"/>
              <a:t>retenir</a:t>
            </a:r>
            <a:r>
              <a:rPr dirty="0"/>
              <a:t>, d'un </a:t>
            </a:r>
            <a:r>
              <a:rPr dirty="0" err="1"/>
              <a:t>objet</a:t>
            </a:r>
            <a:r>
              <a:rPr dirty="0"/>
              <a:t> du monde </a:t>
            </a:r>
            <a:r>
              <a:rPr dirty="0" err="1"/>
              <a:t>réel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les </a:t>
            </a:r>
            <a:r>
              <a:rPr dirty="0" err="1"/>
              <a:t>caractéristiques</a:t>
            </a:r>
            <a:r>
              <a:rPr dirty="0"/>
              <a:t> </a:t>
            </a:r>
            <a:r>
              <a:rPr dirty="0" err="1"/>
              <a:t>utiles</a:t>
            </a:r>
            <a:r>
              <a:rPr dirty="0"/>
              <a:t> au </a:t>
            </a:r>
            <a:r>
              <a:rPr dirty="0" err="1"/>
              <a:t>problème</a:t>
            </a:r>
            <a:r>
              <a:rPr dirty="0"/>
              <a:t>. Une </a:t>
            </a:r>
            <a:r>
              <a:rPr dirty="0">
                <a:latin typeface="Consolas"/>
              </a:rPr>
              <a:t>Personne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pas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forme</a:t>
            </a:r>
            <a:r>
              <a:rPr dirty="0"/>
              <a:t> dans un </a:t>
            </a:r>
            <a:r>
              <a:rPr dirty="0" err="1"/>
              <a:t>logiciel</a:t>
            </a:r>
            <a:r>
              <a:rPr dirty="0"/>
              <a:t> de </a:t>
            </a:r>
            <a:r>
              <a:rPr dirty="0" err="1"/>
              <a:t>paie</a:t>
            </a:r>
            <a:r>
              <a:rPr dirty="0"/>
              <a:t> et dans un </a:t>
            </a:r>
            <a:r>
              <a:rPr dirty="0" err="1"/>
              <a:t>logiciel</a:t>
            </a:r>
            <a:r>
              <a:rPr dirty="0"/>
              <a:t> </a:t>
            </a:r>
            <a:r>
              <a:rPr dirty="0" err="1"/>
              <a:t>médical</a:t>
            </a:r>
            <a:r>
              <a:rPr dirty="0"/>
              <a:t>.</a:t>
            </a:r>
          </a:p>
          <a:p>
            <a:r>
              <a:rPr dirty="0" err="1"/>
              <a:t>L'</a:t>
            </a:r>
            <a:r>
              <a:rPr b="1" dirty="0" err="1"/>
              <a:t>héritage</a:t>
            </a:r>
            <a:r>
              <a:rPr dirty="0"/>
              <a:t> </a:t>
            </a:r>
            <a:r>
              <a:rPr dirty="0" err="1"/>
              <a:t>permet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de </a:t>
            </a:r>
            <a:r>
              <a:rPr dirty="0" err="1"/>
              <a:t>reprendre</a:t>
            </a:r>
            <a:r>
              <a:rPr dirty="0"/>
              <a:t> les champs et les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autre</a:t>
            </a:r>
            <a:r>
              <a:rPr dirty="0"/>
              <a:t>, et </a:t>
            </a:r>
            <a:r>
              <a:rPr dirty="0" err="1"/>
              <a:t>d'y</a:t>
            </a:r>
            <a:r>
              <a:rPr dirty="0"/>
              <a:t> </a:t>
            </a:r>
            <a:r>
              <a:rPr dirty="0" err="1"/>
              <a:t>ajouter</a:t>
            </a:r>
            <a:r>
              <a:rPr dirty="0"/>
              <a:t> les </a:t>
            </a:r>
            <a:r>
              <a:rPr dirty="0" err="1"/>
              <a:t>siens</a:t>
            </a:r>
            <a:r>
              <a:rPr dirty="0"/>
              <a:t>. Le </a:t>
            </a:r>
            <a:r>
              <a:rPr b="1" dirty="0" err="1"/>
              <a:t>polymorphisme</a:t>
            </a:r>
            <a:r>
              <a:rPr dirty="0"/>
              <a:t>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traiter</a:t>
            </a:r>
            <a:r>
              <a:rPr dirty="0"/>
              <a:t> de la </a:t>
            </a:r>
            <a:r>
              <a:rPr dirty="0" err="1"/>
              <a:t>même</a:t>
            </a:r>
            <a:r>
              <a:rPr dirty="0"/>
              <a:t> façon des </a:t>
            </a:r>
            <a:r>
              <a:rPr dirty="0" err="1"/>
              <a:t>objets</a:t>
            </a:r>
            <a:r>
              <a:rPr dirty="0"/>
              <a:t> de classes </a:t>
            </a:r>
            <a:r>
              <a:rPr dirty="0" err="1"/>
              <a:t>différentes</a:t>
            </a:r>
            <a:r>
              <a:rPr dirty="0"/>
              <a:t>, </a:t>
            </a:r>
            <a:r>
              <a:rPr dirty="0" err="1"/>
              <a:t>pourvu</a:t>
            </a:r>
            <a:r>
              <a:rPr dirty="0"/>
              <a:t> </a:t>
            </a:r>
            <a:r>
              <a:rPr dirty="0" err="1"/>
              <a:t>qu'ils</a:t>
            </a:r>
            <a:r>
              <a:rPr dirty="0"/>
              <a:t> </a:t>
            </a:r>
            <a:r>
              <a:rPr dirty="0" err="1"/>
              <a:t>partagent</a:t>
            </a:r>
            <a:r>
              <a:rPr dirty="0"/>
              <a:t> un type </a:t>
            </a:r>
            <a:r>
              <a:rPr dirty="0" err="1"/>
              <a:t>commun</a:t>
            </a:r>
            <a:r>
              <a:rPr dirty="0"/>
              <a:t>.</a:t>
            </a:r>
          </a:p>
          <a:p>
            <a:r>
              <a:rPr dirty="0"/>
              <a:t>Ce module-ci </a:t>
            </a:r>
            <a:r>
              <a:rPr dirty="0" err="1"/>
              <a:t>traite</a:t>
            </a:r>
            <a:r>
              <a:rPr dirty="0"/>
              <a:t> de </a:t>
            </a:r>
            <a:r>
              <a:rPr dirty="0" err="1"/>
              <a:t>l'encapsulation</a:t>
            </a:r>
            <a:r>
              <a:rPr dirty="0"/>
              <a:t>. </a:t>
            </a:r>
            <a:r>
              <a:rPr dirty="0" err="1"/>
              <a:t>L'héritage</a:t>
            </a:r>
            <a:r>
              <a:rPr dirty="0"/>
              <a:t> et le </a:t>
            </a:r>
            <a:r>
              <a:rPr dirty="0" err="1"/>
              <a:t>polymorphisme</a:t>
            </a:r>
            <a:r>
              <a:rPr dirty="0"/>
              <a:t> </a:t>
            </a:r>
            <a:r>
              <a:rPr dirty="0" err="1"/>
              <a:t>feront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 des modules ABS et ITF.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 dirty="0"/>
              <a:t>Une classe ne fait rien par elle-même : elle décrit ce que posséderont les objets construits à partir d'elle. Chaque appel à new fabrique un nouvel exemplaire, un objet, avec ses propres valeurs de champs. La variable à laquelle on assigne cet objet avec = ne le contient pas : elle permet de le retrouver. Deux livres créés par deux new sont deux objets distincts, même s'ils portent le même titre.</a:t>
            </a:r>
          </a:p>
          <a:p>
            <a:r>
              <a:rPr lang="fr-BE" dirty="0"/>
              <a:t>Le code complet, à exécuter : demos, classe demo.poo.slides.ClasseEtObjet.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démonstration</a:t>
            </a:r>
            <a:r>
              <a:rPr dirty="0"/>
              <a:t> part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vide et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ajoute</a:t>
            </a:r>
            <a:r>
              <a:rPr dirty="0"/>
              <a:t> des champs publics. Elle montre </a:t>
            </a:r>
            <a:r>
              <a:rPr dirty="0" err="1"/>
              <a:t>qu'un</a:t>
            </a:r>
            <a:r>
              <a:rPr dirty="0"/>
              <a:t> champ public </a:t>
            </a:r>
            <a:r>
              <a:rPr dirty="0" err="1"/>
              <a:t>accepte</a:t>
            </a:r>
            <a:r>
              <a:rPr dirty="0"/>
              <a:t> </a:t>
            </a:r>
            <a:r>
              <a:rPr dirty="0" err="1"/>
              <a:t>n'importe</a:t>
            </a:r>
            <a:r>
              <a:rPr dirty="0"/>
              <a:t> quelle </a:t>
            </a:r>
            <a:r>
              <a:rPr dirty="0" err="1"/>
              <a:t>valeur</a:t>
            </a:r>
            <a:r>
              <a:rPr dirty="0"/>
              <a:t>,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absurde</a:t>
            </a:r>
            <a:r>
              <a:rPr dirty="0"/>
              <a:t>, sans </a:t>
            </a:r>
            <a:r>
              <a:rPr dirty="0" err="1"/>
              <a:t>que</a:t>
            </a:r>
            <a:r>
              <a:rPr dirty="0"/>
              <a:t> rien ne </a:t>
            </a:r>
            <a:r>
              <a:rPr dirty="0" err="1"/>
              <a:t>proteste</a:t>
            </a:r>
            <a:r>
              <a:rPr dirty="0"/>
              <a:t>. </a:t>
            </a:r>
            <a:r>
              <a:rPr dirty="0" err="1"/>
              <a:t>C'est</a:t>
            </a:r>
            <a:r>
              <a:rPr dirty="0"/>
              <a:t> le </a:t>
            </a:r>
            <a:r>
              <a:rPr dirty="0" err="1"/>
              <a:t>problème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section 3 </a:t>
            </a:r>
            <a:r>
              <a:rPr dirty="0" err="1"/>
              <a:t>résout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</a:t>
            </a:r>
            <a:r>
              <a:rPr dirty="0" err="1"/>
              <a:t>constructeur</a:t>
            </a:r>
            <a:r>
              <a:rPr dirty="0"/>
              <a:t> est la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appelée</a:t>
            </a:r>
            <a:r>
              <a:rPr dirty="0"/>
              <a:t> par </a:t>
            </a:r>
            <a:r>
              <a:rPr dirty="0">
                <a:latin typeface="Consolas"/>
              </a:rPr>
              <a:t>new</a:t>
            </a:r>
            <a:r>
              <a:rPr dirty="0"/>
              <a:t>. Il </a:t>
            </a:r>
            <a:r>
              <a:rPr dirty="0" err="1"/>
              <a:t>porte</a:t>
            </a:r>
            <a:r>
              <a:rPr dirty="0"/>
              <a:t> le nom exact de la </a:t>
            </a:r>
            <a:r>
              <a:rPr dirty="0" err="1"/>
              <a:t>classe</a:t>
            </a:r>
            <a:r>
              <a:rPr dirty="0"/>
              <a:t> et ne </a:t>
            </a:r>
            <a:r>
              <a:rPr dirty="0" err="1"/>
              <a:t>déclare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type de retour, pas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>
                <a:latin typeface="Consolas"/>
              </a:rPr>
              <a:t>void</a:t>
            </a:r>
            <a:r>
              <a:rPr dirty="0"/>
              <a:t>. Son </a:t>
            </a:r>
            <a:r>
              <a:rPr dirty="0" err="1"/>
              <a:t>rôle</a:t>
            </a:r>
            <a:r>
              <a:rPr dirty="0"/>
              <a:t> est de </a:t>
            </a:r>
            <a:r>
              <a:rPr dirty="0" err="1"/>
              <a:t>mettre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 dans un état correct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création</a:t>
            </a:r>
            <a:r>
              <a:rPr dirty="0"/>
              <a:t>.</a:t>
            </a:r>
          </a:p>
          <a:p>
            <a:r>
              <a:rPr dirty="0"/>
              <a:t>Une </a:t>
            </a:r>
            <a:r>
              <a:rPr dirty="0" err="1"/>
              <a:t>classe</a:t>
            </a:r>
            <a:r>
              <a:rPr dirty="0"/>
              <a:t> qui ne </a:t>
            </a:r>
            <a:r>
              <a:rPr dirty="0" err="1"/>
              <a:t>déclare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constructeur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reçoit</a:t>
            </a:r>
            <a:r>
              <a:rPr dirty="0"/>
              <a:t> un </a:t>
            </a:r>
            <a:r>
              <a:rPr dirty="0" err="1"/>
              <a:t>d'office</a:t>
            </a:r>
            <a:r>
              <a:rPr dirty="0"/>
              <a:t> : il ne </a:t>
            </a:r>
            <a:r>
              <a:rPr dirty="0" err="1"/>
              <a:t>prend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paramètre</a:t>
            </a:r>
            <a:r>
              <a:rPr dirty="0"/>
              <a:t> et laisse </a:t>
            </a:r>
            <a:r>
              <a:rPr dirty="0" err="1"/>
              <a:t>chaque</a:t>
            </a:r>
            <a:r>
              <a:rPr dirty="0"/>
              <a:t> champ à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, </a:t>
            </a:r>
            <a:r>
              <a:rPr dirty="0">
                <a:latin typeface="Consolas"/>
              </a:rPr>
              <a:t>0</a:t>
            </a:r>
            <a:r>
              <a:rPr dirty="0"/>
              <a:t> pour un </a:t>
            </a:r>
            <a:r>
              <a:rPr dirty="0" err="1"/>
              <a:t>nombre</a:t>
            </a:r>
            <a:r>
              <a:rPr dirty="0"/>
              <a:t>, </a:t>
            </a:r>
            <a:r>
              <a:rPr dirty="0">
                <a:latin typeface="Consolas"/>
              </a:rPr>
              <a:t>false</a:t>
            </a:r>
            <a:r>
              <a:rPr dirty="0"/>
              <a:t> pour un </a:t>
            </a:r>
            <a:r>
              <a:rPr dirty="0" err="1"/>
              <a:t>booléen</a:t>
            </a:r>
            <a:r>
              <a:rPr dirty="0"/>
              <a:t>, </a:t>
            </a:r>
            <a:r>
              <a:rPr dirty="0">
                <a:latin typeface="Consolas"/>
              </a:rPr>
              <a:t>null</a:t>
            </a:r>
            <a:r>
              <a:rPr dirty="0"/>
              <a:t> pour un </a:t>
            </a:r>
            <a:r>
              <a:rPr dirty="0" err="1"/>
              <a:t>objet</a:t>
            </a:r>
            <a:r>
              <a:rPr dirty="0"/>
              <a:t>. Ce </a:t>
            </a:r>
            <a:r>
              <a:rPr dirty="0" err="1"/>
              <a:t>constructeur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 </a:t>
            </a:r>
            <a:r>
              <a:rPr dirty="0" err="1"/>
              <a:t>disparaît</a:t>
            </a:r>
            <a:r>
              <a:rPr dirty="0"/>
              <a:t> </a:t>
            </a:r>
            <a:r>
              <a:rPr dirty="0" err="1"/>
              <a:t>dès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écrivez</a:t>
            </a:r>
            <a:r>
              <a:rPr dirty="0"/>
              <a:t> le </a:t>
            </a:r>
            <a:r>
              <a:rPr dirty="0" err="1"/>
              <a:t>vôtre</a:t>
            </a:r>
            <a:r>
              <a:rPr dirty="0"/>
              <a:t> : dans </a:t>
            </a:r>
            <a:r>
              <a:rPr dirty="0" err="1"/>
              <a:t>l'exemple</a:t>
            </a:r>
            <a:r>
              <a:rPr dirty="0"/>
              <a:t>, </a:t>
            </a:r>
            <a:r>
              <a:rPr dirty="0">
                <a:latin typeface="Consolas"/>
              </a:rPr>
              <a:t>new Livre()</a:t>
            </a:r>
            <a:r>
              <a:rPr dirty="0"/>
              <a:t> ne compile plus.</a:t>
            </a:r>
          </a:p>
          <a:p>
            <a:r>
              <a:rPr dirty="0"/>
              <a:t>Vous </a:t>
            </a:r>
            <a:r>
              <a:rPr dirty="0" err="1"/>
              <a:t>connaissez</a:t>
            </a:r>
            <a:r>
              <a:rPr dirty="0"/>
              <a:t> déjà </a:t>
            </a:r>
            <a:r>
              <a:rPr dirty="0">
                <a:latin typeface="Consolas"/>
              </a:rPr>
              <a:t>private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C# ; la section 3 montre </a:t>
            </a:r>
            <a:r>
              <a:rPr dirty="0" err="1"/>
              <a:t>pourquoi</a:t>
            </a:r>
            <a:r>
              <a:rPr dirty="0"/>
              <a:t> on </a:t>
            </a:r>
            <a:r>
              <a:rPr dirty="0" err="1"/>
              <a:t>l'emploie</a:t>
            </a:r>
            <a:r>
              <a:rPr dirty="0"/>
              <a:t> </a:t>
            </a:r>
            <a:r>
              <a:rPr dirty="0" err="1"/>
              <a:t>ici</a:t>
            </a:r>
            <a:r>
              <a:rPr dirty="0"/>
              <a:t>. IntelliJ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générer</a:t>
            </a:r>
            <a:r>
              <a:rPr dirty="0"/>
              <a:t> un </a:t>
            </a:r>
            <a:r>
              <a:rPr dirty="0" err="1"/>
              <a:t>constructeur</a:t>
            </a:r>
            <a:r>
              <a:rPr dirty="0"/>
              <a:t> à </a:t>
            </a:r>
            <a:r>
              <a:rPr dirty="0" err="1"/>
              <a:t>partir</a:t>
            </a:r>
            <a:r>
              <a:rPr dirty="0"/>
              <a:t> des champs (voir IDE.12).</a:t>
            </a:r>
          </a:p>
          <a:p>
            <a:r>
              <a:rPr lang="fr-BE" dirty="0"/>
              <a:t>Le code complet, à exécuter : demos, classe demo.poo.slides.LeConstructeur.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Dans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un </a:t>
            </a:r>
            <a:r>
              <a:rPr dirty="0" err="1"/>
              <a:t>constructeur</a:t>
            </a:r>
            <a:r>
              <a:rPr dirty="0"/>
              <a:t>, </a:t>
            </a:r>
            <a:r>
              <a:rPr dirty="0">
                <a:latin typeface="Consolas"/>
              </a:rPr>
              <a:t>this</a:t>
            </a:r>
            <a:r>
              <a:rPr dirty="0"/>
              <a:t> </a:t>
            </a:r>
            <a:r>
              <a:rPr dirty="0" err="1"/>
              <a:t>désigne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 sur </a:t>
            </a:r>
            <a:r>
              <a:rPr dirty="0" err="1"/>
              <a:t>lequel</a:t>
            </a:r>
            <a:r>
              <a:rPr dirty="0"/>
              <a:t> on </a:t>
            </a:r>
            <a:r>
              <a:rPr dirty="0" err="1"/>
              <a:t>travaille</a:t>
            </a:r>
            <a:r>
              <a:rPr dirty="0"/>
              <a:t>. On </a:t>
            </a:r>
            <a:r>
              <a:rPr dirty="0" err="1"/>
              <a:t>s'en</a:t>
            </a:r>
            <a:r>
              <a:rPr dirty="0"/>
              <a:t> </a:t>
            </a:r>
            <a:r>
              <a:rPr dirty="0" err="1"/>
              <a:t>sert</a:t>
            </a:r>
            <a:r>
              <a:rPr dirty="0"/>
              <a:t> surtout </a:t>
            </a:r>
            <a:r>
              <a:rPr dirty="0" err="1"/>
              <a:t>quand</a:t>
            </a:r>
            <a:r>
              <a:rPr dirty="0"/>
              <a:t> un </a:t>
            </a:r>
            <a:r>
              <a:rPr dirty="0" err="1"/>
              <a:t>paramètre</a:t>
            </a:r>
            <a:r>
              <a:rPr dirty="0"/>
              <a:t> </a:t>
            </a:r>
            <a:r>
              <a:rPr dirty="0" err="1"/>
              <a:t>porte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nom </a:t>
            </a:r>
            <a:r>
              <a:rPr dirty="0" err="1"/>
              <a:t>qu'un</a:t>
            </a:r>
            <a:r>
              <a:rPr dirty="0"/>
              <a:t> champ : le nom seul </a:t>
            </a:r>
            <a:r>
              <a:rPr dirty="0" err="1"/>
              <a:t>désigne</a:t>
            </a:r>
            <a:r>
              <a:rPr dirty="0"/>
              <a:t> </a:t>
            </a:r>
            <a:r>
              <a:rPr dirty="0" err="1"/>
              <a:t>alors</a:t>
            </a:r>
            <a:r>
              <a:rPr dirty="0"/>
              <a:t> le </a:t>
            </a:r>
            <a:r>
              <a:rPr dirty="0" err="1"/>
              <a:t>paramètre</a:t>
            </a:r>
            <a:r>
              <a:rPr dirty="0"/>
              <a:t>, qui masque le champ, et </a:t>
            </a:r>
            <a:r>
              <a:rPr dirty="0" err="1">
                <a:latin typeface="Consolas"/>
              </a:rPr>
              <a:t>this.titre</a:t>
            </a:r>
            <a:r>
              <a:rPr dirty="0"/>
              <a:t> </a:t>
            </a:r>
            <a:r>
              <a:rPr dirty="0" err="1"/>
              <a:t>désigne</a:t>
            </a:r>
            <a:r>
              <a:rPr dirty="0"/>
              <a:t> le champ.</a:t>
            </a:r>
          </a:p>
          <a:p>
            <a:r>
              <a:rPr dirty="0" err="1"/>
              <a:t>L'oubli</a:t>
            </a:r>
            <a:r>
              <a:rPr dirty="0"/>
              <a:t> de </a:t>
            </a:r>
            <a:r>
              <a:rPr dirty="0">
                <a:latin typeface="Consolas"/>
              </a:rPr>
              <a:t>this</a:t>
            </a:r>
            <a:r>
              <a:rPr dirty="0"/>
              <a:t> est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erreur</a:t>
            </a:r>
            <a:r>
              <a:rPr dirty="0"/>
              <a:t> </a:t>
            </a:r>
            <a:r>
              <a:rPr dirty="0" err="1"/>
              <a:t>silencieuse</a:t>
            </a:r>
            <a:r>
              <a:rPr dirty="0"/>
              <a:t>. </a:t>
            </a:r>
            <a:r>
              <a:rPr dirty="0" err="1"/>
              <a:t>L'instruction</a:t>
            </a:r>
            <a:r>
              <a:rPr dirty="0"/>
              <a:t> </a:t>
            </a:r>
            <a:r>
              <a:rPr dirty="0" err="1">
                <a:latin typeface="Consolas"/>
              </a:rPr>
              <a:t>titre</a:t>
            </a:r>
            <a:r>
              <a:rPr dirty="0">
                <a:latin typeface="Consolas"/>
              </a:rPr>
              <a:t> = </a:t>
            </a:r>
            <a:r>
              <a:rPr dirty="0" err="1">
                <a:latin typeface="Consolas"/>
              </a:rPr>
              <a:t>titre</a:t>
            </a:r>
            <a:r>
              <a:rPr dirty="0">
                <a:latin typeface="Consolas"/>
              </a:rPr>
              <a:t>;</a:t>
            </a:r>
            <a:r>
              <a:rPr dirty="0"/>
              <a:t> est </a:t>
            </a:r>
            <a:r>
              <a:rPr dirty="0" err="1"/>
              <a:t>parfaitement</a:t>
            </a:r>
            <a:r>
              <a:rPr dirty="0"/>
              <a:t> </a:t>
            </a:r>
            <a:r>
              <a:rPr dirty="0" err="1"/>
              <a:t>valide</a:t>
            </a:r>
            <a:r>
              <a:rPr dirty="0"/>
              <a:t>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affecte</a:t>
            </a:r>
            <a:r>
              <a:rPr dirty="0"/>
              <a:t> le </a:t>
            </a:r>
            <a:r>
              <a:rPr dirty="0" err="1"/>
              <a:t>paramètre</a:t>
            </a:r>
            <a:r>
              <a:rPr dirty="0"/>
              <a:t> à </a:t>
            </a:r>
            <a:r>
              <a:rPr dirty="0" err="1"/>
              <a:t>lui-même</a:t>
            </a:r>
            <a:r>
              <a:rPr dirty="0"/>
              <a:t>, et le champ </a:t>
            </a:r>
            <a:r>
              <a:rPr dirty="0" err="1"/>
              <a:t>reste</a:t>
            </a:r>
            <a:r>
              <a:rPr dirty="0"/>
              <a:t> à </a:t>
            </a:r>
            <a:r>
              <a:rPr dirty="0">
                <a:latin typeface="Consolas"/>
              </a:rPr>
              <a:t>null</a:t>
            </a:r>
            <a:r>
              <a:rPr dirty="0"/>
              <a:t>. Le </a:t>
            </a:r>
            <a:r>
              <a:rPr dirty="0" err="1"/>
              <a:t>compilateur</a:t>
            </a:r>
            <a:r>
              <a:rPr dirty="0"/>
              <a:t> ne </a:t>
            </a:r>
            <a:r>
              <a:rPr dirty="0" err="1"/>
              <a:t>dit</a:t>
            </a:r>
            <a:r>
              <a:rPr dirty="0"/>
              <a:t> rien ; IntelliJ, </a:t>
            </a:r>
            <a:r>
              <a:rPr dirty="0" err="1"/>
              <a:t>en</a:t>
            </a:r>
            <a:r>
              <a:rPr dirty="0"/>
              <a:t> revanche, </a:t>
            </a:r>
            <a:r>
              <a:rPr dirty="0" err="1"/>
              <a:t>souligne</a:t>
            </a:r>
            <a:r>
              <a:rPr dirty="0"/>
              <a:t> la </a:t>
            </a:r>
            <a:r>
              <a:rPr dirty="0" err="1"/>
              <a:t>ligne</a:t>
            </a:r>
            <a:r>
              <a:rPr dirty="0"/>
              <a:t> (voir IDE.15).</a:t>
            </a:r>
          </a:p>
          <a:p>
            <a:r>
              <a:rPr lang="fr-BE" dirty="0"/>
              <a:t>Le code complet, à exécuter : demos, classe demo.poo.slides.LeMotCleThis.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Certaines</a:t>
            </a:r>
            <a:r>
              <a:rPr dirty="0"/>
              <a:t> données ne </a:t>
            </a:r>
            <a:r>
              <a:rPr dirty="0" err="1"/>
              <a:t>doivent</a:t>
            </a:r>
            <a:r>
              <a:rPr dirty="0"/>
              <a:t> jamais changer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 </a:t>
            </a:r>
            <a:r>
              <a:rPr dirty="0" err="1"/>
              <a:t>créé</a:t>
            </a:r>
            <a:r>
              <a:rPr dirty="0"/>
              <a:t> : le </a:t>
            </a:r>
            <a:r>
              <a:rPr dirty="0" err="1"/>
              <a:t>titre</a:t>
            </a:r>
            <a:r>
              <a:rPr dirty="0"/>
              <a:t> d'un livre, le pseudo d'un </a:t>
            </a:r>
            <a:r>
              <a:rPr dirty="0" err="1"/>
              <a:t>joueur</a:t>
            </a:r>
            <a:r>
              <a:rPr dirty="0"/>
              <a:t>. </a:t>
            </a:r>
            <a:r>
              <a:rPr dirty="0" err="1"/>
              <a:t>Déclarer</a:t>
            </a:r>
            <a:r>
              <a:rPr dirty="0"/>
              <a:t> le champ </a:t>
            </a:r>
            <a:r>
              <a:rPr dirty="0">
                <a:latin typeface="Consolas"/>
              </a:rPr>
              <a:t>final</a:t>
            </a:r>
            <a:r>
              <a:rPr dirty="0"/>
              <a:t> </a:t>
            </a:r>
            <a:r>
              <a:rPr dirty="0" err="1"/>
              <a:t>confie</a:t>
            </a:r>
            <a:r>
              <a:rPr dirty="0"/>
              <a:t> </a:t>
            </a:r>
            <a:r>
              <a:rPr dirty="0" err="1"/>
              <a:t>cette</a:t>
            </a:r>
            <a:r>
              <a:rPr dirty="0"/>
              <a:t> </a:t>
            </a:r>
            <a:r>
              <a:rPr dirty="0" err="1"/>
              <a:t>règle</a:t>
            </a:r>
            <a:r>
              <a:rPr dirty="0"/>
              <a:t> au </a:t>
            </a:r>
            <a:r>
              <a:rPr dirty="0" err="1"/>
              <a:t>compilateur</a:t>
            </a:r>
            <a:r>
              <a:rPr dirty="0"/>
              <a:t> : le champ doit </a:t>
            </a:r>
            <a:r>
              <a:rPr dirty="0" err="1"/>
              <a:t>recevoir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exactement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, au plus tard à la fin du </a:t>
            </a:r>
            <a:r>
              <a:rPr dirty="0" err="1"/>
              <a:t>constructeur</a:t>
            </a:r>
            <a:r>
              <a:rPr dirty="0"/>
              <a:t>, et toute affectation </a:t>
            </a:r>
            <a:r>
              <a:rPr dirty="0" err="1"/>
              <a:t>ultérieure</a:t>
            </a:r>
            <a:r>
              <a:rPr dirty="0"/>
              <a:t> est </a:t>
            </a:r>
            <a:r>
              <a:rPr dirty="0" err="1"/>
              <a:t>refusée</a:t>
            </a:r>
            <a:r>
              <a:rPr dirty="0"/>
              <a:t>.</a:t>
            </a:r>
          </a:p>
          <a:p>
            <a:r>
              <a:rPr dirty="0"/>
              <a:t>Un champ </a:t>
            </a:r>
            <a:r>
              <a:rPr dirty="0">
                <a:latin typeface="Consolas"/>
              </a:rPr>
              <a:t>final</a:t>
            </a:r>
            <a:r>
              <a:rPr dirty="0"/>
              <a:t> ne </a:t>
            </a:r>
            <a:r>
              <a:rPr dirty="0" err="1"/>
              <a:t>s'écrit</a:t>
            </a:r>
            <a:r>
              <a:rPr dirty="0"/>
              <a:t> pas </a:t>
            </a:r>
            <a:r>
              <a:rPr dirty="0" err="1"/>
              <a:t>en</a:t>
            </a:r>
            <a:r>
              <a:rPr dirty="0"/>
              <a:t> majuscules pour </a:t>
            </a:r>
            <a:r>
              <a:rPr dirty="0" err="1"/>
              <a:t>autant</a:t>
            </a:r>
            <a:r>
              <a:rPr dirty="0"/>
              <a:t>. Les majuscules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réservées</a:t>
            </a:r>
            <a:r>
              <a:rPr dirty="0"/>
              <a:t> aux </a:t>
            </a:r>
            <a:r>
              <a:rPr dirty="0" err="1"/>
              <a:t>constantes</a:t>
            </a:r>
            <a:r>
              <a:rPr dirty="0"/>
              <a:t>, qui </a:t>
            </a:r>
            <a:r>
              <a:rPr dirty="0" err="1"/>
              <a:t>sont</a:t>
            </a:r>
            <a:r>
              <a:rPr dirty="0"/>
              <a:t> à la </a:t>
            </a:r>
            <a:r>
              <a:rPr dirty="0" err="1"/>
              <a:t>fois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 et </a:t>
            </a:r>
            <a:r>
              <a:rPr dirty="0">
                <a:latin typeface="Consolas"/>
              </a:rPr>
              <a:t>final</a:t>
            </a:r>
            <a:r>
              <a:rPr dirty="0"/>
              <a:t> : vous les </a:t>
            </a:r>
            <a:r>
              <a:rPr dirty="0" err="1"/>
              <a:t>verrez</a:t>
            </a:r>
            <a:r>
              <a:rPr dirty="0"/>
              <a:t> à la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Toute </a:t>
            </a:r>
            <a:r>
              <a:rPr dirty="0" err="1"/>
              <a:t>classe</a:t>
            </a:r>
            <a:r>
              <a:rPr dirty="0"/>
              <a:t> Java </a:t>
            </a:r>
            <a:r>
              <a:rPr dirty="0" err="1"/>
              <a:t>possède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>
                <a:latin typeface="Consolas"/>
              </a:rPr>
              <a:t>toString</a:t>
            </a:r>
            <a:r>
              <a:rPr dirty="0">
                <a:latin typeface="Consolas"/>
              </a:rPr>
              <a:t>()</a:t>
            </a:r>
            <a:r>
              <a:rPr dirty="0"/>
              <a:t>, qui retourne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représentation</a:t>
            </a:r>
            <a:r>
              <a:rPr dirty="0"/>
              <a:t> </a:t>
            </a:r>
            <a:r>
              <a:rPr dirty="0" err="1"/>
              <a:t>textuelle</a:t>
            </a:r>
            <a:r>
              <a:rPr dirty="0"/>
              <a:t> de </a:t>
            </a:r>
            <a:r>
              <a:rPr dirty="0" err="1"/>
              <a:t>l'objet</a:t>
            </a:r>
            <a:r>
              <a:rPr dirty="0"/>
              <a:t>. Celle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reçoit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 </a:t>
            </a:r>
            <a:r>
              <a:rPr dirty="0" err="1"/>
              <a:t>n'est</a:t>
            </a:r>
            <a:r>
              <a:rPr dirty="0"/>
              <a:t> </a:t>
            </a:r>
            <a:r>
              <a:rPr dirty="0" err="1"/>
              <a:t>guère</a:t>
            </a:r>
            <a:r>
              <a:rPr dirty="0"/>
              <a:t> utile : </a:t>
            </a:r>
            <a:r>
              <a:rPr dirty="0" err="1"/>
              <a:t>elle</a:t>
            </a:r>
            <a:r>
              <a:rPr dirty="0"/>
              <a:t> affiche le nom </a:t>
            </a:r>
            <a:r>
              <a:rPr dirty="0" err="1"/>
              <a:t>complet</a:t>
            </a:r>
            <a:r>
              <a:rPr dirty="0"/>
              <a:t> de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suivi</a:t>
            </a:r>
            <a:r>
              <a:rPr dirty="0"/>
              <a:t> d'un </a:t>
            </a:r>
            <a:r>
              <a:rPr dirty="0">
                <a:latin typeface="Consolas"/>
              </a:rPr>
              <a:t>@</a:t>
            </a:r>
            <a:r>
              <a:rPr dirty="0"/>
              <a:t> et d'un </a:t>
            </a:r>
            <a:r>
              <a:rPr dirty="0" err="1"/>
              <a:t>numéro</a:t>
            </a:r>
            <a:r>
              <a:rPr dirty="0"/>
              <a:t>, par </a:t>
            </a:r>
            <a:r>
              <a:rPr dirty="0" err="1"/>
              <a:t>exemple</a:t>
            </a:r>
            <a:r>
              <a:rPr dirty="0"/>
              <a:t> </a:t>
            </a:r>
            <a:r>
              <a:rPr dirty="0">
                <a:latin typeface="Consolas"/>
              </a:rPr>
              <a:t>Livre@1b6d3586</a:t>
            </a:r>
            <a:r>
              <a:rPr dirty="0"/>
              <a:t>.</a:t>
            </a:r>
          </a:p>
          <a:p>
            <a:r>
              <a:rPr lang="fr-BE" dirty="0"/>
              <a:t>On la redéfinit donc presque toujours. L'annotation @Override indique au compilateur qu'on remplace une méthode existante : celle que toute classe reçoit de la classe Object. Le module ABS explique ce mécanisme d'héritage.</a:t>
            </a:r>
          </a:p>
          <a:p>
            <a:r>
              <a:rPr dirty="0" err="1">
                <a:latin typeface="Consolas"/>
              </a:rPr>
              <a:t>toString</a:t>
            </a:r>
            <a:r>
              <a:rPr dirty="0">
                <a:latin typeface="Consolas"/>
              </a:rPr>
              <a:t>()</a:t>
            </a:r>
            <a:r>
              <a:rPr dirty="0"/>
              <a:t> est </a:t>
            </a:r>
            <a:r>
              <a:rPr dirty="0" err="1"/>
              <a:t>rarement</a:t>
            </a:r>
            <a:r>
              <a:rPr dirty="0"/>
              <a:t> </a:t>
            </a:r>
            <a:r>
              <a:rPr dirty="0" err="1"/>
              <a:t>appelée</a:t>
            </a:r>
            <a:r>
              <a:rPr dirty="0"/>
              <a:t> </a:t>
            </a:r>
            <a:r>
              <a:rPr dirty="0" err="1"/>
              <a:t>explicitement</a:t>
            </a:r>
            <a:r>
              <a:rPr dirty="0"/>
              <a:t>. </a:t>
            </a:r>
            <a:r>
              <a:rPr dirty="0" err="1">
                <a:latin typeface="Consolas"/>
              </a:rPr>
              <a:t>System.out.println</a:t>
            </a:r>
            <a:r>
              <a:rPr dirty="0">
                <a:latin typeface="Consolas"/>
              </a:rPr>
              <a:t>(dune)</a:t>
            </a:r>
            <a:r>
              <a:rPr dirty="0"/>
              <a:t> </a:t>
            </a:r>
            <a:r>
              <a:rPr dirty="0" err="1"/>
              <a:t>l'appelle</a:t>
            </a:r>
            <a:r>
              <a:rPr dirty="0"/>
              <a:t> pour vous, et la </a:t>
            </a:r>
            <a:r>
              <a:rPr dirty="0" err="1"/>
              <a:t>concaténation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chaîne</a:t>
            </a:r>
            <a:r>
              <a:rPr dirty="0"/>
              <a:t> et d'un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demo.poo.slides.LaMethodeToString.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</a:t>
            </a:r>
            <a:r>
              <a:rPr dirty="0" err="1"/>
              <a:t>l'exercice</a:t>
            </a:r>
            <a:r>
              <a:rPr dirty="0"/>
              <a:t> POO.1 du fascicule POO, </a:t>
            </a:r>
            <a:r>
              <a:rPr dirty="0" err="1"/>
              <a:t>puis</a:t>
            </a:r>
            <a:r>
              <a:rPr dirty="0"/>
              <a:t> les </a:t>
            </a:r>
            <a:r>
              <a:rPr dirty="0" err="1"/>
              <a:t>incréments</a:t>
            </a:r>
            <a:r>
              <a:rPr dirty="0"/>
              <a:t> G.1 et G.2 du fil rouge, dans le document </a:t>
            </a:r>
            <a:r>
              <a:rPr dirty="0" err="1"/>
              <a:t>GameHub</a:t>
            </a:r>
            <a:r>
              <a:rPr dirty="0"/>
              <a:t>. Pour </a:t>
            </a:r>
            <a:r>
              <a:rPr dirty="0" err="1"/>
              <a:t>choisir</a:t>
            </a:r>
            <a:r>
              <a:rPr dirty="0"/>
              <a:t> </a:t>
            </a:r>
            <a:r>
              <a:rPr dirty="0" err="1"/>
              <a:t>vos</a:t>
            </a:r>
            <a:r>
              <a:rPr dirty="0"/>
              <a:t> noms, </a:t>
            </a:r>
            <a:r>
              <a:rPr dirty="0" err="1"/>
              <a:t>lisez</a:t>
            </a:r>
            <a:r>
              <a:rPr dirty="0"/>
              <a:t> les </a:t>
            </a:r>
            <a:r>
              <a:rPr dirty="0" err="1"/>
              <a:t>règles</a:t>
            </a:r>
            <a:r>
              <a:rPr dirty="0"/>
              <a:t> CC-NOM.1 (le nom communique </a:t>
            </a:r>
            <a:r>
              <a:rPr dirty="0" err="1"/>
              <a:t>l'intention</a:t>
            </a:r>
            <a:r>
              <a:rPr dirty="0"/>
              <a:t>) et CC-NOM.5 (des noms pour les choses, des </a:t>
            </a:r>
            <a:r>
              <a:rPr dirty="0" err="1"/>
              <a:t>verbes</a:t>
            </a:r>
            <a:r>
              <a:rPr dirty="0"/>
              <a:t> pour les actions) du </a:t>
            </a:r>
            <a:r>
              <a:rPr dirty="0" err="1"/>
              <a:t>mémento</a:t>
            </a:r>
            <a:r>
              <a:rPr dirty="0"/>
              <a:t> Clean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dont</a:t>
            </a:r>
            <a:r>
              <a:rPr dirty="0"/>
              <a:t> les champs </a:t>
            </a:r>
            <a:r>
              <a:rPr dirty="0" err="1"/>
              <a:t>sont</a:t>
            </a:r>
            <a:r>
              <a:rPr dirty="0"/>
              <a:t> publics ne </a:t>
            </a:r>
            <a:r>
              <a:rPr dirty="0" err="1"/>
              <a:t>contrôle</a:t>
            </a:r>
            <a:r>
              <a:rPr dirty="0"/>
              <a:t> pas son propre état. Cette section montre comment </a:t>
            </a:r>
            <a:r>
              <a:rPr dirty="0" err="1"/>
              <a:t>reprendre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contrôle</a:t>
            </a:r>
            <a:r>
              <a:rPr dirty="0"/>
              <a:t>, et </a:t>
            </a:r>
            <a:r>
              <a:rPr dirty="0" err="1"/>
              <a:t>pourquoi</a:t>
            </a:r>
            <a:r>
              <a:rPr dirty="0"/>
              <a:t> il ne </a:t>
            </a:r>
            <a:r>
              <a:rPr dirty="0" err="1"/>
              <a:t>suffit</a:t>
            </a:r>
            <a:r>
              <a:rPr dirty="0"/>
              <a:t> pas de </a:t>
            </a:r>
            <a:r>
              <a:rPr dirty="0" err="1"/>
              <a:t>générer</a:t>
            </a:r>
            <a:r>
              <a:rPr dirty="0"/>
              <a:t> des </a:t>
            </a:r>
            <a:r>
              <a:rPr dirty="0" err="1"/>
              <a:t>accesseurs</a:t>
            </a:r>
            <a:r>
              <a:rPr dirty="0"/>
              <a:t> pour y </a:t>
            </a:r>
            <a:r>
              <a:rPr dirty="0" err="1"/>
              <a:t>parvenir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Avec un champ public, </a:t>
            </a:r>
            <a:r>
              <a:rPr dirty="0" err="1"/>
              <a:t>n'importe</a:t>
            </a:r>
            <a:r>
              <a:rPr dirty="0"/>
              <a:t> </a:t>
            </a:r>
            <a:r>
              <a:rPr dirty="0" err="1"/>
              <a:t>quel</a:t>
            </a:r>
            <a:r>
              <a:rPr dirty="0"/>
              <a:t> code </a:t>
            </a:r>
            <a:r>
              <a:rPr dirty="0" err="1"/>
              <a:t>peut</a:t>
            </a:r>
            <a:r>
              <a:rPr dirty="0"/>
              <a:t> modifier </a:t>
            </a:r>
            <a:r>
              <a:rPr dirty="0" err="1"/>
              <a:t>l'objet</a:t>
            </a:r>
            <a:r>
              <a:rPr dirty="0"/>
              <a:t> sans passer par </a:t>
            </a:r>
            <a:r>
              <a:rPr dirty="0" err="1"/>
              <a:t>lui</a:t>
            </a:r>
            <a:r>
              <a:rPr dirty="0"/>
              <a:t>. Rien </a:t>
            </a:r>
            <a:r>
              <a:rPr dirty="0" err="1"/>
              <a:t>n'empêche</a:t>
            </a:r>
            <a:r>
              <a:rPr dirty="0"/>
              <a:t> </a:t>
            </a:r>
            <a:r>
              <a:rPr dirty="0" err="1"/>
              <a:t>d'écrire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année</a:t>
            </a:r>
            <a:r>
              <a:rPr dirty="0"/>
              <a:t> de </a:t>
            </a:r>
            <a:r>
              <a:rPr dirty="0" err="1"/>
              <a:t>parution</a:t>
            </a:r>
            <a:r>
              <a:rPr dirty="0"/>
              <a:t> </a:t>
            </a:r>
            <a:r>
              <a:rPr dirty="0" err="1"/>
              <a:t>négative</a:t>
            </a:r>
            <a:r>
              <a:rPr dirty="0"/>
              <a:t> : le </a:t>
            </a:r>
            <a:r>
              <a:rPr dirty="0" err="1"/>
              <a:t>programme</a:t>
            </a:r>
            <a:r>
              <a:rPr dirty="0"/>
              <a:t> compile, </a:t>
            </a:r>
            <a:r>
              <a:rPr dirty="0" err="1"/>
              <a:t>s'exécute</a:t>
            </a:r>
            <a:r>
              <a:rPr dirty="0"/>
              <a:t>, et </a:t>
            </a:r>
            <a:r>
              <a:rPr dirty="0" err="1"/>
              <a:t>produit</a:t>
            </a:r>
            <a:r>
              <a:rPr dirty="0"/>
              <a:t> des </a:t>
            </a:r>
            <a:r>
              <a:rPr dirty="0" err="1"/>
              <a:t>résultats</a:t>
            </a:r>
            <a:r>
              <a:rPr dirty="0"/>
              <a:t> faux sans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personne</a:t>
            </a:r>
            <a:r>
              <a:rPr dirty="0"/>
              <a:t> ne </a:t>
            </a:r>
            <a:r>
              <a:rPr dirty="0" err="1"/>
              <a:t>s'en</a:t>
            </a:r>
            <a:r>
              <a:rPr dirty="0"/>
              <a:t> </a:t>
            </a:r>
            <a:r>
              <a:rPr dirty="0" err="1"/>
              <a:t>aperçoive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demo.poo.slides.LeProblemeDUnChampPublic.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Encapsuler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rendre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champs </a:t>
            </a:r>
            <a:r>
              <a:rPr dirty="0">
                <a:latin typeface="Consolas"/>
              </a:rPr>
              <a:t>private</a:t>
            </a:r>
            <a:r>
              <a:rPr dirty="0"/>
              <a:t> et </a:t>
            </a:r>
            <a:r>
              <a:rPr dirty="0" err="1"/>
              <a:t>n'y</a:t>
            </a:r>
            <a:r>
              <a:rPr dirty="0"/>
              <a:t> donner </a:t>
            </a:r>
            <a:r>
              <a:rPr dirty="0" err="1"/>
              <a:t>accès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par des </a:t>
            </a:r>
            <a:r>
              <a:rPr dirty="0" err="1"/>
              <a:t>méthodes</a:t>
            </a:r>
            <a:r>
              <a:rPr dirty="0"/>
              <a:t>. Par convention, la </a:t>
            </a:r>
            <a:r>
              <a:rPr dirty="0" err="1"/>
              <a:t>méthode</a:t>
            </a:r>
            <a:r>
              <a:rPr dirty="0"/>
              <a:t> qui lit un champ </a:t>
            </a:r>
            <a:r>
              <a:rPr dirty="0" err="1"/>
              <a:t>s'appelle</a:t>
            </a:r>
            <a:r>
              <a:rPr dirty="0"/>
              <a:t> </a:t>
            </a:r>
            <a:r>
              <a:rPr dirty="0">
                <a:latin typeface="Consolas"/>
              </a:rPr>
              <a:t>get</a:t>
            </a:r>
            <a:r>
              <a:rPr dirty="0"/>
              <a:t> </a:t>
            </a:r>
            <a:r>
              <a:rPr dirty="0" err="1"/>
              <a:t>suivi</a:t>
            </a:r>
            <a:r>
              <a:rPr dirty="0"/>
              <a:t> du nom du champ avec </a:t>
            </a:r>
            <a:r>
              <a:rPr dirty="0" err="1"/>
              <a:t>une</a:t>
            </a:r>
            <a:r>
              <a:rPr dirty="0"/>
              <a:t> majuscule, et </a:t>
            </a:r>
            <a:r>
              <a:rPr dirty="0" err="1"/>
              <a:t>celle</a:t>
            </a:r>
            <a:r>
              <a:rPr dirty="0"/>
              <a:t> qui le </a:t>
            </a:r>
            <a:r>
              <a:rPr dirty="0" err="1"/>
              <a:t>modifie</a:t>
            </a:r>
            <a:r>
              <a:rPr dirty="0"/>
              <a:t> </a:t>
            </a:r>
            <a:r>
              <a:rPr dirty="0">
                <a:latin typeface="Consolas"/>
              </a:rPr>
              <a:t>set</a:t>
            </a:r>
            <a:r>
              <a:rPr dirty="0"/>
              <a:t>. Pour un champ </a:t>
            </a:r>
            <a:r>
              <a:rPr dirty="0" err="1"/>
              <a:t>booléen</a:t>
            </a:r>
            <a:r>
              <a:rPr dirty="0"/>
              <a:t>, le getter commence par </a:t>
            </a:r>
            <a:r>
              <a:rPr dirty="0">
                <a:latin typeface="Consolas"/>
              </a:rPr>
              <a:t>is</a:t>
            </a:r>
            <a:r>
              <a:rPr dirty="0"/>
              <a:t>.</a:t>
            </a:r>
          </a:p>
          <a:p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,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appelle</a:t>
            </a:r>
            <a:r>
              <a:rPr dirty="0"/>
              <a:t> des </a:t>
            </a:r>
            <a:r>
              <a:rPr dirty="0" err="1"/>
              <a:t>accesseurs</a:t>
            </a:r>
            <a:r>
              <a:rPr dirty="0"/>
              <a:t>, </a:t>
            </a:r>
            <a:r>
              <a:rPr dirty="0" err="1"/>
              <a:t>jouent</a:t>
            </a:r>
            <a:r>
              <a:rPr dirty="0"/>
              <a:t> le </a:t>
            </a:r>
            <a:r>
              <a:rPr dirty="0" err="1"/>
              <a:t>rôle</a:t>
            </a:r>
            <a:r>
              <a:rPr dirty="0"/>
              <a:t> des </a:t>
            </a:r>
            <a:r>
              <a:rPr dirty="0" err="1"/>
              <a:t>propriétés</a:t>
            </a:r>
            <a:r>
              <a:rPr dirty="0"/>
              <a:t> de C#. IntelliJ </a:t>
            </a:r>
            <a:r>
              <a:rPr dirty="0" err="1"/>
              <a:t>sait</a:t>
            </a:r>
            <a:r>
              <a:rPr dirty="0"/>
              <a:t> les </a:t>
            </a:r>
            <a:r>
              <a:rPr dirty="0" err="1"/>
              <a:t>générer</a:t>
            </a:r>
            <a:r>
              <a:rPr dirty="0"/>
              <a:t> (voir IDE.12).</a:t>
            </a:r>
          </a:p>
          <a:p>
            <a:r>
              <a:rPr lang="fr-BE" dirty="0"/>
              <a:t>Le code complet : demos, classe demo.poo.slides.Livre.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getter et un setter qui se </a:t>
            </a:r>
            <a:r>
              <a:rPr dirty="0" err="1"/>
              <a:t>contentent</a:t>
            </a:r>
            <a:r>
              <a:rPr dirty="0"/>
              <a:t> de lire et </a:t>
            </a:r>
            <a:r>
              <a:rPr dirty="0" err="1"/>
              <a:t>d'écrire</a:t>
            </a:r>
            <a:r>
              <a:rPr dirty="0"/>
              <a:t> le champ ne </a:t>
            </a:r>
            <a:r>
              <a:rPr dirty="0" err="1"/>
              <a:t>protègent</a:t>
            </a:r>
            <a:r>
              <a:rPr dirty="0"/>
              <a:t> rien : </a:t>
            </a:r>
            <a:r>
              <a:rPr dirty="0" err="1"/>
              <a:t>ils</a:t>
            </a:r>
            <a:r>
              <a:rPr dirty="0"/>
              <a:t> ne font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déplacer</a:t>
            </a:r>
            <a:r>
              <a:rPr dirty="0"/>
              <a:t> </a:t>
            </a:r>
            <a:r>
              <a:rPr dirty="0" err="1"/>
              <a:t>l'accès</a:t>
            </a:r>
            <a:r>
              <a:rPr dirty="0"/>
              <a:t>. Leur </a:t>
            </a:r>
            <a:r>
              <a:rPr dirty="0" err="1"/>
              <a:t>intérêt</a:t>
            </a:r>
            <a:r>
              <a:rPr dirty="0"/>
              <a:t> </a:t>
            </a:r>
            <a:r>
              <a:rPr dirty="0" err="1"/>
              <a:t>apparaît</a:t>
            </a:r>
            <a:r>
              <a:rPr dirty="0"/>
              <a:t> </a:t>
            </a:r>
            <a:r>
              <a:rPr dirty="0" err="1"/>
              <a:t>quand</a:t>
            </a:r>
            <a:r>
              <a:rPr dirty="0"/>
              <a:t> on y place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règle</a:t>
            </a:r>
            <a:r>
              <a:rPr dirty="0"/>
              <a:t>. </a:t>
            </a:r>
            <a:r>
              <a:rPr dirty="0" err="1"/>
              <a:t>Ici</a:t>
            </a:r>
            <a:r>
              <a:rPr dirty="0"/>
              <a:t>, le setter refuse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année</a:t>
            </a:r>
            <a:r>
              <a:rPr dirty="0"/>
              <a:t> </a:t>
            </a:r>
            <a:r>
              <a:rPr dirty="0" err="1"/>
              <a:t>négative</a:t>
            </a:r>
            <a:r>
              <a:rPr dirty="0"/>
              <a:t>, et </a:t>
            </a:r>
            <a:r>
              <a:rPr dirty="0" err="1"/>
              <a:t>l'objet</a:t>
            </a:r>
            <a:r>
              <a:rPr dirty="0"/>
              <a:t> ne </a:t>
            </a:r>
            <a:r>
              <a:rPr dirty="0" err="1"/>
              <a:t>peut</a:t>
            </a:r>
            <a:r>
              <a:rPr dirty="0"/>
              <a:t> plus se </a:t>
            </a:r>
            <a:r>
              <a:rPr dirty="0" err="1"/>
              <a:t>retrouver</a:t>
            </a:r>
            <a:r>
              <a:rPr dirty="0"/>
              <a:t> dans un état </a:t>
            </a:r>
            <a:r>
              <a:rPr dirty="0" err="1"/>
              <a:t>absurde</a:t>
            </a:r>
            <a:r>
              <a:rPr dirty="0"/>
              <a:t>.</a:t>
            </a:r>
          </a:p>
          <a:p>
            <a:r>
              <a:rPr dirty="0"/>
              <a:t>Le </a:t>
            </a:r>
            <a:r>
              <a:rPr dirty="0" err="1"/>
              <a:t>refus</a:t>
            </a:r>
            <a:r>
              <a:rPr dirty="0"/>
              <a:t> </a:t>
            </a:r>
            <a:r>
              <a:rPr dirty="0" err="1"/>
              <a:t>prend</a:t>
            </a:r>
            <a:r>
              <a:rPr dirty="0"/>
              <a:t> la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exception. Le module EXC les </a:t>
            </a:r>
            <a:r>
              <a:rPr dirty="0" err="1"/>
              <a:t>étudie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détail</a:t>
            </a:r>
            <a:r>
              <a:rPr dirty="0"/>
              <a:t> ; </a:t>
            </a:r>
            <a:r>
              <a:rPr dirty="0" err="1"/>
              <a:t>retenez</a:t>
            </a:r>
            <a:r>
              <a:rPr dirty="0"/>
              <a:t> pour </a:t>
            </a:r>
            <a:r>
              <a:rPr dirty="0" err="1"/>
              <a:t>l'instant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>
                <a:latin typeface="Consolas"/>
              </a:rPr>
              <a:t>throw</a:t>
            </a:r>
            <a:r>
              <a:rPr dirty="0"/>
              <a:t> </a:t>
            </a:r>
            <a:r>
              <a:rPr dirty="0" err="1"/>
              <a:t>interrompt</a:t>
            </a:r>
            <a:r>
              <a:rPr dirty="0"/>
              <a:t> la </a:t>
            </a:r>
            <a:r>
              <a:rPr dirty="0" err="1"/>
              <a:t>méthode</a:t>
            </a:r>
            <a:r>
              <a:rPr dirty="0"/>
              <a:t> et </a:t>
            </a:r>
            <a:r>
              <a:rPr dirty="0" err="1"/>
              <a:t>signale</a:t>
            </a:r>
            <a:r>
              <a:rPr dirty="0"/>
              <a:t> </a:t>
            </a:r>
            <a:r>
              <a:rPr dirty="0" err="1"/>
              <a:t>l'erreur</a:t>
            </a:r>
            <a:r>
              <a:rPr dirty="0"/>
              <a:t> à </a:t>
            </a:r>
            <a:r>
              <a:rPr dirty="0" err="1"/>
              <a:t>l'appelant</a:t>
            </a:r>
            <a:r>
              <a:rPr dirty="0"/>
              <a:t>. </a:t>
            </a:r>
            <a:r>
              <a:rPr dirty="0" err="1">
                <a:latin typeface="Consolas"/>
              </a:rPr>
              <a:t>IllegalArgumentException</a:t>
            </a:r>
            <a:r>
              <a:rPr dirty="0"/>
              <a:t> est </a:t>
            </a:r>
            <a:r>
              <a:rPr dirty="0" err="1"/>
              <a:t>une</a:t>
            </a:r>
            <a:r>
              <a:rPr dirty="0"/>
              <a:t> exception </a:t>
            </a:r>
            <a:r>
              <a:rPr dirty="0" err="1"/>
              <a:t>dite</a:t>
            </a:r>
            <a:r>
              <a:rPr dirty="0"/>
              <a:t> non contrôlée : le </a:t>
            </a:r>
            <a:r>
              <a:rPr dirty="0" err="1"/>
              <a:t>compilateur</a:t>
            </a:r>
            <a:r>
              <a:rPr dirty="0"/>
              <a:t> </a:t>
            </a:r>
            <a:r>
              <a:rPr dirty="0" err="1"/>
              <a:t>n'exige</a:t>
            </a:r>
            <a:r>
              <a:rPr dirty="0"/>
              <a:t> pas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l'attrape</a:t>
            </a:r>
            <a:r>
              <a:rPr dirty="0"/>
              <a:t>, et le code </a:t>
            </a:r>
            <a:r>
              <a:rPr dirty="0" err="1"/>
              <a:t>appelant</a:t>
            </a:r>
            <a:r>
              <a:rPr dirty="0"/>
              <a:t> </a:t>
            </a:r>
            <a:r>
              <a:rPr dirty="0" err="1"/>
              <a:t>reste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/>
              <a:t>débarrassé</a:t>
            </a:r>
            <a:r>
              <a:rPr dirty="0"/>
              <a:t> de tout </a:t>
            </a:r>
            <a:r>
              <a:rPr dirty="0">
                <a:latin typeface="Consolas"/>
              </a:rPr>
              <a:t>try/catch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demo.poo.slides.CeQueLeDetourPermet.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</a:t>
            </a:r>
            <a:r>
              <a:rPr dirty="0" err="1"/>
              <a:t>générateur</a:t>
            </a:r>
            <a:r>
              <a:rPr dirty="0"/>
              <a:t> </a:t>
            </a:r>
            <a:r>
              <a:rPr dirty="0" err="1"/>
              <a:t>d'IntelliJ</a:t>
            </a:r>
            <a:r>
              <a:rPr dirty="0"/>
              <a:t> </a:t>
            </a:r>
            <a:r>
              <a:rPr dirty="0" err="1"/>
              <a:t>produit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clic</a:t>
            </a:r>
            <a:r>
              <a:rPr dirty="0"/>
              <a:t> un getter et un setter pour </a:t>
            </a:r>
            <a:r>
              <a:rPr dirty="0" err="1"/>
              <a:t>chaque</a:t>
            </a:r>
            <a:r>
              <a:rPr dirty="0"/>
              <a:t> champ. </a:t>
            </a:r>
            <a:r>
              <a:rPr dirty="0" err="1"/>
              <a:t>C'est</a:t>
            </a:r>
            <a:r>
              <a:rPr dirty="0"/>
              <a:t> commode, </a:t>
            </a:r>
            <a:r>
              <a:rPr dirty="0" err="1"/>
              <a:t>mais</a:t>
            </a:r>
            <a:r>
              <a:rPr dirty="0"/>
              <a:t> le </a:t>
            </a:r>
            <a:r>
              <a:rPr dirty="0" err="1"/>
              <a:t>résultat</a:t>
            </a:r>
            <a:r>
              <a:rPr dirty="0"/>
              <a:t> ne </a:t>
            </a:r>
            <a:r>
              <a:rPr dirty="0" err="1"/>
              <a:t>vaut</a:t>
            </a:r>
            <a:r>
              <a:rPr dirty="0"/>
              <a:t> </a:t>
            </a:r>
            <a:r>
              <a:rPr dirty="0" err="1"/>
              <a:t>guère</a:t>
            </a:r>
            <a:r>
              <a:rPr dirty="0"/>
              <a:t> </a:t>
            </a:r>
            <a:r>
              <a:rPr dirty="0" err="1"/>
              <a:t>mieux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des champs publics : </a:t>
            </a:r>
            <a:r>
              <a:rPr dirty="0" err="1"/>
              <a:t>n'importe</a:t>
            </a:r>
            <a:r>
              <a:rPr dirty="0"/>
              <a:t> qui </a:t>
            </a:r>
            <a:r>
              <a:rPr dirty="0" err="1"/>
              <a:t>peut</a:t>
            </a:r>
            <a:r>
              <a:rPr dirty="0"/>
              <a:t> encore tout lire et tout modifier.</a:t>
            </a:r>
          </a:p>
          <a:p>
            <a:r>
              <a:rPr dirty="0" err="1"/>
              <a:t>Posez</a:t>
            </a:r>
            <a:r>
              <a:rPr dirty="0"/>
              <a:t>-vous la question pour </a:t>
            </a:r>
            <a:r>
              <a:rPr dirty="0" err="1"/>
              <a:t>chaque</a:t>
            </a:r>
            <a:r>
              <a:rPr dirty="0"/>
              <a:t> champ. Doit-il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lu</a:t>
            </a:r>
            <a:r>
              <a:rPr dirty="0"/>
              <a:t> de </a:t>
            </a:r>
            <a:r>
              <a:rPr dirty="0" err="1"/>
              <a:t>l'extérieur</a:t>
            </a:r>
            <a:r>
              <a:rPr dirty="0"/>
              <a:t> ? Doit-il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modifié</a:t>
            </a:r>
            <a:r>
              <a:rPr dirty="0"/>
              <a:t>, et </a:t>
            </a:r>
            <a:r>
              <a:rPr dirty="0" err="1"/>
              <a:t>selon</a:t>
            </a:r>
            <a:r>
              <a:rPr dirty="0"/>
              <a:t> quelle </a:t>
            </a:r>
            <a:r>
              <a:rPr dirty="0" err="1"/>
              <a:t>règle</a:t>
            </a:r>
            <a:r>
              <a:rPr dirty="0"/>
              <a:t> ? Un champ </a:t>
            </a:r>
            <a:r>
              <a:rPr dirty="0">
                <a:latin typeface="Consolas"/>
              </a:rPr>
              <a:t>final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par </a:t>
            </a:r>
            <a:r>
              <a:rPr dirty="0" err="1"/>
              <a:t>définition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setter. La </a:t>
            </a:r>
            <a:r>
              <a:rPr dirty="0" err="1"/>
              <a:t>règle</a:t>
            </a:r>
            <a:r>
              <a:rPr dirty="0"/>
              <a:t> CC-OBJ.2 du </a:t>
            </a:r>
            <a:r>
              <a:rPr dirty="0" err="1"/>
              <a:t>mémento</a:t>
            </a:r>
            <a:r>
              <a:rPr dirty="0"/>
              <a:t> Clean Code </a:t>
            </a:r>
            <a:r>
              <a:rPr dirty="0" err="1"/>
              <a:t>développe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L'âge</a:t>
            </a:r>
            <a:r>
              <a:rPr dirty="0"/>
              <a:t> d'un livre change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année</a:t>
            </a:r>
            <a:r>
              <a:rPr dirty="0"/>
              <a:t>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son </a:t>
            </a:r>
            <a:r>
              <a:rPr dirty="0" err="1"/>
              <a:t>année</a:t>
            </a:r>
            <a:r>
              <a:rPr dirty="0"/>
              <a:t> de </a:t>
            </a:r>
            <a:r>
              <a:rPr dirty="0" err="1"/>
              <a:t>parution</a:t>
            </a:r>
            <a:r>
              <a:rPr dirty="0"/>
              <a:t> ne change jamais. Stocker </a:t>
            </a:r>
            <a:r>
              <a:rPr dirty="0" err="1"/>
              <a:t>l'âge</a:t>
            </a:r>
            <a:r>
              <a:rPr dirty="0"/>
              <a:t> dans un champ, </a:t>
            </a:r>
            <a:r>
              <a:rPr dirty="0" err="1"/>
              <a:t>c'est</a:t>
            </a:r>
            <a:r>
              <a:rPr dirty="0"/>
              <a:t> accepter </a:t>
            </a:r>
            <a:r>
              <a:rPr dirty="0" err="1"/>
              <a:t>qu'il</a:t>
            </a:r>
            <a:r>
              <a:rPr dirty="0"/>
              <a:t> </a:t>
            </a:r>
            <a:r>
              <a:rPr dirty="0" err="1"/>
              <a:t>devienne</a:t>
            </a:r>
            <a:r>
              <a:rPr dirty="0"/>
              <a:t> faux au premier </a:t>
            </a:r>
            <a:r>
              <a:rPr dirty="0" err="1"/>
              <a:t>janvier</a:t>
            </a:r>
            <a:r>
              <a:rPr dirty="0"/>
              <a:t> </a:t>
            </a:r>
            <a:r>
              <a:rPr dirty="0" err="1"/>
              <a:t>suivant</a:t>
            </a:r>
            <a:r>
              <a:rPr dirty="0"/>
              <a:t>, sans </a:t>
            </a:r>
            <a:r>
              <a:rPr dirty="0" err="1"/>
              <a:t>que</a:t>
            </a:r>
            <a:r>
              <a:rPr dirty="0"/>
              <a:t> rien ne le </a:t>
            </a:r>
            <a:r>
              <a:rPr dirty="0" err="1"/>
              <a:t>mette</a:t>
            </a:r>
            <a:r>
              <a:rPr dirty="0"/>
              <a:t> à jour.</a:t>
            </a:r>
          </a:p>
          <a:p>
            <a:r>
              <a:rPr dirty="0"/>
              <a:t>Une donnée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recalculer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pas </a:t>
            </a:r>
            <a:r>
              <a:rPr dirty="0" err="1"/>
              <a:t>sa</a:t>
            </a:r>
            <a:r>
              <a:rPr dirty="0"/>
              <a:t> place dans un champ :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la </a:t>
            </a:r>
            <a:r>
              <a:rPr dirty="0" err="1"/>
              <a:t>calcule</a:t>
            </a:r>
            <a:r>
              <a:rPr dirty="0"/>
              <a:t> à la </a:t>
            </a:r>
            <a:r>
              <a:rPr dirty="0" err="1"/>
              <a:t>demande</a:t>
            </a:r>
            <a:r>
              <a:rPr dirty="0"/>
              <a:t>, à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ce</a:t>
            </a:r>
            <a:r>
              <a:rPr dirty="0"/>
              <a:t> qui est stable. Vu de </a:t>
            </a:r>
            <a:r>
              <a:rPr dirty="0" err="1"/>
              <a:t>l'extérieur</a:t>
            </a:r>
            <a:r>
              <a:rPr dirty="0"/>
              <a:t>, </a:t>
            </a:r>
            <a:r>
              <a:rPr dirty="0" err="1">
                <a:latin typeface="Consolas"/>
              </a:rPr>
              <a:t>getAge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ressemble</a:t>
            </a:r>
            <a:r>
              <a:rPr dirty="0"/>
              <a:t> à un getter ordinaire ; </a:t>
            </a:r>
            <a:r>
              <a:rPr dirty="0" err="1"/>
              <a:t>aucun</a:t>
            </a:r>
            <a:r>
              <a:rPr dirty="0"/>
              <a:t> champ ne se cache </a:t>
            </a:r>
            <a:r>
              <a:rPr dirty="0" err="1"/>
              <a:t>pourtant</a:t>
            </a:r>
            <a:r>
              <a:rPr dirty="0"/>
              <a:t> derrière.</a:t>
            </a:r>
          </a:p>
          <a:p>
            <a:r>
              <a:rPr dirty="0" err="1">
                <a:latin typeface="Consolas"/>
              </a:rPr>
              <a:t>LocalDate.now</a:t>
            </a:r>
            <a:r>
              <a:rPr dirty="0">
                <a:latin typeface="Consolas"/>
              </a:rPr>
              <a:t>().</a:t>
            </a:r>
            <a:r>
              <a:rPr dirty="0" err="1">
                <a:latin typeface="Consolas"/>
              </a:rPr>
              <a:t>getYear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donne</a:t>
            </a:r>
            <a:r>
              <a:rPr dirty="0"/>
              <a:t> </a:t>
            </a:r>
            <a:r>
              <a:rPr dirty="0" err="1"/>
              <a:t>l'année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. Les classes de dates font </a:t>
            </a:r>
            <a:r>
              <a:rPr dirty="0" err="1"/>
              <a:t>l'objet</a:t>
            </a:r>
            <a:r>
              <a:rPr dirty="0"/>
              <a:t> du module TMP.</a:t>
            </a:r>
          </a:p>
          <a:p>
            <a:r>
              <a:rPr lang="fr-BE" dirty="0"/>
              <a:t>Le code complet, à exécuter : demos, classe demo.poo.slides.LaDonneeQuiNExistePas.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les </a:t>
            </a:r>
            <a:r>
              <a:rPr dirty="0" err="1"/>
              <a:t>exercices</a:t>
            </a:r>
            <a:r>
              <a:rPr dirty="0"/>
              <a:t> POO.2 et POO.3 du fascicule POO. La section IDE.12 du guide IntelliJ montre comment </a:t>
            </a:r>
            <a:r>
              <a:rPr dirty="0" err="1"/>
              <a:t>générer</a:t>
            </a:r>
            <a:r>
              <a:rPr dirty="0"/>
              <a:t> </a:t>
            </a:r>
            <a:r>
              <a:rPr dirty="0" err="1"/>
              <a:t>accesseurs</a:t>
            </a:r>
            <a:r>
              <a:rPr dirty="0"/>
              <a:t> et </a:t>
            </a:r>
            <a:r>
              <a:rPr dirty="0" err="1"/>
              <a:t>constructeurs</a:t>
            </a:r>
            <a:r>
              <a:rPr dirty="0"/>
              <a:t>, et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qu'il</a:t>
            </a:r>
            <a:r>
              <a:rPr dirty="0"/>
              <a:t> faut </a:t>
            </a:r>
            <a:r>
              <a:rPr dirty="0" err="1"/>
              <a:t>éviter</a:t>
            </a:r>
            <a:r>
              <a:rPr dirty="0"/>
              <a:t> </a:t>
            </a:r>
            <a:r>
              <a:rPr dirty="0" err="1"/>
              <a:t>quand</a:t>
            </a:r>
            <a:r>
              <a:rPr dirty="0"/>
              <a:t> le </a:t>
            </a:r>
            <a:r>
              <a:rPr dirty="0" err="1"/>
              <a:t>squelette</a:t>
            </a:r>
            <a:r>
              <a:rPr dirty="0"/>
              <a:t> les </a:t>
            </a:r>
            <a:r>
              <a:rPr dirty="0" err="1"/>
              <a:t>déclare</a:t>
            </a:r>
            <a:r>
              <a:rPr dirty="0"/>
              <a:t>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Jusqu'ici</a:t>
            </a:r>
            <a:r>
              <a:rPr dirty="0"/>
              <a:t>, </a:t>
            </a:r>
            <a:r>
              <a:rPr dirty="0" err="1"/>
              <a:t>chaque</a:t>
            </a:r>
            <a:r>
              <a:rPr dirty="0"/>
              <a:t> champ </a:t>
            </a:r>
            <a:r>
              <a:rPr dirty="0" err="1"/>
              <a:t>appartenait</a:t>
            </a:r>
            <a:r>
              <a:rPr dirty="0"/>
              <a:t> à un </a:t>
            </a:r>
            <a:r>
              <a:rPr dirty="0" err="1"/>
              <a:t>objet</a:t>
            </a:r>
            <a:r>
              <a:rPr dirty="0"/>
              <a:t> : </a:t>
            </a:r>
            <a:r>
              <a:rPr dirty="0" err="1"/>
              <a:t>chaque</a:t>
            </a:r>
            <a:r>
              <a:rPr dirty="0"/>
              <a:t> livre a son </a:t>
            </a:r>
            <a:r>
              <a:rPr dirty="0" err="1"/>
              <a:t>titre</a:t>
            </a:r>
            <a:r>
              <a:rPr dirty="0"/>
              <a:t>. </a:t>
            </a:r>
            <a:r>
              <a:rPr dirty="0" err="1"/>
              <a:t>Certaines</a:t>
            </a:r>
            <a:r>
              <a:rPr dirty="0"/>
              <a:t> </a:t>
            </a:r>
            <a:r>
              <a:rPr dirty="0" err="1"/>
              <a:t>informations</a:t>
            </a:r>
            <a:r>
              <a:rPr dirty="0"/>
              <a:t> </a:t>
            </a:r>
            <a:r>
              <a:rPr dirty="0" err="1"/>
              <a:t>n'appartiennent</a:t>
            </a:r>
            <a:r>
              <a:rPr dirty="0"/>
              <a:t> </a:t>
            </a:r>
            <a:r>
              <a:rPr dirty="0" err="1"/>
              <a:t>pourtant</a:t>
            </a:r>
            <a:r>
              <a:rPr dirty="0"/>
              <a:t> à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particulier. Le mot-</a:t>
            </a:r>
            <a:r>
              <a:rPr dirty="0" err="1"/>
              <a:t>clé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 les </a:t>
            </a:r>
            <a:r>
              <a:rPr dirty="0" err="1"/>
              <a:t>rattache</a:t>
            </a:r>
            <a:r>
              <a:rPr dirty="0"/>
              <a:t> à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elle-même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champ </a:t>
            </a:r>
            <a:r>
              <a:rPr dirty="0" err="1"/>
              <a:t>déclaré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 </a:t>
            </a:r>
            <a:r>
              <a:rPr dirty="0" err="1"/>
              <a:t>qu'une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,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soit le </a:t>
            </a:r>
            <a:r>
              <a:rPr dirty="0" err="1"/>
              <a:t>nombre</a:t>
            </a:r>
            <a:r>
              <a:rPr dirty="0"/>
              <a:t> </a:t>
            </a:r>
            <a:r>
              <a:rPr dirty="0" err="1"/>
              <a:t>d'objets</a:t>
            </a:r>
            <a:r>
              <a:rPr dirty="0"/>
              <a:t> </a:t>
            </a:r>
            <a:r>
              <a:rPr dirty="0" err="1"/>
              <a:t>créés</a:t>
            </a:r>
            <a:r>
              <a:rPr dirty="0"/>
              <a:t> : on </a:t>
            </a:r>
            <a:r>
              <a:rPr dirty="0" err="1"/>
              <a:t>l'appelle</a:t>
            </a:r>
            <a:r>
              <a:rPr dirty="0"/>
              <a:t> champ de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champ </a:t>
            </a:r>
            <a:r>
              <a:rPr dirty="0" err="1"/>
              <a:t>statique</a:t>
            </a:r>
            <a:r>
              <a:rPr dirty="0"/>
              <a:t>. De </a:t>
            </a:r>
            <a:r>
              <a:rPr dirty="0" err="1"/>
              <a:t>même</a:t>
            </a:r>
            <a:r>
              <a:rPr dirty="0"/>
              <a:t>,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appelée</a:t>
            </a:r>
            <a:r>
              <a:rPr dirty="0"/>
              <a:t> sans </a:t>
            </a:r>
            <a:r>
              <a:rPr dirty="0" err="1"/>
              <a:t>qu'aucun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. Vous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utilisez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le début : </a:t>
            </a:r>
            <a:r>
              <a:rPr dirty="0">
                <a:latin typeface="Consolas"/>
              </a:rPr>
              <a:t>main</a:t>
            </a:r>
            <a:r>
              <a:rPr dirty="0"/>
              <a:t>, </a:t>
            </a:r>
            <a:r>
              <a:rPr dirty="0" err="1">
                <a:latin typeface="Consolas"/>
              </a:rPr>
              <a:t>Math.sqrt</a:t>
            </a:r>
            <a:r>
              <a:rPr dirty="0">
                <a:latin typeface="Consolas"/>
              </a:rPr>
              <a:t>()</a:t>
            </a:r>
            <a:r>
              <a:rPr dirty="0"/>
              <a:t>, et </a:t>
            </a:r>
            <a:r>
              <a:rPr dirty="0" err="1">
                <a:latin typeface="Consolas"/>
              </a:rPr>
              <a:t>LocalDate.now</a:t>
            </a:r>
            <a:r>
              <a:rPr dirty="0">
                <a:latin typeface="Consolas"/>
              </a:rPr>
              <a:t>()</a:t>
            </a:r>
            <a:r>
              <a:rPr dirty="0"/>
              <a:t> dans </a:t>
            </a:r>
            <a:r>
              <a:rPr dirty="0" err="1"/>
              <a:t>l'exercice</a:t>
            </a:r>
            <a:r>
              <a:rPr dirty="0"/>
              <a:t> POO.3.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Sans </a:t>
            </a:r>
            <a:r>
              <a:rPr dirty="0">
                <a:latin typeface="Consolas"/>
              </a:rPr>
              <a:t>static</a:t>
            </a:r>
            <a:r>
              <a:rPr dirty="0"/>
              <a:t>,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reçoit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propres</a:t>
            </a:r>
            <a:r>
              <a:rPr dirty="0"/>
              <a:t> </a:t>
            </a:r>
            <a:r>
              <a:rPr dirty="0" err="1"/>
              <a:t>exemplaires</a:t>
            </a:r>
            <a:r>
              <a:rPr dirty="0"/>
              <a:t> des champs. </a:t>
            </a:r>
            <a:r>
              <a:rPr dirty="0">
                <a:latin typeface="Consolas"/>
              </a:rPr>
              <a:t>a1.n</a:t>
            </a:r>
            <a:r>
              <a:rPr dirty="0"/>
              <a:t> et </a:t>
            </a:r>
            <a:r>
              <a:rPr dirty="0">
                <a:latin typeface="Consolas"/>
              </a:rPr>
              <a:t>a2.n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deux cases </a:t>
            </a:r>
            <a:r>
              <a:rPr dirty="0" err="1"/>
              <a:t>mémoire</a:t>
            </a:r>
            <a:r>
              <a:rPr dirty="0"/>
              <a:t> </a:t>
            </a:r>
            <a:r>
              <a:rPr dirty="0" err="1"/>
              <a:t>distinctes</a:t>
            </a:r>
            <a:r>
              <a:rPr dirty="0"/>
              <a:t> : modifier </a:t>
            </a:r>
            <a:r>
              <a:rPr dirty="0" err="1"/>
              <a:t>l'une</a:t>
            </a:r>
            <a:r>
              <a:rPr dirty="0"/>
              <a:t> ne change rien à </a:t>
            </a:r>
            <a:r>
              <a:rPr dirty="0" err="1"/>
              <a:t>l'autre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Déclaré</a:t>
            </a:r>
            <a:r>
              <a:rPr dirty="0"/>
              <a:t> </a:t>
            </a:r>
            <a:r>
              <a:rPr dirty="0">
                <a:latin typeface="Consolas"/>
              </a:rPr>
              <a:t>static</a:t>
            </a:r>
            <a:r>
              <a:rPr dirty="0"/>
              <a:t>, le champ </a:t>
            </a:r>
            <a:r>
              <a:rPr dirty="0">
                <a:latin typeface="Consolas"/>
              </a:rPr>
              <a:t>n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 plus </a:t>
            </a:r>
            <a:r>
              <a:rPr dirty="0" err="1"/>
              <a:t>qu'une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, pour toute la </a:t>
            </a:r>
            <a:r>
              <a:rPr dirty="0" err="1"/>
              <a:t>classe</a:t>
            </a:r>
            <a:r>
              <a:rPr dirty="0"/>
              <a:t>. </a:t>
            </a:r>
            <a:r>
              <a:rPr dirty="0">
                <a:latin typeface="Consolas"/>
              </a:rPr>
              <a:t>b1.n</a:t>
            </a:r>
            <a:r>
              <a:rPr dirty="0"/>
              <a:t> et </a:t>
            </a:r>
            <a:r>
              <a:rPr dirty="0">
                <a:latin typeface="Consolas"/>
              </a:rPr>
              <a:t>b2.n</a:t>
            </a:r>
            <a:r>
              <a:rPr dirty="0"/>
              <a:t> </a:t>
            </a:r>
            <a:r>
              <a:rPr dirty="0" err="1"/>
              <a:t>désignent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case :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l'un</a:t>
            </a:r>
            <a:r>
              <a:rPr dirty="0"/>
              <a:t> y </a:t>
            </a:r>
            <a:r>
              <a:rPr dirty="0" err="1"/>
              <a:t>écrit</a:t>
            </a:r>
            <a:r>
              <a:rPr dirty="0"/>
              <a:t>, </a:t>
            </a:r>
            <a:r>
              <a:rPr dirty="0" err="1"/>
              <a:t>l'autre</a:t>
            </a:r>
            <a:r>
              <a:rPr dirty="0"/>
              <a:t> le lit. Le champ </a:t>
            </a:r>
            <a:r>
              <a:rPr dirty="0">
                <a:latin typeface="Consolas"/>
              </a:rPr>
              <a:t>y</a:t>
            </a:r>
            <a:r>
              <a:rPr dirty="0"/>
              <a:t>, </a:t>
            </a:r>
            <a:r>
              <a:rPr dirty="0" err="1"/>
              <a:t>lui</a:t>
            </a:r>
            <a:r>
              <a:rPr dirty="0"/>
              <a:t>, </a:t>
            </a:r>
            <a:r>
              <a:rPr dirty="0" err="1"/>
              <a:t>reste</a:t>
            </a:r>
            <a:r>
              <a:rPr dirty="0"/>
              <a:t> propre à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 dirty="0"/>
              <a:t>Puisqu'un champ statique appartient à la classe, on le désigne de préférence par le nom de la classe : B.n dit clairement qu'il s'agit d'un champ partagé, là où b1.n laisse croire qu'il appartient à b1. Cette notation suppose que le champ soit visible ; un champ statique private reste accessible à l'extérieur par l'intermédiaire de méthodes, comme n'importe quel champ encapsulé. À l'intérieur de la classe B, en revanche, le nom n suffit.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démonstration</a:t>
            </a:r>
            <a:r>
              <a:rPr dirty="0"/>
              <a:t> </a:t>
            </a:r>
            <a:r>
              <a:rPr dirty="0" err="1"/>
              <a:t>numérote</a:t>
            </a:r>
            <a:r>
              <a:rPr dirty="0"/>
              <a:t> des voitures, </a:t>
            </a:r>
            <a:r>
              <a:rPr dirty="0" err="1"/>
              <a:t>d'abord</a:t>
            </a:r>
            <a:r>
              <a:rPr dirty="0"/>
              <a:t> à la main </a:t>
            </a:r>
            <a:r>
              <a:rPr dirty="0" err="1"/>
              <a:t>puis</a:t>
            </a:r>
            <a:r>
              <a:rPr dirty="0"/>
              <a:t> grâce à un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/>
              <a:t>partagé</a:t>
            </a:r>
            <a:r>
              <a:rPr dirty="0"/>
              <a:t>. Le </a:t>
            </a:r>
            <a:r>
              <a:rPr dirty="0" err="1"/>
              <a:t>débogueur</a:t>
            </a:r>
            <a:r>
              <a:rPr dirty="0"/>
              <a:t> montre ensuite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chaque</a:t>
            </a:r>
            <a:r>
              <a:rPr dirty="0"/>
              <a:t> voiture a son propre </a:t>
            </a:r>
            <a:r>
              <a:rPr dirty="0" err="1"/>
              <a:t>numéro</a:t>
            </a:r>
            <a:r>
              <a:rPr dirty="0"/>
              <a:t>,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 </a:t>
            </a:r>
            <a:r>
              <a:rPr dirty="0" err="1"/>
              <a:t>qu'une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 (voir IDE.19).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>
                <a:latin typeface="Consolas"/>
              </a:rPr>
              <a:t>crees</a:t>
            </a:r>
            <a:r>
              <a:rPr dirty="0"/>
              <a:t> est </a:t>
            </a:r>
            <a:r>
              <a:rPr dirty="0" err="1"/>
              <a:t>partagé</a:t>
            </a:r>
            <a:r>
              <a:rPr dirty="0"/>
              <a:t> par </a:t>
            </a:r>
            <a:r>
              <a:rPr dirty="0" err="1"/>
              <a:t>tous</a:t>
            </a:r>
            <a:r>
              <a:rPr dirty="0"/>
              <a:t> les tickets :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constructeur</a:t>
            </a:r>
            <a:r>
              <a:rPr dirty="0"/>
              <a:t> </a:t>
            </a:r>
            <a:r>
              <a:rPr dirty="0" err="1"/>
              <a:t>l'incrémente</a:t>
            </a:r>
            <a:r>
              <a:rPr dirty="0"/>
              <a:t>, et </a:t>
            </a:r>
            <a:r>
              <a:rPr dirty="0" err="1"/>
              <a:t>tous</a:t>
            </a:r>
            <a:r>
              <a:rPr dirty="0"/>
              <a:t> </a:t>
            </a:r>
            <a:r>
              <a:rPr dirty="0" err="1"/>
              <a:t>voient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. Le </a:t>
            </a:r>
            <a:r>
              <a:rPr dirty="0" err="1"/>
              <a:t>programme</a:t>
            </a:r>
            <a:r>
              <a:rPr dirty="0"/>
              <a:t> affiche :</a:t>
            </a:r>
          </a:p>
          <a:p>
            <a:r>
              <a:rPr dirty="0">
                <a:latin typeface="Consolas"/>
              </a:rPr>
              <a:t>main 1</a:t>
            </a:r>
            <a:r>
              <a:rPr dirty="0"/>
              <a:t>, </a:t>
            </a:r>
            <a:r>
              <a:rPr dirty="0">
                <a:latin typeface="Consolas"/>
              </a:rPr>
              <a:t>Ticket 1 </a:t>
            </a:r>
            <a:r>
              <a:rPr dirty="0" err="1">
                <a:latin typeface="Consolas"/>
              </a:rPr>
              <a:t>cree</a:t>
            </a:r>
            <a:r>
              <a:rPr dirty="0"/>
              <a:t>, </a:t>
            </a:r>
            <a:r>
              <a:rPr dirty="0">
                <a:latin typeface="Consolas"/>
              </a:rPr>
              <a:t>main 2</a:t>
            </a:r>
            <a:r>
              <a:rPr dirty="0"/>
              <a:t>, </a:t>
            </a:r>
            <a:r>
              <a:rPr dirty="0">
                <a:latin typeface="Consolas"/>
              </a:rPr>
              <a:t>main 3</a:t>
            </a:r>
            <a:r>
              <a:rPr dirty="0"/>
              <a:t>, </a:t>
            </a:r>
            <a:r>
              <a:rPr dirty="0">
                <a:latin typeface="Consolas"/>
              </a:rPr>
              <a:t>Ticket 2 </a:t>
            </a:r>
            <a:r>
              <a:rPr dirty="0" err="1">
                <a:latin typeface="Consolas"/>
              </a:rPr>
              <a:t>cree</a:t>
            </a:r>
            <a:r>
              <a:rPr dirty="0"/>
              <a:t>, </a:t>
            </a:r>
            <a:r>
              <a:rPr dirty="0">
                <a:latin typeface="Consolas"/>
              </a:rPr>
              <a:t>Ticket 3 </a:t>
            </a:r>
            <a:r>
              <a:rPr dirty="0" err="1">
                <a:latin typeface="Consolas"/>
              </a:rPr>
              <a:t>cree</a:t>
            </a:r>
            <a:r>
              <a:rPr dirty="0"/>
              <a:t>, </a:t>
            </a:r>
            <a:r>
              <a:rPr dirty="0">
                <a:latin typeface="Consolas"/>
              </a:rPr>
              <a:t>main 4</a:t>
            </a:r>
            <a:r>
              <a:rPr dirty="0"/>
              <a:t>.</a:t>
            </a:r>
          </a:p>
          <a:p>
            <a:r>
              <a:rPr dirty="0" err="1"/>
              <a:t>Remarquez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déclaration</a:t>
            </a:r>
            <a:r>
              <a:rPr dirty="0"/>
              <a:t> </a:t>
            </a:r>
            <a:r>
              <a:rPr dirty="0">
                <a:latin typeface="Consolas"/>
              </a:rPr>
              <a:t>Ticket a;</a:t>
            </a:r>
            <a:r>
              <a:rPr dirty="0"/>
              <a:t> ne </a:t>
            </a:r>
            <a:r>
              <a:rPr dirty="0" err="1"/>
              <a:t>crée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: seul </a:t>
            </a:r>
            <a:r>
              <a:rPr dirty="0">
                <a:latin typeface="Consolas"/>
              </a:rPr>
              <a:t>new</a:t>
            </a:r>
            <a:r>
              <a:rPr dirty="0"/>
              <a:t> </a:t>
            </a:r>
            <a:r>
              <a:rPr dirty="0" err="1"/>
              <a:t>appelle</a:t>
            </a:r>
            <a:r>
              <a:rPr dirty="0"/>
              <a:t> le </a:t>
            </a:r>
            <a:r>
              <a:rPr dirty="0" err="1"/>
              <a:t>constructeur</a:t>
            </a:r>
            <a:r>
              <a:rPr dirty="0"/>
              <a:t>. </a:t>
            </a:r>
            <a:r>
              <a:rPr dirty="0" err="1"/>
              <a:t>Remarquez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compteur</a:t>
            </a:r>
            <a:r>
              <a:rPr dirty="0"/>
              <a:t> ne </a:t>
            </a:r>
            <a:r>
              <a:rPr dirty="0" err="1"/>
              <a:t>diminue</a:t>
            </a:r>
            <a:r>
              <a:rPr dirty="0"/>
              <a:t> jamais. Java ne </a:t>
            </a:r>
            <a:r>
              <a:rPr dirty="0" err="1"/>
              <a:t>prévient</a:t>
            </a:r>
            <a:r>
              <a:rPr dirty="0"/>
              <a:t> pas un </a:t>
            </a:r>
            <a:r>
              <a:rPr dirty="0" err="1"/>
              <a:t>objet</a:t>
            </a:r>
            <a:r>
              <a:rPr dirty="0"/>
              <a:t> de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disparition</a:t>
            </a:r>
            <a:r>
              <a:rPr dirty="0"/>
              <a:t> ; le </a:t>
            </a:r>
            <a:r>
              <a:rPr dirty="0" err="1"/>
              <a:t>mémento</a:t>
            </a:r>
            <a:r>
              <a:rPr dirty="0"/>
              <a:t> technique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pourquoi</a:t>
            </a:r>
            <a:r>
              <a:rPr dirty="0"/>
              <a:t> (TEC-EXE.4).</a:t>
            </a:r>
          </a:p>
          <a:p>
            <a:r>
              <a:rPr lang="fr-BE" dirty="0"/>
              <a:t>Le code complet, à exécuter : demos, classe demo.poo.slides.UnCompteurDInstances.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Une </a:t>
            </a:r>
            <a:r>
              <a:rPr dirty="0" err="1"/>
              <a:t>méthode</a:t>
            </a:r>
            <a:r>
              <a:rPr dirty="0"/>
              <a:t> de </a:t>
            </a:r>
            <a:r>
              <a:rPr dirty="0" err="1"/>
              <a:t>classe</a:t>
            </a:r>
            <a:r>
              <a:rPr dirty="0"/>
              <a:t> ne </a:t>
            </a:r>
            <a:r>
              <a:rPr dirty="0" err="1"/>
              <a:t>travaille</a:t>
            </a:r>
            <a:r>
              <a:rPr dirty="0"/>
              <a:t> sur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particulier. On </a:t>
            </a:r>
            <a:r>
              <a:rPr dirty="0" err="1"/>
              <a:t>l'appelle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sur la </a:t>
            </a:r>
            <a:r>
              <a:rPr dirty="0" err="1"/>
              <a:t>classe</a:t>
            </a:r>
            <a:r>
              <a:rPr dirty="0"/>
              <a:t> : </a:t>
            </a:r>
            <a:r>
              <a:rPr dirty="0" err="1">
                <a:latin typeface="Consolas"/>
              </a:rPr>
              <a:t>Math.sqrt</a:t>
            </a:r>
            <a:r>
              <a:rPr dirty="0">
                <a:latin typeface="Consolas"/>
              </a:rPr>
              <a:t>(16)</a:t>
            </a:r>
            <a:r>
              <a:rPr dirty="0"/>
              <a:t> ne </a:t>
            </a:r>
            <a:r>
              <a:rPr dirty="0" err="1"/>
              <a:t>demande</a:t>
            </a:r>
            <a:r>
              <a:rPr dirty="0"/>
              <a:t> pas de </a:t>
            </a:r>
            <a:r>
              <a:rPr dirty="0" err="1"/>
              <a:t>créer</a:t>
            </a:r>
            <a:r>
              <a:rPr dirty="0"/>
              <a:t> un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>
                <a:latin typeface="Consolas"/>
              </a:rPr>
              <a:t>Math</a:t>
            </a:r>
            <a:r>
              <a:rPr dirty="0"/>
              <a:t>, et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Math</a:t>
            </a:r>
            <a:r>
              <a:rPr dirty="0"/>
              <a:t> ne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d'ailleurs</a:t>
            </a:r>
            <a:r>
              <a:rPr dirty="0"/>
              <a:t> pas </a:t>
            </a:r>
            <a:r>
              <a:rPr dirty="0" err="1"/>
              <a:t>d'en</a:t>
            </a:r>
            <a:r>
              <a:rPr dirty="0"/>
              <a:t> </a:t>
            </a:r>
            <a:r>
              <a:rPr dirty="0" err="1"/>
              <a:t>créer</a:t>
            </a:r>
            <a:r>
              <a:rPr dirty="0"/>
              <a:t>.</a:t>
            </a:r>
          </a:p>
          <a:p>
            <a:r>
              <a:rPr dirty="0"/>
              <a:t>Java </a:t>
            </a:r>
            <a:r>
              <a:rPr dirty="0" err="1"/>
              <a:t>accepte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statique</a:t>
            </a:r>
            <a:r>
              <a:rPr dirty="0"/>
              <a:t> à travers </a:t>
            </a:r>
            <a:r>
              <a:rPr dirty="0" err="1"/>
              <a:t>une</a:t>
            </a:r>
            <a:r>
              <a:rPr dirty="0"/>
              <a:t> variable </a:t>
            </a:r>
            <a:r>
              <a:rPr dirty="0" err="1"/>
              <a:t>d'objet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l'écriture</a:t>
            </a:r>
            <a:r>
              <a:rPr dirty="0"/>
              <a:t> laisse </a:t>
            </a:r>
            <a:r>
              <a:rPr dirty="0" err="1"/>
              <a:t>croire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dépend</a:t>
            </a:r>
            <a:r>
              <a:rPr dirty="0"/>
              <a:t> de </a:t>
            </a:r>
            <a:r>
              <a:rPr dirty="0" err="1"/>
              <a:t>cet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. IntelliJ le </a:t>
            </a:r>
            <a:r>
              <a:rPr dirty="0" err="1"/>
              <a:t>signale</a:t>
            </a:r>
            <a:r>
              <a:rPr dirty="0"/>
              <a:t> par un </a:t>
            </a:r>
            <a:r>
              <a:rPr dirty="0" err="1"/>
              <a:t>avertissement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demo.poo.slides.MethodesDeClasse.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l'erreur</a:t>
            </a:r>
            <a:r>
              <a:rPr dirty="0"/>
              <a:t> la plus </a:t>
            </a:r>
            <a:r>
              <a:rPr dirty="0" err="1"/>
              <a:t>fréquente</a:t>
            </a:r>
            <a:r>
              <a:rPr dirty="0"/>
              <a:t> du </a:t>
            </a:r>
            <a:r>
              <a:rPr dirty="0" err="1"/>
              <a:t>module</a:t>
            </a:r>
            <a:r>
              <a:rPr dirty="0"/>
              <a:t>. </a:t>
            </a:r>
            <a:r>
              <a:rPr dirty="0">
                <a:latin typeface="Consolas"/>
              </a:rPr>
              <a:t>fixer()</a:t>
            </a:r>
            <a:r>
              <a:rPr dirty="0"/>
              <a:t> est </a:t>
            </a:r>
            <a:r>
              <a:rPr dirty="0" err="1"/>
              <a:t>appelée</a:t>
            </a:r>
            <a:r>
              <a:rPr dirty="0"/>
              <a:t> sur la </a:t>
            </a:r>
            <a:r>
              <a:rPr dirty="0" err="1"/>
              <a:t>classe</a:t>
            </a:r>
            <a:r>
              <a:rPr dirty="0"/>
              <a:t>, pas sur un </a:t>
            </a:r>
            <a:r>
              <a:rPr dirty="0" err="1"/>
              <a:t>objet</a:t>
            </a:r>
            <a:r>
              <a:rPr dirty="0"/>
              <a:t> :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</a:t>
            </a:r>
            <a:r>
              <a:rPr dirty="0" err="1"/>
              <a:t>aucun</a:t>
            </a:r>
            <a:r>
              <a:rPr dirty="0"/>
              <a:t> moyen de savoir de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>
                <a:latin typeface="Consolas"/>
              </a:rPr>
              <a:t>n</a:t>
            </a:r>
            <a:r>
              <a:rPr dirty="0"/>
              <a:t> on parle, </a:t>
            </a:r>
            <a:r>
              <a:rPr dirty="0" err="1"/>
              <a:t>puisqu'il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un par </a:t>
            </a:r>
            <a:r>
              <a:rPr dirty="0" err="1"/>
              <a:t>objet</a:t>
            </a:r>
            <a:r>
              <a:rPr dirty="0"/>
              <a:t>. Le </a:t>
            </a:r>
            <a:r>
              <a:rPr dirty="0" err="1"/>
              <a:t>compilateur</a:t>
            </a:r>
            <a:r>
              <a:rPr dirty="0"/>
              <a:t> refuse, avec un message qui </a:t>
            </a:r>
            <a:r>
              <a:rPr dirty="0" err="1"/>
              <a:t>résume</a:t>
            </a:r>
            <a:r>
              <a:rPr dirty="0"/>
              <a:t> tout le </a:t>
            </a:r>
            <a:r>
              <a:rPr dirty="0" err="1"/>
              <a:t>sujet</a:t>
            </a:r>
            <a:r>
              <a:rPr dirty="0"/>
              <a:t>.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raisonnement</a:t>
            </a:r>
            <a:r>
              <a:rPr dirty="0"/>
              <a:t> </a:t>
            </a:r>
            <a:r>
              <a:rPr dirty="0" err="1"/>
              <a:t>interdit</a:t>
            </a:r>
            <a:r>
              <a:rPr dirty="0"/>
              <a:t> </a:t>
            </a:r>
            <a:r>
              <a:rPr dirty="0">
                <a:latin typeface="Consolas"/>
              </a:rPr>
              <a:t>this</a:t>
            </a:r>
            <a:r>
              <a:rPr dirty="0"/>
              <a:t>, qui </a:t>
            </a:r>
            <a:r>
              <a:rPr dirty="0" err="1"/>
              <a:t>n'a</a:t>
            </a:r>
            <a:r>
              <a:rPr dirty="0"/>
              <a:t> rien à </a:t>
            </a:r>
            <a:r>
              <a:rPr dirty="0" err="1"/>
              <a:t>désigner</a:t>
            </a:r>
            <a:r>
              <a:rPr dirty="0"/>
              <a:t>.</a:t>
            </a:r>
          </a:p>
          <a:p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>
                <a:latin typeface="Consolas"/>
              </a:rPr>
              <a:t>main</a:t>
            </a:r>
            <a:r>
              <a:rPr dirty="0"/>
              <a:t> soit </a:t>
            </a:r>
            <a:r>
              <a:rPr dirty="0" err="1"/>
              <a:t>statique</a:t>
            </a:r>
            <a:r>
              <a:rPr dirty="0"/>
              <a:t> : il </a:t>
            </a:r>
            <a:r>
              <a:rPr dirty="0" err="1"/>
              <a:t>s'exécute</a:t>
            </a:r>
            <a:r>
              <a:rPr dirty="0"/>
              <a:t> avant </a:t>
            </a:r>
            <a:r>
              <a:rPr dirty="0" err="1"/>
              <a:t>qu'aucun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n'existe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>
                <a:latin typeface="Consolas"/>
              </a:rPr>
              <a:t>static</a:t>
            </a:r>
            <a:r>
              <a:rPr dirty="0"/>
              <a:t> et </a:t>
            </a:r>
            <a:r>
              <a:rPr dirty="0">
                <a:latin typeface="Consolas"/>
              </a:rPr>
              <a:t>final</a:t>
            </a:r>
            <a:r>
              <a:rPr dirty="0"/>
              <a:t> </a:t>
            </a:r>
            <a:r>
              <a:rPr dirty="0" err="1"/>
              <a:t>disent</a:t>
            </a:r>
            <a:r>
              <a:rPr dirty="0"/>
              <a:t> deux choses </a:t>
            </a:r>
            <a:r>
              <a:rPr dirty="0" err="1"/>
              <a:t>différentes</a:t>
            </a:r>
            <a:r>
              <a:rPr dirty="0"/>
              <a:t>. </a:t>
            </a:r>
            <a:r>
              <a:rPr dirty="0">
                <a:latin typeface="Consolas"/>
              </a:rPr>
              <a:t>static</a:t>
            </a:r>
            <a:r>
              <a:rPr dirty="0"/>
              <a:t> </a:t>
            </a:r>
            <a:r>
              <a:rPr dirty="0" err="1"/>
              <a:t>signifie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valeur</a:t>
            </a:r>
            <a:r>
              <a:rPr dirty="0"/>
              <a:t> est </a:t>
            </a:r>
            <a:r>
              <a:rPr dirty="0" err="1"/>
              <a:t>partagée</a:t>
            </a:r>
            <a:r>
              <a:rPr dirty="0"/>
              <a:t> par toute la </a:t>
            </a:r>
            <a:r>
              <a:rPr dirty="0" err="1"/>
              <a:t>classe</a:t>
            </a:r>
            <a:r>
              <a:rPr dirty="0"/>
              <a:t> ; </a:t>
            </a:r>
            <a:r>
              <a:rPr dirty="0">
                <a:latin typeface="Consolas"/>
              </a:rPr>
              <a:t>final</a:t>
            </a:r>
            <a:r>
              <a:rPr dirty="0"/>
              <a:t>, </a:t>
            </a:r>
            <a:r>
              <a:rPr dirty="0" err="1"/>
              <a:t>qu'elle</a:t>
            </a:r>
            <a:r>
              <a:rPr dirty="0"/>
              <a:t> ne </a:t>
            </a:r>
            <a:r>
              <a:rPr dirty="0" err="1"/>
              <a:t>changera</a:t>
            </a:r>
            <a:r>
              <a:rPr dirty="0"/>
              <a:t> pas. Une 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réunit</a:t>
            </a:r>
            <a:r>
              <a:rPr dirty="0"/>
              <a:t> les deux. Un </a:t>
            </a:r>
            <a:r>
              <a:rPr dirty="0" err="1"/>
              <a:t>compteur</a:t>
            </a:r>
            <a:r>
              <a:rPr dirty="0"/>
              <a:t> </a:t>
            </a:r>
            <a:r>
              <a:rPr dirty="0" err="1"/>
              <a:t>d'instances</a:t>
            </a:r>
            <a:r>
              <a:rPr dirty="0"/>
              <a:t> </a:t>
            </a:r>
            <a:r>
              <a:rPr dirty="0" err="1"/>
              <a:t>n'a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du premier, un champ </a:t>
            </a:r>
            <a:r>
              <a:rPr dirty="0" err="1"/>
              <a:t>immuable</a:t>
            </a:r>
            <a:r>
              <a:rPr dirty="0"/>
              <a:t> </a:t>
            </a:r>
            <a:r>
              <a:rPr dirty="0" err="1"/>
              <a:t>d'objet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du second.</a:t>
            </a:r>
          </a:p>
          <a:p>
            <a:r>
              <a:rPr dirty="0"/>
              <a:t>Par convention,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constante</a:t>
            </a:r>
            <a:r>
              <a:rPr dirty="0"/>
              <a:t> </a:t>
            </a:r>
            <a:r>
              <a:rPr dirty="0" err="1"/>
              <a:t>s'écrit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majuscules, avec des </a:t>
            </a:r>
            <a:r>
              <a:rPr dirty="0" err="1"/>
              <a:t>soulignés</a:t>
            </a:r>
            <a:r>
              <a:rPr dirty="0"/>
              <a:t> entre les mots. </a:t>
            </a:r>
            <a:r>
              <a:rPr dirty="0" err="1"/>
              <a:t>Nommer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plutôt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l'écrire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dur rend le code </a:t>
            </a:r>
            <a:r>
              <a:rPr dirty="0" err="1"/>
              <a:t>lisible</a:t>
            </a:r>
            <a:r>
              <a:rPr dirty="0"/>
              <a:t> et </a:t>
            </a:r>
            <a:r>
              <a:rPr dirty="0" err="1"/>
              <a:t>évite</a:t>
            </a:r>
            <a:r>
              <a:rPr dirty="0"/>
              <a:t> de la </a:t>
            </a:r>
            <a:r>
              <a:rPr dirty="0" err="1"/>
              <a:t>répéter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la </a:t>
            </a:r>
            <a:r>
              <a:rPr dirty="0" err="1"/>
              <a:t>règle</a:t>
            </a:r>
            <a:r>
              <a:rPr dirty="0"/>
              <a:t> CC-NOM.7 du </a:t>
            </a:r>
            <a:r>
              <a:rPr dirty="0" err="1"/>
              <a:t>mémento</a:t>
            </a:r>
            <a:r>
              <a:rPr dirty="0"/>
              <a:t> Clean Code.</a:t>
            </a:r>
          </a:p>
          <a:p>
            <a:r>
              <a:rPr lang="fr-BE" dirty="0"/>
              <a:t>Le code complet, à exécuter : demos, classe demo.poo.slides.LesConstantes.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tableau croise les deux questions. static : la valeur est-elle propre à chaque objet, ou partagée par toute la classe ? final : peut-elle changer après avoir été fixée ?</a:t>
            </a:r>
          </a:p>
          <a:p>
            <a:r>
              <a:t>Les quatre combinaisons existent. Le champ ordinaire, ni static ni final, est celui que vous connaissez déjà. Une constante réunit les deux mots ; un compteur d'instances n'a besoin que de static, un champ immuable d'objet que de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</a:t>
            </a:r>
            <a:r>
              <a:rPr dirty="0" err="1"/>
              <a:t>méthodes</a:t>
            </a:r>
            <a:r>
              <a:rPr dirty="0"/>
              <a:t> de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servent</a:t>
            </a:r>
            <a:r>
              <a:rPr dirty="0"/>
              <a:t> dans trois situations. Elles </a:t>
            </a:r>
            <a:r>
              <a:rPr dirty="0" err="1"/>
              <a:t>répondent</a:t>
            </a:r>
            <a:r>
              <a:rPr dirty="0"/>
              <a:t> aux questions qui portent sur </a:t>
            </a:r>
            <a:r>
              <a:rPr dirty="0" err="1"/>
              <a:t>l'ensemble</a:t>
            </a:r>
            <a:r>
              <a:rPr dirty="0"/>
              <a:t> des </a:t>
            </a:r>
            <a:r>
              <a:rPr dirty="0" err="1"/>
              <a:t>objets</a:t>
            </a:r>
            <a:r>
              <a:rPr dirty="0"/>
              <a:t> </a:t>
            </a:r>
            <a:r>
              <a:rPr dirty="0" err="1"/>
              <a:t>plutôt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sur </a:t>
            </a:r>
            <a:r>
              <a:rPr dirty="0" err="1"/>
              <a:t>l'un</a:t>
            </a:r>
            <a:r>
              <a:rPr dirty="0"/>
              <a:t> </a:t>
            </a:r>
            <a:r>
              <a:rPr dirty="0" err="1"/>
              <a:t>d'eux</a:t>
            </a:r>
            <a:r>
              <a:rPr dirty="0"/>
              <a:t>, </a:t>
            </a:r>
            <a:r>
              <a:rPr dirty="0" err="1"/>
              <a:t>comme</a:t>
            </a:r>
            <a:r>
              <a:rPr dirty="0"/>
              <a:t> le </a:t>
            </a:r>
            <a:r>
              <a:rPr dirty="0" err="1"/>
              <a:t>nombre</a:t>
            </a:r>
            <a:r>
              <a:rPr dirty="0"/>
              <a:t> </a:t>
            </a:r>
            <a:r>
              <a:rPr dirty="0" err="1"/>
              <a:t>d'instances</a:t>
            </a:r>
            <a:r>
              <a:rPr dirty="0"/>
              <a:t> </a:t>
            </a:r>
            <a:r>
              <a:rPr dirty="0" err="1"/>
              <a:t>créées</a:t>
            </a:r>
            <a:r>
              <a:rPr dirty="0"/>
              <a:t>. Elles </a:t>
            </a:r>
            <a:r>
              <a:rPr dirty="0" err="1"/>
              <a:t>offrent</a:t>
            </a:r>
            <a:r>
              <a:rPr dirty="0"/>
              <a:t> des services qui </a:t>
            </a:r>
            <a:r>
              <a:rPr dirty="0" err="1"/>
              <a:t>n'ont</a:t>
            </a:r>
            <a:r>
              <a:rPr dirty="0"/>
              <a:t> </a:t>
            </a:r>
            <a:r>
              <a:rPr dirty="0" err="1"/>
              <a:t>besoin</a:t>
            </a:r>
            <a:r>
              <a:rPr dirty="0"/>
              <a:t> </a:t>
            </a:r>
            <a:r>
              <a:rPr dirty="0" err="1"/>
              <a:t>d'aucun</a:t>
            </a:r>
            <a:r>
              <a:rPr dirty="0"/>
              <a:t> état, </a:t>
            </a:r>
            <a:r>
              <a:rPr dirty="0" err="1"/>
              <a:t>comme</a:t>
            </a:r>
            <a:r>
              <a:rPr dirty="0"/>
              <a:t> les </a:t>
            </a:r>
            <a:r>
              <a:rPr dirty="0" err="1"/>
              <a:t>fonctions</a:t>
            </a:r>
            <a:r>
              <a:rPr dirty="0"/>
              <a:t> </a:t>
            </a:r>
            <a:r>
              <a:rPr dirty="0" err="1"/>
              <a:t>mathématiques</a:t>
            </a:r>
            <a:r>
              <a:rPr dirty="0"/>
              <a:t> de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Math</a:t>
            </a:r>
            <a:r>
              <a:rPr dirty="0"/>
              <a:t>. </a:t>
            </a:r>
            <a:r>
              <a:rPr dirty="0" err="1"/>
              <a:t>Enfin</a:t>
            </a:r>
            <a:r>
              <a:rPr dirty="0"/>
              <a:t>, </a:t>
            </a:r>
            <a:r>
              <a:rPr dirty="0" err="1"/>
              <a:t>elles</a:t>
            </a:r>
            <a:r>
              <a:rPr dirty="0"/>
              <a:t> </a:t>
            </a:r>
            <a:r>
              <a:rPr dirty="0" err="1"/>
              <a:t>peuvent</a:t>
            </a:r>
            <a:r>
              <a:rPr dirty="0"/>
              <a:t> </a:t>
            </a:r>
            <a:r>
              <a:rPr dirty="0" err="1"/>
              <a:t>construire</a:t>
            </a:r>
            <a:r>
              <a:rPr dirty="0"/>
              <a:t> des </a:t>
            </a:r>
            <a:r>
              <a:rPr dirty="0" err="1"/>
              <a:t>objets</a:t>
            </a:r>
            <a:r>
              <a:rPr dirty="0"/>
              <a:t> : </a:t>
            </a:r>
            <a:r>
              <a:rPr dirty="0" err="1">
                <a:latin typeface="Consolas"/>
              </a:rPr>
              <a:t>LocalDate.now</a:t>
            </a:r>
            <a:r>
              <a:rPr dirty="0">
                <a:latin typeface="Consolas"/>
              </a:rPr>
              <a:t>()</a:t>
            </a:r>
            <a:r>
              <a:rPr dirty="0"/>
              <a:t> retourne </a:t>
            </a:r>
            <a:r>
              <a:rPr dirty="0" err="1"/>
              <a:t>une</a:t>
            </a:r>
            <a:r>
              <a:rPr dirty="0"/>
              <a:t> date sans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ait</a:t>
            </a:r>
            <a:r>
              <a:rPr dirty="0"/>
              <a:t> </a:t>
            </a:r>
            <a:r>
              <a:rPr dirty="0" err="1"/>
              <a:t>écrit</a:t>
            </a:r>
            <a:r>
              <a:rPr dirty="0"/>
              <a:t> </a:t>
            </a:r>
            <a:r>
              <a:rPr dirty="0">
                <a:latin typeface="Consolas"/>
              </a:rPr>
              <a:t>new</a:t>
            </a:r>
            <a:r>
              <a:rPr dirty="0"/>
              <a:t>.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dernières</a:t>
            </a:r>
            <a:r>
              <a:rPr dirty="0"/>
              <a:t> </a:t>
            </a:r>
            <a:r>
              <a:rPr dirty="0" err="1"/>
              <a:t>s'appellent</a:t>
            </a:r>
            <a:r>
              <a:rPr dirty="0"/>
              <a:t> des </a:t>
            </a:r>
            <a:r>
              <a:rPr dirty="0" err="1"/>
              <a:t>fabriques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point du plan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décrire</a:t>
            </a:r>
            <a:r>
              <a:rPr dirty="0"/>
              <a:t> par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coordonnées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distance et un angle : dans les deux </a:t>
            </a:r>
            <a:r>
              <a:rPr dirty="0" err="1"/>
              <a:t>cas</a:t>
            </a:r>
            <a:r>
              <a:rPr dirty="0"/>
              <a:t>, deux </a:t>
            </a:r>
            <a:r>
              <a:rPr dirty="0" err="1"/>
              <a:t>nombres</a:t>
            </a:r>
            <a:r>
              <a:rPr dirty="0"/>
              <a:t> </a:t>
            </a:r>
            <a:r>
              <a:rPr dirty="0" err="1"/>
              <a:t>réels</a:t>
            </a:r>
            <a:r>
              <a:rPr dirty="0"/>
              <a:t>. Deux </a:t>
            </a:r>
            <a:r>
              <a:rPr dirty="0" err="1"/>
              <a:t>constructeurs</a:t>
            </a:r>
            <a:r>
              <a:rPr dirty="0"/>
              <a:t> </a:t>
            </a:r>
            <a:r>
              <a:rPr dirty="0">
                <a:latin typeface="Consolas"/>
              </a:rPr>
              <a:t>Point(double, double)</a:t>
            </a:r>
            <a:r>
              <a:rPr dirty="0"/>
              <a:t> ne </a:t>
            </a:r>
            <a:r>
              <a:rPr dirty="0" err="1"/>
              <a:t>peuvent</a:t>
            </a:r>
            <a:r>
              <a:rPr dirty="0"/>
              <a:t> pas </a:t>
            </a:r>
            <a:r>
              <a:rPr dirty="0" err="1"/>
              <a:t>coexister</a:t>
            </a:r>
            <a:r>
              <a:rPr dirty="0"/>
              <a:t>, </a:t>
            </a:r>
            <a:r>
              <a:rPr dirty="0" err="1"/>
              <a:t>puisqu'ils</a:t>
            </a:r>
            <a:r>
              <a:rPr dirty="0"/>
              <a:t> </a:t>
            </a:r>
            <a:r>
              <a:rPr dirty="0" err="1"/>
              <a:t>auraient</a:t>
            </a:r>
            <a:r>
              <a:rPr dirty="0"/>
              <a:t> la </a:t>
            </a:r>
            <a:r>
              <a:rPr dirty="0" err="1"/>
              <a:t>même</a:t>
            </a:r>
            <a:r>
              <a:rPr dirty="0"/>
              <a:t> signature. Deux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statiques</a:t>
            </a:r>
            <a:r>
              <a:rPr dirty="0"/>
              <a:t>, </a:t>
            </a:r>
            <a:r>
              <a:rPr dirty="0" err="1"/>
              <a:t>elles</a:t>
            </a:r>
            <a:r>
              <a:rPr dirty="0"/>
              <a:t>, se </a:t>
            </a:r>
            <a:r>
              <a:rPr dirty="0" err="1"/>
              <a:t>distinguent</a:t>
            </a:r>
            <a:r>
              <a:rPr dirty="0"/>
              <a:t> par </a:t>
            </a:r>
            <a:r>
              <a:rPr dirty="0" err="1"/>
              <a:t>leur</a:t>
            </a:r>
            <a:r>
              <a:rPr dirty="0"/>
              <a:t> nom, et </a:t>
            </a:r>
            <a:r>
              <a:rPr dirty="0" err="1"/>
              <a:t>ce</a:t>
            </a:r>
            <a:r>
              <a:rPr dirty="0"/>
              <a:t> nom </a:t>
            </a:r>
            <a:r>
              <a:rPr dirty="0" err="1"/>
              <a:t>dit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plus comment lire les </a:t>
            </a:r>
            <a:r>
              <a:rPr dirty="0" err="1"/>
              <a:t>paramètres</a:t>
            </a:r>
            <a:r>
              <a:rPr dirty="0"/>
              <a:t>.</a:t>
            </a:r>
          </a:p>
          <a:p>
            <a:r>
              <a:rPr dirty="0" err="1"/>
              <a:t>Rendre</a:t>
            </a:r>
            <a:r>
              <a:rPr dirty="0"/>
              <a:t> le </a:t>
            </a:r>
            <a:r>
              <a:rPr dirty="0" err="1"/>
              <a:t>constructeur</a:t>
            </a:r>
            <a:r>
              <a:rPr dirty="0"/>
              <a:t> </a:t>
            </a:r>
            <a:r>
              <a:rPr dirty="0">
                <a:latin typeface="Consolas"/>
              </a:rPr>
              <a:t>private</a:t>
            </a:r>
            <a:r>
              <a:rPr dirty="0"/>
              <a:t> oblige tout le code </a:t>
            </a:r>
            <a:r>
              <a:rPr dirty="0" err="1"/>
              <a:t>extérieur</a:t>
            </a:r>
            <a:r>
              <a:rPr dirty="0"/>
              <a:t> à passer par les </a:t>
            </a:r>
            <a:r>
              <a:rPr dirty="0" err="1"/>
              <a:t>fabriques</a:t>
            </a:r>
            <a:r>
              <a:rPr dirty="0"/>
              <a:t> : </a:t>
            </a:r>
            <a:r>
              <a:rPr dirty="0" err="1"/>
              <a:t>personne</a:t>
            </a:r>
            <a:r>
              <a:rPr dirty="0"/>
              <a:t> ne </a:t>
            </a:r>
            <a:r>
              <a:rPr dirty="0" err="1"/>
              <a:t>peut</a:t>
            </a:r>
            <a:r>
              <a:rPr dirty="0"/>
              <a:t> plus </a:t>
            </a:r>
            <a:r>
              <a:rPr dirty="0" err="1"/>
              <a:t>écrire</a:t>
            </a:r>
            <a:r>
              <a:rPr dirty="0"/>
              <a:t> </a:t>
            </a:r>
            <a:r>
              <a:rPr dirty="0">
                <a:latin typeface="Consolas"/>
              </a:rPr>
              <a:t>new Point(3, 4)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se demandant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représentent</a:t>
            </a:r>
            <a:r>
              <a:rPr dirty="0"/>
              <a:t> les deux </a:t>
            </a:r>
            <a:r>
              <a:rPr dirty="0" err="1"/>
              <a:t>nombres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demo.poo.slides.LesFabriques.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les </a:t>
            </a:r>
            <a:r>
              <a:rPr dirty="0" err="1"/>
              <a:t>exercices</a:t>
            </a:r>
            <a:r>
              <a:rPr dirty="0"/>
              <a:t> STA.1 et STA.2 du fascicule STA. STA.1 </a:t>
            </a:r>
            <a:r>
              <a:rPr dirty="0" err="1"/>
              <a:t>demande</a:t>
            </a:r>
            <a:r>
              <a:rPr dirty="0"/>
              <a:t> </a:t>
            </a:r>
            <a:r>
              <a:rPr dirty="0" err="1"/>
              <a:t>d'observer</a:t>
            </a:r>
            <a:r>
              <a:rPr dirty="0"/>
              <a:t> les champs dans le </a:t>
            </a:r>
            <a:r>
              <a:rPr dirty="0" err="1"/>
              <a:t>débogueur</a:t>
            </a:r>
            <a:r>
              <a:rPr dirty="0"/>
              <a:t> ; la section IDE.19 du guide IntelliJ </a:t>
            </a:r>
            <a:r>
              <a:rPr dirty="0" err="1"/>
              <a:t>explique</a:t>
            </a:r>
            <a:r>
              <a:rPr dirty="0"/>
              <a:t> comment poser un point </a:t>
            </a:r>
            <a:r>
              <a:rPr dirty="0" err="1"/>
              <a:t>d'arrêt</a:t>
            </a:r>
            <a:r>
              <a:rPr dirty="0"/>
              <a:t> et lire le </a:t>
            </a:r>
            <a:r>
              <a:rPr dirty="0" err="1"/>
              <a:t>panneau</a:t>
            </a:r>
            <a:r>
              <a:rPr dirty="0"/>
              <a:t>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programme</a:t>
            </a:r>
            <a:r>
              <a:rPr dirty="0"/>
              <a:t> qui dialogue avec son </a:t>
            </a:r>
            <a:r>
              <a:rPr dirty="0" err="1"/>
              <a:t>utilisateur</a:t>
            </a:r>
            <a:r>
              <a:rPr dirty="0"/>
              <a:t> doit </a:t>
            </a:r>
            <a:r>
              <a:rPr dirty="0" err="1"/>
              <a:t>pouvoir</a:t>
            </a:r>
            <a:r>
              <a:rPr dirty="0"/>
              <a:t> lire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qu'il</a:t>
            </a:r>
            <a:r>
              <a:rPr dirty="0"/>
              <a:t> tape. Cette section </a:t>
            </a:r>
            <a:r>
              <a:rPr dirty="0" err="1"/>
              <a:t>présente</a:t>
            </a:r>
            <a:r>
              <a:rPr dirty="0"/>
              <a:t> 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Scanner</a:t>
            </a:r>
            <a:r>
              <a:rPr dirty="0"/>
              <a:t>, et </a:t>
            </a:r>
            <a:r>
              <a:rPr dirty="0" err="1"/>
              <a:t>profite</a:t>
            </a:r>
            <a:r>
              <a:rPr dirty="0"/>
              <a:t> de </a:t>
            </a:r>
            <a:r>
              <a:rPr dirty="0" err="1"/>
              <a:t>l'occasion</a:t>
            </a:r>
            <a:r>
              <a:rPr dirty="0"/>
              <a:t> pour </a:t>
            </a:r>
            <a:r>
              <a:rPr dirty="0" err="1"/>
              <a:t>apprendre</a:t>
            </a:r>
            <a:r>
              <a:rPr dirty="0"/>
              <a:t> à lire la documentation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du JDK.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>
                <a:latin typeface="Consolas"/>
              </a:rPr>
              <a:t>Scanner</a:t>
            </a:r>
            <a:r>
              <a:rPr dirty="0"/>
              <a:t>, du package </a:t>
            </a:r>
            <a:r>
              <a:rPr dirty="0" err="1">
                <a:latin typeface="Consolas"/>
              </a:rPr>
              <a:t>java.util</a:t>
            </a:r>
            <a:r>
              <a:rPr dirty="0"/>
              <a:t>, lit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l'utilisateur</a:t>
            </a:r>
            <a:r>
              <a:rPr dirty="0"/>
              <a:t> tape dans la console. On la </a:t>
            </a:r>
            <a:r>
              <a:rPr dirty="0" err="1"/>
              <a:t>construit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seule</a:t>
            </a:r>
            <a:r>
              <a:rPr dirty="0"/>
              <a:t> </a:t>
            </a:r>
            <a:r>
              <a:rPr dirty="0" err="1"/>
              <a:t>fois</a:t>
            </a:r>
            <a:r>
              <a:rPr dirty="0"/>
              <a:t>, sur </a:t>
            </a:r>
            <a:r>
              <a:rPr dirty="0" err="1">
                <a:latin typeface="Consolas"/>
              </a:rPr>
              <a:t>System.in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on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autant</a:t>
            </a:r>
            <a:r>
              <a:rPr dirty="0"/>
              <a:t> de </a:t>
            </a:r>
            <a:r>
              <a:rPr dirty="0" err="1"/>
              <a:t>fois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nécessaire</a:t>
            </a:r>
            <a:r>
              <a:rPr dirty="0"/>
              <a:t>. </a:t>
            </a:r>
            <a:r>
              <a:rPr dirty="0" err="1"/>
              <a:t>Ouvrir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>
                <a:latin typeface="Consolas"/>
              </a:rPr>
              <a:t>Scanner</a:t>
            </a:r>
            <a:r>
              <a:rPr dirty="0"/>
              <a:t> sur la </a:t>
            </a:r>
            <a:r>
              <a:rPr dirty="0" err="1"/>
              <a:t>même</a:t>
            </a:r>
            <a:r>
              <a:rPr dirty="0"/>
              <a:t> entrée </a:t>
            </a:r>
            <a:r>
              <a:rPr dirty="0" err="1"/>
              <a:t>provoque</a:t>
            </a:r>
            <a:r>
              <a:rPr dirty="0"/>
              <a:t> des </a:t>
            </a:r>
            <a:r>
              <a:rPr dirty="0" err="1"/>
              <a:t>comportements</a:t>
            </a:r>
            <a:r>
              <a:rPr dirty="0"/>
              <a:t> </a:t>
            </a:r>
            <a:r>
              <a:rPr dirty="0" err="1"/>
              <a:t>difficiles</a:t>
            </a:r>
            <a:r>
              <a:rPr dirty="0"/>
              <a:t> à </a:t>
            </a:r>
            <a:r>
              <a:rPr dirty="0" err="1"/>
              <a:t>comprendre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Pour savoir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qu'offre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du JDK, on </a:t>
            </a:r>
            <a:r>
              <a:rPr dirty="0" err="1"/>
              <a:t>consulte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Javadoc. </a:t>
            </a:r>
            <a:r>
              <a:rPr dirty="0" err="1"/>
              <a:t>Chaque</a:t>
            </a:r>
            <a:r>
              <a:rPr dirty="0"/>
              <a:t> page </a:t>
            </a:r>
            <a:r>
              <a:rPr dirty="0" err="1"/>
              <a:t>présente</a:t>
            </a:r>
            <a:r>
              <a:rPr dirty="0"/>
              <a:t> la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l'inventaire</a:t>
            </a:r>
            <a:r>
              <a:rPr dirty="0"/>
              <a:t> de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constructeurs</a:t>
            </a:r>
            <a:r>
              <a:rPr dirty="0"/>
              <a:t> et de </a:t>
            </a:r>
            <a:r>
              <a:rPr dirty="0" err="1"/>
              <a:t>ses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. Pour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, </a:t>
            </a:r>
            <a:r>
              <a:rPr dirty="0" err="1"/>
              <a:t>elle</a:t>
            </a:r>
            <a:r>
              <a:rPr dirty="0"/>
              <a:t> </a:t>
            </a:r>
            <a:r>
              <a:rPr dirty="0" err="1"/>
              <a:t>indique</a:t>
            </a:r>
            <a:r>
              <a:rPr dirty="0"/>
              <a:t> les </a:t>
            </a:r>
            <a:r>
              <a:rPr dirty="0" err="1"/>
              <a:t>paramètres</a:t>
            </a:r>
            <a:r>
              <a:rPr dirty="0"/>
              <a:t> </a:t>
            </a:r>
            <a:r>
              <a:rPr dirty="0" err="1"/>
              <a:t>attendus</a:t>
            </a:r>
            <a:r>
              <a:rPr dirty="0"/>
              <a:t>, la </a:t>
            </a:r>
            <a:r>
              <a:rPr dirty="0" err="1"/>
              <a:t>valeur</a:t>
            </a:r>
            <a:r>
              <a:rPr dirty="0"/>
              <a:t> </a:t>
            </a:r>
            <a:r>
              <a:rPr dirty="0" err="1"/>
              <a:t>retournée</a:t>
            </a:r>
            <a:r>
              <a:rPr dirty="0"/>
              <a:t> et les exceptions possibles.</a:t>
            </a:r>
          </a:p>
          <a:p>
            <a:r>
              <a:rPr dirty="0"/>
              <a:t>Inutile </a:t>
            </a:r>
            <a:r>
              <a:rPr dirty="0" err="1"/>
              <a:t>d'ouvrir</a:t>
            </a:r>
            <a:r>
              <a:rPr dirty="0"/>
              <a:t> un </a:t>
            </a:r>
            <a:r>
              <a:rPr dirty="0" err="1"/>
              <a:t>navigateur</a:t>
            </a:r>
            <a:r>
              <a:rPr dirty="0"/>
              <a:t> : IntelliJ affiche </a:t>
            </a:r>
            <a:r>
              <a:rPr dirty="0" err="1"/>
              <a:t>cette</a:t>
            </a:r>
            <a:r>
              <a:rPr dirty="0"/>
              <a:t> documentation au </a:t>
            </a:r>
            <a:r>
              <a:rPr dirty="0" err="1"/>
              <a:t>survol</a:t>
            </a:r>
            <a:r>
              <a:rPr dirty="0"/>
              <a:t> d'un nom, </a:t>
            </a:r>
            <a:r>
              <a:rPr dirty="0" err="1"/>
              <a:t>ou</a:t>
            </a:r>
            <a:r>
              <a:rPr dirty="0"/>
              <a:t> avec </a:t>
            </a:r>
            <a:r>
              <a:rPr dirty="0" err="1"/>
              <a:t>Ctrl+Q</a:t>
            </a:r>
            <a:r>
              <a:rPr dirty="0"/>
              <a:t> / F1 (voir IDE.14). La version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, pour Java 21, se </a:t>
            </a:r>
            <a:r>
              <a:rPr dirty="0" err="1"/>
              <a:t>trouve</a:t>
            </a:r>
            <a:r>
              <a:rPr dirty="0"/>
              <a:t> à </a:t>
            </a:r>
            <a:r>
              <a:rPr dirty="0" err="1"/>
              <a:t>l'adresse</a:t>
            </a:r>
            <a:r>
              <a:rPr dirty="0"/>
              <a:t> </a:t>
            </a:r>
            <a:r>
              <a:rPr dirty="0">
                <a:latin typeface="Consolas"/>
              </a:rPr>
              <a:t>https://</a:t>
            </a:r>
            <a:r>
              <a:rPr dirty="0" err="1">
                <a:latin typeface="Consolas"/>
              </a:rPr>
              <a:t>docs.oracle.com</a:t>
            </a:r>
            <a:r>
              <a:rPr dirty="0">
                <a:latin typeface="Consolas"/>
              </a:rPr>
              <a:t>/</a:t>
            </a:r>
            <a:r>
              <a:rPr dirty="0" err="1">
                <a:latin typeface="Consolas"/>
              </a:rPr>
              <a:t>en</a:t>
            </a:r>
            <a:r>
              <a:rPr dirty="0">
                <a:latin typeface="Consolas"/>
              </a:rPr>
              <a:t>/java/</a:t>
            </a:r>
            <a:r>
              <a:rPr dirty="0" err="1">
                <a:latin typeface="Consolas"/>
              </a:rPr>
              <a:t>javase</a:t>
            </a:r>
            <a:r>
              <a:rPr dirty="0">
                <a:latin typeface="Consolas"/>
              </a:rPr>
              <a:t>/21/docs/</a:t>
            </a:r>
            <a:r>
              <a:rPr dirty="0" err="1">
                <a:latin typeface="Consolas"/>
              </a:rPr>
              <a:t>api</a:t>
            </a:r>
            <a:r>
              <a:rPr dirty="0">
                <a:latin typeface="Consolas"/>
              </a:rPr>
              <a:t>/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IntelliJ affiche la documentation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au simple </a:t>
            </a:r>
            <a:r>
              <a:rPr dirty="0" err="1"/>
              <a:t>survol</a:t>
            </a:r>
            <a:r>
              <a:rPr dirty="0"/>
              <a:t> de son nom. Pour </a:t>
            </a:r>
            <a:r>
              <a:rPr dirty="0">
                <a:latin typeface="Consolas"/>
              </a:rPr>
              <a:t>Scanner</a:t>
            </a:r>
            <a:r>
              <a:rPr dirty="0"/>
              <a:t>, la </a:t>
            </a:r>
            <a:r>
              <a:rPr dirty="0" err="1"/>
              <a:t>bulle</a:t>
            </a:r>
            <a:r>
              <a:rPr dirty="0"/>
              <a:t> </a:t>
            </a:r>
            <a:r>
              <a:rPr dirty="0" err="1"/>
              <a:t>indique</a:t>
            </a:r>
            <a:r>
              <a:rPr dirty="0"/>
              <a:t> le package, </a:t>
            </a:r>
            <a:r>
              <a:rPr dirty="0" err="1">
                <a:latin typeface="Consolas"/>
              </a:rPr>
              <a:t>java.util</a:t>
            </a:r>
            <a:r>
              <a:rPr dirty="0"/>
              <a:t>, </a:t>
            </a:r>
            <a:r>
              <a:rPr dirty="0" err="1"/>
              <a:t>puis</a:t>
            </a:r>
            <a:r>
              <a:rPr dirty="0"/>
              <a:t> le </a:t>
            </a:r>
            <a:r>
              <a:rPr dirty="0" err="1"/>
              <a:t>principe</a:t>
            </a:r>
            <a:r>
              <a:rPr dirty="0"/>
              <a:t> : </a:t>
            </a:r>
            <a:r>
              <a:rPr dirty="0" err="1"/>
              <a:t>l'entrée</a:t>
            </a:r>
            <a:r>
              <a:rPr dirty="0"/>
              <a:t> est </a:t>
            </a:r>
            <a:r>
              <a:rPr dirty="0" err="1"/>
              <a:t>découpée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jetons, </a:t>
            </a:r>
            <a:r>
              <a:rPr dirty="0" err="1"/>
              <a:t>séparés</a:t>
            </a:r>
            <a:r>
              <a:rPr dirty="0"/>
              <a:t> par </a:t>
            </a:r>
            <a:r>
              <a:rPr dirty="0" err="1"/>
              <a:t>défaut</a:t>
            </a:r>
            <a:r>
              <a:rPr dirty="0"/>
              <a:t> par des </a:t>
            </a:r>
            <a:r>
              <a:rPr dirty="0" err="1"/>
              <a:t>espaces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des passages à la </a:t>
            </a:r>
            <a:r>
              <a:rPr dirty="0" err="1"/>
              <a:t>ligne</a:t>
            </a:r>
            <a:r>
              <a:rPr dirty="0"/>
              <a:t>, et </a:t>
            </a:r>
            <a:r>
              <a:rPr dirty="0" err="1"/>
              <a:t>chaque</a:t>
            </a:r>
            <a:r>
              <a:rPr dirty="0"/>
              <a:t> jeton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converti</a:t>
            </a:r>
            <a:r>
              <a:rPr dirty="0"/>
              <a:t> dans le type voulu grâce aux </a:t>
            </a:r>
            <a:r>
              <a:rPr dirty="0" err="1"/>
              <a:t>différentes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>
                <a:latin typeface="Consolas"/>
              </a:rPr>
              <a:t>next</a:t>
            </a:r>
            <a:r>
              <a:rPr dirty="0"/>
              <a:t>.</a:t>
            </a:r>
          </a:p>
          <a:p>
            <a:r>
              <a:rPr dirty="0"/>
              <a:t>Les </a:t>
            </a:r>
            <a:r>
              <a:rPr dirty="0" err="1"/>
              <a:t>exemples</a:t>
            </a:r>
            <a:r>
              <a:rPr dirty="0"/>
              <a:t> de la </a:t>
            </a:r>
            <a:r>
              <a:rPr dirty="0" err="1"/>
              <a:t>bulle</a:t>
            </a:r>
            <a:r>
              <a:rPr dirty="0"/>
              <a:t> </a:t>
            </a:r>
            <a:r>
              <a:rPr dirty="0" err="1"/>
              <a:t>lisent</a:t>
            </a:r>
            <a:r>
              <a:rPr dirty="0"/>
              <a:t> la console et un </a:t>
            </a:r>
            <a:r>
              <a:rPr dirty="0" err="1"/>
              <a:t>fichier</a:t>
            </a:r>
            <a:r>
              <a:rPr dirty="0"/>
              <a:t>. Pour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cours</a:t>
            </a:r>
            <a:r>
              <a:rPr dirty="0"/>
              <a:t>,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suffisent</a:t>
            </a:r>
            <a:r>
              <a:rPr dirty="0"/>
              <a:t> : </a:t>
            </a:r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lit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</a:t>
            </a:r>
            <a:r>
              <a:rPr dirty="0" err="1"/>
              <a:t>entière</a:t>
            </a:r>
            <a:r>
              <a:rPr dirty="0"/>
              <a:t>, </a:t>
            </a:r>
            <a:r>
              <a:rPr dirty="0">
                <a:latin typeface="Consolas"/>
              </a:rPr>
              <a:t>next()</a:t>
            </a:r>
            <a:r>
              <a:rPr dirty="0"/>
              <a:t> lit un mot, </a:t>
            </a:r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()</a:t>
            </a:r>
            <a:r>
              <a:rPr dirty="0"/>
              <a:t> et </a:t>
            </a:r>
            <a:r>
              <a:rPr dirty="0" err="1">
                <a:latin typeface="Consolas"/>
              </a:rPr>
              <a:t>nextDouble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lisent</a:t>
            </a:r>
            <a:r>
              <a:rPr dirty="0"/>
              <a:t> un </a:t>
            </a:r>
            <a:r>
              <a:rPr dirty="0" err="1"/>
              <a:t>nombre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La </a:t>
            </a:r>
            <a:r>
              <a:rPr dirty="0" err="1"/>
              <a:t>bulle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donne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signature,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qu'elle</a:t>
            </a:r>
            <a:r>
              <a:rPr dirty="0"/>
              <a:t> retourne et les exceptions </a:t>
            </a:r>
            <a:r>
              <a:rPr dirty="0" err="1"/>
              <a:t>qu'elle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lever.</a:t>
            </a:r>
          </a:p>
          <a:p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()</a:t>
            </a:r>
            <a:r>
              <a:rPr dirty="0"/>
              <a:t> lit le jeton </a:t>
            </a:r>
            <a:r>
              <a:rPr dirty="0" err="1"/>
              <a:t>suivant</a:t>
            </a:r>
            <a:r>
              <a:rPr dirty="0"/>
              <a:t> et le retourne sous </a:t>
            </a:r>
            <a:r>
              <a:rPr dirty="0" err="1"/>
              <a:t>forme</a:t>
            </a:r>
            <a:r>
              <a:rPr dirty="0"/>
              <a:t> </a:t>
            </a:r>
            <a:r>
              <a:rPr dirty="0" err="1"/>
              <a:t>d'entier</a:t>
            </a:r>
            <a:r>
              <a:rPr dirty="0"/>
              <a:t>. Elle </a:t>
            </a:r>
            <a:r>
              <a:rPr dirty="0" err="1"/>
              <a:t>lève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>
                <a:latin typeface="Consolas"/>
              </a:rPr>
              <a:t>InputMismatchException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jeton </a:t>
            </a:r>
            <a:r>
              <a:rPr dirty="0" err="1"/>
              <a:t>n'est</a:t>
            </a:r>
            <a:r>
              <a:rPr dirty="0"/>
              <a:t> pas un </a:t>
            </a:r>
            <a:r>
              <a:rPr dirty="0" err="1"/>
              <a:t>entier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qui arrive </a:t>
            </a:r>
            <a:r>
              <a:rPr dirty="0" err="1"/>
              <a:t>quand</a:t>
            </a:r>
            <a:r>
              <a:rPr dirty="0"/>
              <a:t> </a:t>
            </a:r>
            <a:r>
              <a:rPr dirty="0" err="1"/>
              <a:t>l'utilisateur</a:t>
            </a:r>
            <a:r>
              <a:rPr dirty="0"/>
              <a:t> tape des </a:t>
            </a:r>
            <a:r>
              <a:rPr dirty="0" err="1"/>
              <a:t>lettres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le </a:t>
            </a:r>
            <a:r>
              <a:rPr dirty="0" err="1"/>
              <a:t>programme</a:t>
            </a:r>
            <a:r>
              <a:rPr dirty="0"/>
              <a:t> attend un </a:t>
            </a:r>
            <a:r>
              <a:rPr dirty="0" err="1"/>
              <a:t>nombre</a:t>
            </a:r>
            <a:r>
              <a:rPr dirty="0"/>
              <a:t>. La </a:t>
            </a:r>
            <a:r>
              <a:rPr dirty="0" err="1"/>
              <a:t>bulle</a:t>
            </a:r>
            <a:r>
              <a:rPr dirty="0"/>
              <a:t> </a:t>
            </a:r>
            <a:r>
              <a:rPr dirty="0" err="1"/>
              <a:t>signale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la </a:t>
            </a:r>
            <a:r>
              <a:rPr dirty="0" err="1"/>
              <a:t>variante</a:t>
            </a:r>
            <a:r>
              <a:rPr dirty="0"/>
              <a:t> </a:t>
            </a:r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(radix)</a:t>
            </a:r>
            <a:r>
              <a:rPr dirty="0"/>
              <a:t>, qui </a:t>
            </a:r>
            <a:r>
              <a:rPr dirty="0" err="1"/>
              <a:t>interprète</a:t>
            </a:r>
            <a:r>
              <a:rPr dirty="0"/>
              <a:t> le </a:t>
            </a:r>
            <a:r>
              <a:rPr dirty="0" err="1"/>
              <a:t>nombre</a:t>
            </a:r>
            <a:r>
              <a:rPr dirty="0"/>
              <a:t> dans la base </a:t>
            </a:r>
            <a:r>
              <a:rPr dirty="0" err="1"/>
              <a:t>indiquée</a:t>
            </a:r>
            <a:r>
              <a:rPr dirty="0"/>
              <a:t>.</a:t>
            </a:r>
          </a:p>
          <a:p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retourne le </a:t>
            </a:r>
            <a:r>
              <a:rPr dirty="0" err="1"/>
              <a:t>reste</a:t>
            </a:r>
            <a:r>
              <a:rPr dirty="0"/>
              <a:t> de la </a:t>
            </a:r>
            <a:r>
              <a:rPr dirty="0" err="1"/>
              <a:t>ligne</a:t>
            </a:r>
            <a:r>
              <a:rPr dirty="0"/>
              <a:t> courante, sans le passage à la </a:t>
            </a:r>
            <a:r>
              <a:rPr dirty="0" err="1"/>
              <a:t>ligne</a:t>
            </a:r>
            <a:r>
              <a:rPr dirty="0"/>
              <a:t> final, et se place au début de la </a:t>
            </a:r>
            <a:r>
              <a:rPr dirty="0" err="1"/>
              <a:t>ligne</a:t>
            </a:r>
            <a:r>
              <a:rPr dirty="0"/>
              <a:t> </a:t>
            </a:r>
            <a:r>
              <a:rPr dirty="0" err="1"/>
              <a:t>suivante</a:t>
            </a:r>
            <a:r>
              <a:rPr dirty="0"/>
              <a:t>.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comportement</a:t>
            </a:r>
            <a:r>
              <a:rPr dirty="0"/>
              <a:t> qui </a:t>
            </a:r>
            <a:r>
              <a:rPr dirty="0" err="1"/>
              <a:t>explique</a:t>
            </a:r>
            <a:r>
              <a:rPr dirty="0"/>
              <a:t> le </a:t>
            </a:r>
            <a:r>
              <a:rPr dirty="0" err="1"/>
              <a:t>piège</a:t>
            </a:r>
            <a:r>
              <a:rPr dirty="0"/>
              <a:t> de la slide </a:t>
            </a:r>
            <a:r>
              <a:rPr dirty="0" err="1"/>
              <a:t>suivante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Quand </a:t>
            </a:r>
            <a:r>
              <a:rPr dirty="0" err="1"/>
              <a:t>l'utilisateur</a:t>
            </a:r>
            <a:r>
              <a:rPr dirty="0"/>
              <a:t> tape </a:t>
            </a:r>
            <a:r>
              <a:rPr dirty="0">
                <a:latin typeface="Consolas"/>
              </a:rPr>
              <a:t>1965</a:t>
            </a:r>
            <a:r>
              <a:rPr dirty="0"/>
              <a:t> </a:t>
            </a:r>
            <a:r>
              <a:rPr dirty="0" err="1"/>
              <a:t>puis</a:t>
            </a:r>
            <a:r>
              <a:rPr dirty="0"/>
              <a:t> Entrée, </a:t>
            </a:r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consomme</a:t>
            </a:r>
            <a:r>
              <a:rPr dirty="0"/>
              <a:t> les chiffres </a:t>
            </a:r>
            <a:r>
              <a:rPr dirty="0" err="1"/>
              <a:t>mais</a:t>
            </a:r>
            <a:r>
              <a:rPr dirty="0"/>
              <a:t> laisse le passage à la </a:t>
            </a:r>
            <a:r>
              <a:rPr dirty="0" err="1"/>
              <a:t>ligne</a:t>
            </a:r>
            <a:r>
              <a:rPr dirty="0"/>
              <a:t> dans le tampon. Le </a:t>
            </a:r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suivant</a:t>
            </a:r>
            <a:r>
              <a:rPr dirty="0"/>
              <a:t> le </a:t>
            </a:r>
            <a:r>
              <a:rPr dirty="0" err="1"/>
              <a:t>trouve</a:t>
            </a:r>
            <a:r>
              <a:rPr dirty="0"/>
              <a:t> </a:t>
            </a:r>
            <a:r>
              <a:rPr dirty="0" err="1"/>
              <a:t>immédiatement</a:t>
            </a:r>
            <a:r>
              <a:rPr dirty="0"/>
              <a:t> et retourne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chaîne</a:t>
            </a:r>
            <a:r>
              <a:rPr dirty="0"/>
              <a:t> vide : pour </a:t>
            </a:r>
            <a:r>
              <a:rPr dirty="0" err="1"/>
              <a:t>l'utilisateur</a:t>
            </a:r>
            <a:r>
              <a:rPr dirty="0"/>
              <a:t>, la question du </a:t>
            </a:r>
            <a:r>
              <a:rPr dirty="0" err="1"/>
              <a:t>titre</a:t>
            </a:r>
            <a:r>
              <a:rPr dirty="0"/>
              <a:t>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sautée</a:t>
            </a:r>
            <a:r>
              <a:rPr dirty="0"/>
              <a:t>.</a:t>
            </a:r>
          </a:p>
          <a:p>
            <a:r>
              <a:rPr dirty="0"/>
              <a:t>On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ordonner</a:t>
            </a:r>
            <a:r>
              <a:rPr dirty="0"/>
              <a:t> les questions pour </a:t>
            </a:r>
            <a:r>
              <a:rPr dirty="0" err="1"/>
              <a:t>éviter</a:t>
            </a:r>
            <a:r>
              <a:rPr dirty="0"/>
              <a:t> </a:t>
            </a:r>
            <a:r>
              <a:rPr dirty="0" err="1"/>
              <a:t>qu'un</a:t>
            </a:r>
            <a:r>
              <a:rPr dirty="0"/>
              <a:t> </a:t>
            </a:r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suive</a:t>
            </a:r>
            <a:r>
              <a:rPr dirty="0"/>
              <a:t> un </a:t>
            </a:r>
            <a:r>
              <a:rPr dirty="0" err="1">
                <a:latin typeface="Consolas"/>
              </a:rPr>
              <a:t>nextInt</a:t>
            </a:r>
            <a:r>
              <a:rPr dirty="0">
                <a:latin typeface="Consolas"/>
              </a:rPr>
              <a:t>()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consommer</a:t>
            </a:r>
            <a:r>
              <a:rPr dirty="0"/>
              <a:t> la fin de </a:t>
            </a:r>
            <a:r>
              <a:rPr dirty="0" err="1"/>
              <a:t>ligne</a:t>
            </a:r>
            <a:r>
              <a:rPr dirty="0"/>
              <a:t> par un </a:t>
            </a:r>
            <a:r>
              <a:rPr dirty="0" err="1">
                <a:latin typeface="Consolas"/>
              </a:rPr>
              <a:t>nextLine</a:t>
            </a:r>
            <a:r>
              <a:rPr dirty="0">
                <a:latin typeface="Consolas"/>
              </a:rPr>
              <a:t>()</a:t>
            </a:r>
            <a:r>
              <a:rPr dirty="0"/>
              <a:t> </a:t>
            </a:r>
            <a:r>
              <a:rPr dirty="0" err="1"/>
              <a:t>supplémentaire</a:t>
            </a:r>
            <a:r>
              <a:rPr dirty="0"/>
              <a:t>. </a:t>
            </a:r>
            <a:r>
              <a:rPr dirty="0" err="1"/>
              <a:t>L'exercice</a:t>
            </a:r>
            <a:r>
              <a:rPr dirty="0"/>
              <a:t> POO.5 vous </a:t>
            </a:r>
            <a:r>
              <a:rPr dirty="0" err="1"/>
              <a:t>demandera</a:t>
            </a:r>
            <a:r>
              <a:rPr dirty="0"/>
              <a:t> de </a:t>
            </a:r>
            <a:r>
              <a:rPr dirty="0" err="1"/>
              <a:t>chercher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manière de ne jamais </a:t>
            </a:r>
            <a:r>
              <a:rPr dirty="0" err="1"/>
              <a:t>tomber</a:t>
            </a:r>
            <a:r>
              <a:rPr dirty="0"/>
              <a:t> dans le </a:t>
            </a:r>
            <a:r>
              <a:rPr dirty="0" err="1"/>
              <a:t>piège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demo.poo.slides.UnPiegeNextIntNextLine.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la première </a:t>
            </a:r>
            <a:r>
              <a:rPr dirty="0" err="1"/>
              <a:t>partie</a:t>
            </a:r>
            <a:r>
              <a:rPr dirty="0"/>
              <a:t> de </a:t>
            </a:r>
            <a:r>
              <a:rPr dirty="0" err="1"/>
              <a:t>l'exercice</a:t>
            </a:r>
            <a:r>
              <a:rPr dirty="0"/>
              <a:t> POO.4,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l'incrément</a:t>
            </a:r>
            <a:r>
              <a:rPr dirty="0"/>
              <a:t> G.3 du fil rouge. La </a:t>
            </a:r>
            <a:r>
              <a:rPr dirty="0" err="1"/>
              <a:t>seconde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de POO.4 </a:t>
            </a:r>
            <a:r>
              <a:rPr dirty="0" err="1"/>
              <a:t>vient</a:t>
            </a:r>
            <a:r>
              <a:rPr dirty="0"/>
              <a:t> après la section </a:t>
            </a:r>
            <a:r>
              <a:rPr dirty="0" err="1"/>
              <a:t>suivante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Une variable Java ne </a:t>
            </a:r>
            <a:r>
              <a:rPr dirty="0" err="1"/>
              <a:t>contient</a:t>
            </a:r>
            <a:r>
              <a:rPr dirty="0"/>
              <a:t> pas la </a:t>
            </a:r>
            <a:r>
              <a:rPr dirty="0" err="1"/>
              <a:t>même</a:t>
            </a:r>
            <a:r>
              <a:rPr dirty="0"/>
              <a:t> chose </a:t>
            </a:r>
            <a:r>
              <a:rPr dirty="0" err="1"/>
              <a:t>selon</a:t>
            </a:r>
            <a:r>
              <a:rPr dirty="0"/>
              <a:t> son type. Cette </a:t>
            </a:r>
            <a:r>
              <a:rPr dirty="0" err="1"/>
              <a:t>différence</a:t>
            </a:r>
            <a:r>
              <a:rPr dirty="0"/>
              <a:t>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comportements</a:t>
            </a:r>
            <a:r>
              <a:rPr dirty="0"/>
              <a:t> </a:t>
            </a:r>
            <a:r>
              <a:rPr dirty="0" err="1"/>
              <a:t>surprenants</a:t>
            </a:r>
            <a:r>
              <a:rPr dirty="0"/>
              <a:t>, </a:t>
            </a:r>
            <a:r>
              <a:rPr dirty="0" err="1"/>
              <a:t>dont</a:t>
            </a:r>
            <a:r>
              <a:rPr dirty="0"/>
              <a:t> </a:t>
            </a:r>
            <a:r>
              <a:rPr dirty="0" err="1"/>
              <a:t>celui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l'exercice</a:t>
            </a:r>
            <a:r>
              <a:rPr dirty="0"/>
              <a:t> POO.4 vous </a:t>
            </a:r>
            <a:r>
              <a:rPr dirty="0" err="1"/>
              <a:t>fera</a:t>
            </a:r>
            <a:r>
              <a:rPr dirty="0"/>
              <a:t> </a:t>
            </a:r>
            <a:r>
              <a:rPr dirty="0" err="1"/>
              <a:t>constater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Java compte </a:t>
            </a:r>
            <a:r>
              <a:rPr dirty="0" err="1"/>
              <a:t>huit</a:t>
            </a:r>
            <a:r>
              <a:rPr dirty="0"/>
              <a:t> types </a:t>
            </a:r>
            <a:r>
              <a:rPr dirty="0" err="1"/>
              <a:t>primitifs</a:t>
            </a:r>
            <a:r>
              <a:rPr dirty="0"/>
              <a:t> : </a:t>
            </a:r>
            <a:r>
              <a:rPr dirty="0">
                <a:latin typeface="Consolas"/>
              </a:rPr>
              <a:t>byte</a:t>
            </a:r>
            <a:r>
              <a:rPr dirty="0"/>
              <a:t>, </a:t>
            </a:r>
            <a:r>
              <a:rPr dirty="0">
                <a:latin typeface="Consolas"/>
              </a:rPr>
              <a:t>short</a:t>
            </a:r>
            <a:r>
              <a:rPr dirty="0"/>
              <a:t>, </a:t>
            </a:r>
            <a:r>
              <a:rPr dirty="0">
                <a:latin typeface="Consolas"/>
              </a:rPr>
              <a:t>int</a:t>
            </a:r>
            <a:r>
              <a:rPr dirty="0"/>
              <a:t>, </a:t>
            </a:r>
            <a:r>
              <a:rPr dirty="0">
                <a:latin typeface="Consolas"/>
              </a:rPr>
              <a:t>long</a:t>
            </a:r>
            <a:r>
              <a:rPr dirty="0"/>
              <a:t>, </a:t>
            </a:r>
            <a:r>
              <a:rPr dirty="0">
                <a:latin typeface="Consolas"/>
              </a:rPr>
              <a:t>float</a:t>
            </a:r>
            <a:r>
              <a:rPr dirty="0"/>
              <a:t>, </a:t>
            </a:r>
            <a:r>
              <a:rPr dirty="0">
                <a:latin typeface="Consolas"/>
              </a:rPr>
              <a:t>double</a:t>
            </a:r>
            <a:r>
              <a:rPr dirty="0"/>
              <a:t>, </a:t>
            </a:r>
            <a:r>
              <a:rPr dirty="0">
                <a:latin typeface="Consolas"/>
              </a:rPr>
              <a:t>char</a:t>
            </a:r>
            <a:r>
              <a:rPr dirty="0"/>
              <a:t> et </a:t>
            </a:r>
            <a:r>
              <a:rPr dirty="0" err="1">
                <a:latin typeface="Consolas"/>
              </a:rPr>
              <a:t>boolean</a:t>
            </a:r>
            <a:r>
              <a:rPr dirty="0"/>
              <a:t>. Une variable de </a:t>
            </a:r>
            <a:r>
              <a:rPr dirty="0" err="1"/>
              <a:t>l'un</a:t>
            </a:r>
            <a:r>
              <a:rPr dirty="0"/>
              <a:t> de </a:t>
            </a:r>
            <a:r>
              <a:rPr dirty="0" err="1"/>
              <a:t>ces</a:t>
            </a:r>
            <a:r>
              <a:rPr dirty="0"/>
              <a:t> types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</a:t>
            </a:r>
            <a:r>
              <a:rPr dirty="0" err="1"/>
              <a:t>sa</a:t>
            </a:r>
            <a:r>
              <a:rPr dirty="0"/>
              <a:t> </a:t>
            </a:r>
            <a:r>
              <a:rPr dirty="0" err="1"/>
              <a:t>valeur</a:t>
            </a:r>
            <a:r>
              <a:rPr dirty="0"/>
              <a:t>.</a:t>
            </a:r>
          </a:p>
          <a:p>
            <a:r>
              <a:rPr dirty="0"/>
              <a:t>Une variable </a:t>
            </a:r>
            <a:r>
              <a:rPr dirty="0" err="1"/>
              <a:t>d'objet</a:t>
            </a:r>
            <a:r>
              <a:rPr dirty="0"/>
              <a:t>, </a:t>
            </a:r>
            <a:r>
              <a:rPr dirty="0" err="1"/>
              <a:t>elle</a:t>
            </a:r>
            <a:r>
              <a:rPr dirty="0"/>
              <a:t>, ne </a:t>
            </a:r>
            <a:r>
              <a:rPr dirty="0" err="1"/>
              <a:t>contient</a:t>
            </a:r>
            <a:r>
              <a:rPr dirty="0"/>
              <a:t> pas </a:t>
            </a:r>
            <a:r>
              <a:rPr dirty="0" err="1"/>
              <a:t>l'objet</a:t>
            </a:r>
            <a:r>
              <a:rPr dirty="0"/>
              <a:t>. Elle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référence</a:t>
            </a:r>
            <a:r>
              <a:rPr dirty="0"/>
              <a:t>, </a:t>
            </a:r>
            <a:r>
              <a:rPr dirty="0" err="1"/>
              <a:t>c'est</a:t>
            </a:r>
            <a:r>
              <a:rPr dirty="0"/>
              <a:t>-à-dire le moyen de </a:t>
            </a:r>
            <a:r>
              <a:rPr dirty="0" err="1"/>
              <a:t>retrouver</a:t>
            </a:r>
            <a:r>
              <a:rPr dirty="0"/>
              <a:t> </a:t>
            </a:r>
            <a:r>
              <a:rPr dirty="0" err="1"/>
              <a:t>l'objet</a:t>
            </a:r>
            <a:r>
              <a:rPr dirty="0"/>
              <a:t>, qui vit </a:t>
            </a:r>
            <a:r>
              <a:rPr dirty="0" err="1"/>
              <a:t>ailleurs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mémoire</a:t>
            </a:r>
            <a:r>
              <a:rPr dirty="0"/>
              <a:t>. Le </a:t>
            </a:r>
            <a:r>
              <a:rPr dirty="0" err="1"/>
              <a:t>mémento</a:t>
            </a:r>
            <a:r>
              <a:rPr dirty="0"/>
              <a:t> technique </a:t>
            </a:r>
            <a:r>
              <a:rPr dirty="0" err="1"/>
              <a:t>décrit</a:t>
            </a:r>
            <a:r>
              <a:rPr dirty="0"/>
              <a:t> </a:t>
            </a:r>
            <a:r>
              <a:rPr dirty="0" err="1"/>
              <a:t>où</a:t>
            </a:r>
            <a:r>
              <a:rPr dirty="0"/>
              <a:t> </a:t>
            </a:r>
            <a:r>
              <a:rPr dirty="0" err="1"/>
              <a:t>vivent</a:t>
            </a:r>
            <a:r>
              <a:rPr dirty="0"/>
              <a:t> </a:t>
            </a:r>
            <a:r>
              <a:rPr dirty="0" err="1"/>
              <a:t>l'un</a:t>
            </a:r>
            <a:r>
              <a:rPr dirty="0"/>
              <a:t> et </a:t>
            </a:r>
            <a:r>
              <a:rPr dirty="0" err="1"/>
              <a:t>l'autre</a:t>
            </a:r>
            <a:r>
              <a:rPr dirty="0"/>
              <a:t> (TEC-EXE.1 à TEC-EXE.3).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L'affectation</a:t>
            </a:r>
            <a:r>
              <a:rPr dirty="0"/>
              <a:t> </a:t>
            </a:r>
            <a:r>
              <a:rPr dirty="0" err="1"/>
              <a:t>copie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le </a:t>
            </a:r>
            <a:r>
              <a:rPr dirty="0" err="1"/>
              <a:t>contenu</a:t>
            </a:r>
            <a:r>
              <a:rPr dirty="0"/>
              <a:t> de la variable. Pour un </a:t>
            </a:r>
            <a:r>
              <a:rPr dirty="0">
                <a:latin typeface="Consolas"/>
              </a:rPr>
              <a:t>int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contenu</a:t>
            </a:r>
            <a:r>
              <a:rPr dirty="0"/>
              <a:t> est le </a:t>
            </a:r>
            <a:r>
              <a:rPr dirty="0" err="1"/>
              <a:t>nombre</a:t>
            </a:r>
            <a:r>
              <a:rPr dirty="0"/>
              <a:t> : </a:t>
            </a:r>
            <a:r>
              <a:rPr dirty="0">
                <a:latin typeface="Consolas"/>
              </a:rPr>
              <a:t>a</a:t>
            </a:r>
            <a:r>
              <a:rPr dirty="0"/>
              <a:t> et </a:t>
            </a:r>
            <a:r>
              <a:rPr dirty="0">
                <a:latin typeface="Consolas"/>
              </a:rPr>
              <a:t>b</a:t>
            </a:r>
            <a:r>
              <a:rPr dirty="0"/>
              <a:t> </a:t>
            </a:r>
            <a:r>
              <a:rPr dirty="0" err="1"/>
              <a:t>restent</a:t>
            </a:r>
            <a:r>
              <a:rPr dirty="0"/>
              <a:t> </a:t>
            </a:r>
            <a:r>
              <a:rPr dirty="0" err="1"/>
              <a:t>indépendants</a:t>
            </a:r>
            <a:r>
              <a:rPr dirty="0"/>
              <a:t>. Pour un </a:t>
            </a:r>
            <a:r>
              <a:rPr dirty="0" err="1"/>
              <a:t>objet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contenu</a:t>
            </a:r>
            <a:r>
              <a:rPr dirty="0"/>
              <a:t> est la </a:t>
            </a:r>
            <a:r>
              <a:rPr dirty="0" err="1"/>
              <a:t>référence</a:t>
            </a:r>
            <a:r>
              <a:rPr dirty="0"/>
              <a:t> : après </a:t>
            </a:r>
            <a:r>
              <a:rPr dirty="0">
                <a:latin typeface="Consolas"/>
              </a:rPr>
              <a:t>l2 = l1</a:t>
            </a:r>
            <a:r>
              <a:rPr dirty="0"/>
              <a:t>, les deux variables </a:t>
            </a:r>
            <a:r>
              <a:rPr dirty="0" err="1"/>
              <a:t>désignent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livre, et </a:t>
            </a:r>
            <a:r>
              <a:rPr dirty="0" err="1"/>
              <a:t>une</a:t>
            </a:r>
            <a:r>
              <a:rPr dirty="0"/>
              <a:t> modification </a:t>
            </a:r>
            <a:r>
              <a:rPr dirty="0" err="1"/>
              <a:t>faite</a:t>
            </a:r>
            <a:r>
              <a:rPr dirty="0"/>
              <a:t> par </a:t>
            </a:r>
            <a:r>
              <a:rPr dirty="0" err="1"/>
              <a:t>l'une</a:t>
            </a:r>
            <a:r>
              <a:rPr dirty="0"/>
              <a:t> se </a:t>
            </a:r>
            <a:r>
              <a:rPr dirty="0" err="1"/>
              <a:t>voit</a:t>
            </a:r>
            <a:r>
              <a:rPr dirty="0"/>
              <a:t> par </a:t>
            </a:r>
            <a:r>
              <a:rPr dirty="0" err="1"/>
              <a:t>l'autre</a:t>
            </a:r>
            <a:r>
              <a:rPr dirty="0"/>
              <a:t>.</a:t>
            </a:r>
          </a:p>
          <a:p>
            <a:r>
              <a:rPr dirty="0"/>
              <a:t>Le </a:t>
            </a:r>
            <a:r>
              <a:rPr dirty="0" err="1"/>
              <a:t>débogueur</a:t>
            </a:r>
            <a:r>
              <a:rPr dirty="0"/>
              <a:t> rend </a:t>
            </a:r>
            <a:r>
              <a:rPr dirty="0" err="1"/>
              <a:t>ce</a:t>
            </a:r>
            <a:r>
              <a:rPr dirty="0"/>
              <a:t> partage visible : il affiche à </a:t>
            </a:r>
            <a:r>
              <a:rPr dirty="0" err="1"/>
              <a:t>côté</a:t>
            </a:r>
            <a:r>
              <a:rPr dirty="0"/>
              <a:t> de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un </a:t>
            </a:r>
            <a:r>
              <a:rPr dirty="0" err="1"/>
              <a:t>numéro</a:t>
            </a:r>
            <a:r>
              <a:rPr dirty="0"/>
              <a:t>, et deux variables qui portent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numéro</a:t>
            </a:r>
            <a:r>
              <a:rPr dirty="0"/>
              <a:t> </a:t>
            </a:r>
            <a:r>
              <a:rPr dirty="0" err="1"/>
              <a:t>désignent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demo.poo.slides.DeuxNomsUnSeulObjet.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la </a:t>
            </a:r>
            <a:r>
              <a:rPr dirty="0" err="1"/>
              <a:t>seconde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de </a:t>
            </a:r>
            <a:r>
              <a:rPr dirty="0" err="1"/>
              <a:t>l'exercice</a:t>
            </a:r>
            <a:r>
              <a:rPr dirty="0"/>
              <a:t> POO.4. </a:t>
            </a:r>
            <a:r>
              <a:rPr dirty="0" err="1"/>
              <a:t>Rédigez</a:t>
            </a:r>
            <a:r>
              <a:rPr dirty="0"/>
              <a:t> </a:t>
            </a:r>
            <a:r>
              <a:rPr dirty="0" err="1"/>
              <a:t>votre</a:t>
            </a:r>
            <a:r>
              <a:rPr dirty="0"/>
              <a:t> explication avant de lire la page </a:t>
            </a:r>
            <a:r>
              <a:rPr dirty="0" err="1"/>
              <a:t>suivante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Une </a:t>
            </a:r>
            <a:r>
              <a:rPr dirty="0" err="1"/>
              <a:t>méthode</a:t>
            </a:r>
            <a:r>
              <a:rPr dirty="0"/>
              <a:t> </a:t>
            </a:r>
            <a:r>
              <a:rPr dirty="0" err="1"/>
              <a:t>reçoit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copie</a:t>
            </a:r>
            <a:r>
              <a:rPr dirty="0"/>
              <a:t> de </a:t>
            </a:r>
            <a:r>
              <a:rPr dirty="0" err="1"/>
              <a:t>ses</a:t>
            </a:r>
            <a:r>
              <a:rPr dirty="0"/>
              <a:t> arguments. Modifier un </a:t>
            </a:r>
            <a:r>
              <a:rPr dirty="0" err="1"/>
              <a:t>paramètre</a:t>
            </a:r>
            <a:r>
              <a:rPr dirty="0"/>
              <a:t> </a:t>
            </a:r>
            <a:r>
              <a:rPr dirty="0">
                <a:latin typeface="Consolas"/>
              </a:rPr>
              <a:t>int</a:t>
            </a:r>
            <a:r>
              <a:rPr dirty="0"/>
              <a:t> ne change </a:t>
            </a:r>
            <a:r>
              <a:rPr dirty="0" err="1"/>
              <a:t>donc</a:t>
            </a:r>
            <a:r>
              <a:rPr dirty="0"/>
              <a:t> rien chez </a:t>
            </a:r>
            <a:r>
              <a:rPr dirty="0" err="1"/>
              <a:t>l'appelant</a:t>
            </a:r>
            <a:r>
              <a:rPr dirty="0"/>
              <a:t>. Un </a:t>
            </a:r>
            <a:r>
              <a:rPr dirty="0" err="1"/>
              <a:t>paramètre</a:t>
            </a:r>
            <a:r>
              <a:rPr dirty="0"/>
              <a:t> </a:t>
            </a:r>
            <a:r>
              <a:rPr dirty="0" err="1"/>
              <a:t>d'objet</a:t>
            </a:r>
            <a:r>
              <a:rPr dirty="0"/>
              <a:t> est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aussi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copie</a:t>
            </a:r>
            <a:r>
              <a:rPr dirty="0"/>
              <a:t>,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copie</a:t>
            </a:r>
            <a:r>
              <a:rPr dirty="0"/>
              <a:t> de la </a:t>
            </a:r>
            <a:r>
              <a:rPr dirty="0" err="1"/>
              <a:t>référence</a:t>
            </a:r>
            <a:r>
              <a:rPr dirty="0"/>
              <a:t> : il </a:t>
            </a:r>
            <a:r>
              <a:rPr dirty="0" err="1"/>
              <a:t>désigne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variable de </a:t>
            </a:r>
            <a:r>
              <a:rPr dirty="0" err="1"/>
              <a:t>l'appelant</a:t>
            </a:r>
            <a:r>
              <a:rPr dirty="0"/>
              <a:t>, et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fait à </a:t>
            </a:r>
            <a:r>
              <a:rPr dirty="0" err="1"/>
              <a:t>l'objet</a:t>
            </a:r>
            <a:r>
              <a:rPr dirty="0"/>
              <a:t> à travers </a:t>
            </a:r>
            <a:r>
              <a:rPr dirty="0" err="1"/>
              <a:t>lui</a:t>
            </a:r>
            <a:r>
              <a:rPr dirty="0"/>
              <a:t> se </a:t>
            </a:r>
            <a:r>
              <a:rPr dirty="0" err="1"/>
              <a:t>voit</a:t>
            </a:r>
            <a:r>
              <a:rPr dirty="0"/>
              <a:t> de </a:t>
            </a:r>
            <a:r>
              <a:rPr dirty="0" err="1"/>
              <a:t>partout</a:t>
            </a:r>
            <a:r>
              <a:rPr dirty="0"/>
              <a:t>.</a:t>
            </a:r>
          </a:p>
          <a:p>
            <a:r>
              <a:rPr dirty="0"/>
              <a:t>Ce </a:t>
            </a:r>
            <a:r>
              <a:rPr dirty="0" err="1"/>
              <a:t>n'est</a:t>
            </a:r>
            <a:r>
              <a:rPr dirty="0"/>
              <a:t> pas pour </a:t>
            </a:r>
            <a:r>
              <a:rPr dirty="0" err="1"/>
              <a:t>autant</a:t>
            </a:r>
            <a:r>
              <a:rPr dirty="0"/>
              <a:t> un passage par </a:t>
            </a:r>
            <a:r>
              <a:rPr dirty="0" err="1"/>
              <a:t>référence</a:t>
            </a:r>
            <a:r>
              <a:rPr dirty="0"/>
              <a:t> : la </a:t>
            </a:r>
            <a:r>
              <a:rPr dirty="0" err="1"/>
              <a:t>troisième</a:t>
            </a:r>
            <a:r>
              <a:rPr dirty="0"/>
              <a:t> </a:t>
            </a:r>
            <a:r>
              <a:rPr dirty="0" err="1"/>
              <a:t>ligne</a:t>
            </a:r>
            <a:r>
              <a:rPr dirty="0"/>
              <a:t> fait </a:t>
            </a:r>
            <a:r>
              <a:rPr dirty="0" err="1"/>
              <a:t>désigner</a:t>
            </a:r>
            <a:r>
              <a:rPr dirty="0"/>
              <a:t> un </a:t>
            </a:r>
            <a:r>
              <a:rPr dirty="0" err="1"/>
              <a:t>autre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 à la </a:t>
            </a:r>
            <a:r>
              <a:rPr dirty="0" err="1"/>
              <a:t>copie</a:t>
            </a:r>
            <a:r>
              <a:rPr dirty="0"/>
              <a:t>, et la variable de </a:t>
            </a:r>
            <a:r>
              <a:rPr dirty="0" err="1"/>
              <a:t>l'appelant</a:t>
            </a:r>
            <a:r>
              <a:rPr dirty="0"/>
              <a:t> </a:t>
            </a:r>
            <a:r>
              <a:rPr dirty="0" err="1"/>
              <a:t>n'en</a:t>
            </a:r>
            <a:r>
              <a:rPr dirty="0"/>
              <a:t> est pas </a:t>
            </a:r>
            <a:r>
              <a:rPr dirty="0" err="1"/>
              <a:t>affectée</a:t>
            </a:r>
            <a:r>
              <a:rPr dirty="0"/>
              <a:t>. TEC-EXE.3 </a:t>
            </a:r>
            <a:r>
              <a:rPr dirty="0" err="1"/>
              <a:t>reprend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raisonnement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demo.poo.slides.CeQueVousAvezObserve.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Chaque</a:t>
            </a:r>
            <a:r>
              <a:rPr dirty="0"/>
              <a:t> type </a:t>
            </a:r>
            <a:r>
              <a:rPr dirty="0" err="1"/>
              <a:t>primitif</a:t>
            </a:r>
            <a:r>
              <a:rPr dirty="0"/>
              <a:t> a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jumelle</a:t>
            </a:r>
            <a:r>
              <a:rPr dirty="0"/>
              <a:t>, qui </a:t>
            </a:r>
            <a:r>
              <a:rPr dirty="0" err="1"/>
              <a:t>l'enveloppe</a:t>
            </a:r>
            <a:r>
              <a:rPr dirty="0"/>
              <a:t> et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ajoute</a:t>
            </a:r>
            <a:r>
              <a:rPr dirty="0"/>
              <a:t> des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utiles</a:t>
            </a:r>
            <a:r>
              <a:rPr dirty="0"/>
              <a:t>. </a:t>
            </a:r>
            <a:r>
              <a:rPr dirty="0" err="1"/>
              <a:t>Ces</a:t>
            </a:r>
            <a:r>
              <a:rPr dirty="0"/>
              <a:t> classes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l'occasion</a:t>
            </a:r>
            <a:r>
              <a:rPr dirty="0"/>
              <a:t> de </a:t>
            </a:r>
            <a:r>
              <a:rPr dirty="0" err="1"/>
              <a:t>retrouver</a:t>
            </a:r>
            <a:r>
              <a:rPr dirty="0"/>
              <a:t> les </a:t>
            </a:r>
            <a:r>
              <a:rPr dirty="0" err="1"/>
              <a:t>membres</a:t>
            </a:r>
            <a:r>
              <a:rPr dirty="0"/>
              <a:t> </a:t>
            </a:r>
            <a:r>
              <a:rPr dirty="0" err="1"/>
              <a:t>statiques</a:t>
            </a:r>
            <a:r>
              <a:rPr dirty="0"/>
              <a:t> de la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chacun des </a:t>
            </a:r>
            <a:r>
              <a:rPr dirty="0" err="1"/>
              <a:t>huit</a:t>
            </a:r>
            <a:r>
              <a:rPr dirty="0"/>
              <a:t> types </a:t>
            </a:r>
            <a:r>
              <a:rPr dirty="0" err="1"/>
              <a:t>primitifs</a:t>
            </a:r>
            <a:r>
              <a:rPr dirty="0"/>
              <a:t> correspond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du package </a:t>
            </a:r>
            <a:r>
              <a:rPr dirty="0" err="1">
                <a:latin typeface="Consolas"/>
              </a:rPr>
              <a:t>java.lang</a:t>
            </a:r>
            <a:r>
              <a:rPr dirty="0"/>
              <a:t>, </a:t>
            </a:r>
            <a:r>
              <a:rPr dirty="0" err="1"/>
              <a:t>appelée</a:t>
            </a:r>
            <a:r>
              <a:rPr dirty="0"/>
              <a:t> wrapper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enveloppe</a:t>
            </a:r>
            <a:r>
              <a:rPr dirty="0"/>
              <a:t>. Le nom </a:t>
            </a:r>
            <a:r>
              <a:rPr dirty="0" err="1"/>
              <a:t>reprend</a:t>
            </a:r>
            <a:r>
              <a:rPr dirty="0"/>
              <a:t> </a:t>
            </a:r>
            <a:r>
              <a:rPr dirty="0" err="1"/>
              <a:t>celui</a:t>
            </a:r>
            <a:r>
              <a:rPr dirty="0"/>
              <a:t> du type avec </a:t>
            </a:r>
            <a:r>
              <a:rPr dirty="0" err="1"/>
              <a:t>une</a:t>
            </a:r>
            <a:r>
              <a:rPr dirty="0"/>
              <a:t> majuscule, </a:t>
            </a:r>
            <a:r>
              <a:rPr dirty="0" err="1"/>
              <a:t>sauf</a:t>
            </a:r>
            <a:r>
              <a:rPr dirty="0"/>
              <a:t> pour </a:t>
            </a:r>
            <a:r>
              <a:rPr dirty="0">
                <a:latin typeface="Consolas"/>
              </a:rPr>
              <a:t>int</a:t>
            </a:r>
            <a:r>
              <a:rPr dirty="0"/>
              <a:t> et </a:t>
            </a:r>
            <a:r>
              <a:rPr dirty="0">
                <a:latin typeface="Consolas"/>
              </a:rPr>
              <a:t>char</a:t>
            </a:r>
            <a:r>
              <a:rPr dirty="0"/>
              <a:t>, qui </a:t>
            </a:r>
            <a:r>
              <a:rPr dirty="0" err="1"/>
              <a:t>deviennent</a:t>
            </a:r>
            <a:r>
              <a:rPr dirty="0"/>
              <a:t> </a:t>
            </a:r>
            <a:r>
              <a:rPr dirty="0">
                <a:latin typeface="Consolas"/>
              </a:rPr>
              <a:t>Integer</a:t>
            </a:r>
            <a:r>
              <a:rPr dirty="0"/>
              <a:t> et </a:t>
            </a:r>
            <a:r>
              <a:rPr dirty="0">
                <a:latin typeface="Consolas"/>
              </a:rPr>
              <a:t>Character</a:t>
            </a:r>
            <a:r>
              <a:rPr dirty="0"/>
              <a:t>. Leur Javadoc se </a:t>
            </a:r>
            <a:r>
              <a:rPr dirty="0" err="1"/>
              <a:t>trouve</a:t>
            </a:r>
            <a:r>
              <a:rPr dirty="0"/>
              <a:t> dans le module </a:t>
            </a:r>
            <a:r>
              <a:rPr dirty="0" err="1">
                <a:latin typeface="Consolas"/>
              </a:rPr>
              <a:t>java.base</a:t>
            </a:r>
            <a:r>
              <a:rPr dirty="0"/>
              <a:t>, package </a:t>
            </a:r>
            <a:r>
              <a:rPr dirty="0" err="1">
                <a:latin typeface="Consolas"/>
              </a:rPr>
              <a:t>java.lang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Les wrappers </a:t>
            </a:r>
            <a:r>
              <a:rPr dirty="0" err="1"/>
              <a:t>offrent</a:t>
            </a:r>
            <a:r>
              <a:rPr dirty="0"/>
              <a:t> surtout des </a:t>
            </a:r>
            <a:r>
              <a:rPr dirty="0" err="1"/>
              <a:t>membres</a:t>
            </a:r>
            <a:r>
              <a:rPr dirty="0"/>
              <a:t> </a:t>
            </a:r>
            <a:r>
              <a:rPr dirty="0" err="1"/>
              <a:t>statiques</a:t>
            </a:r>
            <a:r>
              <a:rPr dirty="0"/>
              <a:t> : des </a:t>
            </a:r>
            <a:r>
              <a:rPr dirty="0" err="1"/>
              <a:t>méthodes</a:t>
            </a:r>
            <a:r>
              <a:rPr dirty="0"/>
              <a:t> de conversion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>
                <a:latin typeface="Consolas"/>
              </a:rPr>
              <a:t>Integer.parseInt</a:t>
            </a:r>
            <a:r>
              <a:rPr dirty="0"/>
              <a:t>, des </a:t>
            </a:r>
            <a:r>
              <a:rPr dirty="0" err="1"/>
              <a:t>constantes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>
                <a:latin typeface="Consolas"/>
              </a:rPr>
              <a:t>Integer.MAX_VALUE</a:t>
            </a:r>
            <a:r>
              <a:rPr dirty="0"/>
              <a:t>, et des tests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>
                <a:latin typeface="Consolas"/>
              </a:rPr>
              <a:t>Character.isDigit</a:t>
            </a:r>
            <a:r>
              <a:rPr dirty="0"/>
              <a:t>. On les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tous</a:t>
            </a:r>
            <a:r>
              <a:rPr dirty="0"/>
              <a:t> sur la </a:t>
            </a:r>
            <a:r>
              <a:rPr dirty="0" err="1"/>
              <a:t>classe</a:t>
            </a:r>
            <a:r>
              <a:rPr dirty="0"/>
              <a:t>, </a:t>
            </a:r>
            <a:r>
              <a:rPr dirty="0" err="1"/>
              <a:t>comme</a:t>
            </a:r>
            <a:r>
              <a:rPr dirty="0"/>
              <a:t> on </a:t>
            </a:r>
            <a:r>
              <a:rPr dirty="0" err="1"/>
              <a:t>l'a</a:t>
            </a:r>
            <a:r>
              <a:rPr dirty="0"/>
              <a:t> vu à la section 4. </a:t>
            </a:r>
            <a:r>
              <a:rPr dirty="0" err="1"/>
              <a:t>Méfiez</a:t>
            </a:r>
            <a:r>
              <a:rPr dirty="0"/>
              <a:t>-vous de </a:t>
            </a:r>
            <a:r>
              <a:rPr dirty="0" err="1">
                <a:latin typeface="Consolas"/>
              </a:rPr>
              <a:t>Character.isSpace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vous </a:t>
            </a:r>
            <a:r>
              <a:rPr dirty="0" err="1"/>
              <a:t>croiserez</a:t>
            </a:r>
            <a:r>
              <a:rPr dirty="0"/>
              <a:t> dans </a:t>
            </a:r>
            <a:r>
              <a:rPr dirty="0" err="1"/>
              <a:t>d'anciens</a:t>
            </a:r>
            <a:r>
              <a:rPr dirty="0"/>
              <a:t> </a:t>
            </a:r>
            <a:r>
              <a:rPr dirty="0" err="1"/>
              <a:t>exemples</a:t>
            </a:r>
            <a:r>
              <a:rPr dirty="0"/>
              <a:t> : </a:t>
            </a:r>
            <a:r>
              <a:rPr dirty="0" err="1"/>
              <a:t>elle</a:t>
            </a:r>
            <a:r>
              <a:rPr dirty="0"/>
              <a:t> est </a:t>
            </a:r>
            <a:r>
              <a:rPr dirty="0" err="1"/>
              <a:t>dépréciée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</a:t>
            </a:r>
            <a:r>
              <a:rPr dirty="0" err="1"/>
              <a:t>longtemps</a:t>
            </a:r>
            <a:r>
              <a:rPr dirty="0"/>
              <a:t> au profit de </a:t>
            </a:r>
            <a:r>
              <a:rPr dirty="0" err="1">
                <a:latin typeface="Consolas"/>
              </a:rPr>
              <a:t>isWhitespace</a:t>
            </a:r>
            <a:r>
              <a:rPr dirty="0"/>
              <a:t>.</a:t>
            </a:r>
          </a:p>
          <a:p>
            <a:r>
              <a:rPr dirty="0"/>
              <a:t>Java </a:t>
            </a:r>
            <a:r>
              <a:rPr dirty="0" err="1"/>
              <a:t>convertit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 un </a:t>
            </a:r>
            <a:r>
              <a:rPr dirty="0" err="1"/>
              <a:t>primitif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wrapper et </a:t>
            </a:r>
            <a:r>
              <a:rPr dirty="0" err="1"/>
              <a:t>inversement</a:t>
            </a:r>
            <a:r>
              <a:rPr dirty="0"/>
              <a:t> : </a:t>
            </a:r>
            <a:r>
              <a:rPr dirty="0" err="1"/>
              <a:t>c'est</a:t>
            </a:r>
            <a:r>
              <a:rPr dirty="0"/>
              <a:t> </a:t>
            </a:r>
            <a:r>
              <a:rPr dirty="0" err="1"/>
              <a:t>l'autoboxing</a:t>
            </a:r>
            <a:r>
              <a:rPr dirty="0"/>
              <a:t> et </a:t>
            </a:r>
            <a:r>
              <a:rPr dirty="0" err="1"/>
              <a:t>l'unboxing</a:t>
            </a:r>
            <a:r>
              <a:rPr dirty="0"/>
              <a:t>. Cela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d'écrire</a:t>
            </a:r>
            <a:r>
              <a:rPr dirty="0"/>
              <a:t> </a:t>
            </a:r>
            <a:r>
              <a:rPr dirty="0">
                <a:latin typeface="Consolas"/>
              </a:rPr>
              <a:t>Integer </a:t>
            </a:r>
            <a:r>
              <a:rPr dirty="0" err="1">
                <a:latin typeface="Consolas"/>
              </a:rPr>
              <a:t>boite</a:t>
            </a:r>
            <a:r>
              <a:rPr dirty="0">
                <a:latin typeface="Consolas"/>
              </a:rPr>
              <a:t> = 5;</a:t>
            </a:r>
            <a:r>
              <a:rPr dirty="0"/>
              <a:t> sans conversion </a:t>
            </a:r>
            <a:r>
              <a:rPr dirty="0" err="1"/>
              <a:t>explicite</a:t>
            </a:r>
            <a:r>
              <a:rPr dirty="0"/>
              <a:t>.</a:t>
            </a:r>
          </a:p>
          <a:p>
            <a:r>
              <a:rPr lang="fr-BE" dirty="0"/>
              <a:t>Le code complet, à exécuter : demos, classe demo.poo.slides.CeQuOffrentLesWrappers.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Un </a:t>
            </a:r>
            <a:r>
              <a:rPr dirty="0" err="1"/>
              <a:t>calcul</a:t>
            </a:r>
            <a:r>
              <a:rPr dirty="0"/>
              <a:t> </a:t>
            </a:r>
            <a:r>
              <a:rPr dirty="0" err="1"/>
              <a:t>écrit</a:t>
            </a:r>
            <a:r>
              <a:rPr dirty="0"/>
              <a:t> </a:t>
            </a:r>
            <a:r>
              <a:rPr dirty="0" err="1"/>
              <a:t>directement</a:t>
            </a:r>
            <a:r>
              <a:rPr dirty="0"/>
              <a:t> dans le </a:t>
            </a:r>
            <a:r>
              <a:rPr dirty="0">
                <a:latin typeface="Consolas"/>
              </a:rPr>
              <a:t>main</a:t>
            </a:r>
            <a:r>
              <a:rPr dirty="0"/>
              <a:t>, </a:t>
            </a:r>
            <a:r>
              <a:rPr dirty="0" err="1"/>
              <a:t>mêlé</a:t>
            </a:r>
            <a:r>
              <a:rPr dirty="0"/>
              <a:t> aux lectures et aux </a:t>
            </a:r>
            <a:r>
              <a:rPr dirty="0" err="1"/>
              <a:t>affichages</a:t>
            </a:r>
            <a:r>
              <a:rPr dirty="0"/>
              <a:t>, ne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vérifié</a:t>
            </a:r>
            <a:r>
              <a:rPr dirty="0"/>
              <a:t> </a:t>
            </a:r>
            <a:r>
              <a:rPr dirty="0" err="1"/>
              <a:t>qu'à</a:t>
            </a:r>
            <a:r>
              <a:rPr dirty="0"/>
              <a:t> la main. </a:t>
            </a:r>
            <a:r>
              <a:rPr dirty="0" err="1"/>
              <a:t>Placé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qui </a:t>
            </a:r>
            <a:r>
              <a:rPr dirty="0" err="1"/>
              <a:t>reçoit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données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paramètres</a:t>
            </a:r>
            <a:r>
              <a:rPr dirty="0"/>
              <a:t> et retourne un </a:t>
            </a:r>
            <a:r>
              <a:rPr dirty="0" err="1"/>
              <a:t>résultat</a:t>
            </a:r>
            <a:r>
              <a:rPr dirty="0"/>
              <a:t>, il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appelé</a:t>
            </a:r>
            <a:r>
              <a:rPr dirty="0"/>
              <a:t> et </a:t>
            </a:r>
            <a:r>
              <a:rPr dirty="0" err="1"/>
              <a:t>vérifié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, avec </a:t>
            </a:r>
            <a:r>
              <a:rPr dirty="0" err="1"/>
              <a:t>autant</a:t>
            </a:r>
            <a:r>
              <a:rPr dirty="0"/>
              <a:t> de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qu'on</a:t>
            </a:r>
            <a:r>
              <a:rPr dirty="0"/>
              <a:t> </a:t>
            </a:r>
            <a:r>
              <a:rPr dirty="0" err="1"/>
              <a:t>veut</a:t>
            </a:r>
            <a:r>
              <a:rPr dirty="0"/>
              <a:t>. Le </a:t>
            </a:r>
            <a:r>
              <a:rPr dirty="0">
                <a:latin typeface="Consolas"/>
              </a:rPr>
              <a:t>main</a:t>
            </a:r>
            <a:r>
              <a:rPr dirty="0"/>
              <a:t> se </a:t>
            </a:r>
            <a:r>
              <a:rPr dirty="0" err="1"/>
              <a:t>contente</a:t>
            </a:r>
            <a:r>
              <a:rPr dirty="0"/>
              <a:t> </a:t>
            </a:r>
            <a:r>
              <a:rPr dirty="0" err="1"/>
              <a:t>alors</a:t>
            </a:r>
            <a:r>
              <a:rPr dirty="0"/>
              <a:t> de dialoguer.</a:t>
            </a:r>
          </a:p>
          <a:p>
            <a:r>
              <a:rPr dirty="0"/>
              <a:t>Cette </a:t>
            </a:r>
            <a:r>
              <a:rPr dirty="0" err="1"/>
              <a:t>séparation</a:t>
            </a:r>
            <a:r>
              <a:rPr dirty="0"/>
              <a:t> est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règle</a:t>
            </a:r>
            <a:r>
              <a:rPr dirty="0"/>
              <a:t> du </a:t>
            </a:r>
            <a:r>
              <a:rPr dirty="0" err="1"/>
              <a:t>cours</a:t>
            </a:r>
            <a:r>
              <a:rPr dirty="0"/>
              <a:t> à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maintenant</a:t>
            </a:r>
            <a:r>
              <a:rPr dirty="0"/>
              <a:t>. Le </a:t>
            </a:r>
            <a:r>
              <a:rPr dirty="0" err="1"/>
              <a:t>mémento</a:t>
            </a:r>
            <a:r>
              <a:rPr dirty="0"/>
              <a:t> Clean Code la </a:t>
            </a:r>
            <a:r>
              <a:rPr dirty="0" err="1"/>
              <a:t>formule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CC-MET.8 :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méthode</a:t>
            </a:r>
            <a:r>
              <a:rPr dirty="0"/>
              <a:t> agit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répond</a:t>
            </a:r>
            <a:r>
              <a:rPr dirty="0"/>
              <a:t>, jamais les deux.</a:t>
            </a:r>
          </a:p>
          <a:p>
            <a:r>
              <a:rPr lang="fr-BE" dirty="0"/>
              <a:t>Le code complet, à exécuter : demos, classe demo.poo.slides.Disque.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À faire : </a:t>
            </a:r>
            <a:r>
              <a:rPr dirty="0" err="1"/>
              <a:t>l'exercice</a:t>
            </a:r>
            <a:r>
              <a:rPr dirty="0"/>
              <a:t> POO.5 du fascicule POO. Il </a:t>
            </a:r>
            <a:r>
              <a:rPr dirty="0" err="1"/>
              <a:t>demande</a:t>
            </a:r>
            <a:r>
              <a:rPr dirty="0"/>
              <a:t> de lire la Javadoc de </a:t>
            </a:r>
            <a:r>
              <a:rPr dirty="0" err="1">
                <a:latin typeface="Consolas"/>
              </a:rPr>
              <a:t>Integer.parseInt</a:t>
            </a:r>
            <a:r>
              <a:rPr dirty="0"/>
              <a:t> ; la section IDE.14 du guide montre comment </a:t>
            </a:r>
            <a:r>
              <a:rPr dirty="0" err="1"/>
              <a:t>l'afficher</a:t>
            </a:r>
            <a:r>
              <a:rPr dirty="0"/>
              <a:t> sans quitter IntelliJ.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Ce module a </a:t>
            </a:r>
            <a:r>
              <a:rPr dirty="0" err="1"/>
              <a:t>posé</a:t>
            </a:r>
            <a:r>
              <a:rPr dirty="0"/>
              <a:t> les bases sur </a:t>
            </a:r>
            <a:r>
              <a:rPr dirty="0" err="1"/>
              <a:t>lesquelles</a:t>
            </a:r>
            <a:r>
              <a:rPr dirty="0"/>
              <a:t> </a:t>
            </a:r>
            <a:r>
              <a:rPr dirty="0" err="1"/>
              <a:t>reposent</a:t>
            </a:r>
            <a:r>
              <a:rPr dirty="0"/>
              <a:t>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suivants</a:t>
            </a:r>
            <a:r>
              <a:rPr dirty="0"/>
              <a:t> : des classes qui </a:t>
            </a:r>
            <a:r>
              <a:rPr dirty="0" err="1"/>
              <a:t>protègent</a:t>
            </a:r>
            <a:r>
              <a:rPr dirty="0"/>
              <a:t> </a:t>
            </a:r>
            <a:r>
              <a:rPr dirty="0" err="1"/>
              <a:t>leur</a:t>
            </a:r>
            <a:r>
              <a:rPr dirty="0"/>
              <a:t> état, des </a:t>
            </a:r>
            <a:r>
              <a:rPr dirty="0" err="1"/>
              <a:t>membres</a:t>
            </a:r>
            <a:r>
              <a:rPr dirty="0"/>
              <a:t> de </a:t>
            </a:r>
            <a:r>
              <a:rPr dirty="0" err="1"/>
              <a:t>classe</a:t>
            </a:r>
            <a:r>
              <a:rPr dirty="0"/>
              <a:t> </a:t>
            </a:r>
            <a:r>
              <a:rPr dirty="0" err="1"/>
              <a:t>quand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information </a:t>
            </a:r>
            <a:r>
              <a:rPr dirty="0" err="1"/>
              <a:t>n'appartient</a:t>
            </a:r>
            <a:r>
              <a:rPr dirty="0"/>
              <a:t> à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objet</a:t>
            </a:r>
            <a:r>
              <a:rPr dirty="0"/>
              <a:t>, et </a:t>
            </a:r>
            <a:r>
              <a:rPr dirty="0" err="1"/>
              <a:t>une</a:t>
            </a:r>
            <a:r>
              <a:rPr dirty="0"/>
              <a:t> distinction </a:t>
            </a:r>
            <a:r>
              <a:rPr dirty="0" err="1"/>
              <a:t>nette</a:t>
            </a:r>
            <a:r>
              <a:rPr dirty="0"/>
              <a:t> entre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variable primitive et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contient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variable </a:t>
            </a:r>
            <a:r>
              <a:rPr dirty="0" err="1"/>
              <a:t>d'objet</a:t>
            </a:r>
            <a:r>
              <a:rPr dirty="0"/>
              <a:t>. La </a:t>
            </a:r>
            <a:r>
              <a:rPr dirty="0" err="1"/>
              <a:t>séparation</a:t>
            </a:r>
            <a:r>
              <a:rPr dirty="0"/>
              <a:t> entre </a:t>
            </a:r>
            <a:r>
              <a:rPr dirty="0" err="1"/>
              <a:t>calcul</a:t>
            </a:r>
            <a:r>
              <a:rPr dirty="0"/>
              <a:t> et dialogue sera </a:t>
            </a:r>
            <a:r>
              <a:rPr dirty="0" err="1"/>
              <a:t>appliquée</a:t>
            </a:r>
            <a:r>
              <a:rPr dirty="0"/>
              <a:t> dans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exercices</a:t>
            </a:r>
            <a:r>
              <a:rPr dirty="0"/>
              <a:t> à </a:t>
            </a:r>
            <a:r>
              <a:rPr dirty="0" err="1"/>
              <a:t>venir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2026-2027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lang="fr-FR" dirty="0"/>
              <a:t>Module POO</a:t>
            </a:r>
          </a:p>
          <a:p>
            <a:pPr marL="0" indent="0">
              <a:spcAft>
                <a:spcPts val="1000"/>
              </a:spcAft>
              <a:buNone/>
            </a:pPr>
            <a:r>
              <a:t>Classes et objets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fr-FR" sz="8000" dirty="0"/>
              <a:t>JAVA 2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Au programme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BB1CA8B3-0FF0-726B-9E56-0526FF0CDF56}"/>
              </a:ext>
            </a:extLst>
          </p:cNvPr>
          <p:cNvGrpSpPr/>
          <p:nvPr/>
        </p:nvGrpSpPr>
        <p:grpSpPr>
          <a:xfrm>
            <a:off x="640080" y="1463040"/>
            <a:ext cx="5394960" cy="914400"/>
            <a:chOff x="640080" y="1463040"/>
            <a:chExt cx="5394960" cy="914400"/>
          </a:xfrm>
        </p:grpSpPr>
        <p:sp>
          <p:nvSpPr>
            <p:cNvPr id="4" name="Sommaire du module"/>
            <p:cNvSpPr/>
            <p:nvPr/>
          </p:nvSpPr>
          <p:spPr>
            <a:xfrm>
              <a:off x="640080" y="146304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Sommaire du module, texte"/>
            <p:cNvSpPr txBox="1"/>
            <p:nvPr/>
          </p:nvSpPr>
          <p:spPr>
            <a:xfrm>
              <a:off x="822959" y="146304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 dirty="0">
                  <a:solidFill>
                    <a:schemeClr val="accent4"/>
                  </a:solidFill>
                </a:rPr>
                <a:t>1   </a:t>
              </a:r>
              <a:r>
                <a:rPr sz="2600" dirty="0">
                  <a:solidFill>
                    <a:srgbClr val="FFFFFF"/>
                  </a:solidFill>
                </a:rPr>
                <a:t>De C# à Java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E2959844-97EF-E3DD-73E2-AB7042B013AC}"/>
              </a:ext>
            </a:extLst>
          </p:cNvPr>
          <p:cNvGrpSpPr/>
          <p:nvPr/>
        </p:nvGrpSpPr>
        <p:grpSpPr>
          <a:xfrm>
            <a:off x="640080" y="2560320"/>
            <a:ext cx="5394960" cy="914400"/>
            <a:chOff x="640080" y="2560320"/>
            <a:chExt cx="5394960" cy="914400"/>
          </a:xfrm>
        </p:grpSpPr>
        <p:sp>
          <p:nvSpPr>
            <p:cNvPr id="6" name="Sommaire du module"/>
            <p:cNvSpPr/>
            <p:nvPr/>
          </p:nvSpPr>
          <p:spPr>
            <a:xfrm>
              <a:off x="640080" y="256032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Sommaire du module, texte"/>
            <p:cNvSpPr txBox="1"/>
            <p:nvPr/>
          </p:nvSpPr>
          <p:spPr>
            <a:xfrm>
              <a:off x="822959" y="256032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2   </a:t>
              </a:r>
              <a:r>
                <a:rPr sz="2600">
                  <a:solidFill>
                    <a:srgbClr val="FFFFFF"/>
                  </a:solidFill>
                </a:rPr>
                <a:t>Classe et objet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C06E29C6-67C3-72F2-BA7C-B7366717F840}"/>
              </a:ext>
            </a:extLst>
          </p:cNvPr>
          <p:cNvGrpSpPr/>
          <p:nvPr/>
        </p:nvGrpSpPr>
        <p:grpSpPr>
          <a:xfrm>
            <a:off x="640080" y="3657600"/>
            <a:ext cx="5394960" cy="914400"/>
            <a:chOff x="640080" y="3657600"/>
            <a:chExt cx="5394960" cy="914400"/>
          </a:xfrm>
        </p:grpSpPr>
        <p:sp>
          <p:nvSpPr>
            <p:cNvPr id="8" name="Sommaire du module"/>
            <p:cNvSpPr/>
            <p:nvPr/>
          </p:nvSpPr>
          <p:spPr>
            <a:xfrm>
              <a:off x="640080" y="365760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Sommaire du module, texte"/>
            <p:cNvSpPr txBox="1"/>
            <p:nvPr/>
          </p:nvSpPr>
          <p:spPr>
            <a:xfrm>
              <a:off x="822959" y="365760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3   </a:t>
              </a:r>
              <a:r>
                <a:rPr sz="2600">
                  <a:solidFill>
                    <a:srgbClr val="FFFFFF"/>
                  </a:solidFill>
                </a:rPr>
                <a:t>Encapsulation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BEF4198A-03FB-47E6-72E1-C4B833FD4687}"/>
              </a:ext>
            </a:extLst>
          </p:cNvPr>
          <p:cNvGrpSpPr/>
          <p:nvPr/>
        </p:nvGrpSpPr>
        <p:grpSpPr>
          <a:xfrm>
            <a:off x="640080" y="4754879"/>
            <a:ext cx="5394960" cy="914400"/>
            <a:chOff x="640080" y="4754879"/>
            <a:chExt cx="5394960" cy="914400"/>
          </a:xfrm>
        </p:grpSpPr>
        <p:sp>
          <p:nvSpPr>
            <p:cNvPr id="10" name="Sommaire du module"/>
            <p:cNvSpPr/>
            <p:nvPr/>
          </p:nvSpPr>
          <p:spPr>
            <a:xfrm>
              <a:off x="640080" y="4754879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Sommaire du module, texte"/>
            <p:cNvSpPr txBox="1"/>
            <p:nvPr/>
          </p:nvSpPr>
          <p:spPr>
            <a:xfrm>
              <a:off x="822959" y="4935080"/>
              <a:ext cx="4589718" cy="553998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 dirty="0">
                  <a:solidFill>
                    <a:schemeClr val="accent4"/>
                  </a:solidFill>
                </a:rPr>
                <a:t>4   </a:t>
              </a:r>
              <a:r>
                <a:rPr sz="2600" dirty="0" err="1">
                  <a:solidFill>
                    <a:srgbClr val="FFFFFF"/>
                  </a:solidFill>
                </a:rPr>
                <a:t>Membres</a:t>
              </a:r>
              <a:r>
                <a:rPr sz="2600" dirty="0">
                  <a:solidFill>
                    <a:srgbClr val="FFFFFF"/>
                  </a:solidFill>
                </a:rPr>
                <a:t> de </a:t>
              </a:r>
              <a:r>
                <a:rPr sz="2600" dirty="0" err="1">
                  <a:solidFill>
                    <a:srgbClr val="FFFFFF"/>
                  </a:solidFill>
                </a:rPr>
                <a:t>classe</a:t>
              </a:r>
              <a:r>
                <a:rPr sz="2600" dirty="0">
                  <a:solidFill>
                    <a:srgbClr val="FFFFFF"/>
                  </a:solidFill>
                </a:rPr>
                <a:t> (</a:t>
              </a:r>
              <a:r>
                <a:rPr sz="2400" dirty="0">
                  <a:solidFill>
                    <a:schemeClr val="accent4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static</a:t>
              </a:r>
              <a:r>
                <a:rPr sz="2600" dirty="0">
                  <a:solidFill>
                    <a:srgbClr val="FFFFFF"/>
                  </a:solidFill>
                </a:rPr>
                <a:t>)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8A3BD6E9-294D-5CA3-D267-A1CF153759DC}"/>
              </a:ext>
            </a:extLst>
          </p:cNvPr>
          <p:cNvGrpSpPr/>
          <p:nvPr/>
        </p:nvGrpSpPr>
        <p:grpSpPr>
          <a:xfrm>
            <a:off x="6217920" y="1463040"/>
            <a:ext cx="5394960" cy="914400"/>
            <a:chOff x="6217920" y="1463040"/>
            <a:chExt cx="5394960" cy="914400"/>
          </a:xfrm>
        </p:grpSpPr>
        <p:sp>
          <p:nvSpPr>
            <p:cNvPr id="12" name="Sommaire du module"/>
            <p:cNvSpPr/>
            <p:nvPr/>
          </p:nvSpPr>
          <p:spPr>
            <a:xfrm>
              <a:off x="6217920" y="146304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Sommaire du module, texte"/>
            <p:cNvSpPr txBox="1"/>
            <p:nvPr/>
          </p:nvSpPr>
          <p:spPr>
            <a:xfrm>
              <a:off x="6400800" y="146304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5   </a:t>
              </a:r>
              <a:r>
                <a:rPr sz="2600">
                  <a:solidFill>
                    <a:srgbClr val="FFFFFF"/>
                  </a:solidFill>
                </a:rPr>
                <a:t>Saisie clavier et Javadoc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165F478C-1180-2595-DE84-EE30510787CC}"/>
              </a:ext>
            </a:extLst>
          </p:cNvPr>
          <p:cNvGrpSpPr/>
          <p:nvPr/>
        </p:nvGrpSpPr>
        <p:grpSpPr>
          <a:xfrm>
            <a:off x="6217920" y="2560320"/>
            <a:ext cx="5394960" cy="914400"/>
            <a:chOff x="6217920" y="2560320"/>
            <a:chExt cx="5394960" cy="914400"/>
          </a:xfrm>
        </p:grpSpPr>
        <p:sp>
          <p:nvSpPr>
            <p:cNvPr id="14" name="Sommaire du module"/>
            <p:cNvSpPr/>
            <p:nvPr/>
          </p:nvSpPr>
          <p:spPr>
            <a:xfrm>
              <a:off x="6217920" y="256032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Sommaire du module, texte"/>
            <p:cNvSpPr txBox="1"/>
            <p:nvPr/>
          </p:nvSpPr>
          <p:spPr>
            <a:xfrm>
              <a:off x="6400800" y="256032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6   </a:t>
              </a:r>
              <a:r>
                <a:rPr sz="2600">
                  <a:solidFill>
                    <a:srgbClr val="FFFFFF"/>
                  </a:solidFill>
                </a:rPr>
                <a:t>Primitifs et références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34868D4A-EFD6-47EE-3A81-0661B117678E}"/>
              </a:ext>
            </a:extLst>
          </p:cNvPr>
          <p:cNvGrpSpPr/>
          <p:nvPr/>
        </p:nvGrpSpPr>
        <p:grpSpPr>
          <a:xfrm>
            <a:off x="6217920" y="3657600"/>
            <a:ext cx="5394960" cy="914400"/>
            <a:chOff x="6217920" y="3657600"/>
            <a:chExt cx="5394960" cy="914400"/>
          </a:xfrm>
        </p:grpSpPr>
        <p:sp>
          <p:nvSpPr>
            <p:cNvPr id="16" name="Sommaire du module"/>
            <p:cNvSpPr/>
            <p:nvPr/>
          </p:nvSpPr>
          <p:spPr>
            <a:xfrm>
              <a:off x="6217920" y="3657600"/>
              <a:ext cx="5394960" cy="914400"/>
            </a:xfrm>
            <a:prstGeom prst="roundRect">
              <a:avLst>
                <a:gd name="adj" fmla="val 10000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Sommaire du module, texte"/>
            <p:cNvSpPr txBox="1"/>
            <p:nvPr/>
          </p:nvSpPr>
          <p:spPr>
            <a:xfrm>
              <a:off x="6400800" y="3657600"/>
              <a:ext cx="5029200" cy="9144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</a:rPr>
                <a:t>7   </a:t>
              </a:r>
              <a:r>
                <a:rPr sz="2600">
                  <a:solidFill>
                    <a:srgbClr val="FFFFFF"/>
                  </a:solidFill>
                </a:rPr>
                <a:t>Les wrappers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OO_section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73067B4-4758-7D90-FE25-49374D623451}"/>
              </a:ext>
            </a:extLst>
          </p:cNvPr>
          <p:cNvSpPr txBox="1"/>
          <p:nvPr/>
        </p:nvSpPr>
        <p:spPr>
          <a:xfrm>
            <a:off x="838200" y="946800"/>
            <a:ext cx="5383790" cy="110520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1. De C# à Java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EBDD9-D9CC-2B70-9E8C-523CC2893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74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96351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Pas de grosses différences niveau langage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31ECFFF-2524-A6AD-DB6E-2037A5486B4F}"/>
              </a:ext>
            </a:extLst>
          </p:cNvPr>
          <p:cNvSpPr txBox="1"/>
          <p:nvPr/>
        </p:nvSpPr>
        <p:spPr>
          <a:xfrm>
            <a:off x="13839251" y="838753"/>
            <a:ext cx="3182815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package pour structurer les classes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305C90B-49DA-3937-5B69-D6F59E224993}"/>
              </a:ext>
            </a:extLst>
          </p:cNvPr>
          <p:cNvSpPr txBox="1"/>
          <p:nvPr/>
        </p:nvSpPr>
        <p:spPr>
          <a:xfrm>
            <a:off x="14777295" y="1328960"/>
            <a:ext cx="3384551" cy="1191816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Majuscule pour les noms de classes, </a:t>
            </a:r>
            <a:r>
              <a:rPr lang="fr-FR" sz="1600" dirty="0" err="1">
                <a:solidFill>
                  <a:schemeClr val="accent1"/>
                </a:solidFill>
              </a:rPr>
              <a:t>enumérations</a:t>
            </a:r>
            <a:r>
              <a:rPr lang="fr-FR" sz="1600" dirty="0">
                <a:solidFill>
                  <a:schemeClr val="accent1"/>
                </a:solidFill>
              </a:rPr>
              <a:t> et interfaces.</a:t>
            </a:r>
          </a:p>
          <a:p>
            <a:r>
              <a:rPr lang="fr-FR" sz="1600" dirty="0">
                <a:solidFill>
                  <a:schemeClr val="accent1"/>
                </a:solidFill>
              </a:rPr>
              <a:t>minuscule pour les variables, méthodes et packages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EE493CD-D6E3-7361-2966-1AF90FF76A72}"/>
              </a:ext>
            </a:extLst>
          </p:cNvPr>
          <p:cNvSpPr/>
          <p:nvPr/>
        </p:nvSpPr>
        <p:spPr>
          <a:xfrm>
            <a:off x="7268066" y="6080532"/>
            <a:ext cx="4468305" cy="646330"/>
          </a:xfrm>
          <a:prstGeom prst="roundRect">
            <a:avLst/>
          </a:prstGeom>
          <a:solidFill>
            <a:schemeClr val="accent6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Quelles</a:t>
            </a:r>
            <a:r>
              <a:rPr lang="en-GB" dirty="0"/>
              <a:t> </a:t>
            </a:r>
            <a:r>
              <a:rPr lang="en-GB" dirty="0" err="1"/>
              <a:t>différences</a:t>
            </a:r>
            <a:r>
              <a:rPr lang="en-GB" dirty="0"/>
              <a:t> </a:t>
            </a:r>
            <a:r>
              <a:rPr lang="en-GB" dirty="0" err="1"/>
              <a:t>repérez</a:t>
            </a:r>
            <a:r>
              <a:rPr lang="en-GB" dirty="0"/>
              <a:t>-vous 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E24E434-8A95-6B73-58EB-E8995AF0C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9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97949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1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7" name="Rectangle : avec coins arrondis en haut 6">
            <a:extLst>
              <a:ext uri="{FF2B5EF4-FFF2-40B4-BE49-F238E27FC236}">
                <a16:creationId xmlns:a16="http://schemas.microsoft.com/office/drawing/2014/main" id="{8AE6C28B-DD27-3522-97C3-49789B4947FF}"/>
              </a:ext>
            </a:extLst>
          </p:cNvPr>
          <p:cNvSpPr/>
          <p:nvPr/>
        </p:nvSpPr>
        <p:spPr>
          <a:xfrm>
            <a:off x="5595767" y="929299"/>
            <a:ext cx="1638310" cy="284025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AA05721D-63E5-3141-3F31-8D1E7988509D}"/>
              </a:ext>
            </a:extLst>
          </p:cNvPr>
          <p:cNvSpPr/>
          <p:nvPr/>
        </p:nvSpPr>
        <p:spPr>
          <a:xfrm>
            <a:off x="181323" y="929299"/>
            <a:ext cx="1807733" cy="284025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19872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6D0742-A316-9198-5AE2-345AC79D5EA9}"/>
              </a:ext>
            </a:extLst>
          </p:cNvPr>
          <p:cNvSpPr txBox="1"/>
          <p:nvPr/>
        </p:nvSpPr>
        <p:spPr>
          <a:xfrm>
            <a:off x="7787242" y="838753"/>
            <a:ext cx="3182815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package</a:t>
            </a:r>
            <a:r>
              <a:rPr lang="fr-FR" sz="1600" dirty="0">
                <a:solidFill>
                  <a:schemeClr val="accent1"/>
                </a:solidFill>
              </a:rPr>
              <a:t> pour structurer les classes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Structuration des classes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08AC009-94AF-D3EB-8E00-2CD9848523B1}"/>
              </a:ext>
            </a:extLst>
          </p:cNvPr>
          <p:cNvSpPr txBox="1"/>
          <p:nvPr/>
        </p:nvSpPr>
        <p:spPr>
          <a:xfrm>
            <a:off x="13455537" y="1084429"/>
            <a:ext cx="3384551" cy="14642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Majuscule pour les noms de classes, </a:t>
            </a:r>
            <a:r>
              <a:rPr lang="fr-FR" sz="1600" dirty="0" err="1">
                <a:solidFill>
                  <a:schemeClr val="accent1"/>
                </a:solidFill>
              </a:rPr>
              <a:t>enumérations</a:t>
            </a:r>
            <a:r>
              <a:rPr lang="fr-FR" sz="1600" dirty="0">
                <a:solidFill>
                  <a:schemeClr val="accent1"/>
                </a:solidFill>
              </a:rPr>
              <a:t> et interfaces.</a:t>
            </a:r>
          </a:p>
          <a:p>
            <a:endParaRPr lang="fr-FR" sz="1600" dirty="0">
              <a:solidFill>
                <a:schemeClr val="accent1"/>
              </a:solidFill>
            </a:endParaRPr>
          </a:p>
          <a:p>
            <a:r>
              <a:rPr lang="fr-FR" sz="1600" dirty="0">
                <a:solidFill>
                  <a:schemeClr val="accent1"/>
                </a:solidFill>
              </a:rPr>
              <a:t>minuscule pour les variables, méthodes et packages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285BBE8-AEB8-0DE8-29D1-3466D7546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  <p:sp>
        <p:nvSpPr>
          <p:cNvPr id="2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275995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2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1" name="Rectangle : avec coins arrondis en haut 10">
            <a:extLst>
              <a:ext uri="{FF2B5EF4-FFF2-40B4-BE49-F238E27FC236}">
                <a16:creationId xmlns:a16="http://schemas.microsoft.com/office/drawing/2014/main" id="{EC60A736-7FB3-9FED-0860-32107B2BC1B9}"/>
              </a:ext>
            </a:extLst>
          </p:cNvPr>
          <p:cNvSpPr/>
          <p:nvPr/>
        </p:nvSpPr>
        <p:spPr>
          <a:xfrm>
            <a:off x="7286919" y="2630665"/>
            <a:ext cx="961536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 : avec coins arrondis en haut 9">
            <a:extLst>
              <a:ext uri="{FF2B5EF4-FFF2-40B4-BE49-F238E27FC236}">
                <a16:creationId xmlns:a16="http://schemas.microsoft.com/office/drawing/2014/main" id="{21C35FF2-9879-AEE0-822D-86E2722BFF4E}"/>
              </a:ext>
            </a:extLst>
          </p:cNvPr>
          <p:cNvSpPr/>
          <p:nvPr/>
        </p:nvSpPr>
        <p:spPr>
          <a:xfrm>
            <a:off x="2187019" y="2666081"/>
            <a:ext cx="961468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 : avec coins arrondis en haut 5">
            <a:extLst>
              <a:ext uri="{FF2B5EF4-FFF2-40B4-BE49-F238E27FC236}">
                <a16:creationId xmlns:a16="http://schemas.microsoft.com/office/drawing/2014/main" id="{747EBF26-FE73-9E30-51A2-237F6ECA52C3}"/>
              </a:ext>
            </a:extLst>
          </p:cNvPr>
          <p:cNvSpPr/>
          <p:nvPr/>
        </p:nvSpPr>
        <p:spPr>
          <a:xfrm>
            <a:off x="7437748" y="1590328"/>
            <a:ext cx="358220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ECEE7BAC-9628-D112-F7DA-3B55243C9BAE}"/>
              </a:ext>
            </a:extLst>
          </p:cNvPr>
          <p:cNvSpPr/>
          <p:nvPr/>
        </p:nvSpPr>
        <p:spPr>
          <a:xfrm>
            <a:off x="2384672" y="1797690"/>
            <a:ext cx="369708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9DBE925-CD55-041B-4B30-5A5F6311A98C}"/>
              </a:ext>
            </a:extLst>
          </p:cNvPr>
          <p:cNvSpPr txBox="1"/>
          <p:nvPr/>
        </p:nvSpPr>
        <p:spPr>
          <a:xfrm>
            <a:off x="8725286" y="1084429"/>
            <a:ext cx="3384551" cy="14642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4"/>
                </a:solidFill>
              </a:rPr>
              <a:t>M</a:t>
            </a:r>
            <a:r>
              <a:rPr lang="fr-FR" sz="1600" dirty="0">
                <a:solidFill>
                  <a:schemeClr val="accent1"/>
                </a:solidFill>
              </a:rPr>
              <a:t>ajuscule pour les noms de classes, </a:t>
            </a:r>
            <a:r>
              <a:rPr lang="fr-FR" sz="1600" dirty="0" err="1">
                <a:solidFill>
                  <a:schemeClr val="accent1"/>
                </a:solidFill>
              </a:rPr>
              <a:t>enumérations</a:t>
            </a:r>
            <a:r>
              <a:rPr lang="fr-FR" sz="1600" dirty="0">
                <a:solidFill>
                  <a:schemeClr val="accent1"/>
                </a:solidFill>
              </a:rPr>
              <a:t> et interfaces.</a:t>
            </a:r>
          </a:p>
          <a:p>
            <a:endParaRPr lang="fr-FR" sz="1600" dirty="0">
              <a:solidFill>
                <a:schemeClr val="accent1"/>
              </a:solidFill>
            </a:endParaRPr>
          </a:p>
          <a:p>
            <a:r>
              <a:rPr lang="fr-FR" sz="1600" b="1" dirty="0">
                <a:solidFill>
                  <a:schemeClr val="accent4"/>
                </a:solidFill>
              </a:rPr>
              <a:t>m</a:t>
            </a:r>
            <a:r>
              <a:rPr lang="fr-FR" sz="1600" dirty="0">
                <a:solidFill>
                  <a:schemeClr val="accent1"/>
                </a:solidFill>
              </a:rPr>
              <a:t>inuscule pour les variables, méthodes et packages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Conventions de nommage différentes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3DA4A32-8BDC-F5A4-724E-B5FE2498C83B}"/>
              </a:ext>
            </a:extLst>
          </p:cNvPr>
          <p:cNvSpPr txBox="1"/>
          <p:nvPr/>
        </p:nvSpPr>
        <p:spPr>
          <a:xfrm>
            <a:off x="13839251" y="3147071"/>
            <a:ext cx="3633966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Dans un fichier, une seule classe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3621505-7238-0F4C-1A69-F0967C514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  <p:sp>
        <p:nvSpPr>
          <p:cNvPr id="2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911531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6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22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7" name="Rectangle : avec coins arrondis en haut 16">
            <a:extLst>
              <a:ext uri="{FF2B5EF4-FFF2-40B4-BE49-F238E27FC236}">
                <a16:creationId xmlns:a16="http://schemas.microsoft.com/office/drawing/2014/main" id="{182C1C6D-A1BC-9EEC-4F85-906FB0BBD1CA}"/>
              </a:ext>
            </a:extLst>
          </p:cNvPr>
          <p:cNvSpPr/>
          <p:nvPr/>
        </p:nvSpPr>
        <p:spPr>
          <a:xfrm>
            <a:off x="577704" y="4790856"/>
            <a:ext cx="633372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 : avec coins arrondis en haut 14">
            <a:extLst>
              <a:ext uri="{FF2B5EF4-FFF2-40B4-BE49-F238E27FC236}">
                <a16:creationId xmlns:a16="http://schemas.microsoft.com/office/drawing/2014/main" id="{F11671D9-3DB0-D7DB-4E7D-C37951993608}"/>
              </a:ext>
            </a:extLst>
          </p:cNvPr>
          <p:cNvSpPr/>
          <p:nvPr/>
        </p:nvSpPr>
        <p:spPr>
          <a:xfrm>
            <a:off x="577704" y="1372004"/>
            <a:ext cx="633372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 : avec coins arrondis en haut 10">
            <a:extLst>
              <a:ext uri="{FF2B5EF4-FFF2-40B4-BE49-F238E27FC236}">
                <a16:creationId xmlns:a16="http://schemas.microsoft.com/office/drawing/2014/main" id="{623559B8-680A-97B4-CDEF-54F97AA166F6}"/>
              </a:ext>
            </a:extLst>
          </p:cNvPr>
          <p:cNvSpPr/>
          <p:nvPr/>
        </p:nvSpPr>
        <p:spPr>
          <a:xfrm>
            <a:off x="5663733" y="4769727"/>
            <a:ext cx="1269082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 : avec coins arrondis en haut 5">
            <a:extLst>
              <a:ext uri="{FF2B5EF4-FFF2-40B4-BE49-F238E27FC236}">
                <a16:creationId xmlns:a16="http://schemas.microsoft.com/office/drawing/2014/main" id="{9A1D5F54-2498-AF28-BDA5-91372D152C0E}"/>
              </a:ext>
            </a:extLst>
          </p:cNvPr>
          <p:cNvSpPr/>
          <p:nvPr/>
        </p:nvSpPr>
        <p:spPr>
          <a:xfrm>
            <a:off x="5663733" y="1379156"/>
            <a:ext cx="595751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34A9555-F5FE-097B-42C9-125B7528794A}"/>
              </a:ext>
            </a:extLst>
          </p:cNvPr>
          <p:cNvSpPr txBox="1"/>
          <p:nvPr/>
        </p:nvSpPr>
        <p:spPr>
          <a:xfrm>
            <a:off x="7787242" y="3147071"/>
            <a:ext cx="3633966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Dans un fichier, une seule classe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Lien entre fichier et classe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0ECBC9-F127-83F5-1A59-01A6DC9B1309}"/>
              </a:ext>
            </a:extLst>
          </p:cNvPr>
          <p:cNvSpPr txBox="1"/>
          <p:nvPr/>
        </p:nvSpPr>
        <p:spPr>
          <a:xfrm>
            <a:off x="14510018" y="4238460"/>
            <a:ext cx="3089034" cy="646986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FR" sz="1600" dirty="0">
                <a:solidFill>
                  <a:schemeClr val="accent1"/>
                </a:solidFill>
              </a:rPr>
              <a:t> : les classes du </a:t>
            </a:r>
            <a:r>
              <a:rPr lang="fr-FR" sz="1600" dirty="0" err="1">
                <a:solidFill>
                  <a:schemeClr val="accent1"/>
                </a:solidFill>
              </a:rPr>
              <a:t>framework</a:t>
            </a:r>
            <a:r>
              <a:rPr lang="fr-FR" sz="1600" dirty="0">
                <a:solidFill>
                  <a:schemeClr val="accent1"/>
                </a:solidFill>
              </a:rPr>
              <a:t> sont différentes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9009FCB-F6FC-1F9F-3840-AD6E27C86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/>
          </a:p>
        </p:txBody>
      </p:sp>
      <p:sp>
        <p:nvSpPr>
          <p:cNvPr id="2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1328063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 animBg="1"/>
      <p:bldP spid="11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7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3" name="Rectangle : avec coins arrondis en haut 2">
            <a:extLst>
              <a:ext uri="{FF2B5EF4-FFF2-40B4-BE49-F238E27FC236}">
                <a16:creationId xmlns:a16="http://schemas.microsoft.com/office/drawing/2014/main" id="{E69E9C00-AC11-BBCF-C99F-9EC01E8DD077}"/>
              </a:ext>
            </a:extLst>
          </p:cNvPr>
          <p:cNvSpPr/>
          <p:nvPr/>
        </p:nvSpPr>
        <p:spPr>
          <a:xfrm>
            <a:off x="1397836" y="3931606"/>
            <a:ext cx="1778998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D8FAB7DD-5D25-DC51-4C60-EE1E16CE1259}"/>
              </a:ext>
            </a:extLst>
          </p:cNvPr>
          <p:cNvSpPr/>
          <p:nvPr/>
        </p:nvSpPr>
        <p:spPr>
          <a:xfrm>
            <a:off x="6575729" y="3742518"/>
            <a:ext cx="1882279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BF16588-4D6B-B8DF-DEA3-1B23AC710419}"/>
              </a:ext>
            </a:extLst>
          </p:cNvPr>
          <p:cNvSpPr txBox="1"/>
          <p:nvPr/>
        </p:nvSpPr>
        <p:spPr>
          <a:xfrm>
            <a:off x="8458009" y="4238460"/>
            <a:ext cx="3089034" cy="646986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FR" sz="1600" dirty="0">
                <a:solidFill>
                  <a:schemeClr val="accent1"/>
                </a:solidFill>
              </a:rPr>
              <a:t> : les classes du </a:t>
            </a:r>
            <a:r>
              <a:rPr lang="fr-FR" sz="1600" dirty="0" err="1">
                <a:solidFill>
                  <a:schemeClr val="accent1"/>
                </a:solidFill>
              </a:rPr>
              <a:t>framework</a:t>
            </a:r>
            <a:r>
              <a:rPr lang="fr-FR" sz="1600" dirty="0">
                <a:solidFill>
                  <a:schemeClr val="accent1"/>
                </a:solidFill>
              </a:rPr>
              <a:t> sont différentes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Classes du Framework différentes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60CD13D-4111-62BC-09FC-0FCD9041AEA6}"/>
              </a:ext>
            </a:extLst>
          </p:cNvPr>
          <p:cNvSpPr txBox="1"/>
          <p:nvPr/>
        </p:nvSpPr>
        <p:spPr>
          <a:xfrm>
            <a:off x="12614188" y="5503068"/>
            <a:ext cx="3203143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La méthode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FR" sz="1600" dirty="0">
                <a:solidFill>
                  <a:schemeClr val="accent1"/>
                </a:solidFill>
              </a:rPr>
              <a:t> </a:t>
            </a:r>
            <a:r>
              <a:rPr lang="fr-FR" sz="1600" u="sng" dirty="0">
                <a:solidFill>
                  <a:schemeClr val="accent1"/>
                </a:solidFill>
              </a:rPr>
              <a:t>doit</a:t>
            </a:r>
            <a:r>
              <a:rPr lang="fr-FR" sz="1600" dirty="0">
                <a:solidFill>
                  <a:schemeClr val="accent1"/>
                </a:solidFill>
              </a:rPr>
              <a:t> être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29073-04C0-9033-F275-DF75AEF43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  <p:sp>
        <p:nvSpPr>
          <p:cNvPr id="1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553238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nd 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oundRect">
            <a:avLst>
              <a:gd name="adj" fmla="val 1785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17" name="Fond 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oundRect">
            <a:avLst>
              <a:gd name="adj" fmla="val 1811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/>
          <a:lstStyle/>
          <a:p>
            <a:endParaRPr/>
          </a:p>
        </p:txBody>
      </p:sp>
      <p:sp>
        <p:nvSpPr>
          <p:cNvPr id="3" name="Rectangle : avec coins arrondis en haut 2">
            <a:extLst>
              <a:ext uri="{FF2B5EF4-FFF2-40B4-BE49-F238E27FC236}">
                <a16:creationId xmlns:a16="http://schemas.microsoft.com/office/drawing/2014/main" id="{BAD2C37A-91A7-A04C-F3AA-1925D4E6612D}"/>
              </a:ext>
            </a:extLst>
          </p:cNvPr>
          <p:cNvSpPr/>
          <p:nvPr/>
        </p:nvSpPr>
        <p:spPr>
          <a:xfrm>
            <a:off x="979864" y="5215068"/>
            <a:ext cx="3203517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 : avec coins arrondis en haut 1">
            <a:extLst>
              <a:ext uri="{FF2B5EF4-FFF2-40B4-BE49-F238E27FC236}">
                <a16:creationId xmlns:a16="http://schemas.microsoft.com/office/drawing/2014/main" id="{7A2E198D-8DF9-CBD4-3257-F104668ABDB5}"/>
              </a:ext>
            </a:extLst>
          </p:cNvPr>
          <p:cNvSpPr/>
          <p:nvPr/>
        </p:nvSpPr>
        <p:spPr>
          <a:xfrm>
            <a:off x="6065894" y="5025980"/>
            <a:ext cx="4086774" cy="288000"/>
          </a:xfrm>
          <a:prstGeom prst="round2SameRect">
            <a:avLst/>
          </a:prstGeom>
          <a:solidFill>
            <a:srgbClr val="2F7A3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29E1C-903C-8763-9FE7-17D182B403BB}"/>
              </a:ext>
            </a:extLst>
          </p:cNvPr>
          <p:cNvSpPr/>
          <p:nvPr/>
        </p:nvSpPr>
        <p:spPr>
          <a:xfrm>
            <a:off x="181323" y="929299"/>
            <a:ext cx="5120439" cy="56938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 err="1">
                <a:solidFill>
                  <a:srgbClr val="CF8E6D"/>
                </a:solidFill>
                <a:latin typeface="Consolas" panose="020B0609020204030204" pitchFamily="49" charset="0"/>
              </a:rPr>
              <a:t>namespace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 ProgOO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	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    Console.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WriteLine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(Prenom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</a:t>
            </a:r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[] args)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EE6C17-BF03-B085-A22A-FFF3082B5685}"/>
              </a:ext>
            </a:extLst>
          </p:cNvPr>
          <p:cNvSpPr/>
          <p:nvPr/>
        </p:nvSpPr>
        <p:spPr>
          <a:xfrm>
            <a:off x="5603246" y="929299"/>
            <a:ext cx="5387139" cy="5047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package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progoo;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Personne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String prenom;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anneeNaissance;</a:t>
            </a:r>
          </a:p>
          <a:p>
            <a:pPr lvl="1"/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age;</a:t>
            </a:r>
          </a:p>
          <a:p>
            <a:endParaRPr lang="fr-BE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calculAge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annee)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age = annee - anneeNaissance;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afficher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System.out.println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BCBEC4"/>
                </a:solidFill>
                <a:latin typeface="Consolas" panose="020B0609020204030204" pitchFamily="49" charset="0"/>
              </a:rPr>
              <a:t>prenom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                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	nom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("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+ age + </a:t>
            </a:r>
            <a:r>
              <a:rPr lang="fr-BE" sz="1400" dirty="0">
                <a:solidFill>
                  <a:srgbClr val="6AAB73"/>
                </a:solidFill>
                <a:latin typeface="Consolas" panose="020B0609020204030204" pitchFamily="49" charset="0"/>
              </a:rPr>
              <a:t>" ans)"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  <a:p>
            <a:endParaRPr lang="fr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Program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static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CF8E6D"/>
                </a:solidFill>
                <a:latin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56A8F5"/>
                </a:solidFill>
                <a:latin typeface="Consolas" panose="020B0609020204030204" pitchFamily="49" charset="0"/>
              </a:rPr>
              <a:t>main</a:t>
            </a:r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(String[] args) {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		[...]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BE" sz="14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906EC3-5CA3-8908-9C73-DE42C5141BE0}"/>
              </a:ext>
            </a:extLst>
          </p:cNvPr>
          <p:cNvSpPr txBox="1"/>
          <p:nvPr/>
        </p:nvSpPr>
        <p:spPr>
          <a:xfrm>
            <a:off x="3921370" y="1084429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C#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E7BBA15-2B0A-3462-B23C-080152B71CD4}"/>
              </a:ext>
            </a:extLst>
          </p:cNvPr>
          <p:cNvSpPr txBox="1"/>
          <p:nvPr/>
        </p:nvSpPr>
        <p:spPr>
          <a:xfrm>
            <a:off x="9821012" y="5554130"/>
            <a:ext cx="1063869" cy="374571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accent1"/>
                </a:solidFill>
              </a:rPr>
              <a:t>java</a:t>
            </a:r>
          </a:p>
        </p:txBody>
      </p:sp>
      <p:sp>
        <p:nvSpPr>
          <p:cNvPr id="13" name="Titre 3">
            <a:extLst>
              <a:ext uri="{FF2B5EF4-FFF2-40B4-BE49-F238E27FC236}">
                <a16:creationId xmlns:a16="http://schemas.microsoft.com/office/drawing/2014/main" id="{26FDD514-3208-94C0-037A-C5D6D46E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256"/>
            <a:ext cx="11247120" cy="803043"/>
          </a:xfrm>
        </p:spPr>
        <p:txBody>
          <a:bodyPr>
            <a:noAutofit/>
          </a:bodyPr>
          <a:lstStyle/>
          <a:p>
            <a:r>
              <a:rPr lang="fr-FR" sz="4000" dirty="0"/>
              <a:t>Méthode main rend la classe exécutable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60CD13D-4111-62BC-09FC-0FCD9041AEA6}"/>
              </a:ext>
            </a:extLst>
          </p:cNvPr>
          <p:cNvSpPr txBox="1"/>
          <p:nvPr/>
        </p:nvSpPr>
        <p:spPr>
          <a:xfrm>
            <a:off x="6367378" y="5503068"/>
            <a:ext cx="3203143" cy="374571"/>
          </a:xfrm>
          <a:prstGeom prst="roundRect">
            <a:avLst/>
          </a:prstGeom>
          <a:solidFill>
            <a:schemeClr val="tx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</a:rPr>
              <a:t>La méthode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FR" sz="1600" dirty="0">
                <a:solidFill>
                  <a:schemeClr val="accent1"/>
                </a:solidFill>
              </a:rPr>
              <a:t> </a:t>
            </a:r>
            <a:r>
              <a:rPr lang="fr-FR" sz="1600" u="sng" dirty="0">
                <a:solidFill>
                  <a:schemeClr val="accent1"/>
                </a:solidFill>
              </a:rPr>
              <a:t>doit</a:t>
            </a:r>
            <a:r>
              <a:rPr lang="fr-FR" sz="1600" dirty="0">
                <a:solidFill>
                  <a:schemeClr val="accent1"/>
                </a:solidFill>
              </a:rPr>
              <a:t> être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2E1D29-9002-C7EE-683C-449FF2F3E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  <p:sp>
        <p:nvSpPr>
          <p:cNvPr id="1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618130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411CCAD6-6758-40A0-6756-7B6076DD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dirty="0" err="1"/>
              <a:t>Classe</a:t>
            </a:r>
            <a:r>
              <a:rPr lang="en-GB" sz="4000" dirty="0"/>
              <a:t> Java et Programme (</a:t>
            </a:r>
            <a:r>
              <a:rPr lang="en-GB" sz="4000" dirty="0" err="1">
                <a:solidFill>
                  <a:schemeClr val="accent4"/>
                </a:solidFill>
              </a:rPr>
              <a:t>exécutable</a:t>
            </a:r>
            <a:r>
              <a:rPr lang="en-GB" sz="4000" dirty="0"/>
              <a:t>) Java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80329CE-E49F-6DBB-819D-936DE801E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En java, </a:t>
            </a:r>
            <a:r>
              <a:rPr lang="en-GB" dirty="0" err="1"/>
              <a:t>n’importe</a:t>
            </a:r>
            <a:r>
              <a:rPr lang="en-GB" dirty="0"/>
              <a:t> quelle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dirty="0" err="1">
                <a:solidFill>
                  <a:schemeClr val="accent4"/>
                </a:solidFill>
              </a:rPr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exécutable.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Il </a:t>
            </a:r>
            <a:r>
              <a:rPr lang="en-GB" dirty="0" err="1"/>
              <a:t>suffit</a:t>
            </a:r>
            <a:r>
              <a:rPr lang="en-GB" dirty="0"/>
              <a:t> </a:t>
            </a:r>
            <a:r>
              <a:rPr lang="en-GB" dirty="0" err="1"/>
              <a:t>qu’elle</a:t>
            </a:r>
            <a:r>
              <a:rPr lang="en-GB" dirty="0"/>
              <a:t> </a:t>
            </a:r>
            <a:r>
              <a:rPr lang="en-GB" dirty="0" err="1"/>
              <a:t>contienne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qui a la signature </a:t>
            </a:r>
            <a:r>
              <a:rPr lang="en-GB" dirty="0" err="1"/>
              <a:t>suivante</a:t>
            </a:r>
            <a:r>
              <a:rPr lang="en-GB" dirty="0"/>
              <a:t>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BCF544-4CA1-64F4-E6C1-422F81CF6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1D9931-CBBB-866F-50CC-E868FDCFB1D7}"/>
              </a:ext>
            </a:extLst>
          </p:cNvPr>
          <p:cNvSpPr txBox="1"/>
          <p:nvPr/>
        </p:nvSpPr>
        <p:spPr>
          <a:xfrm>
            <a:off x="1178351" y="3442058"/>
            <a:ext cx="9530498" cy="492443"/>
          </a:xfrm>
          <a:prstGeom prst="roundRect">
            <a:avLst>
              <a:gd name="adj" fmla="val 18568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r-BE" sz="2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2600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2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600" dirty="0" err="1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600" dirty="0">
                <a:solidFill>
                  <a:srgbClr val="CF8E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600" dirty="0">
                <a:solidFill>
                  <a:srgbClr val="56A8F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BE" sz="2600" dirty="0">
                <a:solidFill>
                  <a:srgbClr val="BCBEC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(String[] args)</a:t>
            </a:r>
          </a:p>
        </p:txBody>
      </p:sp>
      <p:sp>
        <p:nvSpPr>
          <p:cNvPr id="11" name="Espace réservé du contenu 6">
            <a:extLst>
              <a:ext uri="{FF2B5EF4-FFF2-40B4-BE49-F238E27FC236}">
                <a16:creationId xmlns:a16="http://schemas.microsoft.com/office/drawing/2014/main" id="{1FE52005-EE46-FC92-21E1-45F9EC2336B9}"/>
              </a:ext>
            </a:extLst>
          </p:cNvPr>
          <p:cNvSpPr txBox="1">
            <a:spLocks/>
          </p:cNvSpPr>
          <p:nvPr/>
        </p:nvSpPr>
        <p:spPr>
          <a:xfrm>
            <a:off x="838200" y="4104188"/>
            <a:ext cx="10515600" cy="2221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Pour tester un ensemble de classes, je </a:t>
            </a:r>
            <a:r>
              <a:rPr lang="en-GB" dirty="0" err="1"/>
              <a:t>vous</a:t>
            </a:r>
            <a:r>
              <a:rPr lang="en-GB" dirty="0"/>
              <a:t> </a:t>
            </a:r>
            <a:r>
              <a:rPr lang="en-GB" dirty="0" err="1"/>
              <a:t>conseille</a:t>
            </a:r>
            <a:r>
              <a:rPr lang="en-GB" dirty="0"/>
              <a:t> </a:t>
            </a:r>
            <a:r>
              <a:rPr lang="en-GB" dirty="0" err="1"/>
              <a:t>plutôt</a:t>
            </a:r>
            <a:r>
              <a:rPr lang="en-GB" dirty="0"/>
              <a:t> </a:t>
            </a:r>
            <a:r>
              <a:rPr lang="en-GB" dirty="0" err="1"/>
              <a:t>d’écrire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Programme</a:t>
            </a:r>
            <a:r>
              <a:rPr lang="en-GB" dirty="0"/>
              <a:t> qui </a:t>
            </a:r>
            <a:r>
              <a:rPr lang="en-GB" dirty="0" err="1"/>
              <a:t>utilisera</a:t>
            </a:r>
            <a:r>
              <a:rPr lang="en-GB" dirty="0"/>
              <a:t> les classes </a:t>
            </a:r>
            <a:r>
              <a:rPr lang="en-GB" dirty="0" err="1"/>
              <a:t>en</a:t>
            </a:r>
            <a:r>
              <a:rPr lang="en-GB" dirty="0"/>
              <a:t> question.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Nous </a:t>
            </a:r>
            <a:r>
              <a:rPr lang="en-GB" dirty="0" err="1"/>
              <a:t>verrons</a:t>
            </a:r>
            <a:r>
              <a:rPr lang="en-GB" dirty="0"/>
              <a:t> plus tard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autre</a:t>
            </a:r>
            <a:r>
              <a:rPr lang="en-GB" dirty="0"/>
              <a:t> façon de tester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dirty="0" err="1"/>
              <a:t>fonctionne</a:t>
            </a:r>
            <a:r>
              <a:rPr lang="en-GB" dirty="0"/>
              <a:t> </a:t>
            </a:r>
            <a:r>
              <a:rPr lang="en-GB" dirty="0" err="1"/>
              <a:t>correctement</a:t>
            </a:r>
            <a:r>
              <a:rPr lang="en-GB" dirty="0"/>
              <a:t>.</a:t>
            </a:r>
          </a:p>
        </p:txBody>
      </p:sp>
      <p:sp>
        <p:nvSpPr>
          <p:cNvPr id="1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28866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Du code source au programme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chemeClr val="accent4"/>
                </a:solidFill>
                <a:latin typeface="Consolas"/>
              </a:rPr>
              <a:t>.java</a:t>
            </a:r>
          </a:p>
          <a:p>
            <a:pPr algn="ctr"/>
            <a:r>
              <a:rPr sz="1800" dirty="0">
                <a:solidFill>
                  <a:srgbClr val="FFFFFF"/>
                </a:solidFill>
              </a:rPr>
              <a:t>le code source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44952" y="2880360"/>
            <a:ext cx="329184" cy="365760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47287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chemeClr val="accent4"/>
                </a:solidFill>
                <a:latin typeface="Consolas"/>
              </a:rPr>
              <a:t>javac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le compilateur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2159" y="2880360"/>
            <a:ext cx="329184" cy="365760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54496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chemeClr val="accent4"/>
                </a:solidFill>
                <a:latin typeface="Consolas"/>
              </a:rPr>
              <a:t>.class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le bytecode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59368" y="2880360"/>
            <a:ext cx="329184" cy="365760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61704" y="21945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chemeClr val="accent4"/>
                </a:solidFill>
                <a:latin typeface="Consolas"/>
              </a:rPr>
              <a:t>JVM</a:t>
            </a:r>
          </a:p>
          <a:p>
            <a:pPr algn="ctr"/>
            <a:r>
              <a:rPr sz="1800">
                <a:solidFill>
                  <a:srgbClr val="FFFFFF"/>
                </a:solidFill>
              </a:rPr>
              <a:t>l'exécution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/>
              <a:t>Le </a:t>
            </a:r>
            <a:r>
              <a:rPr sz="2800" dirty="0" err="1"/>
              <a:t>détail</a:t>
            </a:r>
            <a:r>
              <a:rPr sz="2800" dirty="0"/>
              <a:t> : </a:t>
            </a:r>
            <a:r>
              <a:rPr sz="2800" dirty="0" err="1"/>
              <a:t>mémento</a:t>
            </a:r>
            <a:r>
              <a:rPr sz="2800" dirty="0"/>
              <a:t> technique, </a:t>
            </a:r>
            <a:r>
              <a:rPr sz="2800" b="1" dirty="0">
                <a:solidFill>
                  <a:schemeClr val="accent4"/>
                </a:solidFill>
                <a:latin typeface="Consolas"/>
              </a:rPr>
              <a:t>TEC-CMP.1</a:t>
            </a:r>
            <a:r>
              <a:rPr sz="2800" dirty="0"/>
              <a:t> et </a:t>
            </a:r>
            <a:r>
              <a:rPr sz="2800" b="1" dirty="0">
                <a:solidFill>
                  <a:schemeClr val="accent4"/>
                </a:solidFill>
                <a:latin typeface="Consolas"/>
              </a:rPr>
              <a:t>TEC-CMP.2</a:t>
            </a: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  <p:sp>
        <p:nvSpPr>
          <p:cNvPr id="1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C0E0EE-43AF-8CD2-447E-AF1C20C0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En résumé…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EFD615-E28E-6818-D28D-3020F007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383"/>
            <a:ext cx="10515600" cy="4606580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2400" dirty="0">
                <a:solidFill>
                  <a:schemeClr val="accent4"/>
                </a:solidFill>
                <a:latin typeface="Consolas"/>
              </a:rPr>
              <a:t>namespace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package</a:t>
            </a:r>
          </a:p>
          <a:p>
            <a:pPr marL="0" indent="0">
              <a:spcAft>
                <a:spcPts val="1000"/>
              </a:spcAft>
              <a:buNone/>
            </a:pPr>
            <a:r>
              <a:rPr dirty="0"/>
              <a:t>Majuscule pour les types, minuscule pour le </a:t>
            </a:r>
            <a:r>
              <a:rPr dirty="0" err="1"/>
              <a:t>reste</a:t>
            </a:r>
            <a:endParaRPr dirty="0"/>
          </a:p>
          <a:p>
            <a:pPr marL="0" indent="0">
              <a:spcAft>
                <a:spcPts val="1000"/>
              </a:spcAft>
              <a:buNone/>
            </a:pPr>
            <a:r>
              <a:rPr dirty="0"/>
              <a:t>Un </a:t>
            </a:r>
            <a:r>
              <a:rPr dirty="0" err="1"/>
              <a:t>fichier</a:t>
            </a:r>
            <a:r>
              <a:rPr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.java</a:t>
            </a:r>
            <a:r>
              <a:rPr dirty="0"/>
              <a:t> = au plus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classe</a:t>
            </a:r>
            <a:r>
              <a:rPr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public</a:t>
            </a:r>
            <a:r>
              <a:rPr dirty="0"/>
              <a:t>, qui </a:t>
            </a:r>
            <a:r>
              <a:rPr dirty="0" err="1"/>
              <a:t>lui</a:t>
            </a:r>
            <a:r>
              <a:rPr dirty="0"/>
              <a:t> </a:t>
            </a:r>
            <a:r>
              <a:rPr dirty="0" err="1"/>
              <a:t>donne</a:t>
            </a:r>
            <a:r>
              <a:rPr dirty="0"/>
              <a:t> son nom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400" dirty="0" err="1">
                <a:solidFill>
                  <a:schemeClr val="accent4"/>
                </a:solidFill>
                <a:latin typeface="Consolas"/>
              </a:rPr>
              <a:t>Console.WriteLine</a:t>
            </a:r>
            <a:r>
              <a:rPr dirty="0"/>
              <a:t> </a:t>
            </a:r>
            <a:r>
              <a:rPr dirty="0" err="1"/>
              <a:t>devient</a:t>
            </a:r>
            <a:r>
              <a:rPr dirty="0"/>
              <a:t> </a:t>
            </a:r>
            <a:r>
              <a:rPr sz="2400" dirty="0" err="1">
                <a:solidFill>
                  <a:schemeClr val="accent4"/>
                </a:solidFill>
                <a:latin typeface="Consolas"/>
              </a:rPr>
              <a:t>System.out.println</a:t>
            </a:r>
            <a:endParaRPr sz="2400" dirty="0">
              <a:solidFill>
                <a:schemeClr val="accent4"/>
              </a:solidFill>
              <a:latin typeface="Consolas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sz="2400" dirty="0">
                <a:solidFill>
                  <a:schemeClr val="accent4"/>
                </a:solidFill>
                <a:latin typeface="Consolas"/>
              </a:rPr>
              <a:t>main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public static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7D5407-6E05-7F99-DDD8-4A2485C61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  <p:sp>
        <p:nvSpPr>
          <p:cNvPr id="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1. De C# à Java</a:t>
            </a:r>
          </a:p>
        </p:txBody>
      </p:sp>
    </p:spTree>
    <p:extLst>
      <p:ext uri="{BB962C8B-B14F-4D97-AF65-F5344CB8AC3E}">
        <p14:creationId xmlns:p14="http://schemas.microsoft.com/office/powerpoint/2010/main" val="80234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POO_section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07E8BDD-906E-63FC-2904-DF485629DA59}"/>
              </a:ext>
            </a:extLst>
          </p:cNvPr>
          <p:cNvSpPr txBox="1"/>
          <p:nvPr/>
        </p:nvSpPr>
        <p:spPr>
          <a:xfrm>
            <a:off x="838200" y="946800"/>
            <a:ext cx="6173702" cy="110520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2. Classe et objet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04CD7E-0BBD-4D3F-0157-B4DDCB27E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45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Les quatre principes de la POO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9165387D-873C-1FFD-A24C-D5B04A4DE0C0}"/>
              </a:ext>
            </a:extLst>
          </p:cNvPr>
          <p:cNvGrpSpPr/>
          <p:nvPr/>
        </p:nvGrpSpPr>
        <p:grpSpPr>
          <a:xfrm>
            <a:off x="640080" y="1417320"/>
            <a:ext cx="5349240" cy="2148840"/>
            <a:chOff x="640080" y="1417320"/>
            <a:chExt cx="5349240" cy="214884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417320"/>
              <a:ext cx="5349240" cy="2148840"/>
            </a:xfrm>
            <a:prstGeom prst="roundRect">
              <a:avLst>
                <a:gd name="adj" fmla="val 425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1600200"/>
              <a:ext cx="480060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 dirty="0">
                  <a:solidFill>
                    <a:schemeClr val="accent4"/>
                  </a:solidFill>
                </a:rPr>
                <a:t>Encapsulation</a:t>
              </a:r>
            </a:p>
            <a:p>
              <a:pPr>
                <a:spcBef>
                  <a:spcPts val="600"/>
                </a:spcBef>
              </a:pPr>
              <a:r>
                <a:rPr sz="2400" dirty="0" err="1">
                  <a:solidFill>
                    <a:srgbClr val="FFFFFF"/>
                  </a:solidFill>
                </a:rPr>
                <a:t>L'objet</a:t>
              </a:r>
              <a:r>
                <a:rPr sz="2400" dirty="0">
                  <a:solidFill>
                    <a:srgbClr val="FFFFFF"/>
                  </a:solidFill>
                </a:rPr>
                <a:t> </a:t>
              </a:r>
              <a:r>
                <a:rPr sz="2400" dirty="0" err="1">
                  <a:solidFill>
                    <a:srgbClr val="FFFFFF"/>
                  </a:solidFill>
                </a:rPr>
                <a:t>protège</a:t>
              </a:r>
              <a:r>
                <a:rPr sz="2400" dirty="0">
                  <a:solidFill>
                    <a:srgbClr val="FFFFFF"/>
                  </a:solidFill>
                </a:rPr>
                <a:t> son état</a:t>
              </a:r>
            </a:p>
            <a:p>
              <a:pPr>
                <a:spcBef>
                  <a:spcPts val="1000"/>
                </a:spcBef>
              </a:pPr>
              <a:r>
                <a:rPr sz="1800" dirty="0">
                  <a:solidFill>
                    <a:srgbClr val="BCBEC4"/>
                  </a:solidFill>
                </a:rPr>
                <a:t>→ section 3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A7AFCDD-05D4-6AD7-0FBA-7E4C25FB6C99}"/>
              </a:ext>
            </a:extLst>
          </p:cNvPr>
          <p:cNvGrpSpPr/>
          <p:nvPr/>
        </p:nvGrpSpPr>
        <p:grpSpPr>
          <a:xfrm>
            <a:off x="6172200" y="1417320"/>
            <a:ext cx="5349240" cy="2148840"/>
            <a:chOff x="6172200" y="1417320"/>
            <a:chExt cx="5349240" cy="2148840"/>
          </a:xfrm>
        </p:grpSpPr>
        <p:sp>
          <p:nvSpPr>
            <p:cNvPr id="5" name="Rounded Rectangle 4"/>
            <p:cNvSpPr/>
            <p:nvPr/>
          </p:nvSpPr>
          <p:spPr>
            <a:xfrm>
              <a:off x="6172200" y="1417320"/>
              <a:ext cx="5349240" cy="2148840"/>
            </a:xfrm>
            <a:prstGeom prst="roundRect">
              <a:avLst>
                <a:gd name="adj" fmla="val 425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46520" y="1600200"/>
              <a:ext cx="480060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 dirty="0">
                  <a:solidFill>
                    <a:schemeClr val="accent4"/>
                  </a:solidFill>
                </a:rPr>
                <a:t>Abstraction</a:t>
              </a:r>
            </a:p>
            <a:p>
              <a:pPr>
                <a:spcBef>
                  <a:spcPts val="600"/>
                </a:spcBef>
              </a:pPr>
              <a:r>
                <a:rPr sz="2400" dirty="0">
                  <a:solidFill>
                    <a:srgbClr val="FFFFFF"/>
                  </a:solidFill>
                </a:rPr>
                <a:t>Ne </a:t>
              </a:r>
              <a:r>
                <a:rPr sz="2400" dirty="0" err="1">
                  <a:solidFill>
                    <a:srgbClr val="FFFFFF"/>
                  </a:solidFill>
                </a:rPr>
                <a:t>modéliser</a:t>
              </a:r>
              <a:r>
                <a:rPr sz="2400" dirty="0">
                  <a:solidFill>
                    <a:srgbClr val="FFFFFF"/>
                  </a:solidFill>
                </a:rPr>
                <a:t> </a:t>
              </a:r>
              <a:r>
                <a:rPr sz="2400" dirty="0" err="1">
                  <a:solidFill>
                    <a:srgbClr val="FFFFFF"/>
                  </a:solidFill>
                </a:rPr>
                <a:t>que</a:t>
              </a:r>
              <a:r>
                <a:rPr sz="2400" dirty="0">
                  <a:solidFill>
                    <a:srgbClr val="FFFFFF"/>
                  </a:solidFill>
                </a:rPr>
                <a:t> </a:t>
              </a:r>
              <a:r>
                <a:rPr sz="2400" dirty="0" err="1">
                  <a:solidFill>
                    <a:srgbClr val="FFFFFF"/>
                  </a:solidFill>
                </a:rPr>
                <a:t>ce</a:t>
              </a:r>
              <a:r>
                <a:rPr sz="2400" dirty="0">
                  <a:solidFill>
                    <a:srgbClr val="FFFFFF"/>
                  </a:solidFill>
                </a:rPr>
                <a:t> qui compte pour le </a:t>
              </a:r>
              <a:r>
                <a:rPr sz="2400" dirty="0" err="1">
                  <a:solidFill>
                    <a:srgbClr val="FFFFFF"/>
                  </a:solidFill>
                </a:rPr>
                <a:t>problème</a:t>
              </a:r>
              <a:endParaRPr sz="2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87BEBE9-5D2B-C3FA-6158-DD09B2F7AF37}"/>
              </a:ext>
            </a:extLst>
          </p:cNvPr>
          <p:cNvGrpSpPr/>
          <p:nvPr/>
        </p:nvGrpSpPr>
        <p:grpSpPr>
          <a:xfrm>
            <a:off x="640080" y="3794760"/>
            <a:ext cx="5349240" cy="2148840"/>
            <a:chOff x="640080" y="3794760"/>
            <a:chExt cx="5349240" cy="2148840"/>
          </a:xfrm>
        </p:grpSpPr>
        <p:sp>
          <p:nvSpPr>
            <p:cNvPr id="7" name="Rounded Rectangle 6"/>
            <p:cNvSpPr/>
            <p:nvPr/>
          </p:nvSpPr>
          <p:spPr>
            <a:xfrm>
              <a:off x="640080" y="3794760"/>
              <a:ext cx="5349240" cy="2148840"/>
            </a:xfrm>
            <a:prstGeom prst="roundRect">
              <a:avLst>
                <a:gd name="adj" fmla="val 425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3977640"/>
              <a:ext cx="480060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>
                  <a:solidFill>
                    <a:schemeClr val="accent4"/>
                  </a:solidFill>
                </a:rPr>
                <a:t>Héritage</a:t>
              </a:r>
            </a:p>
            <a:p>
              <a:pPr>
                <a:spcBef>
                  <a:spcPts val="600"/>
                </a:spcBef>
              </a:pPr>
              <a:r>
                <a:rPr sz="2400">
                  <a:solidFill>
                    <a:srgbClr val="FFFFFF"/>
                  </a:solidFill>
                </a:rPr>
                <a:t>Une classe reprend et étend une autre</a:t>
              </a:r>
            </a:p>
            <a:p>
              <a:pPr>
                <a:spcBef>
                  <a:spcPts val="1000"/>
                </a:spcBef>
              </a:pPr>
              <a:r>
                <a:rPr sz="1800">
                  <a:solidFill>
                    <a:srgbClr val="BCBEC4"/>
                  </a:solidFill>
                </a:rPr>
                <a:t>→ module </a:t>
              </a:r>
              <a:r>
                <a:rPr sz="1800">
                  <a:solidFill>
                    <a:schemeClr val="accent4"/>
                  </a:solidFill>
                  <a:latin typeface="Consolas"/>
                </a:rPr>
                <a:t>ABS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7ABA742B-DBBF-5D6A-B391-7DBD882F665F}"/>
              </a:ext>
            </a:extLst>
          </p:cNvPr>
          <p:cNvGrpSpPr/>
          <p:nvPr/>
        </p:nvGrpSpPr>
        <p:grpSpPr>
          <a:xfrm>
            <a:off x="6172200" y="3794760"/>
            <a:ext cx="5349240" cy="2148840"/>
            <a:chOff x="6172200" y="3794760"/>
            <a:chExt cx="5349240" cy="2148840"/>
          </a:xfrm>
        </p:grpSpPr>
        <p:sp>
          <p:nvSpPr>
            <p:cNvPr id="9" name="Rounded Rectangle 8"/>
            <p:cNvSpPr/>
            <p:nvPr/>
          </p:nvSpPr>
          <p:spPr>
            <a:xfrm>
              <a:off x="6172200" y="3794760"/>
              <a:ext cx="5349240" cy="2148840"/>
            </a:xfrm>
            <a:prstGeom prst="roundRect">
              <a:avLst>
                <a:gd name="adj" fmla="val 4255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46520" y="3977640"/>
              <a:ext cx="480060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>
                  <a:solidFill>
                    <a:schemeClr val="accent4"/>
                  </a:solidFill>
                </a:rPr>
                <a:t>Polymorphisme</a:t>
              </a:r>
            </a:p>
            <a:p>
              <a:pPr>
                <a:spcBef>
                  <a:spcPts val="600"/>
                </a:spcBef>
              </a:pPr>
              <a:r>
                <a:rPr sz="2400">
                  <a:solidFill>
                    <a:srgbClr val="FFFFFF"/>
                  </a:solidFill>
                </a:rPr>
                <a:t>Traiter uniformément des objets différents</a:t>
              </a:r>
            </a:p>
            <a:p>
              <a:pPr>
                <a:spcBef>
                  <a:spcPts val="1000"/>
                </a:spcBef>
              </a:pPr>
              <a:r>
                <a:rPr sz="1800">
                  <a:solidFill>
                    <a:srgbClr val="BCBEC4"/>
                  </a:solidFill>
                </a:rPr>
                <a:t>→ modules ABS et ITF</a:t>
              </a:r>
            </a:p>
          </p:txBody>
        </p:sp>
      </p:grp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  <p:sp>
        <p:nvSpPr>
          <p:cNvPr id="1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Classe et objet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" y="1371600"/>
            <a:ext cx="5519651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 dirty="0"/>
              <a:t>Une </a:t>
            </a:r>
            <a:r>
              <a:rPr sz="2800" b="1" dirty="0" err="1">
                <a:solidFill>
                  <a:schemeClr val="accent4"/>
                </a:solidFill>
              </a:rPr>
              <a:t>classe</a:t>
            </a:r>
            <a:r>
              <a:rPr sz="2800" dirty="0"/>
              <a:t> est un moule : </a:t>
            </a:r>
            <a:r>
              <a:rPr sz="2800" dirty="0" err="1"/>
              <a:t>elle</a:t>
            </a:r>
            <a:r>
              <a:rPr sz="2800" dirty="0"/>
              <a:t> </a:t>
            </a:r>
            <a:r>
              <a:rPr sz="2800" dirty="0" err="1"/>
              <a:t>décrit</a:t>
            </a:r>
            <a:r>
              <a:rPr sz="2800" dirty="0"/>
              <a:t> des champs et des </a:t>
            </a:r>
            <a:r>
              <a:rPr sz="2800" dirty="0" err="1"/>
              <a:t>méthodes</a:t>
            </a:r>
            <a:endParaRPr sz="2800" dirty="0"/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Un </a:t>
            </a:r>
            <a:r>
              <a:rPr sz="2800" b="1" dirty="0" err="1">
                <a:solidFill>
                  <a:schemeClr val="accent4"/>
                </a:solidFill>
              </a:rPr>
              <a:t>objet</a:t>
            </a:r>
            <a:r>
              <a:rPr sz="2800" dirty="0"/>
              <a:t> est un </a:t>
            </a:r>
            <a:r>
              <a:rPr sz="2800" dirty="0" err="1"/>
              <a:t>exemplaire</a:t>
            </a:r>
            <a:r>
              <a:rPr sz="2800" dirty="0"/>
              <a:t> </a:t>
            </a:r>
            <a:r>
              <a:rPr sz="2800" dirty="0" err="1"/>
              <a:t>construit</a:t>
            </a:r>
            <a:r>
              <a:rPr sz="2800" dirty="0"/>
              <a:t> à </a:t>
            </a:r>
            <a:r>
              <a:rPr sz="2800" dirty="0" err="1"/>
              <a:t>partir</a:t>
            </a:r>
            <a:r>
              <a:rPr sz="2800" dirty="0"/>
              <a:t> du moule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400" dirty="0">
                <a:solidFill>
                  <a:schemeClr val="accent4"/>
                </a:solidFill>
                <a:latin typeface="Consolas"/>
              </a:rPr>
              <a:t>new</a:t>
            </a:r>
            <a:r>
              <a:rPr sz="2800" dirty="0"/>
              <a:t> </a:t>
            </a:r>
            <a:r>
              <a:rPr sz="2800" dirty="0" err="1"/>
              <a:t>crée</a:t>
            </a:r>
            <a:r>
              <a:rPr sz="2800" dirty="0"/>
              <a:t> </a:t>
            </a:r>
            <a:r>
              <a:rPr sz="2800" dirty="0" err="1"/>
              <a:t>l'objet</a:t>
            </a:r>
            <a:r>
              <a:rPr sz="2800" dirty="0"/>
              <a:t> </a:t>
            </a:r>
            <a:endParaRPr lang="nl-BE" dirty="0"/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la variable </a:t>
            </a:r>
            <a:r>
              <a:rPr lang="nl-BE" sz="2800" dirty="0"/>
              <a:t>à laquelle l’objet est assigné par </a:t>
            </a:r>
            <a:r>
              <a:rPr lang="nl-BE" dirty="0">
                <a:solidFill>
                  <a:schemeClr val="accent4"/>
                </a:solidFill>
                <a:latin typeface="Consolas"/>
              </a:rPr>
              <a:t>=</a:t>
            </a:r>
            <a:r>
              <a:rPr lang="nl-BE" sz="2800" dirty="0"/>
              <a:t> </a:t>
            </a:r>
            <a:r>
              <a:rPr sz="2800" dirty="0" err="1"/>
              <a:t>permet</a:t>
            </a:r>
            <a:r>
              <a:rPr sz="2800" dirty="0"/>
              <a:t> </a:t>
            </a:r>
            <a:r>
              <a:rPr lang="nl-BE" sz="2800" dirty="0"/>
              <a:t>de </a:t>
            </a:r>
            <a:r>
              <a:rPr sz="2800" dirty="0" err="1"/>
              <a:t>retrouver</a:t>
            </a:r>
            <a:r>
              <a:rPr lang="nl-BE" sz="2800" dirty="0"/>
              <a:t> l’objet</a:t>
            </a:r>
            <a:endParaRPr sz="2800" dirty="0"/>
          </a:p>
        </p:txBody>
      </p:sp>
      <p:sp>
        <p:nvSpPr>
          <p:cNvPr id="4" name="Code"/>
          <p:cNvSpPr txBox="1"/>
          <p:nvPr/>
        </p:nvSpPr>
        <p:spPr>
          <a:xfrm>
            <a:off x="6780068" y="1371601"/>
            <a:ext cx="4309110" cy="1686910"/>
          </a:xfrm>
          <a:prstGeom prst="roundRect">
            <a:avLst>
              <a:gd name="adj" fmla="val 370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class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Livre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String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String auteur;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id="{FE8D43F9-0679-CA54-66E0-2CBB82E3C013}"/>
              </a:ext>
            </a:extLst>
          </p:cNvPr>
          <p:cNvSpPr txBox="1"/>
          <p:nvPr/>
        </p:nvSpPr>
        <p:spPr>
          <a:xfrm>
            <a:off x="6780068" y="3289738"/>
            <a:ext cx="4309110" cy="746862"/>
          </a:xfrm>
          <a:prstGeom prst="roundRect">
            <a:avLst>
              <a:gd name="adj" fmla="val 370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fr-BE" sz="1800" dirty="0">
                <a:solidFill>
                  <a:srgbClr val="BCBEC4"/>
                </a:solidFill>
                <a:latin typeface="Consolas"/>
              </a:rPr>
              <a:t>Livre dune = </a:t>
            </a:r>
            <a:r>
              <a:rPr lang="fr-BE" sz="1800" dirty="0">
                <a:solidFill>
                  <a:srgbClr val="CF8E6D"/>
                </a:solidFill>
                <a:latin typeface="Consolas"/>
              </a:rPr>
              <a:t>new</a:t>
            </a:r>
            <a:r>
              <a:rPr lang="fr-BE"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lang="fr-BE" sz="1800" dirty="0">
                <a:solidFill>
                  <a:srgbClr val="56A8F5"/>
                </a:solidFill>
                <a:latin typeface="Consolas"/>
              </a:rPr>
              <a:t>Livre</a:t>
            </a:r>
            <a:r>
              <a:rPr lang="fr-BE" sz="1800" dirty="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fr-BE" sz="1800" dirty="0" err="1">
                <a:solidFill>
                  <a:srgbClr val="BCBEC4"/>
                </a:solidFill>
                <a:latin typeface="Consolas"/>
              </a:rPr>
              <a:t>dune.titre</a:t>
            </a:r>
            <a:r>
              <a:rPr lang="fr-BE" sz="1800" dirty="0">
                <a:solidFill>
                  <a:srgbClr val="BCBEC4"/>
                </a:solidFill>
                <a:latin typeface="Consolas"/>
              </a:rPr>
              <a:t> = </a:t>
            </a:r>
            <a:r>
              <a:rPr lang="fr-BE" sz="1800" dirty="0">
                <a:solidFill>
                  <a:srgbClr val="6AAB73"/>
                </a:solidFill>
                <a:latin typeface="Consolas"/>
              </a:rPr>
              <a:t>"Dune"</a:t>
            </a:r>
            <a:r>
              <a:rPr lang="fr-BE" sz="1800" dirty="0">
                <a:solidFill>
                  <a:srgbClr val="BCBEC4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Démonstration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828800"/>
            <a:ext cx="9235440" cy="3291840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_dem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0240" y="25146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2103120"/>
            <a:ext cx="62179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dirty="0" err="1">
                <a:solidFill>
                  <a:schemeClr val="accent4"/>
                </a:solidFill>
              </a:rPr>
              <a:t>Démonstration</a:t>
            </a:r>
            <a:endParaRPr sz="1800" b="1" dirty="0">
              <a:solidFill>
                <a:schemeClr val="accent4"/>
              </a:solidFill>
            </a:endParaRPr>
          </a:p>
          <a:p>
            <a:r>
              <a:rPr sz="3000" dirty="0" err="1">
                <a:solidFill>
                  <a:srgbClr val="FFFFFF"/>
                </a:solidFill>
              </a:rPr>
              <a:t>Construire</a:t>
            </a:r>
            <a:r>
              <a:rPr sz="3000" dirty="0">
                <a:solidFill>
                  <a:srgbClr val="FFFFFF"/>
                </a:solidFill>
              </a:rPr>
              <a:t> </a:t>
            </a:r>
            <a:r>
              <a:rPr sz="3000" dirty="0" err="1">
                <a:solidFill>
                  <a:srgbClr val="FFFFFF"/>
                </a:solidFill>
              </a:rPr>
              <a:t>une</a:t>
            </a:r>
            <a:r>
              <a:rPr sz="3000" dirty="0">
                <a:solidFill>
                  <a:srgbClr val="FFFFFF"/>
                </a:solidFill>
              </a:rPr>
              <a:t> </a:t>
            </a:r>
            <a:r>
              <a:rPr sz="3000" dirty="0" err="1">
                <a:solidFill>
                  <a:srgbClr val="FFFFFF"/>
                </a:solidFill>
              </a:rPr>
              <a:t>classe</a:t>
            </a:r>
            <a:r>
              <a:rPr sz="3000" dirty="0">
                <a:solidFill>
                  <a:srgbClr val="FFFFFF"/>
                </a:solidFill>
              </a:rPr>
              <a:t>, </a:t>
            </a:r>
            <a:r>
              <a:rPr sz="3000" dirty="0" err="1">
                <a:solidFill>
                  <a:srgbClr val="FFFFFF"/>
                </a:solidFill>
              </a:rPr>
              <a:t>puis</a:t>
            </a:r>
            <a:r>
              <a:rPr sz="3000" dirty="0">
                <a:solidFill>
                  <a:srgbClr val="FFFFFF"/>
                </a:solidFill>
              </a:rPr>
              <a:t> </a:t>
            </a:r>
            <a:r>
              <a:rPr sz="3000" dirty="0" err="1">
                <a:solidFill>
                  <a:srgbClr val="FFFFFF"/>
                </a:solidFill>
              </a:rPr>
              <a:t>l'encapsuler</a:t>
            </a:r>
            <a:endParaRPr sz="3000" dirty="0">
              <a:solidFill>
                <a:srgbClr val="FFFFFF"/>
              </a:solidFill>
            </a:endParaRPr>
          </a:p>
          <a:p>
            <a:pPr>
              <a:spcBef>
                <a:spcPts val="1200"/>
              </a:spcBef>
            </a:pPr>
            <a:r>
              <a:rPr sz="1400" dirty="0" err="1">
                <a:solidFill>
                  <a:srgbClr val="BCBEC4"/>
                </a:solidFill>
              </a:rPr>
              <a:t>Déroulé</a:t>
            </a:r>
            <a:r>
              <a:rPr sz="1400" dirty="0">
                <a:solidFill>
                  <a:srgbClr val="BCBEC4"/>
                </a:solidFill>
              </a:rPr>
              <a:t> : </a:t>
            </a:r>
            <a:r>
              <a:rPr sz="1400" dirty="0" err="1">
                <a:solidFill>
                  <a:srgbClr val="BCBEC4"/>
                </a:solidFill>
              </a:rPr>
              <a:t>Demo_POO</a:t>
            </a:r>
            <a:endParaRPr sz="1400" dirty="0">
              <a:solidFill>
                <a:srgbClr val="BCBEC4"/>
              </a:solidFill>
            </a:endParaRP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  <p:sp>
        <p:nvSpPr>
          <p:cNvPr id="7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Le constructeur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" y="1371600"/>
            <a:ext cx="4854634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fr-BE" sz="2200" dirty="0"/>
              <a:t>Il porte le nom de la classe, n'a pas de type de retour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200" dirty="0"/>
              <a:t>Il est appelé par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new</a:t>
            </a:r>
            <a:r>
              <a:rPr lang="fr-BE" sz="2200" dirty="0"/>
              <a:t>, il initialise l'objet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200" dirty="0"/>
              <a:t>Sans constructeur écrit, Java en fournit un « par défaut », sans paramètre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200" dirty="0"/>
              <a:t>Dès qu'on écrit un constructeur « explicite », le constructeur par défaut disparaît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672391" y="1371600"/>
            <a:ext cx="5964555" cy="2254469"/>
          </a:xfrm>
          <a:prstGeom prst="roundRect">
            <a:avLst>
              <a:gd name="adj" fmla="val 281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class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Livre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String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56A8F5"/>
                </a:solidFill>
                <a:latin typeface="Consolas"/>
              </a:rPr>
              <a:t>Livre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(String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,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5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.titre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5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.anneeDeParution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5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  <p:sp>
        <p:nvSpPr>
          <p:cNvPr id="7" name="Code">
            <a:extLst>
              <a:ext uri="{FF2B5EF4-FFF2-40B4-BE49-F238E27FC236}">
                <a16:creationId xmlns:a16="http://schemas.microsoft.com/office/drawing/2014/main" id="{B496FA87-FF88-CF86-7AA1-993407C9A65F}"/>
              </a:ext>
            </a:extLst>
          </p:cNvPr>
          <p:cNvSpPr txBox="1"/>
          <p:nvPr/>
        </p:nvSpPr>
        <p:spPr>
          <a:xfrm>
            <a:off x="5672391" y="3920359"/>
            <a:ext cx="5964555" cy="895582"/>
          </a:xfrm>
          <a:prstGeom prst="roundRect">
            <a:avLst>
              <a:gd name="adj" fmla="val 281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Livre dune =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56A8F5"/>
                </a:solidFill>
                <a:latin typeface="Consolas"/>
              </a:rPr>
              <a:t>Livre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500" dirty="0">
                <a:solidFill>
                  <a:srgbClr val="6AAB73"/>
                </a:solidFill>
                <a:latin typeface="Consolas"/>
              </a:rPr>
              <a:t>"Dune"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, </a:t>
            </a:r>
            <a:r>
              <a:rPr sz="1500" dirty="0">
                <a:solidFill>
                  <a:srgbClr val="2AACB8"/>
                </a:solidFill>
                <a:latin typeface="Consolas"/>
              </a:rPr>
              <a:t>1965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7A7E85"/>
                </a:solidFill>
                <a:latin typeface="Consolas"/>
              </a:rPr>
              <a:t>// refuse : </a:t>
            </a:r>
            <a:r>
              <a:rPr sz="1500" dirty="0" err="1">
                <a:solidFill>
                  <a:srgbClr val="7A7E85"/>
                </a:solidFill>
                <a:latin typeface="Consolas"/>
              </a:rPr>
              <a:t>ce</a:t>
            </a:r>
            <a:r>
              <a:rPr sz="1500" dirty="0">
                <a:solidFill>
                  <a:srgbClr val="7A7E85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A7E85"/>
                </a:solidFill>
                <a:latin typeface="Consolas"/>
              </a:rPr>
              <a:t>constructeur</a:t>
            </a:r>
            <a:r>
              <a:rPr sz="1500" dirty="0">
                <a:solidFill>
                  <a:srgbClr val="7A7E85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7A7E85"/>
                </a:solidFill>
                <a:latin typeface="Consolas"/>
              </a:rPr>
              <a:t>n'existe</a:t>
            </a:r>
            <a:r>
              <a:rPr sz="1500" dirty="0">
                <a:solidFill>
                  <a:srgbClr val="7A7E85"/>
                </a:solidFill>
                <a:latin typeface="Consolas"/>
              </a:rPr>
              <a:t> plus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BCBEC4"/>
                </a:solidFill>
                <a:latin typeface="Consolas"/>
              </a:rPr>
              <a:t>Livre vide = </a:t>
            </a:r>
            <a:r>
              <a:rPr sz="15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500" dirty="0">
                <a:solidFill>
                  <a:srgbClr val="56A8F5"/>
                </a:solidFill>
                <a:latin typeface="Consolas"/>
              </a:rPr>
              <a:t>Livre</a:t>
            </a:r>
            <a:r>
              <a:rPr sz="1500" dirty="0">
                <a:solidFill>
                  <a:srgbClr val="BCBEC4"/>
                </a:solidFill>
                <a:latin typeface="Consolas"/>
              </a:rPr>
              <a:t>();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Le mot-</a:t>
            </a:r>
            <a:r>
              <a:rPr sz="4000" dirty="0" err="1"/>
              <a:t>clé</a:t>
            </a:r>
            <a:r>
              <a:rPr sz="4000" dirty="0"/>
              <a:t>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endParaRPr sz="4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22504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400" dirty="0">
                <a:solidFill>
                  <a:schemeClr val="accent4"/>
                </a:solidFill>
                <a:latin typeface="Consolas"/>
                <a:cs typeface="Consolas"/>
              </a:rPr>
              <a:t>this</a:t>
            </a:r>
            <a:r>
              <a:rPr sz="2800" dirty="0"/>
              <a:t> </a:t>
            </a:r>
            <a:r>
              <a:rPr sz="2800" dirty="0" err="1"/>
              <a:t>désigne</a:t>
            </a:r>
            <a:r>
              <a:rPr sz="2800" dirty="0"/>
              <a:t> </a:t>
            </a:r>
            <a:r>
              <a:rPr sz="2800" dirty="0" err="1"/>
              <a:t>l'objet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cours</a:t>
            </a:r>
            <a:endParaRPr sz="2800" dirty="0"/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Il </a:t>
            </a:r>
            <a:r>
              <a:rPr sz="2800" dirty="0" err="1"/>
              <a:t>lève</a:t>
            </a:r>
            <a:r>
              <a:rPr sz="2800" dirty="0"/>
              <a:t> </a:t>
            </a:r>
            <a:r>
              <a:rPr sz="2800" dirty="0" err="1"/>
              <a:t>l'ambiguïté</a:t>
            </a:r>
            <a:r>
              <a:rPr sz="2800" dirty="0"/>
              <a:t> </a:t>
            </a:r>
            <a:r>
              <a:rPr sz="2800" dirty="0" err="1"/>
              <a:t>quand</a:t>
            </a:r>
            <a:r>
              <a:rPr sz="2800" dirty="0"/>
              <a:t> un </a:t>
            </a:r>
            <a:r>
              <a:rPr sz="2800" dirty="0" err="1"/>
              <a:t>paramètre</a:t>
            </a:r>
            <a:r>
              <a:rPr sz="2800" dirty="0"/>
              <a:t> </a:t>
            </a:r>
            <a:r>
              <a:rPr sz="2800" dirty="0" err="1"/>
              <a:t>porte</a:t>
            </a:r>
            <a:r>
              <a:rPr sz="2800" dirty="0"/>
              <a:t> le nom d'un champ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 dirty="0" err="1"/>
              <a:t>Piège</a:t>
            </a:r>
            <a:r>
              <a:rPr sz="2800" dirty="0"/>
              <a:t> : </a:t>
            </a:r>
            <a:r>
              <a:rPr sz="2400" dirty="0" err="1">
                <a:solidFill>
                  <a:schemeClr val="accent4"/>
                </a:solidFill>
                <a:latin typeface="Consolas"/>
                <a:cs typeface="Consolas"/>
              </a:rPr>
              <a:t>titre</a:t>
            </a:r>
            <a:r>
              <a:rPr sz="2400" dirty="0">
                <a:solidFill>
                  <a:schemeClr val="accent4"/>
                </a:solidFill>
                <a:latin typeface="Consolas"/>
                <a:cs typeface="Consolas"/>
              </a:rPr>
              <a:t> = </a:t>
            </a:r>
            <a:r>
              <a:rPr sz="2400" dirty="0" err="1">
                <a:solidFill>
                  <a:schemeClr val="accent4"/>
                </a:solidFill>
                <a:latin typeface="Consolas"/>
                <a:cs typeface="Consolas"/>
              </a:rPr>
              <a:t>titre</a:t>
            </a:r>
            <a:r>
              <a:rPr sz="2400" dirty="0">
                <a:solidFill>
                  <a:schemeClr val="accent4"/>
                </a:solidFill>
                <a:latin typeface="Consolas"/>
                <a:cs typeface="Consolas"/>
              </a:rPr>
              <a:t>;</a:t>
            </a:r>
            <a:r>
              <a:rPr sz="2800" dirty="0"/>
              <a:t> compile, </a:t>
            </a:r>
            <a:r>
              <a:rPr sz="2800" dirty="0" err="1"/>
              <a:t>mais</a:t>
            </a:r>
            <a:r>
              <a:rPr sz="2800" dirty="0"/>
              <a:t> ne fait rien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1752600" y="3733799"/>
            <a:ext cx="8686800" cy="1371600"/>
          </a:xfrm>
          <a:prstGeom prst="roundRect">
            <a:avLst>
              <a:gd name="adj" fmla="val 666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>
                <a:solidFill>
                  <a:srgbClr val="56A8F5"/>
                </a:solidFill>
                <a:latin typeface="Consolas"/>
              </a:rPr>
              <a:t>Livre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(String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,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8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.titre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;   </a:t>
            </a:r>
            <a:r>
              <a:rPr sz="1800" dirty="0">
                <a:solidFill>
                  <a:srgbClr val="7A7E85"/>
                </a:solidFill>
                <a:latin typeface="Consolas"/>
              </a:rPr>
              <a:t>// le champ </a:t>
            </a:r>
            <a:r>
              <a:rPr sz="1800" dirty="0" err="1">
                <a:solidFill>
                  <a:srgbClr val="7A7E85"/>
                </a:solidFill>
                <a:latin typeface="Consolas"/>
              </a:rPr>
              <a:t>recoit</a:t>
            </a:r>
            <a:r>
              <a:rPr sz="1800" dirty="0">
                <a:solidFill>
                  <a:srgbClr val="7A7E85"/>
                </a:solidFill>
                <a:latin typeface="Consolas"/>
              </a:rPr>
              <a:t> le </a:t>
            </a:r>
            <a:r>
              <a:rPr sz="1800" dirty="0" err="1">
                <a:solidFill>
                  <a:srgbClr val="7A7E85"/>
                </a:solidFill>
                <a:latin typeface="Consolas"/>
              </a:rPr>
              <a:t>parametre</a:t>
            </a:r>
            <a:endParaRPr sz="1800" dirty="0">
              <a:solidFill>
                <a:srgbClr val="7A7E8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;        </a:t>
            </a:r>
            <a:r>
              <a:rPr sz="1800" dirty="0">
                <a:solidFill>
                  <a:srgbClr val="7A7E85"/>
                </a:solidFill>
                <a:latin typeface="Consolas"/>
              </a:rPr>
              <a:t>// le </a:t>
            </a:r>
            <a:r>
              <a:rPr sz="1800" dirty="0" err="1">
                <a:solidFill>
                  <a:srgbClr val="7A7E85"/>
                </a:solidFill>
                <a:latin typeface="Consolas"/>
              </a:rPr>
              <a:t>parametre</a:t>
            </a:r>
            <a:r>
              <a:rPr sz="1800" dirty="0">
                <a:solidFill>
                  <a:srgbClr val="7A7E85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7A7E85"/>
                </a:solidFill>
                <a:latin typeface="Consolas"/>
              </a:rPr>
              <a:t>recoit</a:t>
            </a:r>
            <a:r>
              <a:rPr sz="1800" dirty="0">
                <a:solidFill>
                  <a:srgbClr val="7A7E85"/>
                </a:solidFill>
                <a:latin typeface="Consolas"/>
              </a:rPr>
              <a:t>... </a:t>
            </a:r>
            <a:r>
              <a:rPr sz="1800" dirty="0" err="1">
                <a:solidFill>
                  <a:srgbClr val="7A7E85"/>
                </a:solidFill>
                <a:latin typeface="Consolas"/>
              </a:rPr>
              <a:t>lui</a:t>
            </a:r>
            <a:r>
              <a:rPr sz="1800" dirty="0">
                <a:solidFill>
                  <a:srgbClr val="7A7E85"/>
                </a:solidFill>
                <a:latin typeface="Consolas"/>
              </a:rPr>
              <a:t>-meme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Un champ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38912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final</a:t>
            </a:r>
            <a:r>
              <a:rPr lang="fr-BE" sz="2400" dirty="0"/>
              <a:t> : le champ reçoit sa valeur une seule fois, au plus tard dans le constructeur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400" dirty="0"/>
              <a:t>Le compilateur refuse toute affectation ultérieure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400" dirty="0"/>
              <a:t>L'immuabilité n'est plus une affaire de vigilance mais est vérifiée par le compilateur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257800" y="1371600"/>
            <a:ext cx="5989320" cy="3642359"/>
          </a:xfrm>
          <a:prstGeom prst="roundRect">
            <a:avLst>
              <a:gd name="adj" fmla="val 2510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700" dirty="0">
                <a:solidFill>
                  <a:srgbClr val="CF8E6D"/>
                </a:solidFill>
                <a:latin typeface="Consolas"/>
              </a:rPr>
              <a:t>class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Livre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7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700" dirty="0">
                <a:solidFill>
                  <a:srgbClr val="CF8E6D"/>
                </a:solidFill>
                <a:latin typeface="Consolas"/>
              </a:rPr>
              <a:t>final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String </a:t>
            </a:r>
            <a:r>
              <a:rPr sz="17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7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700" dirty="0">
                <a:solidFill>
                  <a:srgbClr val="56A8F5"/>
                </a:solidFill>
                <a:latin typeface="Consolas"/>
              </a:rPr>
              <a:t>Livre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(String </a:t>
            </a:r>
            <a:r>
              <a:rPr sz="17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7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700" dirty="0" err="1">
                <a:solidFill>
                  <a:srgbClr val="BCBEC4"/>
                </a:solidFill>
                <a:latin typeface="Consolas"/>
              </a:rPr>
              <a:t>.titre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7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7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700" dirty="0">
                <a:solidFill>
                  <a:srgbClr val="CF8E6D"/>
                </a:solidFill>
                <a:latin typeface="Consolas"/>
              </a:rPr>
              <a:t>void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700" dirty="0" err="1">
                <a:solidFill>
                  <a:srgbClr val="56A8F5"/>
                </a:solidFill>
                <a:latin typeface="Consolas"/>
              </a:rPr>
              <a:t>renommer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(String </a:t>
            </a:r>
            <a:r>
              <a:rPr sz="1700" dirty="0" err="1">
                <a:solidFill>
                  <a:srgbClr val="BCBEC4"/>
                </a:solidFill>
                <a:latin typeface="Consolas"/>
              </a:rPr>
              <a:t>nouveauTitre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700" dirty="0" err="1">
                <a:solidFill>
                  <a:srgbClr val="BCBEC4"/>
                </a:solidFill>
                <a:latin typeface="Consolas"/>
              </a:rPr>
              <a:t>titre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700" dirty="0" err="1">
                <a:solidFill>
                  <a:srgbClr val="BCBEC4"/>
                </a:solidFill>
                <a:latin typeface="Consolas"/>
              </a:rPr>
              <a:t>nouveauTitre</a:t>
            </a:r>
            <a:r>
              <a:rPr sz="17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700" dirty="0">
                <a:solidFill>
                  <a:srgbClr val="7A7E85"/>
                </a:solidFill>
                <a:latin typeface="Consolas"/>
              </a:rPr>
              <a:t>// refuse : cannot assign a value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700" dirty="0">
                <a:solidFill>
                  <a:srgbClr val="7A7E85"/>
                </a:solidFill>
                <a:latin typeface="Consolas"/>
              </a:rPr>
              <a:t>//          to final variable </a:t>
            </a:r>
            <a:r>
              <a:rPr sz="1700" dirty="0" err="1">
                <a:solidFill>
                  <a:srgbClr val="7A7E85"/>
                </a:solidFill>
                <a:latin typeface="Consolas"/>
              </a:rPr>
              <a:t>titre</a:t>
            </a:r>
            <a:endParaRPr sz="1700" dirty="0">
              <a:solidFill>
                <a:srgbClr val="7A7E8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La </a:t>
            </a:r>
            <a:r>
              <a:rPr sz="4000" dirty="0" err="1"/>
              <a:t>méthode</a:t>
            </a:r>
            <a:r>
              <a:rPr sz="4000" dirty="0"/>
              <a:t> </a:t>
            </a:r>
            <a:r>
              <a:rPr sz="3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endParaRPr sz="3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473959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fr-BE" sz="2400" dirty="0"/>
              <a:t>Tout objet sait se transformer en texte, grâce à sa méthode </a:t>
            </a:r>
            <a:r>
              <a:rPr lang="fr-BE" sz="2000" dirty="0" err="1">
                <a:solidFill>
                  <a:schemeClr val="accent4"/>
                </a:solidFill>
                <a:latin typeface="Consolas"/>
                <a:cs typeface="Consolas"/>
              </a:rPr>
              <a:t>toString</a:t>
            </a:r>
            <a:r>
              <a:rPr lang="fr-BE" sz="2400" dirty="0"/>
              <a:t> (présente dans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Object</a:t>
            </a:r>
            <a:r>
              <a:rPr lang="fr-BE" sz="2400" dirty="0"/>
              <a:t>)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400" dirty="0"/>
              <a:t>La méthode retourne par défaut : nom de la classe +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@</a:t>
            </a:r>
            <a:r>
              <a:rPr lang="fr-BE" sz="2400" dirty="0"/>
              <a:t> + un numéro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400" dirty="0"/>
              <a:t>On redéfinit la méthode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toString</a:t>
            </a:r>
            <a:r>
              <a:rPr lang="fr-BE" sz="2400" dirty="0"/>
              <a:t> pour afficher quelque chose d'utile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400" dirty="0"/>
              <a:t>Cette méthode est appelée implicitement par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println</a:t>
            </a:r>
            <a:r>
              <a:rPr lang="fr-BE" sz="2400" dirty="0"/>
              <a:t> et par la concaténation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2241550" y="3982720"/>
            <a:ext cx="7708900" cy="2189479"/>
          </a:xfrm>
          <a:prstGeom prst="roundRect">
            <a:avLst>
              <a:gd name="adj" fmla="val 417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3AE60"/>
                </a:solidFill>
                <a:latin typeface="Consolas"/>
              </a:rPr>
              <a:t>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String </a:t>
            </a:r>
            <a:r>
              <a:rPr sz="1800">
                <a:solidFill>
                  <a:srgbClr val="56A8F5"/>
                </a:solidFill>
                <a:latin typeface="Consolas"/>
              </a:rPr>
              <a:t>toString</a:t>
            </a:r>
            <a:r>
              <a:rPr sz="1800">
                <a:solidFill>
                  <a:srgbClr val="BCBEC4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return</a:t>
            </a:r>
            <a:r>
              <a:rPr sz="1800">
                <a:solidFill>
                  <a:srgbClr val="BCBEC4"/>
                </a:solidFill>
                <a:latin typeface="Consolas"/>
              </a:rPr>
              <a:t> titre + </a:t>
            </a:r>
            <a:r>
              <a:rPr sz="1800">
                <a:solidFill>
                  <a:srgbClr val="6AAB73"/>
                </a:solidFill>
                <a:latin typeface="Consolas"/>
              </a:rPr>
              <a:t>" ("</a:t>
            </a:r>
            <a:r>
              <a:rPr sz="1800">
                <a:solidFill>
                  <a:srgbClr val="BCBEC4"/>
                </a:solidFill>
                <a:latin typeface="Consolas"/>
              </a:rPr>
              <a:t> + anneeDeParution + </a:t>
            </a:r>
            <a:r>
              <a:rPr sz="1800">
                <a:solidFill>
                  <a:srgbClr val="6AAB73"/>
                </a:solidFill>
                <a:latin typeface="Consolas"/>
              </a:rPr>
              <a:t>")"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System.out.</a:t>
            </a:r>
            <a:r>
              <a:rPr sz="1800">
                <a:solidFill>
                  <a:srgbClr val="56A8F5"/>
                </a:solidFill>
                <a:latin typeface="Consolas"/>
              </a:rPr>
              <a:t>println</a:t>
            </a:r>
            <a:r>
              <a:rPr sz="1800">
                <a:solidFill>
                  <a:srgbClr val="BCBEC4"/>
                </a:solidFill>
                <a:latin typeface="Consolas"/>
              </a:rPr>
              <a:t>(dune); 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Dune (1965)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String texte = </a:t>
            </a:r>
            <a:r>
              <a:rPr sz="1800">
                <a:solidFill>
                  <a:srgbClr val="6AAB73"/>
                </a:solidFill>
                <a:latin typeface="Consolas"/>
              </a:rPr>
              <a:t>"Lu : "</a:t>
            </a:r>
            <a:r>
              <a:rPr sz="1800">
                <a:solidFill>
                  <a:srgbClr val="BCBEC4"/>
                </a:solidFill>
                <a:latin typeface="Consolas"/>
              </a:rPr>
              <a:t> + dune;    </a:t>
            </a:r>
            <a:r>
              <a:rPr sz="1800">
                <a:solidFill>
                  <a:srgbClr val="7A7E85"/>
                </a:solidFill>
                <a:latin typeface="Consolas"/>
              </a:rPr>
              <a:t>// Lu : Dune (1965)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sp>
        <p:nvSpPr>
          <p:cNvPr id="1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21</a:t>
            </a:fld>
            <a:endParaRPr lang="fr-FR"/>
          </a:p>
        </p:txBody>
      </p:sp>
      <p:sp>
        <p:nvSpPr>
          <p:cNvPr id="1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2. Classe et objet</a:t>
            </a:r>
          </a:p>
        </p:txBody>
      </p:sp>
      <p:grpSp>
        <p:nvGrpSpPr>
          <p:cNvPr id="18" name="Exercice 1"/>
          <p:cNvGrpSpPr/>
          <p:nvPr/>
        </p:nvGrpSpPr>
        <p:grpSpPr>
          <a:xfrm>
            <a:off x="640080" y="1257300"/>
            <a:ext cx="10972800" cy="4503419"/>
            <a:chOff x="640080" y="1257300"/>
            <a:chExt cx="10972800" cy="4503419"/>
          </a:xfrm>
        </p:grpSpPr>
        <p:sp>
          <p:nvSpPr>
            <p:cNvPr id="12" name="TextBox 11"/>
            <p:cNvSpPr txBox="1"/>
            <p:nvPr/>
          </p:nvSpPr>
          <p:spPr>
            <a:xfrm>
              <a:off x="640080" y="4937759"/>
              <a:ext cx="93268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/>
                <a:t>Nommer : </a:t>
              </a:r>
              <a:r>
                <a:rPr sz="2400">
                  <a:solidFill>
                    <a:schemeClr val="accent4"/>
                  </a:solidFill>
                  <a:latin typeface="Consolas"/>
                </a:rPr>
                <a:t>CC-NOM.1</a:t>
              </a:r>
              <a:r>
                <a:rPr sz="2400"/>
                <a:t> et </a:t>
              </a:r>
              <a:r>
                <a:rPr sz="2400">
                  <a:solidFill>
                    <a:schemeClr val="accent4"/>
                  </a:solidFill>
                  <a:latin typeface="Consolas"/>
                </a:rPr>
                <a:t>CC-NOM.5</a:t>
              </a: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POO.1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>
                  <a:solidFill>
                    <a:srgbClr val="FFFFFF"/>
                  </a:solidFill>
                </a:rPr>
                <a:t>Une première classe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POO</a:t>
              </a:r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32720" y="1257300"/>
              <a:ext cx="1280160" cy="1280160"/>
            </a:xfrm>
            <a:prstGeom prst="rect">
              <a:avLst/>
            </a:prstGeom>
          </p:spPr>
        </p:pic>
      </p:grpSp>
      <p:grpSp>
        <p:nvGrpSpPr>
          <p:cNvPr id="19" name="Exercice 2"/>
          <p:cNvGrpSpPr/>
          <p:nvPr/>
        </p:nvGrpSpPr>
        <p:grpSpPr>
          <a:xfrm>
            <a:off x="640080" y="2432742"/>
            <a:ext cx="11054219" cy="1215275"/>
            <a:chOff x="640080" y="2432742"/>
            <a:chExt cx="11054219" cy="1215275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 dirty="0">
                  <a:solidFill>
                    <a:schemeClr val="accent4"/>
                  </a:solidFill>
                  <a:latin typeface="Consolas"/>
                </a:rPr>
                <a:t>G.1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>
                  <a:solidFill>
                    <a:srgbClr val="FFFFFF"/>
                  </a:solidFill>
                </a:rPr>
                <a:t>Le joueur</a:t>
              </a:r>
            </a:p>
            <a:p>
              <a:r>
                <a:rPr sz="1400">
                  <a:solidFill>
                    <a:srgbClr val="BCBEC4"/>
                  </a:solidFill>
                </a:rPr>
                <a:t>fil rouge GameHub</a:t>
              </a:r>
            </a:p>
          </p:txBody>
        </p:sp>
        <p:pic>
          <p:nvPicPr>
            <p:cNvPr id="16" name="iconGameHub" descr="Game Hub - Apps on Google Play">
              <a:extLst>
                <a:ext uri="{FF2B5EF4-FFF2-40B4-BE49-F238E27FC236}">
                  <a16:creationId xmlns:a16="http://schemas.microsoft.com/office/drawing/2014/main" id="{5CE7712A-B461-E070-FAC1-0EC9B939BA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425092">
              <a:off x="10479024" y="2432742"/>
              <a:ext cx="1215275" cy="121527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Exercice 3"/>
          <p:cNvGrpSpPr/>
          <p:nvPr/>
        </p:nvGrpSpPr>
        <p:grpSpPr>
          <a:xfrm>
            <a:off x="640080" y="3703320"/>
            <a:ext cx="9326880" cy="960120"/>
            <a:chOff x="640080" y="3703320"/>
            <a:chExt cx="9326880" cy="960120"/>
          </a:xfrm>
        </p:grpSpPr>
        <p:sp>
          <p:nvSpPr>
            <p:cNvPr id="9" name="Rounded Rectangle 8"/>
            <p:cNvSpPr/>
            <p:nvPr/>
          </p:nvSpPr>
          <p:spPr>
            <a:xfrm>
              <a:off x="640080" y="3703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8680" y="3703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G.2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80360" y="3703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>
                  <a:solidFill>
                    <a:srgbClr val="FFFFFF"/>
                  </a:solidFill>
                </a:rPr>
                <a:t>La partie</a:t>
              </a:r>
            </a:p>
            <a:p>
              <a:r>
                <a:rPr sz="1400">
                  <a:solidFill>
                    <a:srgbClr val="BCBEC4"/>
                  </a:solidFill>
                </a:rPr>
                <a:t>fil rouge GameHub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4" descr="POO_section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052B078-1A3D-CFB6-3306-4EFF7C5B92F8}"/>
              </a:ext>
            </a:extLst>
          </p:cNvPr>
          <p:cNvSpPr txBox="1"/>
          <p:nvPr/>
        </p:nvSpPr>
        <p:spPr>
          <a:xfrm>
            <a:off x="838200" y="946800"/>
            <a:ext cx="5963720" cy="110520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3. Encapsulation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4971F7-1BEC-8438-8F87-A2E257C53A47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Un objet protège son état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Le </a:t>
            </a:r>
            <a:r>
              <a:rPr sz="4000" dirty="0" err="1"/>
              <a:t>problème</a:t>
            </a:r>
            <a:r>
              <a:rPr sz="4000" dirty="0"/>
              <a:t> d'un champ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1244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/>
              <a:t>Tout le monde peut écrire n'importe quoi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Le programme est faux, et rien ne le signale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640080" y="2753360"/>
            <a:ext cx="10881360" cy="822959"/>
          </a:xfrm>
          <a:prstGeom prst="roundRect">
            <a:avLst>
              <a:gd name="adj" fmla="val 1111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Livre dune = </a:t>
            </a:r>
            <a:r>
              <a:rPr sz="1800">
                <a:solidFill>
                  <a:srgbClr val="CF8E6D"/>
                </a:solidFill>
                <a:latin typeface="Consolas"/>
              </a:rPr>
              <a:t>new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Livre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"Dune"</a:t>
            </a:r>
            <a:r>
              <a:rPr sz="1800">
                <a:solidFill>
                  <a:srgbClr val="BCBEC4"/>
                </a:solidFill>
                <a:latin typeface="Consolas"/>
              </a:rPr>
              <a:t>, </a:t>
            </a:r>
            <a:r>
              <a:rPr sz="1800">
                <a:solidFill>
                  <a:srgbClr val="2AACB8"/>
                </a:solidFill>
                <a:latin typeface="Consolas"/>
              </a:rPr>
              <a:t>1965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dune.anneeDeParution = -</a:t>
            </a:r>
            <a:r>
              <a:rPr sz="1800">
                <a:solidFill>
                  <a:srgbClr val="2AACB8"/>
                </a:solidFill>
                <a:latin typeface="Consolas"/>
              </a:rPr>
              <a:t>3000</a:t>
            </a:r>
            <a:r>
              <a:rPr sz="1800">
                <a:solidFill>
                  <a:srgbClr val="BCBEC4"/>
                </a:solidFill>
                <a:latin typeface="Consolas"/>
              </a:rPr>
              <a:t>;   </a:t>
            </a:r>
            <a:r>
              <a:rPr sz="1800">
                <a:solidFill>
                  <a:srgbClr val="7A7E85"/>
                </a:solidFill>
                <a:latin typeface="Consolas"/>
              </a:rPr>
              <a:t>// champ public : accepte sans broncher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23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Fermer les champs, ouvrir des accesseurs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75488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 dirty="0"/>
              <a:t>Les champs </a:t>
            </a:r>
            <a:r>
              <a:rPr sz="2800" dirty="0" err="1"/>
              <a:t>deviennent</a:t>
            </a:r>
            <a:r>
              <a:rPr sz="2800" dirty="0"/>
              <a:t>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private</a:t>
            </a:r>
            <a:endParaRPr sz="2800" dirty="0">
              <a:solidFill>
                <a:schemeClr val="accent4"/>
              </a:solidFill>
              <a:latin typeface="Consolas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sz="2800" b="1" dirty="0"/>
              <a:t>Getter</a:t>
            </a:r>
            <a:r>
              <a:rPr sz="2800" dirty="0"/>
              <a:t> : </a:t>
            </a:r>
            <a:r>
              <a:rPr sz="2400" dirty="0" err="1">
                <a:solidFill>
                  <a:schemeClr val="accent4"/>
                </a:solidFill>
                <a:latin typeface="Consolas"/>
              </a:rPr>
              <a:t>getTitre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()</a:t>
            </a:r>
            <a:r>
              <a:rPr sz="2800" dirty="0"/>
              <a:t> lit la </a:t>
            </a:r>
            <a:r>
              <a:rPr sz="2800" dirty="0" err="1"/>
              <a:t>valeur</a:t>
            </a:r>
            <a:endParaRPr sz="2800" dirty="0"/>
          </a:p>
          <a:p>
            <a:pPr marL="0" indent="0">
              <a:spcAft>
                <a:spcPts val="800"/>
              </a:spcAft>
              <a:buNone/>
            </a:pPr>
            <a:r>
              <a:rPr sz="2800" b="1" dirty="0"/>
              <a:t>Setter</a:t>
            </a:r>
            <a:r>
              <a:rPr sz="2800" dirty="0"/>
              <a:t> : </a:t>
            </a:r>
            <a:r>
              <a:rPr sz="2400" dirty="0" err="1">
                <a:solidFill>
                  <a:schemeClr val="accent4"/>
                </a:solidFill>
                <a:latin typeface="Consolas"/>
              </a:rPr>
              <a:t>setTitre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(String) </a:t>
            </a:r>
            <a:r>
              <a:rPr sz="2800" dirty="0"/>
              <a:t>la </a:t>
            </a:r>
            <a:r>
              <a:rPr sz="2800" dirty="0" err="1"/>
              <a:t>modifie</a:t>
            </a:r>
            <a:endParaRPr sz="2800" dirty="0"/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Pour un </a:t>
            </a:r>
            <a:r>
              <a:rPr sz="2800" dirty="0" err="1"/>
              <a:t>booléen</a:t>
            </a:r>
            <a:r>
              <a:rPr sz="2800" dirty="0"/>
              <a:t>, le getter commence par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is</a:t>
            </a:r>
            <a:r>
              <a:rPr sz="2800" dirty="0"/>
              <a:t> : </a:t>
            </a:r>
            <a:r>
              <a:rPr sz="2400" dirty="0" err="1">
                <a:solidFill>
                  <a:schemeClr val="accent4"/>
                </a:solidFill>
                <a:latin typeface="Consolas"/>
              </a:rPr>
              <a:t>isDisponible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()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623560" y="1371600"/>
            <a:ext cx="5440680" cy="3291839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class</a:t>
            </a:r>
            <a:r>
              <a:rPr sz="1800">
                <a:solidFill>
                  <a:srgbClr val="BCBEC4"/>
                </a:solidFill>
                <a:latin typeface="Consolas"/>
              </a:rPr>
              <a:t> Livre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private</a:t>
            </a:r>
            <a:r>
              <a:rPr sz="1800">
                <a:solidFill>
                  <a:srgbClr val="BCBEC4"/>
                </a:solidFill>
                <a:latin typeface="Consolas"/>
              </a:rPr>
              <a:t> String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String </a:t>
            </a:r>
            <a:r>
              <a:rPr sz="1800">
                <a:solidFill>
                  <a:srgbClr val="56A8F5"/>
                </a:solidFill>
                <a:latin typeface="Consolas"/>
              </a:rPr>
              <a:t>getTitre</a:t>
            </a:r>
            <a:r>
              <a:rPr sz="1800">
                <a:solidFill>
                  <a:srgbClr val="BCBEC4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    </a:t>
            </a:r>
            <a:r>
              <a:rPr sz="1800">
                <a:solidFill>
                  <a:srgbClr val="CF8E6D"/>
                </a:solidFill>
                <a:latin typeface="Consolas"/>
              </a:rPr>
              <a:t>return</a:t>
            </a:r>
            <a:r>
              <a:rPr sz="1800">
                <a:solidFill>
                  <a:srgbClr val="BCBEC4"/>
                </a:solidFill>
                <a:latin typeface="Consolas"/>
              </a:rPr>
              <a:t>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void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setTitre</a:t>
            </a:r>
            <a:r>
              <a:rPr sz="1800">
                <a:solidFill>
                  <a:srgbClr val="BCBEC4"/>
                </a:solidFill>
                <a:latin typeface="Consolas"/>
              </a:rPr>
              <a:t>(String titre)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    </a:t>
            </a:r>
            <a:r>
              <a:rPr sz="1800">
                <a:solidFill>
                  <a:srgbClr val="CF8E6D"/>
                </a:solidFill>
                <a:latin typeface="Consolas"/>
              </a:rPr>
              <a:t>this</a:t>
            </a:r>
            <a:r>
              <a:rPr sz="1800">
                <a:solidFill>
                  <a:srgbClr val="BCBEC4"/>
                </a:solidFill>
                <a:latin typeface="Consolas"/>
              </a:rPr>
              <a:t>.titre = titre;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24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Ce </a:t>
            </a:r>
            <a:r>
              <a:rPr sz="4000" dirty="0" err="1"/>
              <a:t>que</a:t>
            </a:r>
            <a:r>
              <a:rPr sz="4000" dirty="0"/>
              <a:t> le </a:t>
            </a:r>
            <a:r>
              <a:rPr sz="4000" dirty="0" err="1"/>
              <a:t>détour</a:t>
            </a:r>
            <a:r>
              <a:rPr sz="4000" dirty="0"/>
              <a:t> </a:t>
            </a:r>
            <a:r>
              <a:rPr sz="4000" dirty="0" err="1"/>
              <a:t>permet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22504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 dirty="0"/>
              <a:t>Le setter est </a:t>
            </a:r>
            <a:r>
              <a:rPr sz="2800" dirty="0" err="1"/>
              <a:t>l'endroit</a:t>
            </a:r>
            <a:r>
              <a:rPr sz="2800" dirty="0"/>
              <a:t> </a:t>
            </a:r>
            <a:r>
              <a:rPr sz="2800" dirty="0" err="1"/>
              <a:t>où</a:t>
            </a:r>
            <a:r>
              <a:rPr sz="2800" dirty="0"/>
              <a:t> </a:t>
            </a:r>
            <a:r>
              <a:rPr sz="2800" dirty="0" err="1"/>
              <a:t>l'on</a:t>
            </a:r>
            <a:r>
              <a:rPr sz="2800" dirty="0"/>
              <a:t> place </a:t>
            </a:r>
            <a:r>
              <a:rPr sz="2800" dirty="0" err="1"/>
              <a:t>une</a:t>
            </a:r>
            <a:r>
              <a:rPr sz="2800" dirty="0"/>
              <a:t> </a:t>
            </a:r>
            <a:r>
              <a:rPr sz="2800" dirty="0" err="1"/>
              <a:t>règle</a:t>
            </a:r>
            <a:endParaRPr sz="2200" dirty="0"/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Un champ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public</a:t>
            </a:r>
            <a:r>
              <a:rPr sz="2800" dirty="0"/>
              <a:t> ne le </a:t>
            </a:r>
            <a:r>
              <a:rPr sz="2800" dirty="0" err="1"/>
              <a:t>permettra</a:t>
            </a:r>
            <a:r>
              <a:rPr sz="2800" dirty="0"/>
              <a:t> jamais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400" dirty="0" err="1">
                <a:solidFill>
                  <a:schemeClr val="accent4"/>
                </a:solidFill>
                <a:latin typeface="Consolas"/>
              </a:rPr>
              <a:t>IllegalArgumentException</a:t>
            </a:r>
            <a:r>
              <a:rPr sz="2800" dirty="0"/>
              <a:t> : non contrôlée, pas de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try/catch</a:t>
            </a:r>
            <a:r>
              <a:rPr sz="2800" dirty="0"/>
              <a:t> à </a:t>
            </a:r>
            <a:r>
              <a:rPr sz="2800" dirty="0" err="1"/>
              <a:t>écrire</a:t>
            </a:r>
            <a:r>
              <a:rPr sz="2800" dirty="0"/>
              <a:t> (module </a:t>
            </a:r>
            <a:r>
              <a:rPr sz="2800" dirty="0">
                <a:solidFill>
                  <a:schemeClr val="accent4"/>
                </a:solidFill>
                <a:latin typeface="Consolas"/>
              </a:rPr>
              <a:t>EXC</a:t>
            </a:r>
            <a:r>
              <a:rPr sz="2800" dirty="0"/>
              <a:t>)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640080" y="3733799"/>
            <a:ext cx="10881360" cy="1920239"/>
          </a:xfrm>
          <a:prstGeom prst="roundRect">
            <a:avLst>
              <a:gd name="adj" fmla="val 476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void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56A8F5"/>
                </a:solidFill>
                <a:latin typeface="Consolas"/>
              </a:rPr>
              <a:t>setAnneeDeParution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annee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if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(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annee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&lt; </a:t>
            </a:r>
            <a:r>
              <a:rPr sz="1800" dirty="0">
                <a:solidFill>
                  <a:srgbClr val="2AACB8"/>
                </a:solidFill>
                <a:latin typeface="Consolas"/>
              </a:rPr>
              <a:t>0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throw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56A8F5"/>
                </a:solidFill>
                <a:latin typeface="Consolas"/>
              </a:rPr>
              <a:t>IllegalArgumentException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800" dirty="0">
                <a:solidFill>
                  <a:srgbClr val="6AAB73"/>
                </a:solidFill>
                <a:latin typeface="Consolas"/>
              </a:rPr>
              <a:t>"Annee </a:t>
            </a:r>
            <a:r>
              <a:rPr sz="1800" dirty="0" err="1">
                <a:solidFill>
                  <a:srgbClr val="6AAB73"/>
                </a:solidFill>
                <a:latin typeface="Consolas"/>
              </a:rPr>
              <a:t>invalide</a:t>
            </a:r>
            <a:r>
              <a:rPr sz="1800" dirty="0">
                <a:solidFill>
                  <a:srgbClr val="6AAB73"/>
                </a:solidFill>
                <a:latin typeface="Consolas"/>
              </a:rPr>
              <a:t> : "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+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annee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8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.anneeDeParution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annee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25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Un accesseur n'est pas une obligation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fr-BE" dirty="0"/>
              <a:t>Attention, g</a:t>
            </a:r>
            <a:r>
              <a:rPr lang="fr-BE" sz="2800" dirty="0"/>
              <a:t>énérer systématiquement un getter </a:t>
            </a:r>
            <a:r>
              <a:rPr lang="fr-BE" sz="2800" u="sng" dirty="0"/>
              <a:t>et</a:t>
            </a:r>
            <a:r>
              <a:rPr lang="fr-BE" sz="2800" dirty="0"/>
              <a:t> un setter par champ annule l'encapsulation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800" dirty="0"/>
              <a:t>Chaque accesseur doit avoir une raison d'être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800" dirty="0"/>
              <a:t>Un champ 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final</a:t>
            </a:r>
            <a:r>
              <a:rPr lang="fr-BE" sz="2800" dirty="0"/>
              <a:t> n'a pas de setter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800" dirty="0"/>
              <a:t>Voir </a:t>
            </a:r>
            <a:r>
              <a:rPr lang="fr-BE" sz="2800" dirty="0">
                <a:solidFill>
                  <a:schemeClr val="accent4"/>
                </a:solidFill>
                <a:latin typeface="Consolas"/>
              </a:rPr>
              <a:t>CC-OBJ.2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26</a:t>
            </a:fld>
            <a:endParaRPr lang="fr-FR"/>
          </a:p>
        </p:txBody>
      </p:sp>
      <p:sp>
        <p:nvSpPr>
          <p:cNvPr id="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La donnée qui n'existe 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179832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 dirty="0"/>
              <a:t>Un champ </a:t>
            </a:r>
            <a:r>
              <a:rPr sz="2800" dirty="0">
                <a:solidFill>
                  <a:schemeClr val="accent4"/>
                </a:solidFill>
                <a:latin typeface="Consolas"/>
              </a:rPr>
              <a:t>age</a:t>
            </a:r>
            <a:r>
              <a:rPr sz="2800" dirty="0"/>
              <a:t> se </a:t>
            </a:r>
            <a:r>
              <a:rPr sz="2800" dirty="0" err="1"/>
              <a:t>périme</a:t>
            </a:r>
            <a:r>
              <a:rPr sz="2800" dirty="0"/>
              <a:t> tout seul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Ce </a:t>
            </a:r>
            <a:r>
              <a:rPr sz="2800" dirty="0" err="1"/>
              <a:t>qu'on</a:t>
            </a:r>
            <a:r>
              <a:rPr sz="2800" dirty="0"/>
              <a:t> </a:t>
            </a:r>
            <a:r>
              <a:rPr sz="2800" dirty="0" err="1"/>
              <a:t>peut</a:t>
            </a:r>
            <a:r>
              <a:rPr sz="2800" dirty="0"/>
              <a:t> </a:t>
            </a:r>
            <a:r>
              <a:rPr sz="2800" dirty="0" err="1"/>
              <a:t>calculer</a:t>
            </a:r>
            <a:r>
              <a:rPr sz="2800" dirty="0"/>
              <a:t> </a:t>
            </a:r>
            <a:r>
              <a:rPr sz="2800" dirty="0" err="1"/>
              <a:t>n'a</a:t>
            </a:r>
            <a:r>
              <a:rPr sz="2800" dirty="0"/>
              <a:t> pas à </a:t>
            </a:r>
            <a:r>
              <a:rPr sz="2800" dirty="0" err="1"/>
              <a:t>être</a:t>
            </a:r>
            <a:r>
              <a:rPr sz="2800" dirty="0"/>
              <a:t> </a:t>
            </a:r>
            <a:r>
              <a:rPr sz="2800" dirty="0" err="1"/>
              <a:t>stocké</a:t>
            </a:r>
            <a:endParaRPr sz="2800" dirty="0"/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Une </a:t>
            </a:r>
            <a:r>
              <a:rPr sz="2800" dirty="0" err="1"/>
              <a:t>méthode</a:t>
            </a:r>
            <a:r>
              <a:rPr sz="2800" dirty="0"/>
              <a:t> </a:t>
            </a:r>
            <a:r>
              <a:rPr lang="nl-BE" sz="2800" dirty="0"/>
              <a:t>(de type getter) </a:t>
            </a:r>
            <a:r>
              <a:rPr sz="2800" dirty="0" err="1"/>
              <a:t>remplace</a:t>
            </a:r>
            <a:r>
              <a:rPr sz="2800" dirty="0"/>
              <a:t> le champ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2101850" y="3307080"/>
            <a:ext cx="7988300" cy="1097280"/>
          </a:xfrm>
          <a:prstGeom prst="roundRect">
            <a:avLst>
              <a:gd name="adj" fmla="val 833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56A8F5"/>
                </a:solidFill>
                <a:latin typeface="Consolas"/>
              </a:rPr>
              <a:t>getAge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800" dirty="0">
                <a:solidFill>
                  <a:srgbClr val="CF8E6D"/>
                </a:solidFill>
                <a:latin typeface="Consolas"/>
              </a:rPr>
              <a:t>return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LocalDate.</a:t>
            </a:r>
            <a:r>
              <a:rPr sz="1800" dirty="0" err="1">
                <a:solidFill>
                  <a:srgbClr val="56A8F5"/>
                </a:solidFill>
                <a:latin typeface="Consolas"/>
              </a:rPr>
              <a:t>now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().</a:t>
            </a:r>
            <a:r>
              <a:rPr sz="1800" dirty="0" err="1">
                <a:solidFill>
                  <a:srgbClr val="56A8F5"/>
                </a:solidFill>
                <a:latin typeface="Consolas"/>
              </a:rPr>
              <a:t>getYear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() -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anneeDeParution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27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28</a:t>
            </a:fld>
            <a:endParaRPr lang="fr-FR"/>
          </a:p>
        </p:txBody>
      </p:sp>
      <p:sp>
        <p:nvSpPr>
          <p:cNvPr id="1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3. Encapsulation</a:t>
            </a:r>
          </a:p>
        </p:txBody>
      </p:sp>
      <p:grpSp>
        <p:nvGrpSpPr>
          <p:cNvPr id="13" name="Exercice 1"/>
          <p:cNvGrpSpPr/>
          <p:nvPr/>
        </p:nvGrpSpPr>
        <p:grpSpPr>
          <a:xfrm>
            <a:off x="640080" y="1417320"/>
            <a:ext cx="9326880" cy="960120"/>
            <a:chOff x="640080" y="1417320"/>
            <a:chExt cx="9326880" cy="96012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POO.2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>
                  <a:solidFill>
                    <a:srgbClr val="FFFFFF"/>
                  </a:solidFill>
                </a:rPr>
                <a:t>La même classe, encapsulée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POO</a:t>
              </a:r>
            </a:p>
          </p:txBody>
        </p:sp>
      </p:grpSp>
      <p:grpSp>
        <p:nvGrpSpPr>
          <p:cNvPr id="14" name="Exercice 2"/>
          <p:cNvGrpSpPr/>
          <p:nvPr/>
        </p:nvGrpSpPr>
        <p:grpSpPr>
          <a:xfrm>
            <a:off x="640080" y="2560320"/>
            <a:ext cx="9326880" cy="2057399"/>
            <a:chOff x="640080" y="2560320"/>
            <a:chExt cx="9326880" cy="2057399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POO.3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400">
                  <a:solidFill>
                    <a:srgbClr val="FFFFFF"/>
                  </a:solidFill>
                </a:rPr>
                <a:t>L'âge n'est pas une donnée à stocker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POO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3794759"/>
              <a:ext cx="93268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/>
                <a:t>Générer les accesseurs : </a:t>
              </a:r>
              <a:r>
                <a:rPr sz="2400">
                  <a:solidFill>
                    <a:schemeClr val="accent4"/>
                  </a:solidFill>
                  <a:latin typeface="Consolas"/>
                </a:rPr>
                <a:t>IDE.12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2" descr="POO_section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6E67D6F-4081-D422-C6CB-C19C081D70B2}"/>
              </a:ext>
            </a:extLst>
          </p:cNvPr>
          <p:cNvSpPr txBox="1"/>
          <p:nvPr/>
        </p:nvSpPr>
        <p:spPr>
          <a:xfrm>
            <a:off x="838200" y="946800"/>
            <a:ext cx="4046220" cy="110520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4. </a:t>
            </a:r>
            <a:r>
              <a:rPr lang="fr-FR" sz="6000" b="1" dirty="0" err="1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endParaRPr lang="fr-FR" sz="1600" b="1" dirty="0">
              <a:ln w="0"/>
              <a:solidFill>
                <a:schemeClr val="accent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E09D59-0654-96B4-5F5D-3C14D00F9CC4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 = défini au niveau de la classe, pas pour chaque objet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Champs et méthodes de classe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BE" dirty="0"/>
              <a:t>Il est possible, en Java, de définir des champs qui, plutôt que d'exister dans chaque instance de la classe, existent en un seul exemplaire pour toutes les instances de la classe. </a:t>
            </a:r>
          </a:p>
          <a:p>
            <a:pPr marL="0" indent="0">
              <a:buNone/>
            </a:pPr>
            <a:r>
              <a:rPr lang="nl-BE" dirty="0"/>
              <a:t>On les appelle les </a:t>
            </a:r>
            <a:r>
              <a:rPr lang="nl-BE" dirty="0">
                <a:solidFill>
                  <a:schemeClr val="accent4"/>
                </a:solidFill>
              </a:rPr>
              <a:t>champs de classe</a:t>
            </a:r>
            <a:r>
              <a:rPr lang="nl-BE" dirty="0"/>
              <a:t>, ou </a:t>
            </a:r>
            <a:r>
              <a:rPr lang="nl-BE" dirty="0">
                <a:solidFill>
                  <a:schemeClr val="accent4"/>
                </a:solidFill>
              </a:rPr>
              <a:t>champs statiques</a:t>
            </a:r>
            <a:r>
              <a:rPr lang="nl-BE" dirty="0"/>
              <a:t>.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dirty="0"/>
              <a:t>On peut aussi définir des </a:t>
            </a:r>
            <a:r>
              <a:rPr lang="nl-BE" dirty="0">
                <a:solidFill>
                  <a:schemeClr val="accent4"/>
                </a:solidFill>
              </a:rPr>
              <a:t>méthodes de classe </a:t>
            </a:r>
            <a:r>
              <a:rPr lang="nl-BE" dirty="0"/>
              <a:t>(statiques), qui peuvent être appelées indépendamment de tout objet (donc sans nécessairement devoir créer d'objet).</a:t>
            </a:r>
          </a:p>
          <a:p>
            <a:pPr marL="0" indent="0">
              <a:buNone/>
            </a:pPr>
            <a:r>
              <a:rPr lang="nl-BE" dirty="0"/>
              <a:t>C'est le cas de la méthode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main()</a:t>
            </a:r>
            <a:r>
              <a:rPr lang="nl-BE" dirty="0"/>
              <a:t>, mais aussi des différentes méthodes rencontrées sur la classe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Math</a:t>
            </a:r>
            <a:r>
              <a:rPr lang="nl-BE" dirty="0"/>
              <a:t> (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Math.sqrt()</a:t>
            </a:r>
            <a:r>
              <a:rPr lang="nl-BE" dirty="0"/>
              <a:t>, par exemple).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4D91AEC-2027-5E2B-2E0F-806A242E2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30</a:t>
            </a:fld>
            <a:endParaRPr lang="fr-FR" dirty="0"/>
          </a:p>
        </p:txBody>
      </p:sp>
      <p:sp>
        <p:nvSpPr>
          <p:cNvPr id="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Champs d’objets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u="sng" dirty="0"/>
              <a:t>Premier exemple</a:t>
            </a:r>
          </a:p>
          <a:p>
            <a:pPr marL="0" indent="0">
              <a:buNone/>
            </a:pPr>
            <a:r>
              <a:rPr lang="nl-BE" dirty="0"/>
              <a:t>1. Soit une classe très simple:</a:t>
            </a:r>
          </a:p>
          <a:p>
            <a:pPr marL="0" indent="0" algn="ctr">
              <a:buNone/>
            </a:pP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class A { int n;  float y; }</a:t>
            </a:r>
          </a:p>
          <a:p>
            <a:pPr marL="0" indent="0">
              <a:buNone/>
            </a:pPr>
            <a:endParaRPr lang="nl-BE" sz="800" dirty="0"/>
          </a:p>
          <a:p>
            <a:pPr marL="0" indent="0">
              <a:buNone/>
            </a:pPr>
            <a:r>
              <a:rPr lang="nl-BE" dirty="0"/>
              <a:t>Chaque objet de type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A</a:t>
            </a:r>
            <a:r>
              <a:rPr lang="nl-BE" dirty="0"/>
              <a:t> possède ses propres champs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n</a:t>
            </a:r>
            <a:r>
              <a:rPr lang="nl-BE" dirty="0"/>
              <a:t> et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y</a:t>
            </a:r>
            <a:r>
              <a:rPr lang="nl-BE" dirty="0"/>
              <a:t>.</a:t>
            </a:r>
          </a:p>
          <a:p>
            <a:pPr marL="0" indent="0" algn="ctr">
              <a:buNone/>
            </a:pP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A a1 = new A();   A a2 = new A();</a:t>
            </a:r>
            <a:r>
              <a:rPr lang="nl-BE" dirty="0">
                <a:solidFill>
                  <a:srgbClr val="A6082B"/>
                </a:solidFill>
                <a:latin typeface="Consolas"/>
                <a:cs typeface="Consolas"/>
              </a:rPr>
              <a:t> </a:t>
            </a:r>
          </a:p>
          <a:p>
            <a:endParaRPr lang="nl-BE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109DA11D-EF83-0B11-F338-196CBC04E5FB}"/>
              </a:ext>
            </a:extLst>
          </p:cNvPr>
          <p:cNvGrpSpPr/>
          <p:nvPr/>
        </p:nvGrpSpPr>
        <p:grpSpPr>
          <a:xfrm>
            <a:off x="2497653" y="4840248"/>
            <a:ext cx="2990874" cy="1174262"/>
            <a:chOff x="2497653" y="4840248"/>
            <a:chExt cx="2990874" cy="1174262"/>
          </a:xfrm>
        </p:grpSpPr>
        <p:grpSp>
          <p:nvGrpSpPr>
            <p:cNvPr id="8" name="Grouper 7"/>
            <p:cNvGrpSpPr/>
            <p:nvPr/>
          </p:nvGrpSpPr>
          <p:grpSpPr>
            <a:xfrm>
              <a:off x="2497653" y="4840248"/>
              <a:ext cx="1844782" cy="1174262"/>
              <a:chOff x="5979669" y="4232389"/>
              <a:chExt cx="1844782" cy="1174262"/>
            </a:xfrm>
          </p:grpSpPr>
          <p:grpSp>
            <p:nvGrpSpPr>
              <p:cNvPr id="10" name="Group 15"/>
              <p:cNvGrpSpPr/>
              <p:nvPr/>
            </p:nvGrpSpPr>
            <p:grpSpPr>
              <a:xfrm>
                <a:off x="6026774" y="4232389"/>
                <a:ext cx="1797677" cy="1174262"/>
                <a:chOff x="1233809" y="2766600"/>
                <a:chExt cx="6410025" cy="3300635"/>
              </a:xfrm>
            </p:grpSpPr>
            <p:grpSp>
              <p:nvGrpSpPr>
                <p:cNvPr id="17" name="Group 5"/>
                <p:cNvGrpSpPr/>
                <p:nvPr/>
              </p:nvGrpSpPr>
              <p:grpSpPr>
                <a:xfrm>
                  <a:off x="1233809" y="2766600"/>
                  <a:ext cx="6410025" cy="1155222"/>
                  <a:chOff x="34" y="21882"/>
                  <a:chExt cx="3338191" cy="1155222"/>
                </a:xfrm>
                <a:scene3d>
                  <a:camera prst="orthographicFront"/>
                  <a:lightRig rig="chilly" dir="t"/>
                </a:scene3d>
              </p:grpSpPr>
              <p:sp>
                <p:nvSpPr>
                  <p:cNvPr id="19" name="Round Same Side Corner Rectangle 17"/>
                  <p:cNvSpPr/>
                  <p:nvPr/>
                </p:nvSpPr>
                <p:spPr>
                  <a:xfrm>
                    <a:off x="34" y="21882"/>
                    <a:ext cx="3338191" cy="1155222"/>
                  </a:xfrm>
                  <a:prstGeom prst="round2SameRect">
                    <a:avLst/>
                  </a:prstGeom>
                  <a:sp3d prstMaterial="translucentPowder">
                    <a:bevelT w="127000" h="25400" prst="softRound"/>
                  </a:sp3d>
                </p:spPr>
                <p:style>
                  <a:ln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:r>
                      <a:rPr lang="fr-FR" b="1" dirty="0">
                        <a:latin typeface="Consolas"/>
                        <a:cs typeface="Consolas"/>
                      </a:rPr>
                      <a:t>A a1</a:t>
                    </a:r>
                  </a:p>
                </p:txBody>
              </p:sp>
              <p:sp>
                <p:nvSpPr>
                  <p:cNvPr id="20" name="Round Same Side Corner Rectangle 4"/>
                  <p:cNvSpPr/>
                  <p:nvPr/>
                </p:nvSpPr>
                <p:spPr>
                  <a:xfrm>
                    <a:off x="32371" y="54217"/>
                    <a:ext cx="3273519" cy="1122887"/>
                  </a:xfrm>
                  <a:prstGeom prst="rect">
                    <a:avLst/>
                  </a:prstGeom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63576" tIns="93472" rIns="163576" bIns="93472" numCol="1" spcCol="1270" anchor="ctr" anchorCtr="0">
                    <a:noAutofit/>
                  </a:bodyPr>
                  <a:lstStyle/>
                  <a:p>
                    <a:pPr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fr-BE" sz="2300" b="1" dirty="0"/>
                  </a:p>
                </p:txBody>
              </p:sp>
            </p:grpSp>
            <p:sp>
              <p:nvSpPr>
                <p:cNvPr id="18" name="Rectangle 17"/>
                <p:cNvSpPr/>
                <p:nvPr/>
              </p:nvSpPr>
              <p:spPr>
                <a:xfrm>
                  <a:off x="1233809" y="3921822"/>
                  <a:ext cx="6410025" cy="2145413"/>
                </a:xfrm>
                <a:prstGeom prst="rect">
                  <a:avLst/>
                </a:prstGeom>
                <a:solidFill>
                  <a:schemeClr val="bg2">
                    <a:alpha val="90000"/>
                  </a:schemeClr>
                </a:solidFill>
                <a:scene3d>
                  <a:camera prst="orthographicFront"/>
                  <a:lightRig rig="chilly" dir="t"/>
                </a:scene3d>
                <a:sp3d extrusionH="1700" prstMaterial="dkEdge">
                  <a:bevelT w="25400" h="6350" prst="softRound"/>
                  <a:bevelB w="0" h="0" prst="convex"/>
                </a:sp3d>
              </p:spPr>
              <p:style>
                <a:ln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1" name="Rectangle 10"/>
              <p:cNvSpPr/>
              <p:nvPr/>
            </p:nvSpPr>
            <p:spPr>
              <a:xfrm>
                <a:off x="7058186" y="4803894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058186" y="5089645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223325" y="4688444"/>
                <a:ext cx="8464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BE" b="1" i="1" dirty="0">
                    <a:latin typeface="Consolas"/>
                    <a:cs typeface="Consolas"/>
                  </a:rPr>
                  <a:t>int</a:t>
                </a:r>
                <a:r>
                  <a:rPr lang="fr-BE" b="1" dirty="0">
                    <a:latin typeface="Consolas"/>
                    <a:cs typeface="Consolas"/>
                  </a:rPr>
                  <a:t> n</a:t>
                </a:r>
                <a:endParaRPr lang="fr-FR" dirty="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979669" y="4992730"/>
                <a:ext cx="1102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fr-BE" b="1" i="1" dirty="0">
                    <a:latin typeface="Consolas"/>
                    <a:cs typeface="Consolas"/>
                  </a:rPr>
                  <a:t>float</a:t>
                </a:r>
                <a:r>
                  <a:rPr lang="fr-BE" b="1" dirty="0">
                    <a:latin typeface="Consolas"/>
                    <a:cs typeface="Consolas"/>
                  </a:rPr>
                  <a:t> y</a:t>
                </a:r>
                <a:endParaRPr lang="fr-FR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7215221" y="4711534"/>
                <a:ext cx="3115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</a:t>
                </a:r>
                <a:endParaRPr lang="fr-FR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116775" y="501582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sz="1600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0.0</a:t>
                </a:r>
                <a:endParaRPr lang="fr-FR" sz="1600" dirty="0">
                  <a:solidFill>
                    <a:schemeClr val="accent4"/>
                  </a:solidFill>
                </a:endParaRPr>
              </a:p>
            </p:txBody>
          </p:sp>
        </p:grpSp>
        <p:sp>
          <p:nvSpPr>
            <p:cNvPr id="2" name="Rectangle 1"/>
            <p:cNvSpPr/>
            <p:nvPr/>
          </p:nvSpPr>
          <p:spPr>
            <a:xfrm>
              <a:off x="4778076" y="5336377"/>
              <a:ext cx="6923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a1.n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778076" y="5620207"/>
              <a:ext cx="7104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a1.y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4" name="Connecteur droit avec flèche 3"/>
            <p:cNvCxnSpPr>
              <a:stCxn id="2" idx="1"/>
              <a:endCxn id="11" idx="3"/>
            </p:cNvCxnSpPr>
            <p:nvPr/>
          </p:nvCxnSpPr>
          <p:spPr>
            <a:xfrm flipH="1" flipV="1">
              <a:off x="4219113" y="5518911"/>
              <a:ext cx="558963" cy="2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avec flèche 49"/>
            <p:cNvCxnSpPr>
              <a:stCxn id="34" idx="1"/>
              <a:endCxn id="12" idx="3"/>
            </p:cNvCxnSpPr>
            <p:nvPr/>
          </p:nvCxnSpPr>
          <p:spPr>
            <a:xfrm flipH="1" flipV="1">
              <a:off x="4219113" y="5804661"/>
              <a:ext cx="558963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5F2C8F19-7FC3-A73E-ECD2-D5E27F969304}"/>
              </a:ext>
            </a:extLst>
          </p:cNvPr>
          <p:cNvGrpSpPr/>
          <p:nvPr/>
        </p:nvGrpSpPr>
        <p:grpSpPr>
          <a:xfrm>
            <a:off x="6470809" y="4840248"/>
            <a:ext cx="2979551" cy="1174262"/>
            <a:chOff x="6470809" y="4840248"/>
            <a:chExt cx="2979551" cy="1174262"/>
          </a:xfrm>
        </p:grpSpPr>
        <p:sp>
          <p:nvSpPr>
            <p:cNvPr id="33" name="Rectangle 32"/>
            <p:cNvSpPr/>
            <p:nvPr/>
          </p:nvSpPr>
          <p:spPr>
            <a:xfrm>
              <a:off x="8739909" y="5336377"/>
              <a:ext cx="6923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a2.n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739909" y="5620207"/>
              <a:ext cx="7104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a2.y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grpSp>
          <p:nvGrpSpPr>
            <p:cNvPr id="36" name="Grouper 35"/>
            <p:cNvGrpSpPr/>
            <p:nvPr/>
          </p:nvGrpSpPr>
          <p:grpSpPr>
            <a:xfrm>
              <a:off x="6470809" y="4840248"/>
              <a:ext cx="1844782" cy="1174262"/>
              <a:chOff x="5979669" y="4232389"/>
              <a:chExt cx="1844782" cy="1174262"/>
            </a:xfrm>
          </p:grpSpPr>
          <p:grpSp>
            <p:nvGrpSpPr>
              <p:cNvPr id="37" name="Group 15"/>
              <p:cNvGrpSpPr/>
              <p:nvPr/>
            </p:nvGrpSpPr>
            <p:grpSpPr>
              <a:xfrm>
                <a:off x="6026774" y="4232389"/>
                <a:ext cx="1797677" cy="1174262"/>
                <a:chOff x="1233809" y="2766600"/>
                <a:chExt cx="6410025" cy="3300635"/>
              </a:xfrm>
            </p:grpSpPr>
            <p:grpSp>
              <p:nvGrpSpPr>
                <p:cNvPr id="44" name="Group 5"/>
                <p:cNvGrpSpPr/>
                <p:nvPr/>
              </p:nvGrpSpPr>
              <p:grpSpPr>
                <a:xfrm>
                  <a:off x="1233809" y="2766600"/>
                  <a:ext cx="6410025" cy="1155222"/>
                  <a:chOff x="34" y="21882"/>
                  <a:chExt cx="3338191" cy="1155222"/>
                </a:xfrm>
                <a:scene3d>
                  <a:camera prst="orthographicFront"/>
                  <a:lightRig rig="chilly" dir="t"/>
                </a:scene3d>
              </p:grpSpPr>
              <p:sp>
                <p:nvSpPr>
                  <p:cNvPr id="46" name="Round Same Side Corner Rectangle 17"/>
                  <p:cNvSpPr/>
                  <p:nvPr/>
                </p:nvSpPr>
                <p:spPr>
                  <a:xfrm>
                    <a:off x="34" y="21882"/>
                    <a:ext cx="3338191" cy="1155222"/>
                  </a:xfrm>
                  <a:prstGeom prst="round2SameRect">
                    <a:avLst/>
                  </a:prstGeom>
                  <a:sp3d prstMaterial="translucentPowder">
                    <a:bevelT w="127000" h="25400" prst="softRound"/>
                  </a:sp3d>
                </p:spPr>
                <p:style>
                  <a:ln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:r>
                      <a:rPr lang="fr-FR" b="1" dirty="0">
                        <a:latin typeface="Consolas"/>
                        <a:cs typeface="Consolas"/>
                      </a:rPr>
                      <a:t>A a2</a:t>
                    </a:r>
                  </a:p>
                </p:txBody>
              </p:sp>
              <p:sp>
                <p:nvSpPr>
                  <p:cNvPr id="47" name="Round Same Side Corner Rectangle 4"/>
                  <p:cNvSpPr/>
                  <p:nvPr/>
                </p:nvSpPr>
                <p:spPr>
                  <a:xfrm>
                    <a:off x="32371" y="54217"/>
                    <a:ext cx="3273519" cy="1122887"/>
                  </a:xfrm>
                  <a:prstGeom prst="rect">
                    <a:avLst/>
                  </a:prstGeom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63576" tIns="93472" rIns="163576" bIns="93472" numCol="1" spcCol="1270" anchor="ctr" anchorCtr="0">
                    <a:noAutofit/>
                  </a:bodyPr>
                  <a:lstStyle/>
                  <a:p>
                    <a:pPr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fr-BE" sz="2300" b="1" dirty="0"/>
                  </a:p>
                </p:txBody>
              </p:sp>
            </p:grpSp>
            <p:sp>
              <p:nvSpPr>
                <p:cNvPr id="45" name="Rectangle 44"/>
                <p:cNvSpPr/>
                <p:nvPr/>
              </p:nvSpPr>
              <p:spPr>
                <a:xfrm>
                  <a:off x="1233809" y="3921822"/>
                  <a:ext cx="6410025" cy="2145413"/>
                </a:xfrm>
                <a:prstGeom prst="rect">
                  <a:avLst/>
                </a:prstGeom>
                <a:solidFill>
                  <a:schemeClr val="bg2">
                    <a:alpha val="90000"/>
                  </a:schemeClr>
                </a:solidFill>
                <a:scene3d>
                  <a:camera prst="orthographicFront"/>
                  <a:lightRig rig="chilly" dir="t"/>
                </a:scene3d>
                <a:sp3d extrusionH="1700" prstMaterial="dkEdge">
                  <a:bevelT w="25400" h="6350" prst="softRound"/>
                  <a:bevelB w="0" h="0" prst="convex"/>
                </a:sp3d>
              </p:spPr>
              <p:style>
                <a:ln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38" name="Rectangle 37"/>
              <p:cNvSpPr/>
              <p:nvPr/>
            </p:nvSpPr>
            <p:spPr>
              <a:xfrm>
                <a:off x="7058186" y="4803894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058186" y="5089645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6223325" y="4688444"/>
                <a:ext cx="8464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BE" b="1" i="1" dirty="0">
                    <a:latin typeface="Consolas"/>
                    <a:cs typeface="Consolas"/>
                  </a:rPr>
                  <a:t>int</a:t>
                </a:r>
                <a:r>
                  <a:rPr lang="fr-BE" b="1" dirty="0">
                    <a:latin typeface="Consolas"/>
                    <a:cs typeface="Consolas"/>
                  </a:rPr>
                  <a:t> n</a:t>
                </a:r>
                <a:endParaRPr lang="fr-FR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979669" y="4992730"/>
                <a:ext cx="1102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fr-BE" b="1" i="1" dirty="0">
                    <a:latin typeface="Consolas"/>
                    <a:cs typeface="Consolas"/>
                  </a:rPr>
                  <a:t>float</a:t>
                </a:r>
                <a:r>
                  <a:rPr lang="fr-BE" b="1" dirty="0">
                    <a:latin typeface="Consolas"/>
                    <a:cs typeface="Consolas"/>
                  </a:rPr>
                  <a:t> y</a:t>
                </a:r>
                <a:endParaRPr lang="fr-FR" dirty="0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7215221" y="4711534"/>
                <a:ext cx="3115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</a:t>
                </a:r>
                <a:endParaRPr lang="fr-FR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7116775" y="501582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sz="1600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0.0</a:t>
                </a:r>
                <a:endParaRPr lang="fr-FR" sz="1600" dirty="0">
                  <a:solidFill>
                    <a:schemeClr val="accent4"/>
                  </a:solidFill>
                </a:endParaRPr>
              </a:p>
            </p:txBody>
          </p:sp>
        </p:grpSp>
        <p:cxnSp>
          <p:nvCxnSpPr>
            <p:cNvPr id="53" name="Connecteur droit avec flèche 52"/>
            <p:cNvCxnSpPr>
              <a:stCxn id="33" idx="1"/>
              <a:endCxn id="38" idx="3"/>
            </p:cNvCxnSpPr>
            <p:nvPr/>
          </p:nvCxnSpPr>
          <p:spPr>
            <a:xfrm flipH="1" flipV="1">
              <a:off x="8192268" y="5518911"/>
              <a:ext cx="547640" cy="2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eur droit avec flèche 53"/>
            <p:cNvCxnSpPr>
              <a:stCxn id="35" idx="1"/>
              <a:endCxn id="39" idx="3"/>
            </p:cNvCxnSpPr>
            <p:nvPr/>
          </p:nvCxnSpPr>
          <p:spPr>
            <a:xfrm flipH="1" flipV="1">
              <a:off x="8192268" y="5804661"/>
              <a:ext cx="547640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970EA3-4F1D-0DE2-2ECD-43CF6D7E7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31</a:t>
            </a:fld>
            <a:endParaRPr lang="fr-FR" dirty="0"/>
          </a:p>
        </p:txBody>
      </p:sp>
      <p:sp>
        <p:nvSpPr>
          <p:cNvPr id="5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Champ de classe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nl-BE" sz="2600" dirty="0"/>
              <a:t>Définissons une autre classe dans laquelle le premier champ est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static</a:t>
            </a:r>
            <a:r>
              <a:rPr lang="nl-BE" sz="2600" dirty="0"/>
              <a:t>:  </a:t>
            </a:r>
          </a:p>
          <a:p>
            <a:pPr marL="0" indent="0" algn="ctr">
              <a:buNone/>
            </a:pP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class B { </a:t>
            </a:r>
            <a:r>
              <a:rPr lang="nl-BE" sz="2400" b="1" dirty="0">
                <a:solidFill>
                  <a:schemeClr val="accent2"/>
                </a:solidFill>
                <a:latin typeface="Consolas"/>
                <a:cs typeface="Consolas"/>
              </a:rPr>
              <a:t>static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 int n;  float y;  }</a:t>
            </a:r>
            <a:r>
              <a:rPr lang="nl-BE" sz="2600" dirty="0">
                <a:solidFill>
                  <a:schemeClr val="accent4"/>
                </a:solidFill>
              </a:rPr>
              <a:t> </a:t>
            </a:r>
          </a:p>
          <a:p>
            <a:pPr marL="0" indent="0">
              <a:buNone/>
            </a:pPr>
            <a:r>
              <a:rPr lang="nl-BE" sz="2600" dirty="0"/>
              <a:t>Chaque objet de type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B</a:t>
            </a:r>
            <a:r>
              <a:rPr lang="nl-BE" sz="2600" dirty="0"/>
              <a:t> possède son propre champ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y</a:t>
            </a:r>
            <a:r>
              <a:rPr lang="nl-BE" sz="2600" dirty="0"/>
              <a:t>, mais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n</a:t>
            </a:r>
            <a:r>
              <a:rPr lang="nl-BE" sz="2600" dirty="0"/>
              <a:t> est maintenant commun (défini une seule fois pour toutes les instances de la classe). </a:t>
            </a:r>
          </a:p>
          <a:p>
            <a:pPr marL="0" indent="0" algn="ctr">
              <a:buNone/>
            </a:pP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B b1 = new B();   B b2 = new B();</a:t>
            </a:r>
            <a:r>
              <a:rPr lang="nl-BE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</a:p>
          <a:p>
            <a:endParaRPr lang="nl-BE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812ECAF5-1BA9-098E-E5DC-63FEA35D6FE9}"/>
              </a:ext>
            </a:extLst>
          </p:cNvPr>
          <p:cNvGrpSpPr/>
          <p:nvPr/>
        </p:nvGrpSpPr>
        <p:grpSpPr>
          <a:xfrm>
            <a:off x="2482154" y="5194010"/>
            <a:ext cx="3006373" cy="990247"/>
            <a:chOff x="2482154" y="5194010"/>
            <a:chExt cx="3006373" cy="990247"/>
          </a:xfrm>
        </p:grpSpPr>
        <p:grpSp>
          <p:nvGrpSpPr>
            <p:cNvPr id="8" name="Grouper 7"/>
            <p:cNvGrpSpPr/>
            <p:nvPr/>
          </p:nvGrpSpPr>
          <p:grpSpPr>
            <a:xfrm>
              <a:off x="2482154" y="5194010"/>
              <a:ext cx="1844782" cy="990247"/>
              <a:chOff x="5979669" y="4232389"/>
              <a:chExt cx="1844782" cy="990247"/>
            </a:xfrm>
          </p:grpSpPr>
          <p:grpSp>
            <p:nvGrpSpPr>
              <p:cNvPr id="10" name="Group 15"/>
              <p:cNvGrpSpPr/>
              <p:nvPr/>
            </p:nvGrpSpPr>
            <p:grpSpPr>
              <a:xfrm>
                <a:off x="6026774" y="4232389"/>
                <a:ext cx="1797677" cy="990247"/>
                <a:chOff x="1233809" y="2766600"/>
                <a:chExt cx="6410025" cy="2783402"/>
              </a:xfrm>
            </p:grpSpPr>
            <p:grpSp>
              <p:nvGrpSpPr>
                <p:cNvPr id="17" name="Group 5"/>
                <p:cNvGrpSpPr/>
                <p:nvPr/>
              </p:nvGrpSpPr>
              <p:grpSpPr>
                <a:xfrm>
                  <a:off x="1233809" y="2766600"/>
                  <a:ext cx="6410025" cy="1155222"/>
                  <a:chOff x="34" y="21882"/>
                  <a:chExt cx="3338191" cy="1155222"/>
                </a:xfrm>
                <a:scene3d>
                  <a:camera prst="orthographicFront"/>
                  <a:lightRig rig="chilly" dir="t"/>
                </a:scene3d>
              </p:grpSpPr>
              <p:sp>
                <p:nvSpPr>
                  <p:cNvPr id="19" name="Round Same Side Corner Rectangle 17"/>
                  <p:cNvSpPr/>
                  <p:nvPr/>
                </p:nvSpPr>
                <p:spPr>
                  <a:xfrm>
                    <a:off x="34" y="21882"/>
                    <a:ext cx="3338191" cy="1155222"/>
                  </a:xfrm>
                  <a:prstGeom prst="round2SameRect">
                    <a:avLst/>
                  </a:prstGeom>
                  <a:sp3d prstMaterial="translucentPowder">
                    <a:bevelT w="127000" h="25400" prst="softRound"/>
                  </a:sp3d>
                </p:spPr>
                <p:style>
                  <a:ln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:r>
                      <a:rPr lang="fr-FR" b="1" dirty="0">
                        <a:latin typeface="Consolas"/>
                        <a:cs typeface="Consolas"/>
                      </a:rPr>
                      <a:t>B b1</a:t>
                    </a:r>
                  </a:p>
                </p:txBody>
              </p:sp>
              <p:sp>
                <p:nvSpPr>
                  <p:cNvPr id="20" name="Round Same Side Corner Rectangle 4"/>
                  <p:cNvSpPr/>
                  <p:nvPr/>
                </p:nvSpPr>
                <p:spPr>
                  <a:xfrm>
                    <a:off x="32371" y="54217"/>
                    <a:ext cx="3273519" cy="1122887"/>
                  </a:xfrm>
                  <a:prstGeom prst="rect">
                    <a:avLst/>
                  </a:prstGeom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63576" tIns="93472" rIns="163576" bIns="93472" numCol="1" spcCol="1270" anchor="ctr" anchorCtr="0">
                    <a:noAutofit/>
                  </a:bodyPr>
                  <a:lstStyle/>
                  <a:p>
                    <a:pPr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fr-BE" sz="2300" b="1" dirty="0"/>
                  </a:p>
                </p:txBody>
              </p:sp>
            </p:grpSp>
            <p:sp>
              <p:nvSpPr>
                <p:cNvPr id="18" name="Rectangle 17"/>
                <p:cNvSpPr/>
                <p:nvPr/>
              </p:nvSpPr>
              <p:spPr>
                <a:xfrm>
                  <a:off x="1233809" y="3921823"/>
                  <a:ext cx="6410025" cy="1628179"/>
                </a:xfrm>
                <a:prstGeom prst="rect">
                  <a:avLst/>
                </a:prstGeom>
                <a:solidFill>
                  <a:schemeClr val="bg2">
                    <a:alpha val="90000"/>
                  </a:schemeClr>
                </a:solidFill>
                <a:scene3d>
                  <a:camera prst="orthographicFront"/>
                  <a:lightRig rig="chilly" dir="t"/>
                </a:scene3d>
                <a:sp3d extrusionH="1700" prstMaterial="dkEdge">
                  <a:bevelT w="25400" h="6350" prst="softRound"/>
                  <a:bevelB w="0" h="0" prst="convex"/>
                </a:sp3d>
              </p:spPr>
              <p:style>
                <a:ln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2" name="Rectangle 11"/>
              <p:cNvSpPr/>
              <p:nvPr/>
            </p:nvSpPr>
            <p:spPr>
              <a:xfrm>
                <a:off x="7058186" y="4816545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979669" y="4719630"/>
                <a:ext cx="1102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fr-BE" b="1" i="1" dirty="0">
                    <a:latin typeface="Consolas"/>
                    <a:cs typeface="Consolas"/>
                  </a:rPr>
                  <a:t>float</a:t>
                </a:r>
                <a:r>
                  <a:rPr lang="fr-BE" b="1" dirty="0">
                    <a:latin typeface="Consolas"/>
                    <a:cs typeface="Consolas"/>
                  </a:rPr>
                  <a:t> y</a:t>
                </a:r>
                <a:endParaRPr lang="fr-FR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7116775" y="474272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sz="1600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0.0</a:t>
                </a:r>
                <a:endParaRPr lang="fr-FR" sz="1600" dirty="0">
                  <a:solidFill>
                    <a:schemeClr val="accent4"/>
                  </a:solidFill>
                </a:endParaRPr>
              </a:p>
            </p:txBody>
          </p:sp>
        </p:grpSp>
        <p:sp>
          <p:nvSpPr>
            <p:cNvPr id="34" name="Rectangle 33"/>
            <p:cNvSpPr/>
            <p:nvPr/>
          </p:nvSpPr>
          <p:spPr>
            <a:xfrm>
              <a:off x="4778076" y="5700868"/>
              <a:ext cx="7104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b1.y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50" name="Connecteur droit avec flèche 49"/>
            <p:cNvCxnSpPr>
              <a:stCxn id="34" idx="1"/>
              <a:endCxn id="12" idx="3"/>
            </p:cNvCxnSpPr>
            <p:nvPr/>
          </p:nvCxnSpPr>
          <p:spPr>
            <a:xfrm flipH="1" flipV="1">
              <a:off x="4203613" y="5885322"/>
              <a:ext cx="574462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2E1621C8-6FE6-8DFC-F386-B767870AD2A0}"/>
              </a:ext>
            </a:extLst>
          </p:cNvPr>
          <p:cNvGrpSpPr/>
          <p:nvPr/>
        </p:nvGrpSpPr>
        <p:grpSpPr>
          <a:xfrm>
            <a:off x="6073538" y="4815856"/>
            <a:ext cx="2100744" cy="369332"/>
            <a:chOff x="6073538" y="4815856"/>
            <a:chExt cx="2100744" cy="369332"/>
          </a:xfrm>
        </p:grpSpPr>
        <p:sp>
          <p:nvSpPr>
            <p:cNvPr id="33" name="Rectangle 32"/>
            <p:cNvSpPr/>
            <p:nvPr/>
          </p:nvSpPr>
          <p:spPr>
            <a:xfrm>
              <a:off x="6593576" y="4815856"/>
              <a:ext cx="15807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b2.n ou B.n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53" name="Connecteur droit avec flèche 52"/>
            <p:cNvCxnSpPr>
              <a:stCxn id="33" idx="1"/>
              <a:endCxn id="56" idx="3"/>
            </p:cNvCxnSpPr>
            <p:nvPr/>
          </p:nvCxnSpPr>
          <p:spPr>
            <a:xfrm flipH="1" flipV="1">
              <a:off x="6073538" y="4998390"/>
              <a:ext cx="520038" cy="2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FE0650D7-743E-C42A-FDF7-FD42FB65C9E9}"/>
              </a:ext>
            </a:extLst>
          </p:cNvPr>
          <p:cNvGrpSpPr/>
          <p:nvPr/>
        </p:nvGrpSpPr>
        <p:grpSpPr>
          <a:xfrm>
            <a:off x="7332101" y="5194010"/>
            <a:ext cx="2979551" cy="990247"/>
            <a:chOff x="7332101" y="5194010"/>
            <a:chExt cx="2979551" cy="990247"/>
          </a:xfrm>
        </p:grpSpPr>
        <p:sp>
          <p:nvSpPr>
            <p:cNvPr id="35" name="Rectangle 34"/>
            <p:cNvSpPr/>
            <p:nvPr/>
          </p:nvSpPr>
          <p:spPr>
            <a:xfrm>
              <a:off x="9601201" y="5700868"/>
              <a:ext cx="7104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b2.y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grpSp>
          <p:nvGrpSpPr>
            <p:cNvPr id="36" name="Grouper 35"/>
            <p:cNvGrpSpPr/>
            <p:nvPr/>
          </p:nvGrpSpPr>
          <p:grpSpPr>
            <a:xfrm>
              <a:off x="7332101" y="5194010"/>
              <a:ext cx="1844782" cy="990247"/>
              <a:chOff x="5979669" y="4232389"/>
              <a:chExt cx="1844782" cy="990247"/>
            </a:xfrm>
          </p:grpSpPr>
          <p:grpSp>
            <p:nvGrpSpPr>
              <p:cNvPr id="37" name="Group 15"/>
              <p:cNvGrpSpPr/>
              <p:nvPr/>
            </p:nvGrpSpPr>
            <p:grpSpPr>
              <a:xfrm>
                <a:off x="6026774" y="4232389"/>
                <a:ext cx="1797677" cy="990247"/>
                <a:chOff x="1233809" y="2766600"/>
                <a:chExt cx="6410025" cy="2783403"/>
              </a:xfrm>
            </p:grpSpPr>
            <p:grpSp>
              <p:nvGrpSpPr>
                <p:cNvPr id="44" name="Group 5"/>
                <p:cNvGrpSpPr/>
                <p:nvPr/>
              </p:nvGrpSpPr>
              <p:grpSpPr>
                <a:xfrm>
                  <a:off x="1233809" y="2766600"/>
                  <a:ext cx="6410025" cy="1155222"/>
                  <a:chOff x="34" y="21882"/>
                  <a:chExt cx="3338191" cy="1155222"/>
                </a:xfrm>
                <a:scene3d>
                  <a:camera prst="orthographicFront"/>
                  <a:lightRig rig="chilly" dir="t"/>
                </a:scene3d>
              </p:grpSpPr>
              <p:sp>
                <p:nvSpPr>
                  <p:cNvPr id="46" name="Round Same Side Corner Rectangle 17"/>
                  <p:cNvSpPr/>
                  <p:nvPr/>
                </p:nvSpPr>
                <p:spPr>
                  <a:xfrm>
                    <a:off x="34" y="21882"/>
                    <a:ext cx="3338191" cy="1155222"/>
                  </a:xfrm>
                  <a:prstGeom prst="round2SameRect">
                    <a:avLst/>
                  </a:prstGeom>
                  <a:sp3d prstMaterial="translucentPowder">
                    <a:bevelT w="127000" h="25400" prst="softRound"/>
                  </a:sp3d>
                </p:spPr>
                <p:style>
                  <a:ln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:r>
                      <a:rPr lang="fr-FR" b="1" dirty="0">
                        <a:latin typeface="Consolas"/>
                        <a:cs typeface="Consolas"/>
                      </a:rPr>
                      <a:t>B b2</a:t>
                    </a:r>
                  </a:p>
                </p:txBody>
              </p:sp>
              <p:sp>
                <p:nvSpPr>
                  <p:cNvPr id="47" name="Round Same Side Corner Rectangle 4"/>
                  <p:cNvSpPr/>
                  <p:nvPr/>
                </p:nvSpPr>
                <p:spPr>
                  <a:xfrm>
                    <a:off x="32371" y="54217"/>
                    <a:ext cx="3273519" cy="1122887"/>
                  </a:xfrm>
                  <a:prstGeom prst="rect">
                    <a:avLst/>
                  </a:prstGeom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63576" tIns="93472" rIns="163576" bIns="93472" numCol="1" spcCol="1270" anchor="ctr" anchorCtr="0">
                    <a:noAutofit/>
                  </a:bodyPr>
                  <a:lstStyle/>
                  <a:p>
                    <a:pPr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:endParaRPr lang="fr-BE" sz="2300" b="1" dirty="0"/>
                  </a:p>
                </p:txBody>
              </p:sp>
            </p:grpSp>
            <p:sp>
              <p:nvSpPr>
                <p:cNvPr id="45" name="Rectangle 44"/>
                <p:cNvSpPr/>
                <p:nvPr/>
              </p:nvSpPr>
              <p:spPr>
                <a:xfrm>
                  <a:off x="1233809" y="3921823"/>
                  <a:ext cx="6410025" cy="1628180"/>
                </a:xfrm>
                <a:prstGeom prst="rect">
                  <a:avLst/>
                </a:prstGeom>
                <a:solidFill>
                  <a:schemeClr val="bg2">
                    <a:alpha val="90000"/>
                  </a:schemeClr>
                </a:solidFill>
                <a:scene3d>
                  <a:camera prst="orthographicFront"/>
                  <a:lightRig rig="chilly" dir="t"/>
                </a:scene3d>
                <a:sp3d extrusionH="1700" prstMaterial="dkEdge">
                  <a:bevelT w="25400" h="6350" prst="softRound"/>
                  <a:bevelB w="0" h="0" prst="convex"/>
                </a:sp3d>
              </p:spPr>
              <p:style>
                <a:ln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90000"/>
                    <a:tint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39" name="Rectangle 38"/>
              <p:cNvSpPr/>
              <p:nvPr/>
            </p:nvSpPr>
            <p:spPr>
              <a:xfrm>
                <a:off x="7058186" y="4816545"/>
                <a:ext cx="642942" cy="2143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1" algn="ctr"/>
                <a:endParaRPr lang="fr-BE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979669" y="4719630"/>
                <a:ext cx="11028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fr-BE" b="1" i="1" dirty="0">
                    <a:latin typeface="Consolas"/>
                    <a:cs typeface="Consolas"/>
                  </a:rPr>
                  <a:t>float</a:t>
                </a:r>
                <a:r>
                  <a:rPr lang="fr-BE" b="1" dirty="0">
                    <a:latin typeface="Consolas"/>
                    <a:cs typeface="Consolas"/>
                  </a:rPr>
                  <a:t> y</a:t>
                </a:r>
                <a:endParaRPr lang="fr-FR" dirty="0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7116775" y="4742720"/>
                <a:ext cx="52129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BE" sz="1600" dirty="0">
                    <a:solidFill>
                      <a:schemeClr val="accent4"/>
                    </a:solidFill>
                    <a:latin typeface="Consolas"/>
                    <a:cs typeface="Consolas"/>
                  </a:rPr>
                  <a:t>0.0</a:t>
                </a:r>
                <a:endParaRPr lang="fr-FR" sz="1600" dirty="0">
                  <a:solidFill>
                    <a:schemeClr val="accent4"/>
                  </a:solidFill>
                </a:endParaRPr>
              </a:p>
            </p:txBody>
          </p:sp>
        </p:grpSp>
        <p:cxnSp>
          <p:nvCxnSpPr>
            <p:cNvPr id="54" name="Connecteur droit avec flèche 53"/>
            <p:cNvCxnSpPr>
              <a:stCxn id="35" idx="1"/>
              <a:endCxn id="39" idx="3"/>
            </p:cNvCxnSpPr>
            <p:nvPr/>
          </p:nvCxnSpPr>
          <p:spPr>
            <a:xfrm flipH="1" flipV="1">
              <a:off x="9053560" y="5885322"/>
              <a:ext cx="547640" cy="2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5B54ABAB-D531-7899-D135-82CB41A614AF}"/>
              </a:ext>
            </a:extLst>
          </p:cNvPr>
          <p:cNvGrpSpPr/>
          <p:nvPr/>
        </p:nvGrpSpPr>
        <p:grpSpPr>
          <a:xfrm>
            <a:off x="3394416" y="4577461"/>
            <a:ext cx="2809018" cy="607727"/>
            <a:chOff x="3394416" y="4577461"/>
            <a:chExt cx="2809018" cy="607727"/>
          </a:xfrm>
        </p:grpSpPr>
        <p:sp>
          <p:nvSpPr>
            <p:cNvPr id="52" name="Rectangle 51"/>
            <p:cNvSpPr/>
            <p:nvPr/>
          </p:nvSpPr>
          <p:spPr>
            <a:xfrm>
              <a:off x="3394416" y="4815856"/>
              <a:ext cx="15807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b="1" dirty="0">
                  <a:solidFill>
                    <a:schemeClr val="accent4"/>
                  </a:solidFill>
                  <a:latin typeface="Consolas"/>
                  <a:cs typeface="Consolas"/>
                </a:rPr>
                <a:t>b1.n ou B.n</a:t>
              </a:r>
              <a:endParaRPr lang="fr-FR" b="1" dirty="0">
                <a:solidFill>
                  <a:schemeClr val="accent4"/>
                </a:solidFill>
                <a:latin typeface="Consolas"/>
                <a:cs typeface="Consolas"/>
              </a:endParaRPr>
            </a:p>
          </p:txBody>
        </p:sp>
        <p:cxnSp>
          <p:nvCxnSpPr>
            <p:cNvPr id="55" name="Connecteur droit avec flèche 54"/>
            <p:cNvCxnSpPr>
              <a:stCxn id="52" idx="3"/>
              <a:endCxn id="56" idx="1"/>
            </p:cNvCxnSpPr>
            <p:nvPr/>
          </p:nvCxnSpPr>
          <p:spPr>
            <a:xfrm flipV="1">
              <a:off x="4975122" y="4998390"/>
              <a:ext cx="455474" cy="2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5430596" y="4891232"/>
              <a:ext cx="642942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 algn="ctr"/>
              <a:endParaRPr lang="fr-BE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357028" y="4577461"/>
              <a:ext cx="8464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BE" b="1" i="1" dirty="0">
                  <a:latin typeface="Consolas"/>
                  <a:cs typeface="Consolas"/>
                </a:rPr>
                <a:t>int</a:t>
              </a:r>
              <a:r>
                <a:rPr lang="fr-BE" b="1" dirty="0">
                  <a:latin typeface="Consolas"/>
                  <a:cs typeface="Consolas"/>
                </a:rPr>
                <a:t> n</a:t>
              </a:r>
              <a:endParaRPr lang="fr-FR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587632" y="4798872"/>
              <a:ext cx="311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BE" dirty="0">
                  <a:solidFill>
                    <a:schemeClr val="accent4"/>
                  </a:solidFill>
                  <a:latin typeface="Consolas"/>
                  <a:cs typeface="Consolas"/>
                </a:rPr>
                <a:t>0</a:t>
              </a:r>
              <a:endParaRPr lang="fr-FR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771DD6-BE2E-C9AD-EB94-52065FB15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32</a:t>
            </a:fld>
            <a:endParaRPr lang="fr-FR" dirty="0"/>
          </a:p>
        </p:txBody>
      </p:sp>
      <p:sp>
        <p:nvSpPr>
          <p:cNvPr id="59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 err="1"/>
              <a:t>Nommer</a:t>
            </a:r>
            <a:r>
              <a:rPr sz="4000" dirty="0"/>
              <a:t> un champ de </a:t>
            </a:r>
            <a:r>
              <a:rPr sz="4000" dirty="0" err="1"/>
              <a:t>classe</a:t>
            </a:r>
            <a:endParaRPr sz="4000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l-BE" dirty="0"/>
              <a:t>Une fois que le champ est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static</a:t>
            </a:r>
            <a:r>
              <a:rPr lang="nl-BE" dirty="0"/>
              <a:t>, les notations</a:t>
            </a:r>
          </a:p>
          <a:p>
            <a:pPr marL="0" indent="0" algn="ctr">
              <a:buNone/>
            </a:pP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b1.n   b2.n </a:t>
            </a:r>
            <a:r>
              <a:rPr lang="nl-BE" dirty="0">
                <a:solidFill>
                  <a:srgbClr val="A6082B"/>
                </a:solidFill>
                <a:latin typeface="Consolas"/>
                <a:cs typeface="Consolas"/>
              </a:rPr>
              <a:t>  </a:t>
            </a:r>
          </a:p>
          <a:p>
            <a:pPr marL="0" indent="0">
              <a:buNone/>
            </a:pPr>
            <a:r>
              <a:rPr lang="nl-BE" dirty="0"/>
              <a:t>définissent le même champ, qui existe en fait </a:t>
            </a:r>
            <a:r>
              <a:rPr lang="nl-BE" dirty="0">
                <a:solidFill>
                  <a:schemeClr val="accent4"/>
                </a:solidFill>
              </a:rPr>
              <a:t>pour toutes les instances de la classe</a:t>
            </a:r>
            <a:r>
              <a:rPr lang="nl-BE" dirty="0"/>
              <a:t>.</a:t>
            </a:r>
          </a:p>
          <a:p>
            <a:pPr marL="0" indent="0">
              <a:buNone/>
            </a:pPr>
            <a:r>
              <a:rPr lang="nl-BE" dirty="0"/>
              <a:t>Il est dès lors préférable de le nommer</a:t>
            </a:r>
          </a:p>
          <a:p>
            <a:pPr marL="0" indent="0" algn="ctr">
              <a:buNone/>
            </a:pP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B.n</a:t>
            </a:r>
            <a:r>
              <a:rPr lang="nl-BE" dirty="0">
                <a:solidFill>
                  <a:srgbClr val="A6082B"/>
                </a:solidFill>
                <a:latin typeface="Consolas"/>
                <a:cs typeface="Consolas"/>
              </a:rPr>
              <a:t> </a:t>
            </a:r>
            <a:r>
              <a:rPr lang="nl-BE" sz="2600" dirty="0">
                <a:solidFill>
                  <a:srgbClr val="A6082B"/>
                </a:solidFill>
                <a:latin typeface="Consolas"/>
                <a:cs typeface="Consolas"/>
              </a:rPr>
              <a:t> </a:t>
            </a:r>
            <a:r>
              <a:rPr lang="nl-BE" sz="2600" dirty="0">
                <a:solidFill>
                  <a:srgbClr val="92D050"/>
                </a:solidFill>
                <a:latin typeface="Consolas"/>
                <a:cs typeface="Consolas"/>
              </a:rPr>
              <a:t>// le champ static n de la classe B</a:t>
            </a:r>
            <a:endParaRPr lang="nl-BE" sz="2600" dirty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nl-BE" sz="1600" dirty="0"/>
          </a:p>
          <a:p>
            <a:pPr marL="0" indent="0">
              <a:buNone/>
            </a:pPr>
            <a:r>
              <a:rPr lang="nl-BE" dirty="0"/>
              <a:t>Ces notations ne sont valables que si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n</a:t>
            </a:r>
            <a:r>
              <a:rPr lang="nl-BE" dirty="0"/>
              <a:t> est non privé. </a:t>
            </a:r>
          </a:p>
          <a:p>
            <a:pPr marL="0" indent="0">
              <a:buNone/>
            </a:pPr>
            <a:r>
              <a:rPr lang="nl-BE" dirty="0"/>
              <a:t>On peut cependant définir des champs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static</a:t>
            </a:r>
            <a:r>
              <a:rPr lang="nl-BE" dirty="0"/>
              <a:t> privés, qui sont alors accessibles via des méthodes de la classe.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spcAft>
                <a:spcPts val="1000"/>
              </a:spcAft>
              <a:buNone/>
            </a:pPr>
            <a:r>
              <a:rPr lang="nl-BE" dirty="0"/>
              <a:t>Et… depuis une méthode de </a:t>
            </a:r>
            <a:r>
              <a:rPr lang="nl-BE" sz="2600" dirty="0">
                <a:solidFill>
                  <a:schemeClr val="accent4"/>
                </a:solidFill>
                <a:latin typeface="Consolas"/>
                <a:cs typeface="Consolas"/>
              </a:rPr>
              <a:t>B</a:t>
            </a:r>
            <a:r>
              <a:rPr lang="nl-BE" dirty="0"/>
              <a:t>, le champ peut être nommé </a:t>
            </a:r>
            <a:r>
              <a:rPr lang="nl-BE" dirty="0">
                <a:solidFill>
                  <a:schemeClr val="accent4"/>
                </a:solidFill>
                <a:latin typeface="Consolas"/>
                <a:cs typeface="Consolas"/>
              </a:rPr>
              <a:t>n</a:t>
            </a:r>
            <a:r>
              <a:rPr lang="nl-BE" dirty="0"/>
              <a:t> (pas besoin d’écrire </a:t>
            </a:r>
            <a:r>
              <a:rPr lang="nl-BE" dirty="0">
                <a:solidFill>
                  <a:schemeClr val="accent4"/>
                </a:solidFill>
                <a:latin typeface="Consolas"/>
                <a:cs typeface="Consolas"/>
              </a:rPr>
              <a:t>B.n</a:t>
            </a:r>
            <a:r>
              <a:rPr lang="nl-BE" dirty="0"/>
              <a:t>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54FF416-8878-D865-5054-D80040098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33</a:t>
            </a:fld>
            <a:endParaRPr lang="fr-FR" dirty="0"/>
          </a:p>
        </p:txBody>
      </p:sp>
      <p:sp>
        <p:nvSpPr>
          <p:cNvPr id="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Démonstration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828800"/>
            <a:ext cx="9235440" cy="3291840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_dem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0240" y="25146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0" y="2103120"/>
            <a:ext cx="62179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chemeClr val="accent4"/>
                </a:solidFill>
              </a:rPr>
              <a:t>Démonstration</a:t>
            </a:r>
          </a:p>
          <a:p>
            <a:r>
              <a:rPr sz="3000">
                <a:solidFill>
                  <a:srgbClr val="FFFFFF"/>
                </a:solidFill>
              </a:rPr>
              <a:t>Ce qui appartient à la classe, ce qui appartient à l'objet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BCBEC4"/>
                </a:solidFill>
              </a:rPr>
              <a:t>Déroulé : Demo_STA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34</a:t>
            </a:fld>
            <a:endParaRPr lang="fr-FR"/>
          </a:p>
        </p:txBody>
      </p:sp>
      <p:sp>
        <p:nvSpPr>
          <p:cNvPr id="7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Un compteur d'instances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38912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 dirty="0"/>
              <a:t>Un champ </a:t>
            </a:r>
            <a:r>
              <a:rPr sz="2800" dirty="0" err="1"/>
              <a:t>statique</a:t>
            </a:r>
            <a:r>
              <a:rPr sz="2800" dirty="0"/>
              <a:t> compte les </a:t>
            </a:r>
            <a:r>
              <a:rPr sz="2800" dirty="0" err="1"/>
              <a:t>objets</a:t>
            </a:r>
            <a:r>
              <a:rPr sz="2800" dirty="0"/>
              <a:t> </a:t>
            </a:r>
            <a:r>
              <a:rPr sz="2800" dirty="0" err="1"/>
              <a:t>créés</a:t>
            </a:r>
            <a:endParaRPr sz="2800" dirty="0"/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Question : </a:t>
            </a:r>
            <a:r>
              <a:rPr sz="2800" dirty="0" err="1"/>
              <a:t>qu'affiche</a:t>
            </a:r>
            <a:r>
              <a:rPr sz="2800" dirty="0"/>
              <a:t> </a:t>
            </a:r>
            <a:r>
              <a:rPr sz="2800" dirty="0" err="1"/>
              <a:t>ce</a:t>
            </a:r>
            <a:r>
              <a:rPr sz="2800" dirty="0"/>
              <a:t> </a:t>
            </a:r>
            <a:r>
              <a:rPr sz="2800" dirty="0" err="1"/>
              <a:t>programme</a:t>
            </a:r>
            <a:r>
              <a:rPr sz="2800" dirty="0"/>
              <a:t> ?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749226" y="1371600"/>
            <a:ext cx="5887720" cy="4956048"/>
          </a:xfrm>
          <a:prstGeom prst="roundRect">
            <a:avLst>
              <a:gd name="adj" fmla="val 1845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CF8E6D"/>
                </a:solidFill>
                <a:latin typeface="Consolas"/>
              </a:rPr>
              <a:t>class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Ticket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static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crees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400" dirty="0">
                <a:solidFill>
                  <a:srgbClr val="2AACB8"/>
                </a:solidFill>
                <a:latin typeface="Consolas"/>
              </a:rPr>
              <a:t>0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56A8F5"/>
                </a:solidFill>
                <a:latin typeface="Consolas"/>
              </a:rPr>
              <a:t>Ticket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crees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++;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System.out.</a:t>
            </a:r>
            <a:r>
              <a:rPr sz="1400" dirty="0" err="1">
                <a:solidFill>
                  <a:srgbClr val="56A8F5"/>
                </a:solidFill>
                <a:latin typeface="Consolas"/>
              </a:rPr>
              <a:t>println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400" dirty="0">
                <a:solidFill>
                  <a:srgbClr val="6AAB73"/>
                </a:solidFill>
                <a:latin typeface="Consolas"/>
              </a:rPr>
              <a:t>"Ticket "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+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crees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+ </a:t>
            </a:r>
            <a:r>
              <a:rPr sz="1400" dirty="0">
                <a:solidFill>
                  <a:srgbClr val="6AAB73"/>
                </a:solidFill>
                <a:latin typeface="Consolas"/>
              </a:rPr>
              <a:t>" </a:t>
            </a:r>
            <a:r>
              <a:rPr sz="1400" dirty="0" err="1">
                <a:solidFill>
                  <a:srgbClr val="6AAB73"/>
                </a:solidFill>
                <a:latin typeface="Consolas"/>
              </a:rPr>
              <a:t>cree</a:t>
            </a:r>
            <a:r>
              <a:rPr sz="1400" dirty="0">
                <a:solidFill>
                  <a:srgbClr val="6AAB73"/>
                </a:solidFill>
                <a:latin typeface="Consolas"/>
              </a:rPr>
              <a:t>"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class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Programme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static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void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56A8F5"/>
                </a:solidFill>
                <a:latin typeface="Consolas"/>
              </a:rPr>
              <a:t>main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(String[]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args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Ticket a;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System.out.</a:t>
            </a:r>
            <a:r>
              <a:rPr sz="1400" dirty="0" err="1">
                <a:solidFill>
                  <a:srgbClr val="56A8F5"/>
                </a:solidFill>
                <a:latin typeface="Consolas"/>
              </a:rPr>
              <a:t>println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400" dirty="0">
                <a:solidFill>
                  <a:srgbClr val="6AAB73"/>
                </a:solidFill>
                <a:latin typeface="Consolas"/>
              </a:rPr>
              <a:t>"main 1"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a =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56A8F5"/>
                </a:solidFill>
                <a:latin typeface="Consolas"/>
              </a:rPr>
              <a:t>Ticket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System.out.</a:t>
            </a:r>
            <a:r>
              <a:rPr sz="1400" dirty="0" err="1">
                <a:solidFill>
                  <a:srgbClr val="56A8F5"/>
                </a:solidFill>
                <a:latin typeface="Consolas"/>
              </a:rPr>
              <a:t>println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400" dirty="0">
                <a:solidFill>
                  <a:srgbClr val="6AAB73"/>
                </a:solidFill>
                <a:latin typeface="Consolas"/>
              </a:rPr>
              <a:t>"main 2"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Ticket b;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System.out.</a:t>
            </a:r>
            <a:r>
              <a:rPr sz="1400" dirty="0" err="1">
                <a:solidFill>
                  <a:srgbClr val="56A8F5"/>
                </a:solidFill>
                <a:latin typeface="Consolas"/>
              </a:rPr>
              <a:t>println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400" dirty="0">
                <a:solidFill>
                  <a:srgbClr val="6AAB73"/>
                </a:solidFill>
                <a:latin typeface="Consolas"/>
              </a:rPr>
              <a:t>"main 3"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b =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56A8F5"/>
                </a:solidFill>
                <a:latin typeface="Consolas"/>
              </a:rPr>
              <a:t>Ticket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Ticket c = </a:t>
            </a:r>
            <a:r>
              <a:rPr sz="14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400" dirty="0">
                <a:solidFill>
                  <a:srgbClr val="56A8F5"/>
                </a:solidFill>
                <a:latin typeface="Consolas"/>
              </a:rPr>
              <a:t>Ticket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BCBEC4"/>
                </a:solidFill>
                <a:latin typeface="Consolas"/>
              </a:rPr>
              <a:t>System.out.</a:t>
            </a:r>
            <a:r>
              <a:rPr sz="1400" dirty="0" err="1">
                <a:solidFill>
                  <a:srgbClr val="56A8F5"/>
                </a:solidFill>
                <a:latin typeface="Consolas"/>
              </a:rPr>
              <a:t>println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400" dirty="0">
                <a:solidFill>
                  <a:srgbClr val="6AAB73"/>
                </a:solidFill>
                <a:latin typeface="Consolas"/>
              </a:rPr>
              <a:t>"main 4"</a:t>
            </a:r>
            <a:r>
              <a:rPr sz="14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35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Méthodes de classe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75488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fr-BE" sz="2800" dirty="0"/>
              <a:t>Elles ne dépendent d'aucun objet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800" dirty="0"/>
              <a:t>Elles s'appellent sur la classe : 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Math.sqrt(16)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800" dirty="0"/>
              <a:t>Il est possible d'appeler une méthode de classe sur un objet, mais c'est peu lisible et trompeur : à éviter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623560" y="1371600"/>
            <a:ext cx="5189220" cy="822959"/>
          </a:xfrm>
          <a:prstGeom prst="roundRect">
            <a:avLst>
              <a:gd name="adj" fmla="val 1111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racine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Math.</a:t>
            </a:r>
            <a:r>
              <a:rPr sz="1800" dirty="0" err="1">
                <a:solidFill>
                  <a:srgbClr val="56A8F5"/>
                </a:solidFill>
                <a:latin typeface="Consolas"/>
              </a:rPr>
              <a:t>sqrt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800" dirty="0">
                <a:solidFill>
                  <a:srgbClr val="2AACB8"/>
                </a:solidFill>
                <a:latin typeface="Consolas"/>
              </a:rPr>
              <a:t>16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CF8E6D"/>
                </a:solidFill>
                <a:latin typeface="Consolas"/>
              </a:rPr>
              <a:t>int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annee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 = </a:t>
            </a:r>
            <a:r>
              <a:rPr sz="1800" dirty="0" err="1">
                <a:solidFill>
                  <a:srgbClr val="BCBEC4"/>
                </a:solidFill>
                <a:latin typeface="Consolas"/>
              </a:rPr>
              <a:t>LocalDate.</a:t>
            </a:r>
            <a:r>
              <a:rPr sz="1800" dirty="0" err="1">
                <a:solidFill>
                  <a:srgbClr val="56A8F5"/>
                </a:solidFill>
                <a:latin typeface="Consolas"/>
              </a:rPr>
              <a:t>now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().</a:t>
            </a:r>
            <a:r>
              <a:rPr sz="1800" dirty="0" err="1">
                <a:solidFill>
                  <a:srgbClr val="56A8F5"/>
                </a:solidFill>
                <a:latin typeface="Consolas"/>
              </a:rPr>
              <a:t>getYear</a:t>
            </a:r>
            <a:r>
              <a:rPr sz="1800" dirty="0">
                <a:solidFill>
                  <a:srgbClr val="BCBEC4"/>
                </a:solidFill>
                <a:latin typeface="Consolas"/>
              </a:rPr>
              <a:t>();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36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Une </a:t>
            </a:r>
            <a:r>
              <a:rPr sz="4000" dirty="0" err="1"/>
              <a:t>méthode</a:t>
            </a:r>
            <a:r>
              <a:rPr sz="4000" dirty="0"/>
              <a:t> </a:t>
            </a:r>
            <a:r>
              <a:rPr sz="4000" dirty="0" err="1"/>
              <a:t>statique</a:t>
            </a:r>
            <a:r>
              <a:rPr sz="4000" dirty="0"/>
              <a:t> </a:t>
            </a:r>
            <a:r>
              <a:rPr sz="4000" dirty="0" err="1"/>
              <a:t>n'a</a:t>
            </a:r>
            <a:r>
              <a:rPr sz="4000" dirty="0"/>
              <a:t> pas de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endParaRPr sz="4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Espace réservé du contenu 1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Une méthode statique </a:t>
            </a:r>
            <a:r>
              <a:rPr lang="fr-FR" sz="2600" dirty="0">
                <a:solidFill>
                  <a:schemeClr val="accent4"/>
                </a:solidFill>
              </a:rPr>
              <a:t>ne peut pas faire référence à des </a:t>
            </a:r>
            <a:r>
              <a:rPr lang="fr-FR" sz="2600" dirty="0">
                <a:solidFill>
                  <a:schemeClr val="accent2"/>
                </a:solidFill>
              </a:rPr>
              <a:t>variables</a:t>
            </a:r>
            <a:r>
              <a:rPr lang="fr-FR" sz="2600" dirty="0">
                <a:solidFill>
                  <a:schemeClr val="accent4"/>
                </a:solidFill>
              </a:rPr>
              <a:t> ni des </a:t>
            </a:r>
            <a:r>
              <a:rPr lang="fr-FR" sz="2600" dirty="0">
                <a:solidFill>
                  <a:schemeClr val="accent2"/>
                </a:solidFill>
              </a:rPr>
              <a:t>méthodes</a:t>
            </a:r>
            <a:r>
              <a:rPr lang="fr-FR" sz="2600" dirty="0">
                <a:solidFill>
                  <a:schemeClr val="accent4"/>
                </a:solidFill>
              </a:rPr>
              <a:t> qui ne sont pas statiques</a:t>
            </a:r>
            <a:r>
              <a:rPr lang="fr-FR" sz="2600" dirty="0"/>
              <a:t>...</a:t>
            </a:r>
          </a:p>
          <a:p>
            <a:pPr marL="0" indent="0">
              <a:buNone/>
            </a:pPr>
            <a:r>
              <a:rPr lang="fr-FR" sz="2600" dirty="0"/>
              <a:t>En effet, essayons d'accéder à n, champ non statique, </a:t>
            </a:r>
            <a:r>
              <a:rPr lang="fr-FR" sz="2600" dirty="0">
                <a:solidFill>
                  <a:schemeClr val="accent4"/>
                </a:solidFill>
              </a:rPr>
              <a:t>depuis une méthode statique</a:t>
            </a:r>
            <a:r>
              <a:rPr lang="fr-FR" sz="2600" dirty="0"/>
              <a:t>, donc définie au niveau de la classe...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class C { </a:t>
            </a:r>
            <a:b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n = 0;</a:t>
            </a:r>
            <a:b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 public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static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void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fixer() { </a:t>
            </a:r>
            <a:r>
              <a:rPr lang="fr-FR" sz="2400" dirty="0">
                <a:solidFill>
                  <a:schemeClr val="accent2"/>
                </a:solidFill>
                <a:latin typeface="Consolas"/>
                <a:cs typeface="Consolas"/>
              </a:rPr>
              <a:t>n = 2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; }</a:t>
            </a:r>
            <a:b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}</a:t>
            </a:r>
            <a:endParaRPr lang="fr-FR" sz="2600" dirty="0">
              <a:solidFill>
                <a:schemeClr val="accent4"/>
              </a:solidFill>
              <a:latin typeface="Consolas"/>
              <a:cs typeface="Consolas"/>
            </a:endParaRPr>
          </a:p>
        </p:txBody>
      </p:sp>
      <p:grpSp>
        <p:nvGrpSpPr>
          <p:cNvPr id="27" name="Grouper 26"/>
          <p:cNvGrpSpPr/>
          <p:nvPr/>
        </p:nvGrpSpPr>
        <p:grpSpPr>
          <a:xfrm>
            <a:off x="7499826" y="5305223"/>
            <a:ext cx="1797677" cy="990247"/>
            <a:chOff x="6026774" y="4232389"/>
            <a:chExt cx="1797677" cy="990247"/>
          </a:xfrm>
        </p:grpSpPr>
        <p:grpSp>
          <p:nvGrpSpPr>
            <p:cNvPr id="28" name="Group 15"/>
            <p:cNvGrpSpPr/>
            <p:nvPr/>
          </p:nvGrpSpPr>
          <p:grpSpPr>
            <a:xfrm>
              <a:off x="6026774" y="4232389"/>
              <a:ext cx="1797677" cy="990247"/>
              <a:chOff x="1233809" y="2766600"/>
              <a:chExt cx="6410025" cy="2783402"/>
            </a:xfrm>
          </p:grpSpPr>
          <p:grpSp>
            <p:nvGrpSpPr>
              <p:cNvPr id="32" name="Group 5"/>
              <p:cNvGrpSpPr/>
              <p:nvPr/>
            </p:nvGrpSpPr>
            <p:grpSpPr>
              <a:xfrm>
                <a:off x="1233809" y="2766600"/>
                <a:ext cx="6410025" cy="1155222"/>
                <a:chOff x="34" y="21882"/>
                <a:chExt cx="3338191" cy="1155222"/>
              </a:xfrm>
              <a:scene3d>
                <a:camera prst="orthographicFront"/>
                <a:lightRig rig="chilly" dir="t"/>
              </a:scene3d>
            </p:grpSpPr>
            <p:sp>
              <p:nvSpPr>
                <p:cNvPr id="34" name="Round Same Side Corner Rectangle 17"/>
                <p:cNvSpPr/>
                <p:nvPr/>
              </p:nvSpPr>
              <p:spPr>
                <a:xfrm>
                  <a:off x="34" y="21882"/>
                  <a:ext cx="3338191" cy="1155222"/>
                </a:xfrm>
                <a:prstGeom prst="round2SameRect">
                  <a:avLst/>
                </a:prstGeom>
                <a:sp3d prstMaterial="translucentPowder">
                  <a:bevelT w="127000" h="25400" prst="softRound"/>
                </a:sp3d>
              </p:spPr>
              <p:style>
                <a:lnRef idx="1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:r>
                    <a:rPr lang="fr-FR" b="1" dirty="0">
                      <a:latin typeface="Consolas"/>
                      <a:cs typeface="Consolas"/>
                    </a:rPr>
                    <a:t>C c3</a:t>
                  </a:r>
                </a:p>
              </p:txBody>
            </p:sp>
            <p:sp>
              <p:nvSpPr>
                <p:cNvPr id="35" name="Round Same Side Corner Rectangle 4"/>
                <p:cNvSpPr/>
                <p:nvPr/>
              </p:nvSpPr>
              <p:spPr>
                <a:xfrm>
                  <a:off x="32371" y="54217"/>
                  <a:ext cx="3273519" cy="1122887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63576" tIns="93472" rIns="163576" bIns="93472" numCol="1" spcCol="1270" anchor="ctr" anchorCtr="0">
                  <a:noAutofit/>
                </a:bodyPr>
                <a:lstStyle/>
                <a:p>
                  <a:pPr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fr-BE" sz="2300" b="1" dirty="0"/>
                </a:p>
              </p:txBody>
            </p:sp>
          </p:grpSp>
          <p:sp>
            <p:nvSpPr>
              <p:cNvPr id="33" name="Rectangle 32"/>
              <p:cNvSpPr/>
              <p:nvPr/>
            </p:nvSpPr>
            <p:spPr>
              <a:xfrm>
                <a:off x="1233809" y="3921823"/>
                <a:ext cx="6410025" cy="1628179"/>
              </a:xfrm>
              <a:prstGeom prst="rect">
                <a:avLst/>
              </a:prstGeom>
              <a:solidFill>
                <a:schemeClr val="bg2">
                  <a:alpha val="90000"/>
                </a:schemeClr>
              </a:solidFill>
              <a:scene3d>
                <a:camera prst="orthographicFront"/>
                <a:lightRig rig="chilly" dir="t"/>
              </a:scene3d>
              <a:sp3d extrusionH="1700" prstMaterial="dkEdge">
                <a:bevelT w="25400" h="6350" prst="softRound"/>
                <a:bevelB w="0" h="0" prst="convex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058186" y="4816545"/>
              <a:ext cx="642942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 algn="ctr"/>
              <a:endParaRPr lang="fr-BE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264703" y="4719630"/>
              <a:ext cx="8178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BE" b="1" i="1" dirty="0">
                  <a:latin typeface="Consolas"/>
                  <a:cs typeface="Consolas"/>
                </a:rPr>
                <a:t>int </a:t>
              </a:r>
              <a:r>
                <a:rPr lang="fr-BE" b="1" dirty="0">
                  <a:latin typeface="Consolas"/>
                  <a:cs typeface="Consolas"/>
                </a:rPr>
                <a:t>n</a:t>
              </a:r>
              <a:endParaRPr lang="fr-FR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228684" y="4742720"/>
              <a:ext cx="2974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BE" sz="1600" dirty="0">
                  <a:solidFill>
                    <a:schemeClr val="accent4"/>
                  </a:solidFill>
                  <a:latin typeface="Consolas"/>
                  <a:cs typeface="Consolas"/>
                </a:rPr>
                <a:t>0</a:t>
              </a:r>
              <a:endParaRPr lang="fr-FR" sz="160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6333551" y="3918849"/>
            <a:ext cx="929494" cy="31405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en arc 35"/>
          <p:cNvCxnSpPr>
            <a:cxnSpLocks/>
          </p:cNvCxnSpPr>
          <p:nvPr/>
        </p:nvCxnSpPr>
        <p:spPr>
          <a:xfrm rot="5400000">
            <a:off x="5909638" y="4895258"/>
            <a:ext cx="1272162" cy="169878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er 5"/>
          <p:cNvGrpSpPr/>
          <p:nvPr/>
        </p:nvGrpSpPr>
        <p:grpSpPr>
          <a:xfrm>
            <a:off x="2529260" y="5305223"/>
            <a:ext cx="1797677" cy="990247"/>
            <a:chOff x="6026774" y="4232389"/>
            <a:chExt cx="1797677" cy="990247"/>
          </a:xfrm>
        </p:grpSpPr>
        <p:grpSp>
          <p:nvGrpSpPr>
            <p:cNvPr id="8" name="Group 15"/>
            <p:cNvGrpSpPr/>
            <p:nvPr/>
          </p:nvGrpSpPr>
          <p:grpSpPr>
            <a:xfrm>
              <a:off x="6026774" y="4232389"/>
              <a:ext cx="1797677" cy="990247"/>
              <a:chOff x="1233809" y="2766600"/>
              <a:chExt cx="6410025" cy="2783402"/>
            </a:xfrm>
          </p:grpSpPr>
          <p:grpSp>
            <p:nvGrpSpPr>
              <p:cNvPr id="13" name="Group 5"/>
              <p:cNvGrpSpPr/>
              <p:nvPr/>
            </p:nvGrpSpPr>
            <p:grpSpPr>
              <a:xfrm>
                <a:off x="1233809" y="2766600"/>
                <a:ext cx="6410025" cy="1155222"/>
                <a:chOff x="34" y="21882"/>
                <a:chExt cx="3338191" cy="1155222"/>
              </a:xfrm>
              <a:scene3d>
                <a:camera prst="orthographicFront"/>
                <a:lightRig rig="chilly" dir="t"/>
              </a:scene3d>
            </p:grpSpPr>
            <p:sp>
              <p:nvSpPr>
                <p:cNvPr id="15" name="Round Same Side Corner Rectangle 17"/>
                <p:cNvSpPr/>
                <p:nvPr/>
              </p:nvSpPr>
              <p:spPr>
                <a:xfrm>
                  <a:off x="34" y="21882"/>
                  <a:ext cx="3338191" cy="1155222"/>
                </a:xfrm>
                <a:prstGeom prst="round2SameRect">
                  <a:avLst/>
                </a:prstGeom>
                <a:sp3d prstMaterial="translucentPowder">
                  <a:bevelT w="127000" h="25400" prst="softRound"/>
                </a:sp3d>
              </p:spPr>
              <p:style>
                <a:lnRef idx="1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:r>
                    <a:rPr lang="fr-FR" b="1" dirty="0">
                      <a:latin typeface="Consolas"/>
                      <a:cs typeface="Consolas"/>
                    </a:rPr>
                    <a:t>C c1</a:t>
                  </a:r>
                </a:p>
              </p:txBody>
            </p:sp>
            <p:sp>
              <p:nvSpPr>
                <p:cNvPr id="16" name="Round Same Side Corner Rectangle 4"/>
                <p:cNvSpPr/>
                <p:nvPr/>
              </p:nvSpPr>
              <p:spPr>
                <a:xfrm>
                  <a:off x="32371" y="54217"/>
                  <a:ext cx="3273519" cy="1122887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63576" tIns="93472" rIns="163576" bIns="93472" numCol="1" spcCol="1270" anchor="ctr" anchorCtr="0">
                  <a:noAutofit/>
                </a:bodyPr>
                <a:lstStyle/>
                <a:p>
                  <a:pPr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fr-BE" sz="2300" b="1" dirty="0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1233809" y="3921823"/>
                <a:ext cx="6410025" cy="1628179"/>
              </a:xfrm>
              <a:prstGeom prst="rect">
                <a:avLst/>
              </a:prstGeom>
              <a:solidFill>
                <a:schemeClr val="bg2">
                  <a:alpha val="90000"/>
                </a:schemeClr>
              </a:solidFill>
              <a:scene3d>
                <a:camera prst="orthographicFront"/>
                <a:lightRig rig="chilly" dir="t"/>
              </a:scene3d>
              <a:sp3d extrusionH="1700" prstMaterial="dkEdge">
                <a:bevelT w="25400" h="6350" prst="softRound"/>
                <a:bevelB w="0" h="0" prst="convex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7058186" y="4816545"/>
              <a:ext cx="642942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 algn="ctr"/>
              <a:endParaRPr lang="fr-BE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64703" y="4719630"/>
              <a:ext cx="8178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BE" b="1" i="1" dirty="0">
                  <a:latin typeface="Consolas"/>
                  <a:cs typeface="Consolas"/>
                </a:rPr>
                <a:t>int </a:t>
              </a:r>
              <a:r>
                <a:rPr lang="fr-BE" b="1" dirty="0">
                  <a:latin typeface="Consolas"/>
                  <a:cs typeface="Consolas"/>
                </a:rPr>
                <a:t>n</a:t>
              </a:r>
              <a:endParaRPr lang="fr-FR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228684" y="4742720"/>
              <a:ext cx="2974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BE" sz="1600" dirty="0">
                  <a:solidFill>
                    <a:schemeClr val="accent4"/>
                  </a:solidFill>
                  <a:latin typeface="Consolas"/>
                  <a:cs typeface="Consolas"/>
                </a:rPr>
                <a:t>0</a:t>
              </a:r>
              <a:endParaRPr lang="fr-FR" sz="160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7569325" y="4681526"/>
            <a:ext cx="14537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err="1">
                <a:solidFill>
                  <a:schemeClr val="accent4"/>
                </a:solidFill>
                <a:latin typeface="Consolas"/>
                <a:cs typeface="Consolas"/>
              </a:rPr>
              <a:t>C.fixer</a:t>
            </a:r>
            <a:r>
              <a:rPr lang="fr-FR" sz="2000" b="1" dirty="0">
                <a:solidFill>
                  <a:schemeClr val="accent4"/>
                </a:solidFill>
                <a:latin typeface="Consolas"/>
                <a:cs typeface="Consolas"/>
              </a:rPr>
              <a:t>();</a:t>
            </a:r>
            <a:endParaRPr lang="fr-FR" sz="2000" b="1" dirty="0">
              <a:solidFill>
                <a:schemeClr val="accent4"/>
              </a:solidFill>
            </a:endParaRPr>
          </a:p>
        </p:txBody>
      </p:sp>
      <p:grpSp>
        <p:nvGrpSpPr>
          <p:cNvPr id="18" name="Grouper 17"/>
          <p:cNvGrpSpPr/>
          <p:nvPr/>
        </p:nvGrpSpPr>
        <p:grpSpPr>
          <a:xfrm>
            <a:off x="5014543" y="5305223"/>
            <a:ext cx="1797677" cy="990247"/>
            <a:chOff x="6026774" y="4232389"/>
            <a:chExt cx="1797677" cy="990247"/>
          </a:xfrm>
        </p:grpSpPr>
        <p:grpSp>
          <p:nvGrpSpPr>
            <p:cNvPr id="19" name="Group 15"/>
            <p:cNvGrpSpPr/>
            <p:nvPr/>
          </p:nvGrpSpPr>
          <p:grpSpPr>
            <a:xfrm>
              <a:off x="6026774" y="4232389"/>
              <a:ext cx="1797677" cy="990247"/>
              <a:chOff x="1233809" y="2766600"/>
              <a:chExt cx="6410025" cy="2783402"/>
            </a:xfrm>
          </p:grpSpPr>
          <p:grpSp>
            <p:nvGrpSpPr>
              <p:cNvPr id="23" name="Group 5"/>
              <p:cNvGrpSpPr/>
              <p:nvPr/>
            </p:nvGrpSpPr>
            <p:grpSpPr>
              <a:xfrm>
                <a:off x="1233809" y="2766600"/>
                <a:ext cx="6410025" cy="1155222"/>
                <a:chOff x="34" y="21882"/>
                <a:chExt cx="3338191" cy="1155222"/>
              </a:xfrm>
              <a:scene3d>
                <a:camera prst="orthographicFront"/>
                <a:lightRig rig="chilly" dir="t"/>
              </a:scene3d>
            </p:grpSpPr>
            <p:sp>
              <p:nvSpPr>
                <p:cNvPr id="25" name="Round Same Side Corner Rectangle 17"/>
                <p:cNvSpPr/>
                <p:nvPr/>
              </p:nvSpPr>
              <p:spPr>
                <a:xfrm>
                  <a:off x="34" y="21882"/>
                  <a:ext cx="3338191" cy="1155222"/>
                </a:xfrm>
                <a:prstGeom prst="round2SameRect">
                  <a:avLst/>
                </a:prstGeom>
                <a:sp3d prstMaterial="translucentPowder">
                  <a:bevelT w="127000" h="25400" prst="softRound"/>
                </a:sp3d>
              </p:spPr>
              <p:style>
                <a:lnRef idx="1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:r>
                    <a:rPr lang="fr-FR" b="1" dirty="0">
                      <a:latin typeface="Consolas"/>
                      <a:cs typeface="Consolas"/>
                    </a:rPr>
                    <a:t>C c2</a:t>
                  </a:r>
                </a:p>
              </p:txBody>
            </p:sp>
            <p:sp>
              <p:nvSpPr>
                <p:cNvPr id="26" name="Round Same Side Corner Rectangle 4"/>
                <p:cNvSpPr/>
                <p:nvPr/>
              </p:nvSpPr>
              <p:spPr>
                <a:xfrm>
                  <a:off x="32371" y="54217"/>
                  <a:ext cx="3273519" cy="1122887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63576" tIns="93472" rIns="163576" bIns="93472" numCol="1" spcCol="1270" anchor="ctr" anchorCtr="0">
                  <a:noAutofit/>
                </a:bodyPr>
                <a:lstStyle/>
                <a:p>
                  <a:pPr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fr-BE" sz="2300" b="1" dirty="0"/>
                </a:p>
              </p:txBody>
            </p:sp>
          </p:grpSp>
          <p:sp>
            <p:nvSpPr>
              <p:cNvPr id="24" name="Rectangle 23"/>
              <p:cNvSpPr/>
              <p:nvPr/>
            </p:nvSpPr>
            <p:spPr>
              <a:xfrm>
                <a:off x="1233809" y="3921823"/>
                <a:ext cx="6410025" cy="1628179"/>
              </a:xfrm>
              <a:prstGeom prst="rect">
                <a:avLst/>
              </a:prstGeom>
              <a:solidFill>
                <a:schemeClr val="bg2">
                  <a:alpha val="90000"/>
                </a:schemeClr>
              </a:solidFill>
              <a:scene3d>
                <a:camera prst="orthographicFront"/>
                <a:lightRig rig="chilly" dir="t"/>
              </a:scene3d>
              <a:sp3d extrusionH="1700" prstMaterial="dkEdge">
                <a:bevelT w="25400" h="6350" prst="softRound"/>
                <a:bevelB w="0" h="0" prst="convex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" name="Rectangle 19"/>
            <p:cNvSpPr/>
            <p:nvPr/>
          </p:nvSpPr>
          <p:spPr>
            <a:xfrm>
              <a:off x="7058186" y="4816545"/>
              <a:ext cx="642942" cy="2143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1" algn="ctr"/>
              <a:endParaRPr lang="fr-BE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264703" y="4719630"/>
              <a:ext cx="8178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fr-BE" b="1" i="1" dirty="0">
                  <a:latin typeface="Consolas"/>
                  <a:cs typeface="Consolas"/>
                </a:rPr>
                <a:t>int </a:t>
              </a:r>
              <a:r>
                <a:rPr lang="fr-BE" b="1" dirty="0">
                  <a:latin typeface="Consolas"/>
                  <a:cs typeface="Consolas"/>
                </a:rPr>
                <a:t>n</a:t>
              </a:r>
              <a:endParaRPr lang="fr-FR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228684" y="4742720"/>
              <a:ext cx="2974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fr-BE" sz="1600" dirty="0">
                  <a:solidFill>
                    <a:schemeClr val="accent4"/>
                  </a:solidFill>
                  <a:latin typeface="Consolas"/>
                  <a:cs typeface="Consolas"/>
                </a:rPr>
                <a:t>0</a:t>
              </a:r>
              <a:endParaRPr lang="fr-FR" sz="160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75A13DE9-5B2F-3CC9-C7E8-312787E1B348}"/>
              </a:ext>
            </a:extLst>
          </p:cNvPr>
          <p:cNvGrpSpPr/>
          <p:nvPr/>
        </p:nvGrpSpPr>
        <p:grpSpPr>
          <a:xfrm>
            <a:off x="4203614" y="4518908"/>
            <a:ext cx="7518967" cy="1477628"/>
            <a:chOff x="4203614" y="4518908"/>
            <a:chExt cx="7518967" cy="1477628"/>
          </a:xfrm>
        </p:grpSpPr>
        <p:cxnSp>
          <p:nvCxnSpPr>
            <p:cNvPr id="37" name="Connecteur en arc 36"/>
            <p:cNvCxnSpPr>
              <a:cxnSpLocks/>
              <a:endCxn id="29" idx="1"/>
            </p:cNvCxnSpPr>
            <p:nvPr/>
          </p:nvCxnSpPr>
          <p:spPr>
            <a:xfrm>
              <a:off x="6137074" y="4518909"/>
              <a:ext cx="2394164" cy="1477627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en arc 37"/>
            <p:cNvCxnSpPr>
              <a:cxnSpLocks/>
              <a:endCxn id="10" idx="3"/>
            </p:cNvCxnSpPr>
            <p:nvPr/>
          </p:nvCxnSpPr>
          <p:spPr>
            <a:xfrm rot="10800000" flipV="1">
              <a:off x="4203614" y="4518908"/>
              <a:ext cx="1933460" cy="1477627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/>
            <p:cNvSpPr/>
            <p:nvPr/>
          </p:nvSpPr>
          <p:spPr>
            <a:xfrm>
              <a:off x="9418745" y="4684169"/>
              <a:ext cx="2303836" cy="400110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fr-FR" sz="2000" b="1" dirty="0">
                  <a:solidFill>
                    <a:schemeClr val="accent4"/>
                  </a:solidFill>
                  <a:latin typeface="Consolas"/>
                  <a:cs typeface="Consolas"/>
                </a:rPr>
                <a:t>n</a:t>
              </a:r>
              <a:r>
                <a:rPr lang="fr-FR" sz="2000" b="1" dirty="0"/>
                <a:t>, oui, mais lequel?</a:t>
              </a:r>
            </a:p>
          </p:txBody>
        </p:sp>
        <p:cxnSp>
          <p:nvCxnSpPr>
            <p:cNvPr id="51" name="Connecteur droit avec flèche 50"/>
            <p:cNvCxnSpPr/>
            <p:nvPr/>
          </p:nvCxnSpPr>
          <p:spPr>
            <a:xfrm>
              <a:off x="9120627" y="4908892"/>
              <a:ext cx="298119" cy="2643"/>
            </a:xfrm>
            <a:prstGeom prst="straightConnector1">
              <a:avLst/>
            </a:prstGeom>
            <a:ln w="38100" cmpd="dbl"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Connecteur en arc 1">
              <a:extLst>
                <a:ext uri="{FF2B5EF4-FFF2-40B4-BE49-F238E27FC236}">
                  <a16:creationId xmlns:a16="http://schemas.microsoft.com/office/drawing/2014/main" id="{38F613D7-6801-265A-FD5F-6D05BE80905C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rot="16200000" flipH="1">
              <a:off x="5592306" y="5042668"/>
              <a:ext cx="1296644" cy="249128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rgbClr val="FFC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73ACB62B-D673-94DB-CD89-4902AB6C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37</a:t>
            </a:fld>
            <a:endParaRPr lang="fr-FR" dirty="0"/>
          </a:p>
        </p:txBody>
      </p:sp>
      <p:sp>
        <p:nvSpPr>
          <p:cNvPr id="5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Les constantes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35204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400" dirty="0">
                <a:solidFill>
                  <a:schemeClr val="accent4"/>
                </a:solidFill>
                <a:latin typeface="Consolas"/>
              </a:rPr>
              <a:t>static</a:t>
            </a:r>
            <a:r>
              <a:rPr sz="2800" dirty="0"/>
              <a:t> : </a:t>
            </a:r>
            <a:r>
              <a:rPr sz="2800" dirty="0" err="1"/>
              <a:t>une</a:t>
            </a:r>
            <a:r>
              <a:rPr sz="2800" dirty="0"/>
              <a:t> </a:t>
            </a:r>
            <a:r>
              <a:rPr sz="2800" dirty="0" err="1"/>
              <a:t>seule</a:t>
            </a:r>
            <a:r>
              <a:rPr sz="2800" dirty="0"/>
              <a:t> </a:t>
            </a:r>
            <a:r>
              <a:rPr sz="2800" dirty="0" err="1"/>
              <a:t>valeur</a:t>
            </a:r>
            <a:r>
              <a:rPr sz="2800" dirty="0"/>
              <a:t>, </a:t>
            </a:r>
            <a:r>
              <a:rPr sz="2800" dirty="0" err="1"/>
              <a:t>partagée</a:t>
            </a:r>
            <a:endParaRPr sz="2800" dirty="0"/>
          </a:p>
          <a:p>
            <a:pPr marL="0" indent="0">
              <a:spcAft>
                <a:spcPts val="800"/>
              </a:spcAft>
              <a:buNone/>
            </a:pPr>
            <a:r>
              <a:rPr sz="2400" dirty="0">
                <a:solidFill>
                  <a:schemeClr val="accent4"/>
                </a:solidFill>
                <a:latin typeface="Consolas"/>
              </a:rPr>
              <a:t>final</a:t>
            </a:r>
            <a:r>
              <a:rPr sz="2800" dirty="0"/>
              <a:t> : </a:t>
            </a:r>
            <a:r>
              <a:rPr sz="2800" dirty="0" err="1"/>
              <a:t>elle</a:t>
            </a:r>
            <a:r>
              <a:rPr sz="2800" dirty="0"/>
              <a:t> ne change pas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 dirty="0"/>
              <a:t>Une </a:t>
            </a:r>
            <a:r>
              <a:rPr sz="2800" dirty="0" err="1"/>
              <a:t>constante</a:t>
            </a:r>
            <a:r>
              <a:rPr sz="2800" dirty="0"/>
              <a:t> a </a:t>
            </a:r>
            <a:r>
              <a:rPr sz="2800" dirty="0" err="1"/>
              <a:t>besoin</a:t>
            </a:r>
            <a:r>
              <a:rPr sz="2800" dirty="0"/>
              <a:t> des </a:t>
            </a:r>
            <a:r>
              <a:rPr lang="fr-BE" sz="2800" dirty="0"/>
              <a:t>deux </a:t>
            </a:r>
            <a:r>
              <a:rPr lang="nl-BE" sz="2800" dirty="0"/>
              <a:t>: </a:t>
            </a:r>
            <a:r>
              <a:rPr lang="nl-BE" sz="2400" dirty="0">
                <a:solidFill>
                  <a:schemeClr val="accent4"/>
                </a:solidFill>
                <a:latin typeface="Consolas"/>
              </a:rPr>
              <a:t>static</a:t>
            </a:r>
            <a:r>
              <a:rPr lang="nl-BE" sz="2800" dirty="0"/>
              <a:t> et </a:t>
            </a:r>
            <a:r>
              <a:rPr lang="nl-BE" sz="2400" dirty="0">
                <a:solidFill>
                  <a:schemeClr val="accent4"/>
                </a:solidFill>
                <a:latin typeface="Consolas"/>
              </a:rPr>
              <a:t>final</a:t>
            </a:r>
            <a:endParaRPr sz="2400" dirty="0">
              <a:solidFill>
                <a:schemeClr val="accent4"/>
              </a:solidFill>
              <a:latin typeface="Consolas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nl-BE" sz="2800" dirty="0"/>
              <a:t>Convention de nommage: n</a:t>
            </a:r>
            <a:r>
              <a:rPr sz="2800" dirty="0"/>
              <a:t>om </a:t>
            </a:r>
            <a:r>
              <a:rPr sz="2800" dirty="0" err="1"/>
              <a:t>en</a:t>
            </a:r>
            <a:r>
              <a:rPr sz="2800" dirty="0"/>
              <a:t> majuscules, mots </a:t>
            </a:r>
            <a:r>
              <a:rPr sz="2800" dirty="0" err="1"/>
              <a:t>séparés</a:t>
            </a:r>
            <a:r>
              <a:rPr sz="2800" dirty="0"/>
              <a:t> par </a:t>
            </a:r>
            <a:r>
              <a:rPr sz="2800" dirty="0">
                <a:solidFill>
                  <a:schemeClr val="accent4"/>
                </a:solidFill>
                <a:latin typeface="Consolas"/>
              </a:rPr>
              <a:t>_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2381250" y="3860800"/>
            <a:ext cx="7429500" cy="1920239"/>
          </a:xfrm>
          <a:prstGeom prst="roundRect">
            <a:avLst>
              <a:gd name="adj" fmla="val 476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class</a:t>
            </a:r>
            <a:r>
              <a:rPr sz="1800">
                <a:solidFill>
                  <a:srgbClr val="BCBEC4"/>
                </a:solidFill>
                <a:latin typeface="Consolas"/>
              </a:rPr>
              <a:t> Facture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static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final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double</a:t>
            </a:r>
            <a:r>
              <a:rPr sz="1800">
                <a:solidFill>
                  <a:srgbClr val="BCBEC4"/>
                </a:solidFill>
                <a:latin typeface="Consolas"/>
              </a:rPr>
              <a:t> TVA = </a:t>
            </a:r>
            <a:r>
              <a:rPr sz="1800">
                <a:solidFill>
                  <a:srgbClr val="2AACB8"/>
                </a:solidFill>
                <a:latin typeface="Consolas"/>
              </a:rPr>
              <a:t>0.21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</a:t>
            </a:r>
            <a:r>
              <a:rPr sz="1800">
                <a:solidFill>
                  <a:srgbClr val="CF8E6D"/>
                </a:solidFill>
                <a:latin typeface="Consolas"/>
              </a:rPr>
              <a:t>public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static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final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JOURS_DE_PAIEMENT = </a:t>
            </a:r>
            <a:r>
              <a:rPr sz="1800">
                <a:solidFill>
                  <a:srgbClr val="2AACB8"/>
                </a:solidFill>
                <a:latin typeface="Consolas"/>
              </a:rPr>
              <a:t>30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double</a:t>
            </a:r>
            <a:r>
              <a:rPr sz="1800">
                <a:solidFill>
                  <a:srgbClr val="BCBEC4"/>
                </a:solidFill>
                <a:latin typeface="Consolas"/>
              </a:rPr>
              <a:t> prix = </a:t>
            </a:r>
            <a:r>
              <a:rPr sz="1800">
                <a:solidFill>
                  <a:srgbClr val="2AACB8"/>
                </a:solidFill>
                <a:latin typeface="Consolas"/>
              </a:rPr>
              <a:t>100</a:t>
            </a:r>
            <a:r>
              <a:rPr sz="1800">
                <a:solidFill>
                  <a:srgbClr val="BCBEC4"/>
                </a:solidFill>
                <a:latin typeface="Consolas"/>
              </a:rPr>
              <a:t> * (</a:t>
            </a:r>
            <a:r>
              <a:rPr sz="1800">
                <a:solidFill>
                  <a:srgbClr val="2AACB8"/>
                </a:solidFill>
                <a:latin typeface="Consolas"/>
              </a:rPr>
              <a:t>1</a:t>
            </a:r>
            <a:r>
              <a:rPr sz="1800">
                <a:solidFill>
                  <a:srgbClr val="BCBEC4"/>
                </a:solidFill>
                <a:latin typeface="Consolas"/>
              </a:rPr>
              <a:t> + Facture.TVA);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38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Quatre sortes de champs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39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00000"/>
          <a:ext cx="10881360" cy="35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00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D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DFE1E5"/>
                          </a:solidFill>
                        </a:rPr>
                        <a:t>Peut changer</a:t>
                      </a:r>
                    </a:p>
                  </a:txBody>
                  <a:tcPr anchor="ctr">
                    <a:solidFill>
                      <a:srgbClr val="1D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DFE1E5"/>
                          </a:solidFill>
                        </a:rPr>
                        <a:t>Ne change plus : </a:t>
                      </a:r>
                      <a:r>
                        <a:rPr sz="1700" b="1">
                          <a:solidFill>
                            <a:srgbClr val="E8BA36"/>
                          </a:solidFill>
                          <a:latin typeface="Consolas"/>
                        </a:rPr>
                        <a:t>final</a:t>
                      </a:r>
                    </a:p>
                  </a:txBody>
                  <a:tcPr anchor="ctr">
                    <a:solidFill>
                      <a:srgbClr val="1D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DFE1E5"/>
                          </a:solidFill>
                        </a:rPr>
                        <a:t>Propre à chaque objet</a:t>
                      </a:r>
                    </a:p>
                  </a:txBody>
                  <a:tcPr anchor="ctr">
                    <a:solidFill>
                      <a:srgbClr val="1D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E8BA36"/>
                          </a:solidFill>
                          <a:latin typeface="Consolas"/>
                        </a:rPr>
                        <a:t>private int anneeDeParution;</a:t>
                      </a:r>
                    </a:p>
                    <a:p>
                      <a:r>
                        <a:rPr sz="1600">
                          <a:solidFill>
                            <a:srgbClr val="DFE1E5"/>
                          </a:solidFill>
                        </a:rPr>
                        <a:t>l'année d'un livre, qu'un setter peut corriger</a:t>
                      </a:r>
                    </a:p>
                  </a:txBody>
                  <a:tcPr anchor="ctr">
                    <a:solidFill>
                      <a:srgbClr val="2B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E8BA36"/>
                          </a:solidFill>
                          <a:latin typeface="Consolas"/>
                        </a:rPr>
                        <a:t>private final String titre;</a:t>
                      </a:r>
                    </a:p>
                    <a:p>
                      <a:r>
                        <a:rPr sz="1600">
                          <a:solidFill>
                            <a:srgbClr val="DFE1E5"/>
                          </a:solidFill>
                        </a:rPr>
                        <a:t>le titre, initialisé une fois pour toutes par le constructeur</a:t>
                      </a:r>
                    </a:p>
                  </a:txBody>
                  <a:tcPr anchor="ctr">
                    <a:solidFill>
                      <a:srgbClr val="2B2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00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DFE1E5"/>
                          </a:solidFill>
                        </a:rPr>
                        <a:t>Partagé par la classe : </a:t>
                      </a:r>
                      <a:r>
                        <a:rPr sz="1700" b="1">
                          <a:solidFill>
                            <a:srgbClr val="E8BA3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anchor="ctr">
                    <a:solidFill>
                      <a:srgbClr val="1D1F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E8BA36"/>
                          </a:solidFill>
                          <a:latin typeface="Consolas"/>
                        </a:rPr>
                        <a:t>private static int crees;</a:t>
                      </a:r>
                    </a:p>
                    <a:p>
                      <a:r>
                        <a:rPr sz="1600">
                          <a:solidFill>
                            <a:srgbClr val="DFE1E5"/>
                          </a:solidFill>
                        </a:rPr>
                        <a:t>un compteur d'instances</a:t>
                      </a:r>
                    </a:p>
                  </a:txBody>
                  <a:tcPr anchor="ctr">
                    <a:solidFill>
                      <a:srgbClr val="2B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E8BA36"/>
                          </a:solidFill>
                          <a:latin typeface="Consolas"/>
                        </a:rPr>
                        <a:t>public static final double TVA = 0.21;</a:t>
                      </a:r>
                    </a:p>
                    <a:p>
                      <a:r>
                        <a:rPr sz="1600">
                          <a:solidFill>
                            <a:srgbClr val="DFE1E5"/>
                          </a:solidFill>
                        </a:rPr>
                        <a:t>une constante</a:t>
                      </a:r>
                    </a:p>
                  </a:txBody>
                  <a:tcPr anchor="ctr">
                    <a:solidFill>
                      <a:srgbClr val="2B2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À quoi servent les méthodes de classe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/>
              <a:t>Répondre sur l'ensemble : combien d'objets ont été créés ?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Offrir un service sans état : </a:t>
            </a:r>
            <a:r>
              <a:rPr sz="2800">
                <a:solidFill>
                  <a:schemeClr val="accent4"/>
                </a:solidFill>
                <a:latin typeface="Consolas"/>
              </a:rPr>
              <a:t>Math.sqrt</a:t>
            </a:r>
            <a:r>
              <a:rPr sz="2800"/>
              <a:t>, </a:t>
            </a:r>
            <a:r>
              <a:rPr sz="2800">
                <a:solidFill>
                  <a:schemeClr val="accent4"/>
                </a:solidFill>
                <a:latin typeface="Consolas"/>
              </a:rPr>
              <a:t>Integer.parseInt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Fabriquer des objets : </a:t>
            </a:r>
            <a:r>
              <a:rPr sz="2800">
                <a:solidFill>
                  <a:schemeClr val="accent4"/>
                </a:solidFill>
                <a:latin typeface="Consolas"/>
              </a:rPr>
              <a:t>LocalDate.now()</a:t>
            </a:r>
            <a:r>
              <a:rPr sz="2800"/>
              <a:t>, </a:t>
            </a:r>
            <a:r>
              <a:rPr sz="2800">
                <a:solidFill>
                  <a:schemeClr val="accent4"/>
                </a:solidFill>
                <a:latin typeface="Consolas"/>
              </a:rPr>
              <a:t>LocalDate.of(...)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40</a:t>
            </a:fld>
            <a:endParaRPr lang="fr-FR"/>
          </a:p>
        </p:txBody>
      </p:sp>
      <p:sp>
        <p:nvSpPr>
          <p:cNvPr id="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Les fabriques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38912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fr-BE" sz="2200" dirty="0"/>
              <a:t>Un constructeur porte le nom de sa classe, et rien d'autre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200" dirty="0"/>
              <a:t>Une fabrique porte le nom qu'on veut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200" dirty="0"/>
              <a:t>Deux fabriques peuvent avoir la même signature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fr-BE" sz="2200" dirty="0"/>
              <a:t>Quand on crée des fabriques, le constructeur est </a:t>
            </a:r>
            <a:r>
              <a:rPr lang="fr-BE" sz="2000" dirty="0">
                <a:solidFill>
                  <a:schemeClr val="accent4"/>
                </a:solidFill>
                <a:latin typeface="Consolas"/>
                <a:cs typeface="Consolas"/>
              </a:rPr>
              <a:t>private</a:t>
            </a:r>
            <a:r>
              <a:rPr lang="fr-BE" sz="2200" dirty="0"/>
              <a:t> : on passe obligatoirement par les fabriques pour créer des objets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257800" y="1371600"/>
            <a:ext cx="5950585" cy="4632960"/>
          </a:xfrm>
          <a:prstGeom prst="roundRect">
            <a:avLst>
              <a:gd name="adj" fmla="val 197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class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Point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final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final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y;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private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56A8F5"/>
                </a:solidFill>
                <a:latin typeface="Consolas"/>
              </a:rPr>
              <a:t>Point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x,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y)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300" dirty="0" err="1">
                <a:solidFill>
                  <a:srgbClr val="BCBEC4"/>
                </a:solidFill>
                <a:latin typeface="Consolas"/>
              </a:rPr>
              <a:t>.x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= 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CF8E6D"/>
                </a:solidFill>
                <a:latin typeface="Consolas"/>
              </a:rPr>
              <a:t>this</a:t>
            </a:r>
            <a:r>
              <a:rPr sz="1300" dirty="0" err="1">
                <a:solidFill>
                  <a:srgbClr val="BCBEC4"/>
                </a:solidFill>
                <a:latin typeface="Consolas"/>
              </a:rPr>
              <a:t>.y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= y;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static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Point </a:t>
            </a:r>
            <a:r>
              <a:rPr sz="1300" dirty="0" err="1">
                <a:solidFill>
                  <a:srgbClr val="56A8F5"/>
                </a:solidFill>
                <a:latin typeface="Consolas"/>
              </a:rPr>
              <a:t>cartesien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x,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y)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return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56A8F5"/>
                </a:solidFill>
                <a:latin typeface="Consolas"/>
              </a:rPr>
              <a:t>Point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(x, 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public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static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Point </a:t>
            </a:r>
            <a:r>
              <a:rPr sz="1300" dirty="0" err="1">
                <a:solidFill>
                  <a:srgbClr val="56A8F5"/>
                </a:solidFill>
                <a:latin typeface="Consolas"/>
              </a:rPr>
              <a:t>polaire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rayon,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angle)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x = rayon * </a:t>
            </a:r>
            <a:r>
              <a:rPr sz="1300" dirty="0" err="1">
                <a:solidFill>
                  <a:srgbClr val="BCBEC4"/>
                </a:solidFill>
                <a:latin typeface="Consolas"/>
              </a:rPr>
              <a:t>Math.</a:t>
            </a:r>
            <a:r>
              <a:rPr sz="1300" dirty="0" err="1">
                <a:solidFill>
                  <a:srgbClr val="56A8F5"/>
                </a:solidFill>
                <a:latin typeface="Consolas"/>
              </a:rPr>
              <a:t>cos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(angle);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double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y = rayon * </a:t>
            </a:r>
            <a:r>
              <a:rPr sz="1300" dirty="0" err="1">
                <a:solidFill>
                  <a:srgbClr val="BCBEC4"/>
                </a:solidFill>
                <a:latin typeface="Consolas"/>
              </a:rPr>
              <a:t>Math.</a:t>
            </a:r>
            <a:r>
              <a:rPr sz="1300" dirty="0" err="1">
                <a:solidFill>
                  <a:srgbClr val="56A8F5"/>
                </a:solidFill>
                <a:latin typeface="Consolas"/>
              </a:rPr>
              <a:t>sin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(angle);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   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return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CF8E6D"/>
                </a:solidFill>
                <a:latin typeface="Consolas"/>
              </a:rPr>
              <a:t>new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  <a:r>
              <a:rPr sz="1300" dirty="0">
                <a:solidFill>
                  <a:srgbClr val="56A8F5"/>
                </a:solidFill>
                <a:latin typeface="Consolas"/>
              </a:rPr>
              <a:t>Point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(x, 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Point a = </a:t>
            </a:r>
            <a:r>
              <a:rPr sz="1300" dirty="0" err="1">
                <a:solidFill>
                  <a:srgbClr val="BCBEC4"/>
                </a:solidFill>
                <a:latin typeface="Consolas"/>
              </a:rPr>
              <a:t>Point.</a:t>
            </a:r>
            <a:r>
              <a:rPr sz="1300" dirty="0" err="1">
                <a:solidFill>
                  <a:srgbClr val="56A8F5"/>
                </a:solidFill>
                <a:latin typeface="Consolas"/>
              </a:rPr>
              <a:t>cartesien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300" dirty="0">
                <a:solidFill>
                  <a:srgbClr val="2AACB8"/>
                </a:solidFill>
                <a:latin typeface="Consolas"/>
              </a:rPr>
              <a:t>3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, </a:t>
            </a:r>
            <a:r>
              <a:rPr sz="1300" dirty="0">
                <a:solidFill>
                  <a:srgbClr val="2AACB8"/>
                </a:solidFill>
                <a:latin typeface="Consolas"/>
              </a:rPr>
              <a:t>4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BCBEC4"/>
                </a:solidFill>
                <a:latin typeface="Consolas"/>
              </a:rPr>
              <a:t>Point b = </a:t>
            </a:r>
            <a:r>
              <a:rPr sz="1300" dirty="0" err="1">
                <a:solidFill>
                  <a:srgbClr val="BCBEC4"/>
                </a:solidFill>
                <a:latin typeface="Consolas"/>
              </a:rPr>
              <a:t>Point.</a:t>
            </a:r>
            <a:r>
              <a:rPr sz="1300" dirty="0" err="1">
                <a:solidFill>
                  <a:srgbClr val="56A8F5"/>
                </a:solidFill>
                <a:latin typeface="Consolas"/>
              </a:rPr>
              <a:t>polaire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(</a:t>
            </a:r>
            <a:r>
              <a:rPr sz="1300" dirty="0">
                <a:solidFill>
                  <a:srgbClr val="2AACB8"/>
                </a:solidFill>
                <a:latin typeface="Consolas"/>
              </a:rPr>
              <a:t>5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, </a:t>
            </a:r>
            <a:r>
              <a:rPr sz="1300" dirty="0">
                <a:solidFill>
                  <a:srgbClr val="2AACB8"/>
                </a:solidFill>
                <a:latin typeface="Consolas"/>
              </a:rPr>
              <a:t>0.93</a:t>
            </a:r>
            <a:r>
              <a:rPr sz="1300" dirty="0">
                <a:solidFill>
                  <a:srgbClr val="BCBEC4"/>
                </a:solidFill>
                <a:latin typeface="Consolas"/>
              </a:rPr>
              <a:t>);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41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42</a:t>
            </a:fld>
            <a:endParaRPr lang="fr-FR"/>
          </a:p>
        </p:txBody>
      </p:sp>
      <p:sp>
        <p:nvSpPr>
          <p:cNvPr id="12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4. Membres de classe (static)</a:t>
            </a:r>
          </a:p>
        </p:txBody>
      </p:sp>
      <p:grpSp>
        <p:nvGrpSpPr>
          <p:cNvPr id="13" name="Exercice 1"/>
          <p:cNvGrpSpPr/>
          <p:nvPr/>
        </p:nvGrpSpPr>
        <p:grpSpPr>
          <a:xfrm>
            <a:off x="640080" y="1417320"/>
            <a:ext cx="9326880" cy="960120"/>
            <a:chOff x="640080" y="1417320"/>
            <a:chExt cx="9326880" cy="96012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STA.1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400">
                  <a:solidFill>
                    <a:srgbClr val="FFFFFF"/>
                  </a:solidFill>
                </a:rPr>
                <a:t>Une constante et un compteur d'instances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STA</a:t>
              </a:r>
            </a:p>
          </p:txBody>
        </p:sp>
      </p:grpSp>
      <p:grpSp>
        <p:nvGrpSpPr>
          <p:cNvPr id="14" name="Exercice 2"/>
          <p:cNvGrpSpPr/>
          <p:nvPr/>
        </p:nvGrpSpPr>
        <p:grpSpPr>
          <a:xfrm>
            <a:off x="640080" y="2560320"/>
            <a:ext cx="9326880" cy="2057399"/>
            <a:chOff x="640080" y="2560320"/>
            <a:chExt cx="9326880" cy="2057399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STA.2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400">
                  <a:solidFill>
                    <a:srgbClr val="FFFFFF"/>
                  </a:solidFill>
                </a:rPr>
                <a:t>Un constructeur privé et des fabriques</a:t>
              </a:r>
            </a:p>
            <a:p>
              <a:r>
                <a:rPr sz="1400">
                  <a:solidFill>
                    <a:srgbClr val="BCBEC4"/>
                  </a:solidFill>
                </a:rPr>
                <a:t>fascicule STA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0080" y="3794759"/>
              <a:ext cx="93268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/>
                <a:t>Le débogueur : </a:t>
              </a:r>
              <a:r>
                <a:rPr sz="2400">
                  <a:solidFill>
                    <a:schemeClr val="accent4"/>
                  </a:solidFill>
                  <a:latin typeface="Consolas"/>
                </a:rPr>
                <a:t>IDE.19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2" descr="POO_section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48"/>
            <a:ext cx="12192000" cy="686434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07E8BDD-906E-63FC-2904-DF485629DA59}"/>
              </a:ext>
            </a:extLst>
          </p:cNvPr>
          <p:cNvSpPr txBox="1"/>
          <p:nvPr/>
        </p:nvSpPr>
        <p:spPr>
          <a:xfrm>
            <a:off x="838200" y="946800"/>
            <a:ext cx="10151364" cy="101304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5. Entrée de données au clavier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224193B-61B5-0EA2-FA2B-6275DD4E1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6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03C3C6E-DD84-5415-EDC7-C560A6150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Pour les entrées au clavier, on utilise la classe </a:t>
            </a:r>
            <a:r>
              <a:rPr lang="fr-FR" sz="3600" dirty="0">
                <a:solidFill>
                  <a:schemeClr val="accent4"/>
                </a:solidFill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Scanner</a:t>
            </a:r>
            <a:r>
              <a:rPr lang="fr-FR" sz="4000" dirty="0"/>
              <a:t>…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6DD993E-C481-FA6F-D045-63FD0987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Cette classe nous permet de récupérer ce qui a été entré par l’utilisateur à la console.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  <a:r>
              <a:rPr lang="fr-FR" dirty="0"/>
              <a:t> a plusieurs méthodes utiles: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nextLine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nextInt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,</a:t>
            </a:r>
            <a:r>
              <a:rPr lang="mr-IN" dirty="0"/>
              <a:t>…</a:t>
            </a:r>
            <a:r>
              <a:rPr lang="fr-FR" dirty="0"/>
              <a:t>.</a:t>
            </a:r>
            <a:endParaRPr lang="fr-FR" dirty="0">
              <a:solidFill>
                <a:srgbClr val="4584D3"/>
              </a:solidFill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6BF92D-47EB-D432-387F-7DAEBDB1CC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4632" y="3089556"/>
            <a:ext cx="8166672" cy="3403317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BB432EC-84B2-8ECC-C217-95A2A4F6483B}"/>
              </a:ext>
            </a:extLst>
          </p:cNvPr>
          <p:cNvSpPr/>
          <p:nvPr/>
        </p:nvSpPr>
        <p:spPr>
          <a:xfrm>
            <a:off x="6085548" y="4577807"/>
            <a:ext cx="1160891" cy="222637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7BE0F1E-DC54-BE87-BB94-475F4F6C2DB5}"/>
              </a:ext>
            </a:extLst>
          </p:cNvPr>
          <p:cNvSpPr/>
          <p:nvPr/>
        </p:nvSpPr>
        <p:spPr>
          <a:xfrm>
            <a:off x="5735691" y="5205960"/>
            <a:ext cx="1160891" cy="222637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987B96-DE0A-EDCA-6F92-EBB9CA33C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192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2B1B1-88B1-5CF8-2157-D8C6FA7C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La </a:t>
            </a:r>
            <a:r>
              <a:rPr lang="fr-FR" sz="4000" dirty="0" err="1"/>
              <a:t>Javadoc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DC481-0D2D-88F3-5291-99F51E1B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216" y="1485900"/>
            <a:ext cx="10902461" cy="46910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400" dirty="0"/>
              <a:t>Pour connaître les caractéristiques d’une classe Java, il suffit de consulter la </a:t>
            </a:r>
            <a:r>
              <a:rPr lang="fr-FR" sz="2400" dirty="0" err="1"/>
              <a:t>Javadoc</a:t>
            </a:r>
            <a:r>
              <a:rPr lang="fr-FR" sz="2400" dirty="0"/>
              <a:t>: </a:t>
            </a:r>
            <a:r>
              <a:rPr lang="fr-FR" sz="2300" u="sng" dirty="0">
                <a:solidFill>
                  <a:schemeClr val="accent4"/>
                </a:solidFill>
              </a:rPr>
              <a:t>https://</a:t>
            </a:r>
            <a:r>
              <a:rPr lang="fr-FR" sz="2300" u="sng" dirty="0" err="1">
                <a:solidFill>
                  <a:schemeClr val="accent4"/>
                </a:solidFill>
              </a:rPr>
              <a:t>docs.oracle.com</a:t>
            </a:r>
            <a:r>
              <a:rPr lang="fr-FR" sz="2300" u="sng" dirty="0">
                <a:solidFill>
                  <a:schemeClr val="accent4"/>
                </a:solidFill>
              </a:rPr>
              <a:t>/en/java/</a:t>
            </a:r>
            <a:r>
              <a:rPr lang="fr-FR" sz="2300" u="sng" dirty="0" err="1">
                <a:solidFill>
                  <a:schemeClr val="accent4"/>
                </a:solidFill>
              </a:rPr>
              <a:t>javase</a:t>
            </a:r>
            <a:r>
              <a:rPr lang="fr-FR" sz="2300" u="sng" dirty="0">
                <a:solidFill>
                  <a:schemeClr val="accent4"/>
                </a:solidFill>
              </a:rPr>
              <a:t>/21/docs/api/</a:t>
            </a:r>
            <a:r>
              <a:rPr lang="fr-FR" sz="2300" u="sng" dirty="0" err="1">
                <a:solidFill>
                  <a:schemeClr val="accent4"/>
                </a:solidFill>
              </a:rPr>
              <a:t>java.base</a:t>
            </a:r>
            <a:r>
              <a:rPr lang="fr-FR" sz="2300" u="sng" dirty="0">
                <a:solidFill>
                  <a:schemeClr val="accent4"/>
                </a:solidFill>
              </a:rPr>
              <a:t>/java/</a:t>
            </a:r>
            <a:r>
              <a:rPr lang="fr-FR" sz="2300" u="sng" dirty="0" err="1">
                <a:solidFill>
                  <a:schemeClr val="accent4"/>
                </a:solidFill>
              </a:rPr>
              <a:t>util</a:t>
            </a:r>
            <a:r>
              <a:rPr lang="fr-FR" sz="2300" u="sng" dirty="0">
                <a:solidFill>
                  <a:schemeClr val="accent4"/>
                </a:solidFill>
              </a:rPr>
              <a:t>/</a:t>
            </a:r>
            <a:r>
              <a:rPr lang="fr-FR" sz="2300" u="sng" dirty="0" err="1">
                <a:solidFill>
                  <a:schemeClr val="accent4"/>
                </a:solidFill>
              </a:rPr>
              <a:t>Scanner.html</a:t>
            </a:r>
            <a:endParaRPr lang="fr-FR" sz="2300" u="sng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t>Dans IntelliJ : survol du nom, ou </a:t>
            </a:r>
            <a:r>
              <a:rPr>
                <a:solidFill>
                  <a:schemeClr val="accent4"/>
                </a:solidFill>
                <a:latin typeface="Consolas"/>
              </a:rPr>
              <a:t>Ctrl+Q</a:t>
            </a:r>
            <a:r>
              <a:t> / </a:t>
            </a:r>
            <a:r>
              <a:rPr>
                <a:solidFill>
                  <a:schemeClr val="accent4"/>
                </a:solidFill>
                <a:latin typeface="Consolas"/>
              </a:rPr>
              <a:t>F1</a:t>
            </a:r>
            <a:r>
              <a:t> - voir </a:t>
            </a:r>
            <a:r>
              <a:rPr>
                <a:solidFill>
                  <a:schemeClr val="accent4"/>
                </a:solidFill>
                <a:latin typeface="Consolas"/>
              </a:rPr>
              <a:t>IDE.14</a:t>
            </a:r>
            <a:endParaRPr lang="fr-FR" sz="2300" u="sng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Une page </a:t>
            </a:r>
            <a:r>
              <a:rPr lang="fr-FR" sz="2400" dirty="0" err="1"/>
              <a:t>Javadoc</a:t>
            </a:r>
            <a:r>
              <a:rPr lang="fr-FR" sz="2400" dirty="0"/>
              <a:t>, au format HTML, reprend toujours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fr-FR" sz="2400" dirty="0"/>
              <a:t>Une explication </a:t>
            </a:r>
            <a:r>
              <a:rPr lang="fr-FR" sz="2400" dirty="0">
                <a:solidFill>
                  <a:schemeClr val="accent4"/>
                </a:solidFill>
              </a:rPr>
              <a:t>générale</a:t>
            </a:r>
            <a:r>
              <a:rPr lang="fr-FR" sz="2400" dirty="0"/>
              <a:t> de la classe, avec parfois des détails sur son utilisation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fr-FR" sz="2400" dirty="0"/>
              <a:t>Un </a:t>
            </a:r>
            <a:r>
              <a:rPr lang="fr-FR" sz="2400" dirty="0">
                <a:solidFill>
                  <a:schemeClr val="accent4"/>
                </a:solidFill>
              </a:rPr>
              <a:t>inventaire</a:t>
            </a:r>
            <a:r>
              <a:rPr lang="fr-FR" sz="2400" dirty="0"/>
              <a:t> des constructeurs de la classe, et un inventaire des méthodes de la classe.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fr-FR" sz="2400" dirty="0"/>
              <a:t>Une </a:t>
            </a:r>
            <a:r>
              <a:rPr lang="fr-FR" sz="2400" dirty="0">
                <a:solidFill>
                  <a:schemeClr val="accent4"/>
                </a:solidFill>
              </a:rPr>
              <a:t>description</a:t>
            </a:r>
            <a:r>
              <a:rPr lang="fr-FR" sz="2400" dirty="0"/>
              <a:t> de chaque constructeur et de chaque méthode, décrivant chaque fois </a:t>
            </a:r>
          </a:p>
          <a:p>
            <a:pPr marL="457200" lvl="1" indent="0">
              <a:buNone/>
            </a:pPr>
            <a:r>
              <a:rPr lang="fr-FR" sz="2000" dirty="0"/>
              <a:t>les paramètres, </a:t>
            </a:r>
          </a:p>
          <a:p>
            <a:pPr marL="457200" lvl="1" indent="0">
              <a:buNone/>
            </a:pPr>
            <a:r>
              <a:rPr lang="fr-FR" sz="2000" dirty="0"/>
              <a:t>les valeurs retournées</a:t>
            </a:r>
          </a:p>
          <a:p>
            <a:pPr marL="457200" lvl="1" indent="0">
              <a:buNone/>
            </a:pPr>
            <a:r>
              <a:rPr lang="fr-FR" sz="2000" dirty="0"/>
              <a:t>les éventuelles Exceptions.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sz="2400" dirty="0"/>
              <a:t>Pour notre classe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  <a:r>
              <a:rPr lang="fr-FR" sz="2400" dirty="0"/>
              <a:t>, de quelles méthodes pourrions-nous avoir besoin (quelles valeurs lire à la console)?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51C1F6-E97D-3DCB-01E5-AE49F0AAB8F4}"/>
              </a:ext>
            </a:extLst>
          </p:cNvPr>
          <p:cNvSpPr txBox="1">
            <a:spLocks/>
          </p:cNvSpPr>
          <p:nvPr/>
        </p:nvSpPr>
        <p:spPr>
          <a:xfrm rot="16200000">
            <a:off x="10346324" y="7819804"/>
            <a:ext cx="131572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CBC1A-C8E6-436B-AD6F-7C57258D788E}" type="slidenum">
              <a:rPr lang="nl-NL"/>
              <a:pPr/>
              <a:t>45</a:t>
            </a:fld>
            <a:endParaRPr lang="nl-N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BA1C7E-94FC-44C3-9036-78BE3ACD1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45</a:t>
            </a:fld>
            <a:endParaRPr lang="fr-FR"/>
          </a:p>
        </p:txBody>
      </p:sp>
      <p:sp>
        <p:nvSpPr>
          <p:cNvPr id="9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</p:spTree>
    <p:extLst>
      <p:ext uri="{BB962C8B-B14F-4D97-AF65-F5344CB8AC3E}">
        <p14:creationId xmlns:p14="http://schemas.microsoft.com/office/powerpoint/2010/main" val="40682949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2B1B1-88B1-5CF8-2157-D8C6FA7C1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802510" cy="1325563"/>
          </a:xfrm>
        </p:spPr>
        <p:txBody>
          <a:bodyPr>
            <a:noAutofit/>
          </a:bodyPr>
          <a:lstStyle/>
          <a:p>
            <a:r>
              <a:rPr sz="4000" dirty="0"/>
              <a:t>La documentation de </a:t>
            </a:r>
            <a:r>
              <a:rPr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51C1F6-E97D-3DCB-01E5-AE49F0AAB8F4}"/>
              </a:ext>
            </a:extLst>
          </p:cNvPr>
          <p:cNvSpPr txBox="1">
            <a:spLocks/>
          </p:cNvSpPr>
          <p:nvPr/>
        </p:nvSpPr>
        <p:spPr>
          <a:xfrm rot="16200000">
            <a:off x="10346324" y="7819804"/>
            <a:ext cx="131572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CBC1A-C8E6-436B-AD6F-7C57258D788E}" type="slidenum">
              <a:rPr lang="nl-NL"/>
              <a:pPr/>
              <a:t>46</a:t>
            </a:fld>
            <a:endParaRPr lang="nl-NL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FB57B0-2E94-F924-A3D3-E2D09B347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46</a:t>
            </a:fld>
            <a:endParaRPr lang="fr-FR"/>
          </a:p>
        </p:txBody>
      </p:sp>
      <p:pic>
        <p:nvPicPr>
          <p:cNvPr id="21" name="Capture A__Javadoc_Scanner" descr="A__Javadoc_Sc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325880"/>
            <a:ext cx="4961480" cy="4846320"/>
          </a:xfrm>
          <a:prstGeom prst="rect">
            <a:avLst/>
          </a:prstGeom>
        </p:spPr>
      </p:pic>
      <p:sp>
        <p:nvSpPr>
          <p:cNvPr id="22" name="Bulles de la slide"/>
          <p:cNvSpPr txBox="1"/>
          <p:nvPr/>
        </p:nvSpPr>
        <p:spPr>
          <a:xfrm>
            <a:off x="731520" y="14630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fr-BE" sz="2200" dirty="0">
                <a:solidFill>
                  <a:srgbClr val="FFFFFF"/>
                </a:solidFill>
              </a:rPr>
              <a:t>Survol de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Scanner</a:t>
            </a:r>
            <a:r>
              <a:rPr lang="fr-BE" sz="2200" dirty="0">
                <a:solidFill>
                  <a:srgbClr val="FFFFFF"/>
                </a:solidFill>
              </a:rPr>
              <a:t> dans IntelliJ, ou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Ctrl+Q</a:t>
            </a:r>
            <a:r>
              <a:rPr lang="fr-BE" sz="2200" dirty="0">
                <a:solidFill>
                  <a:srgbClr val="FFFFFF"/>
                </a:solidFill>
              </a:rPr>
              <a:t> /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F1</a:t>
            </a:r>
            <a:r>
              <a:rPr lang="fr-BE" sz="2200" dirty="0">
                <a:solidFill>
                  <a:srgbClr val="FFFFFF"/>
                </a:solidFill>
              </a:rPr>
              <a:t> (</a:t>
            </a:r>
            <a:r>
              <a:rPr lang="fr-BE" sz="2200" dirty="0">
                <a:solidFill>
                  <a:schemeClr val="accent4"/>
                </a:solidFill>
                <a:latin typeface="Consolas"/>
              </a:rPr>
              <a:t>IDE.14</a:t>
            </a:r>
            <a:r>
              <a:rPr lang="fr-BE" sz="2200" dirty="0">
                <a:solidFill>
                  <a:srgbClr val="FFFFFF"/>
                </a:solidFill>
              </a:rPr>
              <a:t>)</a:t>
            </a:r>
          </a:p>
          <a:p>
            <a:pPr>
              <a:spcAft>
                <a:spcPts val="1000"/>
              </a:spcAft>
            </a:pPr>
            <a:r>
              <a:rPr lang="fr-BE" sz="2200" dirty="0">
                <a:solidFill>
                  <a:srgbClr val="FFFFFF"/>
                </a:solidFill>
              </a:rPr>
              <a:t>On voit que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Scanner</a:t>
            </a:r>
            <a:r>
              <a:rPr lang="fr-BE" sz="2200" dirty="0">
                <a:solidFill>
                  <a:srgbClr val="FFFFFF"/>
                </a:solidFill>
              </a:rPr>
              <a:t> est une classe du package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java.util</a:t>
            </a:r>
          </a:p>
          <a:p>
            <a:pPr>
              <a:spcAft>
                <a:spcPts val="1000"/>
              </a:spcAft>
            </a:pPr>
            <a:r>
              <a:rPr lang="fr-BE" sz="2200" dirty="0">
                <a:solidFill>
                  <a:srgbClr val="FFFFFF"/>
                </a:solidFill>
              </a:rPr>
              <a:t>On voit aussi qu'elle découpe l'entrée en jetons, séparés par des blancs</a:t>
            </a:r>
          </a:p>
          <a:p>
            <a:pPr>
              <a:spcAft>
                <a:spcPts val="1000"/>
              </a:spcAft>
            </a:pPr>
            <a:r>
              <a:rPr lang="fr-BE" sz="2200" dirty="0">
                <a:solidFill>
                  <a:srgbClr val="FFFFFF"/>
                </a:solidFill>
              </a:rPr>
              <a:t>La classe présente une méthode </a:t>
            </a:r>
            <a:r>
              <a:rPr lang="fr-BE" sz="2200" dirty="0">
                <a:solidFill>
                  <a:schemeClr val="accent4"/>
                </a:solidFill>
                <a:latin typeface="Consolas"/>
                <a:cs typeface="Consolas"/>
              </a:rPr>
              <a:t>next...</a:t>
            </a:r>
            <a:r>
              <a:rPr lang="fr-BE" sz="2200" dirty="0">
                <a:solidFill>
                  <a:srgbClr val="FFFFFF"/>
                </a:solidFill>
              </a:rPr>
              <a:t> par type à lire</a:t>
            </a:r>
          </a:p>
        </p:txBody>
      </p:sp>
      <p:sp>
        <p:nvSpPr>
          <p:cNvPr id="2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</p:spTree>
    <p:extLst>
      <p:ext uri="{BB962C8B-B14F-4D97-AF65-F5344CB8AC3E}">
        <p14:creationId xmlns:p14="http://schemas.microsoft.com/office/powerpoint/2010/main" val="4859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2B1B1-88B1-5CF8-2157-D8C6FA7C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Les principales méthodes de </a:t>
            </a:r>
            <a:r>
              <a:rPr lang="fr-FR" sz="3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DC481-0D2D-88F3-5291-99F51E1B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216" y="1371600"/>
            <a:ext cx="10902461" cy="1188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u="sng" dirty="0"/>
              <a:t>Note</a:t>
            </a:r>
            <a:r>
              <a:rPr lang="fr-FR" sz="2400" dirty="0"/>
              <a:t>: les méthodes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nextInt</a:t>
            </a:r>
            <a:r>
              <a:rPr lang="fr-FR" sz="2400" dirty="0"/>
              <a:t>,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nextByte</a:t>
            </a:r>
            <a:r>
              <a:rPr lang="fr-FR" sz="2400" dirty="0"/>
              <a:t>,… (pour les valeurs entières) acceptent aussi un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400" dirty="0"/>
              <a:t> pour indiquer la base dans laquelle le nombre doit être interprété.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51C1F6-E97D-3DCB-01E5-AE49F0AAB8F4}"/>
              </a:ext>
            </a:extLst>
          </p:cNvPr>
          <p:cNvSpPr txBox="1">
            <a:spLocks/>
          </p:cNvSpPr>
          <p:nvPr/>
        </p:nvSpPr>
        <p:spPr>
          <a:xfrm rot="16200000">
            <a:off x="10346324" y="7819804"/>
            <a:ext cx="131572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CBC1A-C8E6-436B-AD6F-7C57258D788E}" type="slidenum">
              <a:rPr lang="nl-NL"/>
              <a:pPr/>
              <a:t>47</a:t>
            </a:fld>
            <a:endParaRPr lang="nl-N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2BD310-36A1-774A-CC7A-C39CB7FDE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47</a:t>
            </a:fld>
            <a:endParaRPr lang="fr-FR"/>
          </a:p>
        </p:txBody>
      </p:sp>
      <p:pic>
        <p:nvPicPr>
          <p:cNvPr id="9" name="Capture B__Javadoc_nextInt" descr="B__Javadoc_nextIn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8720" y="2606040"/>
            <a:ext cx="3186501" cy="3520440"/>
          </a:xfrm>
          <a:prstGeom prst="rect">
            <a:avLst/>
          </a:prstGeom>
        </p:spPr>
      </p:pic>
      <p:pic>
        <p:nvPicPr>
          <p:cNvPr id="10" name="Capture C__Javadoc_nextLine" descr="C__Javadoc_nextLin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9360" y="2606040"/>
            <a:ext cx="3371405" cy="3520440"/>
          </a:xfrm>
          <a:prstGeom prst="rect">
            <a:avLst/>
          </a:prstGeom>
        </p:spPr>
      </p:pic>
      <p:sp>
        <p:nvSpPr>
          <p:cNvPr id="11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</p:spTree>
    <p:extLst>
      <p:ext uri="{BB962C8B-B14F-4D97-AF65-F5344CB8AC3E}">
        <p14:creationId xmlns:p14="http://schemas.microsoft.com/office/powerpoint/2010/main" val="2559088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Un </a:t>
            </a:r>
            <a:r>
              <a:rPr sz="4000" dirty="0" err="1"/>
              <a:t>piège</a:t>
            </a:r>
            <a:r>
              <a:rPr sz="4000" dirty="0"/>
              <a:t> : </a:t>
            </a:r>
            <a:r>
              <a:rPr sz="3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nextInt</a:t>
            </a:r>
            <a:r>
              <a:rPr sz="4000" dirty="0"/>
              <a:t> </a:t>
            </a:r>
            <a:r>
              <a:rPr sz="4000" dirty="0" err="1"/>
              <a:t>suivi</a:t>
            </a:r>
            <a:r>
              <a:rPr sz="4000" dirty="0"/>
              <a:t> de </a:t>
            </a:r>
            <a:r>
              <a:rPr sz="3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nextLine</a:t>
            </a:r>
            <a:endParaRPr sz="3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22504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>
                <a:solidFill>
                  <a:schemeClr val="accent4"/>
                </a:solidFill>
                <a:latin typeface="Consolas"/>
              </a:rPr>
              <a:t>nextInt()</a:t>
            </a:r>
            <a:r>
              <a:rPr sz="2800"/>
              <a:t> lit le nombre, mais laisse la fin de ligne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Le </a:t>
            </a:r>
            <a:r>
              <a:rPr sz="2800">
                <a:solidFill>
                  <a:schemeClr val="accent4"/>
                </a:solidFill>
                <a:latin typeface="Consolas"/>
              </a:rPr>
              <a:t>nextLine()</a:t>
            </a:r>
            <a:r>
              <a:rPr sz="2800"/>
              <a:t> suivant la ramasse et retourne une chaîne vide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La question semble sautée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640080" y="3733799"/>
            <a:ext cx="10881360" cy="1371600"/>
          </a:xfrm>
          <a:prstGeom prst="roundRect">
            <a:avLst>
              <a:gd name="adj" fmla="val 6666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System.out.</a:t>
            </a:r>
            <a:r>
              <a:rPr sz="1800">
                <a:solidFill>
                  <a:srgbClr val="56A8F5"/>
                </a:solidFill>
                <a:latin typeface="Consolas"/>
              </a:rPr>
              <a:t>print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"Annee : "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annee = clavier.</a:t>
            </a:r>
            <a:r>
              <a:rPr sz="1800">
                <a:solidFill>
                  <a:srgbClr val="56A8F5"/>
                </a:solidFill>
                <a:latin typeface="Consolas"/>
              </a:rPr>
              <a:t>nextInt</a:t>
            </a:r>
            <a:r>
              <a:rPr sz="1800">
                <a:solidFill>
                  <a:srgbClr val="BCBEC4"/>
                </a:solidFill>
                <a:latin typeface="Consolas"/>
              </a:rPr>
              <a:t>();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lit 1965, laisse la fin de ligne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System.out.</a:t>
            </a:r>
            <a:r>
              <a:rPr sz="1800">
                <a:solidFill>
                  <a:srgbClr val="56A8F5"/>
                </a:solidFill>
                <a:latin typeface="Consolas"/>
              </a:rPr>
              <a:t>print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"Titre : "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String titre = clavier.</a:t>
            </a:r>
            <a:r>
              <a:rPr sz="1800">
                <a:solidFill>
                  <a:srgbClr val="56A8F5"/>
                </a:solidFill>
                <a:latin typeface="Consolas"/>
              </a:rPr>
              <a:t>nextLine</a:t>
            </a:r>
            <a:r>
              <a:rPr sz="1800">
                <a:solidFill>
                  <a:srgbClr val="BCBEC4"/>
                </a:solidFill>
                <a:latin typeface="Consolas"/>
              </a:rPr>
              <a:t>();   </a:t>
            </a:r>
            <a:r>
              <a:rPr sz="1800">
                <a:solidFill>
                  <a:srgbClr val="7A7E85"/>
                </a:solidFill>
                <a:latin typeface="Consolas"/>
              </a:rPr>
              <a:t>// retourne "" sans attendre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48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Exercices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49</a:t>
            </a:fld>
            <a:endParaRPr lang="fr-FR"/>
          </a:p>
        </p:txBody>
      </p:sp>
      <p:sp>
        <p:nvSpPr>
          <p:cNvPr id="11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5. Saisie clavier et Javadoc</a:t>
            </a:r>
          </a:p>
        </p:txBody>
      </p:sp>
      <p:grpSp>
        <p:nvGrpSpPr>
          <p:cNvPr id="14" name="Exercice 1"/>
          <p:cNvGrpSpPr/>
          <p:nvPr/>
        </p:nvGrpSpPr>
        <p:grpSpPr>
          <a:xfrm>
            <a:off x="640080" y="1257300"/>
            <a:ext cx="10972800" cy="1280160"/>
            <a:chOff x="640080" y="1257300"/>
            <a:chExt cx="10972800" cy="1280160"/>
          </a:xfrm>
        </p:grpSpPr>
        <p:sp>
          <p:nvSpPr>
            <p:cNvPr id="3" name="Rounded Rectangle 2"/>
            <p:cNvSpPr/>
            <p:nvPr/>
          </p:nvSpPr>
          <p:spPr>
            <a:xfrm>
              <a:off x="640080" y="1417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68680" y="1417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POO.4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80360" y="1417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400" dirty="0" err="1">
                  <a:solidFill>
                    <a:srgbClr val="FFFFFF"/>
                  </a:solidFill>
                </a:rPr>
                <a:t>Saisie</a:t>
              </a:r>
              <a:r>
                <a:rPr sz="2400" dirty="0">
                  <a:solidFill>
                    <a:srgbClr val="FFFFFF"/>
                  </a:solidFill>
                </a:rPr>
                <a:t> au clavier, </a:t>
              </a:r>
              <a:r>
                <a:rPr sz="2400" b="1" dirty="0">
                  <a:solidFill>
                    <a:srgbClr val="FFFFFF"/>
                  </a:solidFill>
                </a:rPr>
                <a:t>première </a:t>
              </a:r>
              <a:r>
                <a:rPr sz="2400" b="1" dirty="0" err="1">
                  <a:solidFill>
                    <a:srgbClr val="FFFFFF"/>
                  </a:solidFill>
                </a:rPr>
                <a:t>partie</a:t>
              </a:r>
              <a:r>
                <a:rPr sz="2400" b="1" dirty="0">
                  <a:solidFill>
                    <a:srgbClr val="FFFFFF"/>
                  </a:solidFill>
                </a:rPr>
                <a:t> </a:t>
              </a:r>
              <a:r>
                <a:rPr sz="2400" b="1" dirty="0" err="1">
                  <a:solidFill>
                    <a:srgbClr val="FFFFFF"/>
                  </a:solidFill>
                </a:rPr>
                <a:t>seulement</a:t>
              </a:r>
              <a:endParaRPr sz="2400" b="1" dirty="0">
                <a:solidFill>
                  <a:srgbClr val="FFFFFF"/>
                </a:solidFill>
              </a:endParaRPr>
            </a:p>
            <a:p>
              <a:r>
                <a:rPr sz="1400" dirty="0">
                  <a:solidFill>
                    <a:srgbClr val="BCBEC4"/>
                  </a:solidFill>
                </a:rPr>
                <a:t>fascicule POO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32720" y="1257300"/>
              <a:ext cx="1280160" cy="1280160"/>
            </a:xfrm>
            <a:prstGeom prst="rect">
              <a:avLst/>
            </a:prstGeom>
          </p:spPr>
        </p:pic>
      </p:grpSp>
      <p:grpSp>
        <p:nvGrpSpPr>
          <p:cNvPr id="15" name="Exercice 2"/>
          <p:cNvGrpSpPr/>
          <p:nvPr/>
        </p:nvGrpSpPr>
        <p:grpSpPr>
          <a:xfrm>
            <a:off x="640080" y="2432742"/>
            <a:ext cx="11054219" cy="1215275"/>
            <a:chOff x="640080" y="2432742"/>
            <a:chExt cx="11054219" cy="1215275"/>
          </a:xfrm>
        </p:grpSpPr>
        <p:sp>
          <p:nvSpPr>
            <p:cNvPr id="6" name="Rounded Rectangle 5"/>
            <p:cNvSpPr/>
            <p:nvPr/>
          </p:nvSpPr>
          <p:spPr>
            <a:xfrm>
              <a:off x="640080" y="2560320"/>
              <a:ext cx="9326880" cy="960120"/>
            </a:xfrm>
            <a:prstGeom prst="roundRect">
              <a:avLst>
                <a:gd name="adj" fmla="val 9523"/>
              </a:avLst>
            </a:prstGeom>
            <a:solidFill>
              <a:srgbClr val="1D1F2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2560320"/>
              <a:ext cx="1920240" cy="96012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r>
                <a:rPr sz="3000" b="1">
                  <a:solidFill>
                    <a:schemeClr val="accent4"/>
                  </a:solidFill>
                  <a:latin typeface="Consolas"/>
                </a:rPr>
                <a:t>G.3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360" y="2560320"/>
              <a:ext cx="6949440" cy="9601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800" dirty="0">
                  <a:solidFill>
                    <a:srgbClr val="FFFFFF"/>
                  </a:solidFill>
                </a:rPr>
                <a:t>Le point </a:t>
              </a:r>
              <a:r>
                <a:rPr sz="2800" dirty="0" err="1">
                  <a:solidFill>
                    <a:srgbClr val="FFFFFF"/>
                  </a:solidFill>
                </a:rPr>
                <a:t>d'entrée</a:t>
              </a:r>
              <a:endParaRPr sz="2800" dirty="0">
                <a:solidFill>
                  <a:srgbClr val="FFFFFF"/>
                </a:solidFill>
              </a:endParaRPr>
            </a:p>
            <a:p>
              <a:r>
                <a:rPr sz="1400" dirty="0">
                  <a:solidFill>
                    <a:srgbClr val="BCBEC4"/>
                  </a:solidFill>
                </a:rPr>
                <a:t>fil rouge </a:t>
              </a:r>
              <a:r>
                <a:rPr sz="1400" dirty="0" err="1">
                  <a:solidFill>
                    <a:srgbClr val="BCBEC4"/>
                  </a:solidFill>
                </a:rPr>
                <a:t>GameHub</a:t>
              </a:r>
              <a:endParaRPr sz="1400" dirty="0">
                <a:solidFill>
                  <a:srgbClr val="BCBEC4"/>
                </a:solidFill>
              </a:endParaRPr>
            </a:p>
          </p:txBody>
        </p:sp>
        <p:pic>
          <p:nvPicPr>
            <p:cNvPr id="13" name="iconGameHub" descr="Game Hub - Apps on Google Play">
              <a:extLst>
                <a:ext uri="{FF2B5EF4-FFF2-40B4-BE49-F238E27FC236}">
                  <a16:creationId xmlns:a16="http://schemas.microsoft.com/office/drawing/2014/main" id="{8B8141EF-C49A-9DA4-F456-51D1CFD21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425092">
              <a:off x="10479024" y="2432742"/>
              <a:ext cx="1215275" cy="121527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2" descr="POO_section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6800"/>
            <a:ext cx="8762378" cy="110520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6. Primitifs et références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796F83-48C5-5FA8-A9C5-EF410C8DB499}"/>
              </a:ext>
            </a:extLst>
          </p:cNvPr>
          <p:cNvSpPr txBox="1"/>
          <p:nvPr/>
        </p:nvSpPr>
        <p:spPr>
          <a:xfrm>
            <a:off x="838200" y="2139312"/>
            <a:ext cx="6241473" cy="461665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Ce que contient vraiment une variable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704B63-9316-3C3E-6155-13B9DF0E6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9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63EBC-D460-0E1D-C60C-6F9A6367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Types primitifs vs Objets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227486-C447-16B1-A0A7-4EBD5F71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368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Vous connaissez déjà la différence entre les 8 types primitifs (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dirty="0"/>
              <a:t>,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fr-FR" dirty="0"/>
              <a:t>,…) et les objets, instances de classes.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BF9A0B4-05D3-6FC8-F14D-FBC41BCF50F7}"/>
              </a:ext>
            </a:extLst>
          </p:cNvPr>
          <p:cNvGrpSpPr/>
          <p:nvPr/>
        </p:nvGrpSpPr>
        <p:grpSpPr>
          <a:xfrm>
            <a:off x="1266068" y="3028365"/>
            <a:ext cx="3102654" cy="792989"/>
            <a:chOff x="245102" y="4483449"/>
            <a:chExt cx="3102654" cy="79298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AE6D592-8C0D-44EB-D9D9-D6018749674B}"/>
                </a:ext>
              </a:extLst>
            </p:cNvPr>
            <p:cNvSpPr/>
            <p:nvPr/>
          </p:nvSpPr>
          <p:spPr>
            <a:xfrm>
              <a:off x="245102" y="4776371"/>
              <a:ext cx="2214578" cy="500067"/>
            </a:xfrm>
            <a:prstGeom prst="rect">
              <a:avLst/>
            </a:prstGeom>
            <a:scene3d>
              <a:camera prst="orthographicFront"/>
              <a:lightRig rig="chilly" dir="t"/>
            </a:scene3d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fr-BE" sz="2300" b="1" i="1" kern="1200" dirty="0" err="1">
                  <a:solidFill>
                    <a:schemeClr val="tx1"/>
                  </a:solidFill>
                  <a:latin typeface="Consolas"/>
                  <a:cs typeface="Consolas"/>
                </a:rPr>
                <a:t>int</a:t>
              </a:r>
              <a:r>
                <a:rPr lang="fr-BE" sz="2300" b="1" kern="1200" dirty="0">
                  <a:solidFill>
                    <a:schemeClr val="tx1"/>
                  </a:solidFill>
                  <a:latin typeface="Consolas"/>
                  <a:cs typeface="Consolas"/>
                </a:rPr>
                <a:t> hauteur</a:t>
              </a:r>
              <a:endParaRPr lang="fr-BE" sz="2300" b="1" dirty="0">
                <a:solidFill>
                  <a:schemeClr val="tx1"/>
                </a:solidFill>
                <a:latin typeface="Consolas"/>
                <a:cs typeface="Consola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5EA1F6-1446-074A-DCAF-E957C1FA5AB2}"/>
                </a:ext>
              </a:extLst>
            </p:cNvPr>
            <p:cNvSpPr/>
            <p:nvPr/>
          </p:nvSpPr>
          <p:spPr>
            <a:xfrm>
              <a:off x="2409341" y="4776371"/>
              <a:ext cx="938415" cy="500067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fr-BE" sz="2300" b="1" kern="1200" dirty="0"/>
                <a:t>200</a:t>
              </a:r>
              <a:endParaRPr lang="fr-BE" sz="2300" b="1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50D5B3F2-4A0B-9278-19EA-457279F0FE9D}"/>
                </a:ext>
              </a:extLst>
            </p:cNvPr>
            <p:cNvSpPr txBox="1"/>
            <p:nvPr/>
          </p:nvSpPr>
          <p:spPr>
            <a:xfrm>
              <a:off x="468580" y="4483449"/>
              <a:ext cx="1425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chemeClr val="accent4"/>
                  </a:solidFill>
                </a:rPr>
                <a:t>type primitif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74201259-A362-9F09-78DF-990B5C5423FC}"/>
              </a:ext>
            </a:extLst>
          </p:cNvPr>
          <p:cNvGrpSpPr/>
          <p:nvPr/>
        </p:nvGrpSpPr>
        <p:grpSpPr>
          <a:xfrm>
            <a:off x="5041066" y="3028365"/>
            <a:ext cx="5340333" cy="1543777"/>
            <a:chOff x="3426956" y="4483449"/>
            <a:chExt cx="5340333" cy="154377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A5DABF-E1E6-F709-1845-CFC1B5EC42F5}"/>
                </a:ext>
              </a:extLst>
            </p:cNvPr>
            <p:cNvSpPr/>
            <p:nvPr/>
          </p:nvSpPr>
          <p:spPr>
            <a:xfrm>
              <a:off x="3426956" y="4776371"/>
              <a:ext cx="2480808" cy="500067"/>
            </a:xfrm>
            <a:prstGeom prst="rect">
              <a:avLst/>
            </a:prstGeom>
            <a:scene3d>
              <a:camera prst="orthographicFront"/>
              <a:lightRig rig="chilly" dir="t"/>
            </a:scene3d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fr-BE" sz="2300" b="1" i="1" kern="1200" dirty="0">
                  <a:solidFill>
                    <a:schemeClr val="tx1"/>
                  </a:solidFill>
                  <a:latin typeface="Consolas"/>
                  <a:cs typeface="Consolas"/>
                </a:rPr>
                <a:t>Etudiant </a:t>
              </a:r>
              <a:r>
                <a:rPr lang="fr-BE" sz="2300" b="1" kern="1200" dirty="0" err="1">
                  <a:solidFill>
                    <a:schemeClr val="tx1"/>
                  </a:solidFill>
                  <a:latin typeface="Consolas"/>
                  <a:cs typeface="Consolas"/>
                </a:rPr>
                <a:t>alex</a:t>
              </a:r>
              <a:endParaRPr lang="fr-BE" sz="2300" b="1" dirty="0">
                <a:solidFill>
                  <a:schemeClr val="tx1"/>
                </a:solidFill>
                <a:latin typeface="Consolas"/>
                <a:cs typeface="Consola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2D28D3-9435-FEAD-F478-C86A334966B8}"/>
                </a:ext>
              </a:extLst>
            </p:cNvPr>
            <p:cNvSpPr/>
            <p:nvPr/>
          </p:nvSpPr>
          <p:spPr>
            <a:xfrm>
              <a:off x="5969481" y="4776371"/>
              <a:ext cx="642942" cy="500067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fr-BE" sz="2300" b="1" dirty="0"/>
            </a:p>
          </p:txBody>
        </p:sp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52417B57-B0B3-F25B-5E09-0C8ADF011BD4}"/>
                </a:ext>
              </a:extLst>
            </p:cNvPr>
            <p:cNvGrpSpPr/>
            <p:nvPr/>
          </p:nvGrpSpPr>
          <p:grpSpPr>
            <a:xfrm>
              <a:off x="6969612" y="4598466"/>
              <a:ext cx="1797677" cy="1428760"/>
              <a:chOff x="1233809" y="2766600"/>
              <a:chExt cx="6410025" cy="3300635"/>
            </a:xfrm>
          </p:grpSpPr>
          <p:grpSp>
            <p:nvGrpSpPr>
              <p:cNvPr id="17" name="Group 5">
                <a:extLst>
                  <a:ext uri="{FF2B5EF4-FFF2-40B4-BE49-F238E27FC236}">
                    <a16:creationId xmlns:a16="http://schemas.microsoft.com/office/drawing/2014/main" id="{CDDF1363-F643-5472-FE91-A4FD853528CB}"/>
                  </a:ext>
                </a:extLst>
              </p:cNvPr>
              <p:cNvGrpSpPr/>
              <p:nvPr/>
            </p:nvGrpSpPr>
            <p:grpSpPr>
              <a:xfrm>
                <a:off x="1233809" y="2766600"/>
                <a:ext cx="6410025" cy="1155222"/>
                <a:chOff x="34" y="21882"/>
                <a:chExt cx="3338191" cy="1155222"/>
              </a:xfrm>
              <a:scene3d>
                <a:camera prst="orthographicFront"/>
                <a:lightRig rig="chilly" dir="t"/>
              </a:scene3d>
            </p:grpSpPr>
            <p:sp>
              <p:nvSpPr>
                <p:cNvPr id="19" name="Round Same Side Corner Rectangle 17">
                  <a:extLst>
                    <a:ext uri="{FF2B5EF4-FFF2-40B4-BE49-F238E27FC236}">
                      <a16:creationId xmlns:a16="http://schemas.microsoft.com/office/drawing/2014/main" id="{B6B7C16A-620B-589E-4FC7-D878BF656114}"/>
                    </a:ext>
                  </a:extLst>
                </p:cNvPr>
                <p:cNvSpPr/>
                <p:nvPr/>
              </p:nvSpPr>
              <p:spPr>
                <a:xfrm>
                  <a:off x="34" y="21882"/>
                  <a:ext cx="3338191" cy="1155222"/>
                </a:xfrm>
                <a:prstGeom prst="round2SameRect">
                  <a:avLst/>
                </a:prstGeom>
                <a:sp3d prstMaterial="translucentPowder">
                  <a:bevelT w="127000" h="25400" prst="softRound"/>
                </a:sp3d>
              </p:spPr>
              <p:style>
                <a:lnRef idx="1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" name="Round Same Side Corner Rectangle 4">
                  <a:extLst>
                    <a:ext uri="{FF2B5EF4-FFF2-40B4-BE49-F238E27FC236}">
                      <a16:creationId xmlns:a16="http://schemas.microsoft.com/office/drawing/2014/main" id="{7088DEBF-E7E5-A33A-5D25-D1DD9B90D8A8}"/>
                    </a:ext>
                  </a:extLst>
                </p:cNvPr>
                <p:cNvSpPr/>
                <p:nvPr/>
              </p:nvSpPr>
              <p:spPr>
                <a:xfrm>
                  <a:off x="32371" y="54217"/>
                  <a:ext cx="3273519" cy="1122887"/>
                </a:xfrm>
                <a:prstGeom prst="rect">
                  <a:avLst/>
                </a:prstGeom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63576" tIns="93472" rIns="163576" bIns="93472" numCol="1" spcCol="1270" anchor="ctr" anchorCtr="0">
                  <a:noAutofit/>
                </a:bodyPr>
                <a:lstStyle/>
                <a:p>
                  <a:pPr lvl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fr-BE" sz="2300" b="1" kern="1200" dirty="0" err="1"/>
                    <a:t>alex</a:t>
                  </a:r>
                  <a:endParaRPr lang="fr-BE" sz="2300" b="1" kern="1200" dirty="0"/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DD548D7-7351-2093-1305-EA424D3A65B1}"/>
                  </a:ext>
                </a:extLst>
              </p:cNvPr>
              <p:cNvSpPr/>
              <p:nvPr/>
            </p:nvSpPr>
            <p:spPr>
              <a:xfrm>
                <a:off x="1233809" y="3921822"/>
                <a:ext cx="6410025" cy="2145413"/>
              </a:xfrm>
              <a:prstGeom prst="rect">
                <a:avLst/>
              </a:prstGeom>
              <a:solidFill>
                <a:schemeClr val="bg2">
                  <a:alpha val="90000"/>
                </a:schemeClr>
              </a:solidFill>
              <a:scene3d>
                <a:camera prst="orthographicFront"/>
                <a:lightRig rig="chilly" dir="t"/>
              </a:scene3d>
              <a:sp3d extrusionH="1700" prstMaterial="dkEdge">
                <a:bevelT w="25400" h="6350" prst="softRound"/>
                <a:bevelB w="0" h="0" prst="convex"/>
              </a:sp3d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fr-FR" dirty="0"/>
              </a:p>
            </p:txBody>
          </p:sp>
        </p:grpSp>
        <p:cxnSp>
          <p:nvCxnSpPr>
            <p:cNvPr id="12" name="Straight Arrow Connector 20">
              <a:extLst>
                <a:ext uri="{FF2B5EF4-FFF2-40B4-BE49-F238E27FC236}">
                  <a16:creationId xmlns:a16="http://schemas.microsoft.com/office/drawing/2014/main" id="{EF6FEFC7-EEFD-5B04-C9AA-167AA76EF265}"/>
                </a:ext>
              </a:extLst>
            </p:cNvPr>
            <p:cNvCxnSpPr>
              <a:endCxn id="19" idx="2"/>
            </p:cNvCxnSpPr>
            <p:nvPr/>
          </p:nvCxnSpPr>
          <p:spPr>
            <a:xfrm flipV="1">
              <a:off x="6280632" y="4848499"/>
              <a:ext cx="688980" cy="175643"/>
            </a:xfrm>
            <a:prstGeom prst="straightConnector1">
              <a:avLst/>
            </a:prstGeom>
            <a:ln>
              <a:headEnd type="oval" w="lg" len="lg"/>
              <a:tailEnd type="stealth" w="lg" len="lg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63D8EBF-10D3-A202-AE23-550A90469247}"/>
                </a:ext>
              </a:extLst>
            </p:cNvPr>
            <p:cNvSpPr/>
            <p:nvPr/>
          </p:nvSpPr>
          <p:spPr>
            <a:xfrm>
              <a:off x="8001024" y="5169971"/>
              <a:ext cx="642942" cy="214314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fr-BE" sz="23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3C5433-827A-CFC5-9A32-F68548C90C4F}"/>
                </a:ext>
              </a:extLst>
            </p:cNvPr>
            <p:cNvSpPr/>
            <p:nvPr/>
          </p:nvSpPr>
          <p:spPr>
            <a:xfrm>
              <a:off x="8001024" y="5455722"/>
              <a:ext cx="642942" cy="214314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fr-BE" sz="23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4CC6CC-A053-D7AA-A122-5B90A9714F74}"/>
                </a:ext>
              </a:extLst>
            </p:cNvPr>
            <p:cNvSpPr/>
            <p:nvPr/>
          </p:nvSpPr>
          <p:spPr>
            <a:xfrm>
              <a:off x="8001024" y="5741473"/>
              <a:ext cx="642942" cy="214314"/>
            </a:xfrm>
            <a:prstGeom prst="rect">
              <a:avLst/>
            </a:prstGeom>
            <a:scene3d>
              <a:camera prst="orthographicFront"/>
              <a:lightRig rig="chilly" dir="t"/>
            </a:scene3d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122682" tIns="122682" rIns="163576" bIns="184023" numCol="1" spcCol="1270" anchor="t" anchorCtr="0">
              <a:noAutofit/>
            </a:bodyPr>
            <a:lstStyle/>
            <a:p>
              <a:pPr marL="228600" lvl="1" indent="-22860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fr-BE" sz="2300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C5703473-827C-469B-94AB-4B367ACA535E}"/>
                </a:ext>
              </a:extLst>
            </p:cNvPr>
            <p:cNvSpPr txBox="1"/>
            <p:nvPr/>
          </p:nvSpPr>
          <p:spPr>
            <a:xfrm>
              <a:off x="3671432" y="4483449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chemeClr val="accent4"/>
                  </a:solidFill>
                </a:rPr>
                <a:t>objet</a:t>
              </a:r>
            </a:p>
          </p:txBody>
        </p:sp>
      </p:grp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30E9773C-EAB1-E874-56EC-722C7A1A2B85}"/>
              </a:ext>
            </a:extLst>
          </p:cNvPr>
          <p:cNvSpPr txBox="1">
            <a:spLocks/>
          </p:cNvSpPr>
          <p:nvPr/>
        </p:nvSpPr>
        <p:spPr>
          <a:xfrm>
            <a:off x="838200" y="4786697"/>
            <a:ext cx="10515600" cy="1470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Les valeurs des variables de </a:t>
            </a:r>
            <a:r>
              <a:rPr lang="fr-FR" dirty="0">
                <a:solidFill>
                  <a:schemeClr val="accent4"/>
                </a:solidFill>
              </a:rPr>
              <a:t>type primitif sont stockées dans les variables</a:t>
            </a:r>
            <a:r>
              <a:rPr lang="fr-FR" dirty="0"/>
              <a:t>, alors que les valeurs contenues dans les variables de </a:t>
            </a:r>
            <a:r>
              <a:rPr lang="fr-FR" dirty="0">
                <a:solidFill>
                  <a:schemeClr val="accent4"/>
                </a:solidFill>
              </a:rPr>
              <a:t>type objet sont des références vers les objets</a:t>
            </a:r>
            <a:r>
              <a:rPr lang="fr-FR" dirty="0"/>
              <a:t>.</a:t>
            </a:r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A3227668-4F3A-06AE-6D1A-213344F21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51</a:t>
            </a:fld>
            <a:endParaRPr lang="fr-FR"/>
          </a:p>
        </p:txBody>
      </p:sp>
      <p:sp>
        <p:nvSpPr>
          <p:cNvPr id="23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6. Primitifs et références</a:t>
            </a:r>
          </a:p>
        </p:txBody>
      </p:sp>
    </p:spTree>
    <p:extLst>
      <p:ext uri="{BB962C8B-B14F-4D97-AF65-F5344CB8AC3E}">
        <p14:creationId xmlns:p14="http://schemas.microsoft.com/office/powerpoint/2010/main" val="136341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Deux noms, un seul objet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179832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/>
              <a:t>Copier une variable primitive copie la valeur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Copier une variable d'objet copie la référence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Les deux variables désignent alors le même objet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640080" y="3307080"/>
            <a:ext cx="10881360" cy="2468879"/>
          </a:xfrm>
          <a:prstGeom prst="roundRect">
            <a:avLst>
              <a:gd name="adj" fmla="val 3703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a = </a:t>
            </a:r>
            <a:r>
              <a:rPr sz="1800">
                <a:solidFill>
                  <a:srgbClr val="2AACB8"/>
                </a:solidFill>
                <a:latin typeface="Consolas"/>
              </a:rPr>
              <a:t>5</a:t>
            </a:r>
            <a:r>
              <a:rPr sz="1800">
                <a:solidFill>
                  <a:srgbClr val="BCBEC4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b = a;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b = </a:t>
            </a:r>
            <a:r>
              <a:rPr sz="1800">
                <a:solidFill>
                  <a:srgbClr val="2AACB8"/>
                </a:solidFill>
                <a:latin typeface="Consolas"/>
              </a:rPr>
              <a:t>7</a:t>
            </a:r>
            <a:r>
              <a:rPr sz="1800">
                <a:solidFill>
                  <a:srgbClr val="BCBEC4"/>
                </a:solidFill>
                <a:latin typeface="Consolas"/>
              </a:rPr>
              <a:t>;                               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a vaut toujours 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Livre l1 = </a:t>
            </a:r>
            <a:r>
              <a:rPr sz="1800">
                <a:solidFill>
                  <a:srgbClr val="CF8E6D"/>
                </a:solidFill>
                <a:latin typeface="Consolas"/>
              </a:rPr>
              <a:t>new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Livre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"Dune"</a:t>
            </a:r>
            <a:r>
              <a:rPr sz="1800">
                <a:solidFill>
                  <a:srgbClr val="BCBEC4"/>
                </a:solidFill>
                <a:latin typeface="Consolas"/>
              </a:rPr>
              <a:t>, </a:t>
            </a:r>
            <a:r>
              <a:rPr sz="1800">
                <a:solidFill>
                  <a:srgbClr val="2AACB8"/>
                </a:solidFill>
                <a:latin typeface="Consolas"/>
              </a:rPr>
              <a:t>1965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Livre l2 = l1;                       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l2 designe le MEME objet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l2.</a:t>
            </a:r>
            <a:r>
              <a:rPr sz="1800">
                <a:solidFill>
                  <a:srgbClr val="56A8F5"/>
                </a:solidFill>
                <a:latin typeface="Consolas"/>
              </a:rPr>
              <a:t>setAnneeDeParution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2AACB8"/>
                </a:solidFill>
                <a:latin typeface="Consolas"/>
              </a:rPr>
              <a:t>1966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System.out.</a:t>
            </a:r>
            <a:r>
              <a:rPr sz="1800">
                <a:solidFill>
                  <a:srgbClr val="56A8F5"/>
                </a:solidFill>
                <a:latin typeface="Consolas"/>
              </a:rPr>
              <a:t>println</a:t>
            </a:r>
            <a:r>
              <a:rPr sz="1800">
                <a:solidFill>
                  <a:srgbClr val="BCBEC4"/>
                </a:solidFill>
                <a:latin typeface="Consolas"/>
              </a:rPr>
              <a:t>(l1.</a:t>
            </a:r>
            <a:r>
              <a:rPr sz="1800">
                <a:solidFill>
                  <a:srgbClr val="56A8F5"/>
                </a:solidFill>
                <a:latin typeface="Consolas"/>
              </a:rPr>
              <a:t>getAnneeDeParution</a:t>
            </a:r>
            <a:r>
              <a:rPr sz="1800">
                <a:solidFill>
                  <a:srgbClr val="BCBEC4"/>
                </a:solidFill>
                <a:latin typeface="Consolas"/>
              </a:rPr>
              <a:t>()); </a:t>
            </a:r>
            <a:r>
              <a:rPr sz="1800">
                <a:solidFill>
                  <a:srgbClr val="7A7E85"/>
                </a:solidFill>
                <a:latin typeface="Consolas"/>
              </a:rPr>
              <a:t>// 1966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52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6. Primitifs et références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9326880" cy="960120"/>
          </a:xfrm>
          <a:prstGeom prst="roundRect">
            <a:avLst>
              <a:gd name="adj" fmla="val 952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9202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chemeClr val="accent4"/>
                </a:solidFill>
                <a:latin typeface="Consolas"/>
              </a:rPr>
              <a:t>POO.4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417320"/>
            <a:ext cx="6949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Saisie au clavier, </a:t>
            </a:r>
            <a:r>
              <a:rPr sz="2800" b="1">
                <a:solidFill>
                  <a:srgbClr val="FFFFFF"/>
                </a:solidFill>
              </a:rPr>
              <a:t>seconde partie</a:t>
            </a:r>
          </a:p>
          <a:p>
            <a:r>
              <a:rPr sz="1400">
                <a:solidFill>
                  <a:srgbClr val="BCBEC4"/>
                </a:solidFill>
              </a:rPr>
              <a:t>fascicule POO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Observez, puis expliquez par écrit, avant de passer à la slide suivante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53</a:t>
            </a:fld>
            <a:endParaRPr lang="fr-FR"/>
          </a:p>
        </p:txBody>
      </p:sp>
      <p:sp>
        <p:nvSpPr>
          <p:cNvPr id="9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6. Primitifs et références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Ce que vous avez observé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262636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600" dirty="0"/>
              <a:t>Java passe </a:t>
            </a:r>
            <a:r>
              <a:rPr sz="2600" dirty="0" err="1"/>
              <a:t>toujours</a:t>
            </a:r>
            <a:r>
              <a:rPr sz="2600" dirty="0"/>
              <a:t> les arguments </a:t>
            </a:r>
            <a:r>
              <a:rPr sz="2600" b="1" dirty="0"/>
              <a:t>par </a:t>
            </a:r>
            <a:r>
              <a:rPr sz="2600" b="1" dirty="0" err="1"/>
              <a:t>valeur</a:t>
            </a:r>
            <a:endParaRPr sz="2600" b="1" dirty="0"/>
          </a:p>
          <a:p>
            <a:pPr marL="0" indent="0">
              <a:spcAft>
                <a:spcPts val="800"/>
              </a:spcAft>
              <a:buNone/>
            </a:pPr>
            <a:r>
              <a:rPr sz="2600" dirty="0"/>
              <a:t>Pour un </a:t>
            </a:r>
            <a:r>
              <a:rPr sz="2400" dirty="0">
                <a:solidFill>
                  <a:schemeClr val="accent4"/>
                </a:solidFill>
                <a:latin typeface="Consolas"/>
              </a:rPr>
              <a:t>int</a:t>
            </a:r>
            <a:r>
              <a:rPr sz="2600" dirty="0"/>
              <a:t> : </a:t>
            </a:r>
            <a:r>
              <a:rPr sz="2600" dirty="0" err="1"/>
              <a:t>une</a:t>
            </a:r>
            <a:r>
              <a:rPr sz="2600" dirty="0"/>
              <a:t> </a:t>
            </a:r>
            <a:r>
              <a:rPr sz="2600" dirty="0" err="1"/>
              <a:t>copie</a:t>
            </a:r>
            <a:r>
              <a:rPr sz="2600" dirty="0"/>
              <a:t> du </a:t>
            </a:r>
            <a:r>
              <a:rPr sz="2600" dirty="0" err="1"/>
              <a:t>nombre</a:t>
            </a:r>
            <a:endParaRPr sz="2600" dirty="0"/>
          </a:p>
          <a:p>
            <a:pPr marL="0" indent="0">
              <a:spcAft>
                <a:spcPts val="800"/>
              </a:spcAft>
              <a:buNone/>
            </a:pPr>
            <a:r>
              <a:rPr sz="2600" dirty="0"/>
              <a:t>Pour un </a:t>
            </a:r>
            <a:r>
              <a:rPr sz="2600" dirty="0" err="1"/>
              <a:t>objet</a:t>
            </a:r>
            <a:r>
              <a:rPr sz="2600" dirty="0"/>
              <a:t> : </a:t>
            </a:r>
            <a:r>
              <a:rPr sz="2600" dirty="0" err="1"/>
              <a:t>une</a:t>
            </a:r>
            <a:r>
              <a:rPr sz="2600" dirty="0"/>
              <a:t> </a:t>
            </a:r>
            <a:r>
              <a:rPr sz="2600" dirty="0" err="1"/>
              <a:t>copie</a:t>
            </a:r>
            <a:r>
              <a:rPr sz="2600" dirty="0"/>
              <a:t> de la </a:t>
            </a:r>
            <a:r>
              <a:rPr sz="2600" dirty="0" err="1"/>
              <a:t>référence</a:t>
            </a:r>
            <a:r>
              <a:rPr sz="2600" dirty="0"/>
              <a:t>, qui </a:t>
            </a:r>
            <a:r>
              <a:rPr sz="2600" dirty="0" err="1"/>
              <a:t>désigne</a:t>
            </a:r>
            <a:r>
              <a:rPr sz="2600" dirty="0"/>
              <a:t> le </a:t>
            </a:r>
            <a:r>
              <a:rPr sz="2600" dirty="0" err="1"/>
              <a:t>même</a:t>
            </a:r>
            <a:r>
              <a:rPr sz="2600" dirty="0"/>
              <a:t> </a:t>
            </a:r>
            <a:r>
              <a:rPr sz="2600" dirty="0" err="1"/>
              <a:t>objet</a:t>
            </a:r>
            <a:endParaRPr sz="2600" dirty="0"/>
          </a:p>
          <a:p>
            <a:pPr marL="0" indent="0">
              <a:spcAft>
                <a:spcPts val="800"/>
              </a:spcAft>
              <a:buNone/>
            </a:pPr>
            <a:r>
              <a:rPr sz="2600" dirty="0" err="1"/>
              <a:t>Réaffecter</a:t>
            </a:r>
            <a:r>
              <a:rPr sz="2600" dirty="0"/>
              <a:t> le </a:t>
            </a:r>
            <a:r>
              <a:rPr sz="2600" dirty="0" err="1"/>
              <a:t>paramètre</a:t>
            </a:r>
            <a:r>
              <a:rPr sz="2600" dirty="0"/>
              <a:t> ne change rien chez </a:t>
            </a:r>
            <a:r>
              <a:rPr sz="2600" dirty="0" err="1"/>
              <a:t>l'appelant</a:t>
            </a:r>
            <a:endParaRPr sz="2600" dirty="0"/>
          </a:p>
        </p:txBody>
      </p:sp>
      <p:sp>
        <p:nvSpPr>
          <p:cNvPr id="4" name="Code"/>
          <p:cNvSpPr txBox="1"/>
          <p:nvPr/>
        </p:nvSpPr>
        <p:spPr>
          <a:xfrm>
            <a:off x="640080" y="4135120"/>
            <a:ext cx="10881360" cy="1645920"/>
          </a:xfrm>
          <a:prstGeom prst="roundRect">
            <a:avLst>
              <a:gd name="adj" fmla="val 5555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static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CF8E6D"/>
                </a:solidFill>
                <a:latin typeface="Consolas"/>
              </a:rPr>
              <a:t>void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modifier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n, Livre livre)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n = </a:t>
            </a:r>
            <a:r>
              <a:rPr sz="1800">
                <a:solidFill>
                  <a:srgbClr val="2AACB8"/>
                </a:solidFill>
                <a:latin typeface="Consolas"/>
              </a:rPr>
              <a:t>99</a:t>
            </a:r>
            <a:r>
              <a:rPr sz="1800">
                <a:solidFill>
                  <a:srgbClr val="BCBEC4"/>
                </a:solidFill>
                <a:latin typeface="Consolas"/>
              </a:rPr>
              <a:t>;                           </a:t>
            </a:r>
            <a:r>
              <a:rPr sz="1800">
                <a:solidFill>
                  <a:srgbClr val="7A7E85"/>
                </a:solidFill>
                <a:latin typeface="Consolas"/>
              </a:rPr>
              <a:t>// change la copie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livre.</a:t>
            </a:r>
            <a:r>
              <a:rPr sz="1800">
                <a:solidFill>
                  <a:srgbClr val="56A8F5"/>
                </a:solidFill>
                <a:latin typeface="Consolas"/>
              </a:rPr>
              <a:t>setAnneeDeParution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2AACB8"/>
                </a:solidFill>
                <a:latin typeface="Consolas"/>
              </a:rPr>
              <a:t>2000</a:t>
            </a:r>
            <a:r>
              <a:rPr sz="1800">
                <a:solidFill>
                  <a:srgbClr val="BCBEC4"/>
                </a:solidFill>
                <a:latin typeface="Consolas"/>
              </a:rPr>
              <a:t>);   </a:t>
            </a:r>
            <a:r>
              <a:rPr sz="1800">
                <a:solidFill>
                  <a:srgbClr val="7A7E85"/>
                </a:solidFill>
                <a:latin typeface="Consolas"/>
              </a:rPr>
              <a:t>// change l'objet partage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   livre = </a:t>
            </a:r>
            <a:r>
              <a:rPr sz="1800">
                <a:solidFill>
                  <a:srgbClr val="CF8E6D"/>
                </a:solidFill>
                <a:latin typeface="Consolas"/>
              </a:rPr>
              <a:t>new</a:t>
            </a: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  <a:r>
              <a:rPr sz="1800">
                <a:solidFill>
                  <a:srgbClr val="56A8F5"/>
                </a:solidFill>
                <a:latin typeface="Consolas"/>
              </a:rPr>
              <a:t>Livre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"Autre"</a:t>
            </a:r>
            <a:r>
              <a:rPr sz="1800">
                <a:solidFill>
                  <a:srgbClr val="BCBEC4"/>
                </a:solidFill>
                <a:latin typeface="Consolas"/>
              </a:rPr>
              <a:t>, </a:t>
            </a:r>
            <a:r>
              <a:rPr sz="1800">
                <a:solidFill>
                  <a:srgbClr val="2AACB8"/>
                </a:solidFill>
                <a:latin typeface="Consolas"/>
              </a:rPr>
              <a:t>1</a:t>
            </a:r>
            <a:r>
              <a:rPr sz="1800">
                <a:solidFill>
                  <a:srgbClr val="BCBEC4"/>
                </a:solidFill>
                <a:latin typeface="Consolas"/>
              </a:rPr>
              <a:t>);    </a:t>
            </a:r>
            <a:r>
              <a:rPr sz="1800">
                <a:solidFill>
                  <a:srgbClr val="7A7E85"/>
                </a:solidFill>
                <a:latin typeface="Consolas"/>
              </a:rPr>
              <a:t>// la copie designe un autre objet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54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6. Primitifs et références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5" name="Picture 8" descr="POO_section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73067B4-4758-7D90-FE25-49374D623451}"/>
              </a:ext>
            </a:extLst>
          </p:cNvPr>
          <p:cNvSpPr txBox="1"/>
          <p:nvPr/>
        </p:nvSpPr>
        <p:spPr>
          <a:xfrm>
            <a:off x="838199" y="946800"/>
            <a:ext cx="5674371" cy="1105200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cs typeface="Calibri"/>
              </a:rPr>
              <a:t>7. Les wrappers</a:t>
            </a:r>
            <a:endParaRPr lang="fr-FR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918A127-4A9F-4E38-ECD2-0153C0A2B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6516BE-52A0-2112-ADD9-45E39758530C}"/>
              </a:ext>
            </a:extLst>
          </p:cNvPr>
          <p:cNvSpPr txBox="1"/>
          <p:nvPr/>
        </p:nvSpPr>
        <p:spPr>
          <a:xfrm>
            <a:off x="838200" y="2139312"/>
            <a:ext cx="6241473" cy="461665"/>
          </a:xfrm>
          <a:prstGeom prst="rect">
            <a:avLst/>
          </a:prstGeom>
          <a:solidFill>
            <a:schemeClr val="bg2">
              <a:lumMod val="50000"/>
              <a:alpha val="74902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Un objet pour chaque type primitif</a:t>
            </a:r>
          </a:p>
        </p:txBody>
      </p:sp>
    </p:spTree>
    <p:extLst>
      <p:ext uri="{BB962C8B-B14F-4D97-AF65-F5344CB8AC3E}">
        <p14:creationId xmlns:p14="http://schemas.microsoft.com/office/powerpoint/2010/main" val="386880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672782-2206-CD6A-DB09-2243CE2F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Types primitifs et </a:t>
            </a:r>
            <a:r>
              <a:rPr lang="fr-FR" sz="4000" dirty="0" err="1"/>
              <a:t>Wrappers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0C04D3-CA06-CC76-64AF-382D13D376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Pour chaque type primitif (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short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byte</a:t>
            </a:r>
            <a:r>
              <a:rPr lang="fr-FR" dirty="0"/>
              <a:t>,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fr-FR" dirty="0"/>
              <a:t>,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fr-FR" dirty="0"/>
              <a:t>,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fr-FR" dirty="0"/>
              <a:t>), il existe une classe correspondante appelée </a:t>
            </a:r>
            <a:r>
              <a:rPr lang="fr-FR" dirty="0" err="1"/>
              <a:t>Wrapper</a:t>
            </a:r>
            <a:r>
              <a:rPr lang="fr-FR" dirty="0"/>
              <a:t>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FD2C11-2809-2117-89F7-89E2C12A2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56</a:t>
            </a:fld>
            <a:endParaRPr lang="fr-FR"/>
          </a:p>
        </p:txBody>
      </p:sp>
      <p:graphicFrame>
        <p:nvGraphicFramePr>
          <p:cNvPr id="7" name="Tableau 4">
            <a:extLst>
              <a:ext uri="{FF2B5EF4-FFF2-40B4-BE49-F238E27FC236}">
                <a16:creationId xmlns:a16="http://schemas.microsoft.com/office/drawing/2014/main" id="{46A99506-1992-75BB-DABB-D7D99B4A03C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7157709"/>
              </p:ext>
            </p:extLst>
          </p:nvPr>
        </p:nvGraphicFramePr>
        <p:xfrm>
          <a:off x="6725253" y="1825625"/>
          <a:ext cx="420624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93981246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1101586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Type Primitif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Wrapper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8543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byte</a:t>
                      </a:r>
                      <a:endParaRPr lang="fr-BE" sz="1800" b="0" kern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Byte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1797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short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Short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45464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int</a:t>
                      </a:r>
                      <a:endParaRPr lang="fr-BE" sz="1800" b="0" kern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Integer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91065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long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6369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float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Float</a:t>
                      </a:r>
                      <a:endParaRPr lang="fr-FR" sz="1800" b="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7285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95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char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Character</a:t>
                      </a:r>
                      <a:endParaRPr lang="fr-FR" sz="1800" b="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451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fr-BE" sz="1800" b="0" kern="1200" dirty="0" err="1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boolean</a:t>
                      </a:r>
                      <a:endParaRPr lang="fr-BE" sz="1800" b="0" kern="1200" dirty="0">
                        <a:solidFill>
                          <a:schemeClr val="accent4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Boolean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444575"/>
                  </a:ext>
                </a:extLst>
              </a:tr>
            </a:tbl>
          </a:graphicData>
        </a:graphic>
      </p:graphicFrame>
      <p:sp>
        <p:nvSpPr>
          <p:cNvPr id="8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  <p:extLst>
      <p:ext uri="{BB962C8B-B14F-4D97-AF65-F5344CB8AC3E}">
        <p14:creationId xmlns:p14="http://schemas.microsoft.com/office/powerpoint/2010/main" val="212181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Ce qu'offrent les wrappers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75488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200"/>
              <a:t>Des conversions : </a:t>
            </a:r>
            <a:r>
              <a:rPr sz="2200">
                <a:solidFill>
                  <a:schemeClr val="accent4"/>
                </a:solidFill>
                <a:latin typeface="Consolas"/>
              </a:rPr>
              <a:t>Integer.parseInt(String)</a:t>
            </a:r>
          </a:p>
          <a:p>
            <a:pPr marL="0" indent="0">
              <a:spcAft>
                <a:spcPts val="800"/>
              </a:spcAft>
              <a:buNone/>
            </a:pPr>
            <a:r>
              <a:rPr sz="2200"/>
              <a:t>Des constantes : </a:t>
            </a:r>
            <a:r>
              <a:rPr sz="2200">
                <a:solidFill>
                  <a:schemeClr val="accent4"/>
                </a:solidFill>
                <a:latin typeface="Consolas"/>
              </a:rPr>
              <a:t>Integer.MAX_VALUE</a:t>
            </a:r>
            <a:r>
              <a:rPr sz="2200"/>
              <a:t>, </a:t>
            </a:r>
            <a:r>
              <a:rPr sz="2200">
                <a:solidFill>
                  <a:schemeClr val="accent4"/>
                </a:solidFill>
                <a:latin typeface="Consolas"/>
              </a:rPr>
              <a:t>Integer.MIN_VALUE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200"/>
              <a:t>Des tests : </a:t>
            </a:r>
            <a:r>
              <a:rPr sz="2200">
                <a:solidFill>
                  <a:schemeClr val="accent4"/>
                </a:solidFill>
                <a:latin typeface="Consolas"/>
              </a:rPr>
              <a:t>Character.isDigit(char)</a:t>
            </a:r>
            <a:r>
              <a:rPr sz="2200"/>
              <a:t>, </a:t>
            </a:r>
            <a:r>
              <a:rPr sz="2200">
                <a:solidFill>
                  <a:schemeClr val="accent4"/>
                </a:solidFill>
                <a:latin typeface="Consolas"/>
              </a:rPr>
              <a:t>Character.isWhitespace(char)</a:t>
            </a:r>
          </a:p>
          <a:p>
            <a:pPr marL="0" indent="0">
              <a:spcAft>
                <a:spcPts val="800"/>
              </a:spcAft>
              <a:buNone/>
            </a:pPr>
            <a:r>
              <a:rPr sz="2200"/>
              <a:t>Tous statiques</a:t>
            </a:r>
          </a:p>
          <a:p>
            <a:pPr marL="0" indent="0">
              <a:spcAft>
                <a:spcPts val="800"/>
              </a:spcAft>
              <a:buNone/>
            </a:pPr>
            <a:r>
              <a:rPr sz="2200"/>
              <a:t>Autoboxing et unboxing : la conversion est automatique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5623560" y="2056925"/>
            <a:ext cx="5566410" cy="1920239"/>
          </a:xfrm>
          <a:prstGeom prst="roundRect">
            <a:avLst>
              <a:gd name="adj" fmla="val 4761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n = Integer.</a:t>
            </a:r>
            <a:r>
              <a:rPr sz="1800">
                <a:solidFill>
                  <a:srgbClr val="56A8F5"/>
                </a:solidFill>
                <a:latin typeface="Consolas"/>
              </a:rPr>
              <a:t>parseInt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"42"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plusGrand = Integer.MAX_VALUE;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boolean</a:t>
            </a:r>
            <a:r>
              <a:rPr sz="1800">
                <a:solidFill>
                  <a:srgbClr val="BCBEC4"/>
                </a:solidFill>
                <a:latin typeface="Consolas"/>
              </a:rPr>
              <a:t> chiffre = Character.</a:t>
            </a:r>
            <a:r>
              <a:rPr sz="1800">
                <a:solidFill>
                  <a:srgbClr val="56A8F5"/>
                </a:solidFill>
                <a:latin typeface="Consolas"/>
              </a:rPr>
              <a:t>isDigit</a:t>
            </a:r>
            <a:r>
              <a:rPr sz="1800">
                <a:solidFill>
                  <a:srgbClr val="BCBEC4"/>
                </a:solidFill>
                <a:latin typeface="Consolas"/>
              </a:rPr>
              <a:t>(</a:t>
            </a:r>
            <a:r>
              <a:rPr sz="1800">
                <a:solidFill>
                  <a:srgbClr val="6AAB73"/>
                </a:solidFill>
                <a:latin typeface="Consolas"/>
              </a:rPr>
              <a:t>'7'</a:t>
            </a:r>
            <a:r>
              <a:rPr sz="180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BCBEC4"/>
                </a:solidFill>
                <a:latin typeface="Consolas"/>
              </a:rPr>
              <a:t>Integer boite = </a:t>
            </a:r>
            <a:r>
              <a:rPr sz="1800">
                <a:solidFill>
                  <a:srgbClr val="2AACB8"/>
                </a:solidFill>
                <a:latin typeface="Consolas"/>
              </a:rPr>
              <a:t>5</a:t>
            </a:r>
            <a:r>
              <a:rPr sz="1800">
                <a:solidFill>
                  <a:srgbClr val="BCBEC4"/>
                </a:solidFill>
                <a:latin typeface="Consolas"/>
              </a:rPr>
              <a:t>;     </a:t>
            </a:r>
            <a:r>
              <a:rPr sz="1800">
                <a:solidFill>
                  <a:srgbClr val="7A7E85"/>
                </a:solidFill>
                <a:latin typeface="Consolas"/>
              </a:rPr>
              <a:t>// autoboxing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F8E6D"/>
                </a:solidFill>
                <a:latin typeface="Consolas"/>
              </a:rPr>
              <a:t>int</a:t>
            </a:r>
            <a:r>
              <a:rPr sz="1800">
                <a:solidFill>
                  <a:srgbClr val="BCBEC4"/>
                </a:solidFill>
                <a:latin typeface="Consolas"/>
              </a:rPr>
              <a:t> valeur = boite;    </a:t>
            </a:r>
            <a:r>
              <a:rPr sz="1800">
                <a:solidFill>
                  <a:srgbClr val="7A7E85"/>
                </a:solidFill>
                <a:latin typeface="Consolas"/>
              </a:rPr>
              <a:t>// unboxing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57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Séparer le calcul du dialogue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402336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600"/>
              <a:t>Une méthode calcule et retourne un résultat : elle ne lit ni n'affiche rien</a:t>
            </a:r>
          </a:p>
          <a:p>
            <a:pPr marL="0" indent="0">
              <a:spcAft>
                <a:spcPts val="800"/>
              </a:spcAft>
              <a:buNone/>
            </a:pPr>
            <a:r>
              <a:rPr sz="2600"/>
              <a:t>Le </a:t>
            </a:r>
            <a:r>
              <a:rPr sz="2600">
                <a:solidFill>
                  <a:schemeClr val="accent4"/>
                </a:solidFill>
                <a:latin typeface="Consolas"/>
              </a:rPr>
              <a:t>main</a:t>
            </a:r>
            <a:r>
              <a:rPr sz="2600"/>
              <a:t> dialogue avec l'utilisateur : il ne calcule rien</a:t>
            </a:r>
          </a:p>
          <a:p>
            <a:pPr marL="0" indent="0">
              <a:spcAft>
                <a:spcPts val="800"/>
              </a:spcAft>
              <a:buNone/>
            </a:pPr>
            <a:r>
              <a:rPr sz="2600"/>
              <a:t>Le calcul devient testable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600"/>
              <a:t>Voir </a:t>
            </a:r>
            <a:r>
              <a:rPr sz="2600">
                <a:solidFill>
                  <a:schemeClr val="accent4"/>
                </a:solidFill>
                <a:latin typeface="Consolas"/>
              </a:rPr>
              <a:t>CC-MET.8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892040" y="1371600"/>
            <a:ext cx="6355080" cy="3291839"/>
          </a:xfrm>
          <a:prstGeom prst="roundRect">
            <a:avLst>
              <a:gd name="adj" fmla="val 2777"/>
            </a:avLst>
          </a:prstGeom>
          <a:solidFill>
            <a:srgbClr val="1D1F2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37160" tIns="91440" rIns="137160" bIns="9144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CF8E6D"/>
                </a:solidFill>
                <a:latin typeface="Consolas"/>
              </a:rPr>
              <a:t>public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class</a:t>
            </a:r>
            <a:r>
              <a:rPr sz="1650">
                <a:solidFill>
                  <a:srgbClr val="BCBEC4"/>
                </a:solidFill>
                <a:latin typeface="Consolas"/>
              </a:rPr>
              <a:t> Disque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</a:t>
            </a:r>
            <a:r>
              <a:rPr sz="1650">
                <a:solidFill>
                  <a:srgbClr val="CF8E6D"/>
                </a:solidFill>
                <a:latin typeface="Consolas"/>
              </a:rPr>
              <a:t>public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static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double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56A8F5"/>
                </a:solidFill>
                <a:latin typeface="Consolas"/>
              </a:rPr>
              <a:t>aire</a:t>
            </a:r>
            <a:r>
              <a:rPr sz="1650">
                <a:solidFill>
                  <a:srgbClr val="BCBEC4"/>
                </a:solidFill>
                <a:latin typeface="Consolas"/>
              </a:rPr>
              <a:t>(</a:t>
            </a:r>
            <a:r>
              <a:rPr sz="1650">
                <a:solidFill>
                  <a:srgbClr val="CF8E6D"/>
                </a:solidFill>
                <a:latin typeface="Consolas"/>
              </a:rPr>
              <a:t>double</a:t>
            </a:r>
            <a:r>
              <a:rPr sz="1650">
                <a:solidFill>
                  <a:srgbClr val="BCBEC4"/>
                </a:solidFill>
                <a:latin typeface="Consolas"/>
              </a:rPr>
              <a:t> rayon)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</a:t>
            </a:r>
            <a:r>
              <a:rPr sz="1650">
                <a:solidFill>
                  <a:srgbClr val="CF8E6D"/>
                </a:solidFill>
                <a:latin typeface="Consolas"/>
              </a:rPr>
              <a:t>return</a:t>
            </a:r>
            <a:r>
              <a:rPr sz="1650">
                <a:solidFill>
                  <a:srgbClr val="BCBEC4"/>
                </a:solidFill>
                <a:latin typeface="Consolas"/>
              </a:rPr>
              <a:t> Math.PI * rayon * rayon;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</a:t>
            </a:r>
            <a:r>
              <a:rPr sz="1650">
                <a:solidFill>
                  <a:srgbClr val="CF8E6D"/>
                </a:solidFill>
                <a:latin typeface="Consolas"/>
              </a:rPr>
              <a:t>public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static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CF8E6D"/>
                </a:solidFill>
                <a:latin typeface="Consolas"/>
              </a:rPr>
              <a:t>void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56A8F5"/>
                </a:solidFill>
                <a:latin typeface="Consolas"/>
              </a:rPr>
              <a:t>main</a:t>
            </a:r>
            <a:r>
              <a:rPr sz="1650">
                <a:solidFill>
                  <a:srgbClr val="BCBEC4"/>
                </a:solidFill>
                <a:latin typeface="Consolas"/>
              </a:rPr>
              <a:t>(String[] args)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Scanner clavier = </a:t>
            </a:r>
            <a:r>
              <a:rPr sz="1650">
                <a:solidFill>
                  <a:srgbClr val="CF8E6D"/>
                </a:solidFill>
                <a:latin typeface="Consolas"/>
              </a:rPr>
              <a:t>new</a:t>
            </a:r>
            <a:r>
              <a:rPr sz="1650">
                <a:solidFill>
                  <a:srgbClr val="BCBEC4"/>
                </a:solidFill>
                <a:latin typeface="Consolas"/>
              </a:rPr>
              <a:t> </a:t>
            </a:r>
            <a:r>
              <a:rPr sz="1650">
                <a:solidFill>
                  <a:srgbClr val="56A8F5"/>
                </a:solidFill>
                <a:latin typeface="Consolas"/>
              </a:rPr>
              <a:t>Scanner</a:t>
            </a:r>
            <a:r>
              <a:rPr sz="1650">
                <a:solidFill>
                  <a:srgbClr val="BCBEC4"/>
                </a:solidFill>
                <a:latin typeface="Consolas"/>
              </a:rPr>
              <a:t>(System.in);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650">
                <a:solidFill>
                  <a:srgbClr val="56A8F5"/>
                </a:solidFill>
                <a:latin typeface="Consolas"/>
              </a:rPr>
              <a:t>print</a:t>
            </a:r>
            <a:r>
              <a:rPr sz="1650">
                <a:solidFill>
                  <a:srgbClr val="BCBEC4"/>
                </a:solidFill>
                <a:latin typeface="Consolas"/>
              </a:rPr>
              <a:t>(</a:t>
            </a:r>
            <a:r>
              <a:rPr sz="1650">
                <a:solidFill>
                  <a:srgbClr val="6AAB73"/>
                </a:solidFill>
                <a:latin typeface="Consolas"/>
              </a:rPr>
              <a:t>"Rayon : "</a:t>
            </a:r>
            <a:r>
              <a:rPr sz="1650">
                <a:solidFill>
                  <a:srgbClr val="BCBEC4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</a:t>
            </a:r>
            <a:r>
              <a:rPr sz="1650">
                <a:solidFill>
                  <a:srgbClr val="CF8E6D"/>
                </a:solidFill>
                <a:latin typeface="Consolas"/>
              </a:rPr>
              <a:t>double</a:t>
            </a:r>
            <a:r>
              <a:rPr sz="1650">
                <a:solidFill>
                  <a:srgbClr val="BCBEC4"/>
                </a:solidFill>
                <a:latin typeface="Consolas"/>
              </a:rPr>
              <a:t> rayon = clavier.</a:t>
            </a:r>
            <a:r>
              <a:rPr sz="1650">
                <a:solidFill>
                  <a:srgbClr val="56A8F5"/>
                </a:solidFill>
                <a:latin typeface="Consolas"/>
              </a:rPr>
              <a:t>nextDouble</a:t>
            </a:r>
            <a:r>
              <a:rPr sz="1650">
                <a:solidFill>
                  <a:srgbClr val="BCBEC4"/>
                </a:solidFill>
                <a:latin typeface="Consolas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    System.out.</a:t>
            </a:r>
            <a:r>
              <a:rPr sz="1650">
                <a:solidFill>
                  <a:srgbClr val="56A8F5"/>
                </a:solidFill>
                <a:latin typeface="Consolas"/>
              </a:rPr>
              <a:t>println</a:t>
            </a:r>
            <a:r>
              <a:rPr sz="1650">
                <a:solidFill>
                  <a:srgbClr val="BCBEC4"/>
                </a:solidFill>
                <a:latin typeface="Consolas"/>
              </a:rPr>
              <a:t>(</a:t>
            </a:r>
            <a:r>
              <a:rPr sz="1650">
                <a:solidFill>
                  <a:srgbClr val="6AAB73"/>
                </a:solidFill>
                <a:latin typeface="Consolas"/>
              </a:rPr>
              <a:t>"Aire : "</a:t>
            </a:r>
            <a:r>
              <a:rPr sz="1650">
                <a:solidFill>
                  <a:srgbClr val="BCBEC4"/>
                </a:solidFill>
                <a:latin typeface="Consolas"/>
              </a:rPr>
              <a:t> + </a:t>
            </a:r>
            <a:r>
              <a:rPr sz="1650">
                <a:solidFill>
                  <a:srgbClr val="56A8F5"/>
                </a:solidFill>
                <a:latin typeface="Consolas"/>
              </a:rPr>
              <a:t>aire</a:t>
            </a:r>
            <a:r>
              <a:rPr sz="1650">
                <a:solidFill>
                  <a:srgbClr val="BCBEC4"/>
                </a:solidFill>
                <a:latin typeface="Consolas"/>
              </a:rPr>
              <a:t>(rayon));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BCBEC4"/>
                </a:solidFill>
                <a:latin typeface="Consolas"/>
              </a:rPr>
              <a:t>}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58</a:t>
            </a:fld>
            <a:endParaRPr lang="fr-FR"/>
          </a:p>
        </p:txBody>
      </p:sp>
      <p:sp>
        <p:nvSpPr>
          <p:cNvPr id="6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Exercice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9326880" cy="960120"/>
          </a:xfrm>
          <a:prstGeom prst="roundRect">
            <a:avLst>
              <a:gd name="adj" fmla="val 9523"/>
            </a:avLst>
          </a:prstGeom>
          <a:solidFill>
            <a:srgbClr val="1D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9202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chemeClr val="accent4"/>
                </a:solidFill>
                <a:latin typeface="Consolas"/>
              </a:rPr>
              <a:t>POO.5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417320"/>
            <a:ext cx="6949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Changement de base, et logique testable</a:t>
            </a:r>
          </a:p>
          <a:p>
            <a:r>
              <a:rPr sz="1400">
                <a:solidFill>
                  <a:srgbClr val="BCBEC4"/>
                </a:solidFill>
              </a:rPr>
              <a:t>fascicule POO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9326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La Javadoc de </a:t>
            </a:r>
            <a:r>
              <a:rPr sz="2400">
                <a:solidFill>
                  <a:schemeClr val="accent4"/>
                </a:solidFill>
                <a:latin typeface="Consolas"/>
              </a:rPr>
              <a:t>Integer.parseInt(String, int)</a:t>
            </a:r>
            <a:r>
              <a:rPr sz="2400"/>
              <a:t> : </a:t>
            </a:r>
            <a:r>
              <a:rPr sz="2400">
                <a:solidFill>
                  <a:schemeClr val="accent4"/>
                </a:solidFill>
                <a:latin typeface="Consolas"/>
              </a:rPr>
              <a:t>IDE.14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2720" y="475488"/>
            <a:ext cx="1280160" cy="1280160"/>
          </a:xfrm>
          <a:prstGeom prst="rect">
            <a:avLst/>
          </a:prstGeom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59</a:t>
            </a:fld>
            <a:endParaRPr lang="fr-FR"/>
          </a:p>
        </p:txBody>
      </p:sp>
      <p:sp>
        <p:nvSpPr>
          <p:cNvPr id="9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/>
              <a:t>En résumé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71600"/>
            <a:ext cx="10881360" cy="4800600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2800"/>
              <a:t>Une classe décrit, </a:t>
            </a:r>
            <a:r>
              <a:rPr sz="2800">
                <a:solidFill>
                  <a:schemeClr val="accent4"/>
                </a:solidFill>
                <a:latin typeface="Consolas"/>
              </a:rPr>
              <a:t>new</a:t>
            </a:r>
            <a:r>
              <a:rPr sz="2800"/>
              <a:t> construit, le constructeur initialise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>
                <a:solidFill>
                  <a:schemeClr val="accent4"/>
                </a:solidFill>
                <a:latin typeface="Consolas"/>
              </a:rPr>
              <a:t>this</a:t>
            </a:r>
            <a:r>
              <a:rPr sz="2800"/>
              <a:t> désigne l'objet en cours ; </a:t>
            </a:r>
            <a:r>
              <a:rPr sz="2800">
                <a:solidFill>
                  <a:schemeClr val="accent4"/>
                </a:solidFill>
                <a:latin typeface="Consolas"/>
              </a:rPr>
              <a:t>final</a:t>
            </a:r>
            <a:r>
              <a:rPr sz="2800"/>
              <a:t> fige un champ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Des champs </a:t>
            </a:r>
            <a:r>
              <a:rPr sz="2800">
                <a:solidFill>
                  <a:schemeClr val="accent4"/>
                </a:solidFill>
                <a:latin typeface="Consolas"/>
              </a:rPr>
              <a:t>private</a:t>
            </a:r>
            <a:r>
              <a:rPr sz="2800"/>
              <a:t>, et des accesseurs seulement s'ils se justifient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>
                <a:solidFill>
                  <a:schemeClr val="accent4"/>
                </a:solidFill>
                <a:latin typeface="Consolas"/>
              </a:rPr>
              <a:t>static</a:t>
            </a:r>
            <a:r>
              <a:rPr sz="2800"/>
              <a:t> : ce qui appartient à la classe, pas à l'objet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Une variable d'objet contient une référence</a:t>
            </a:r>
          </a:p>
          <a:p>
            <a:pPr marL="0" indent="0">
              <a:spcAft>
                <a:spcPts val="800"/>
              </a:spcAft>
              <a:buNone/>
            </a:pPr>
            <a:r>
              <a:rPr sz="2800"/>
              <a:t>Le calcul dans une méthode, le dialogue dans le </a:t>
            </a:r>
            <a:r>
              <a:rPr sz="2800">
                <a:solidFill>
                  <a:schemeClr val="accent4"/>
                </a:solidFill>
                <a:latin typeface="Consolas"/>
              </a:rPr>
              <a:t>main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663AF-B9DD-50FD-43D6-172C82816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60</a:t>
            </a:fld>
            <a:endParaRPr lang="fr-FR"/>
          </a:p>
        </p:txBody>
      </p:sp>
      <p:sp>
        <p:nvSpPr>
          <p:cNvPr id="5" name="Repere de section"/>
          <p:cNvSpPr txBox="1"/>
          <p:nvPr/>
        </p:nvSpPr>
        <p:spPr>
          <a:xfrm>
            <a:off x="6583680" y="6382512"/>
            <a:ext cx="44805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BCBEC4"/>
                </a:solidFill>
              </a:rPr>
              <a:t>POO · </a:t>
            </a:r>
            <a:r>
              <a:rPr sz="1100" b="1">
                <a:solidFill>
                  <a:schemeClr val="accent4"/>
                </a:solidFill>
              </a:rPr>
              <a:t>7. Les wrappers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115130</TotalTime>
  <Words>10411</Words>
  <Application>Microsoft Macintosh PowerPoint</Application>
  <PresentationFormat>Grand écran</PresentationFormat>
  <Paragraphs>1070</Paragraphs>
  <Slides>60</Slides>
  <Notes>60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60</vt:i4>
      </vt:variant>
    </vt:vector>
  </HeadingPairs>
  <TitlesOfParts>
    <vt:vector size="66" baseType="lpstr">
      <vt:lpstr>Aptos</vt:lpstr>
      <vt:lpstr>Arial</vt:lpstr>
      <vt:lpstr>Calibri</vt:lpstr>
      <vt:lpstr>Consolas</vt:lpstr>
      <vt:lpstr>Corbel</vt:lpstr>
      <vt:lpstr>ThemeEphec2022</vt:lpstr>
      <vt:lpstr>JAVA 2</vt:lpstr>
      <vt:lpstr>Au programme</vt:lpstr>
      <vt:lpstr>Présentation PowerPoint</vt:lpstr>
      <vt:lpstr>Pas de grosses différences niveau langage</vt:lpstr>
      <vt:lpstr>Structuration des classes</vt:lpstr>
      <vt:lpstr>Conventions de nommage différentes</vt:lpstr>
      <vt:lpstr>Lien entre fichier et classe</vt:lpstr>
      <vt:lpstr>Classes du Framework différentes</vt:lpstr>
      <vt:lpstr>Méthode main rend la classe exécutable</vt:lpstr>
      <vt:lpstr>Classe Java et Programme (exécutable) Java</vt:lpstr>
      <vt:lpstr>Du code source au programme</vt:lpstr>
      <vt:lpstr>En résumé…</vt:lpstr>
      <vt:lpstr>Présentation PowerPoint</vt:lpstr>
      <vt:lpstr>Les quatre principes de la POO</vt:lpstr>
      <vt:lpstr>Classe et objet</vt:lpstr>
      <vt:lpstr>Démonstration</vt:lpstr>
      <vt:lpstr>Le constructeur</vt:lpstr>
      <vt:lpstr>Le mot-clé this</vt:lpstr>
      <vt:lpstr>Un champ final</vt:lpstr>
      <vt:lpstr>La méthode toString</vt:lpstr>
      <vt:lpstr>Exercices</vt:lpstr>
      <vt:lpstr>Présentation PowerPoint</vt:lpstr>
      <vt:lpstr>Le problème d'un champ public</vt:lpstr>
      <vt:lpstr>Fermer les champs, ouvrir des accesseurs</vt:lpstr>
      <vt:lpstr>Ce que le détour permet</vt:lpstr>
      <vt:lpstr>Un accesseur n'est pas une obligation</vt:lpstr>
      <vt:lpstr>La donnée qui n'existe pas</vt:lpstr>
      <vt:lpstr>Exercices</vt:lpstr>
      <vt:lpstr>Présentation PowerPoint</vt:lpstr>
      <vt:lpstr>Champs et méthodes de classe</vt:lpstr>
      <vt:lpstr>Champs d’objets</vt:lpstr>
      <vt:lpstr>Champ de classe</vt:lpstr>
      <vt:lpstr>Nommer un champ de classe</vt:lpstr>
      <vt:lpstr>Démonstration</vt:lpstr>
      <vt:lpstr>Un compteur d'instances</vt:lpstr>
      <vt:lpstr>Méthodes de classe</vt:lpstr>
      <vt:lpstr>Une méthode statique n'a pas de this</vt:lpstr>
      <vt:lpstr>Les constantes</vt:lpstr>
      <vt:lpstr>Quatre sortes de champs</vt:lpstr>
      <vt:lpstr>À quoi servent les méthodes de classe</vt:lpstr>
      <vt:lpstr>Les fabriques</vt:lpstr>
      <vt:lpstr>Exercices</vt:lpstr>
      <vt:lpstr>Présentation PowerPoint</vt:lpstr>
      <vt:lpstr>Pour les entrées au clavier, on utilise la classe Scanner…</vt:lpstr>
      <vt:lpstr>La Javadoc</vt:lpstr>
      <vt:lpstr>La documentation de Scanner</vt:lpstr>
      <vt:lpstr>Les principales méthodes de Scanner</vt:lpstr>
      <vt:lpstr>Un piège : nextInt suivi de nextLine</vt:lpstr>
      <vt:lpstr>Exercices</vt:lpstr>
      <vt:lpstr>Présentation PowerPoint</vt:lpstr>
      <vt:lpstr>Types primitifs vs Objets</vt:lpstr>
      <vt:lpstr>Deux noms, un seul objet</vt:lpstr>
      <vt:lpstr>Exercice</vt:lpstr>
      <vt:lpstr>Ce que vous avez observé</vt:lpstr>
      <vt:lpstr>Présentation PowerPoint</vt:lpstr>
      <vt:lpstr>Types primitifs et Wrappers</vt:lpstr>
      <vt:lpstr>Ce qu'offrent les wrappers</vt:lpstr>
      <vt:lpstr>Séparer le calcul du dialogue</vt:lpstr>
      <vt:lpstr>Exercice</vt:lpstr>
      <vt:lpstr>En résumé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43</cp:revision>
  <dcterms:created xsi:type="dcterms:W3CDTF">2023-01-04T13:50:20Z</dcterms:created>
  <dcterms:modified xsi:type="dcterms:W3CDTF">2026-10-22T21:58:41Z</dcterms:modified>
</cp:coreProperties>
</file>