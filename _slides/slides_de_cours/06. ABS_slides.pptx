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8"/>
  </p:notesMasterIdLst>
  <p:handoutMasterIdLst>
    <p:handoutMasterId r:id="rId49"/>
  </p:handoutMasterIdLst>
  <p:sldIdLst>
    <p:sldId id="652" r:id="rId2"/>
    <p:sldId id="694" r:id="rId3"/>
    <p:sldId id="653" r:id="rId4"/>
    <p:sldId id="654" r:id="rId5"/>
    <p:sldId id="655" r:id="rId6"/>
    <p:sldId id="656" r:id="rId7"/>
    <p:sldId id="657" r:id="rId8"/>
    <p:sldId id="658" r:id="rId9"/>
    <p:sldId id="695" r:id="rId10"/>
    <p:sldId id="659" r:id="rId11"/>
    <p:sldId id="577" r:id="rId12"/>
    <p:sldId id="660" r:id="rId13"/>
    <p:sldId id="661" r:id="rId14"/>
    <p:sldId id="662" r:id="rId15"/>
    <p:sldId id="663" r:id="rId16"/>
    <p:sldId id="664" r:id="rId17"/>
    <p:sldId id="665" r:id="rId18"/>
    <p:sldId id="666" r:id="rId19"/>
    <p:sldId id="667" r:id="rId20"/>
    <p:sldId id="668" r:id="rId21"/>
    <p:sldId id="669" r:id="rId22"/>
    <p:sldId id="670" r:id="rId23"/>
    <p:sldId id="671" r:id="rId24"/>
    <p:sldId id="590" r:id="rId25"/>
    <p:sldId id="672" r:id="rId26"/>
    <p:sldId id="673" r:id="rId27"/>
    <p:sldId id="674" r:id="rId28"/>
    <p:sldId id="675" r:id="rId29"/>
    <p:sldId id="676" r:id="rId30"/>
    <p:sldId id="696" r:id="rId54"/>
    <p:sldId id="677" r:id="rId31"/>
    <p:sldId id="678" r:id="rId32"/>
    <p:sldId id="679" r:id="rId33"/>
    <p:sldId id="599" r:id="rId34"/>
    <p:sldId id="681" r:id="rId35"/>
    <p:sldId id="601" r:id="rId36"/>
    <p:sldId id="683" r:id="rId37"/>
    <p:sldId id="684" r:id="rId38"/>
    <p:sldId id="685" r:id="rId39"/>
    <p:sldId id="686" r:id="rId40"/>
    <p:sldId id="687" r:id="rId41"/>
    <p:sldId id="688" r:id="rId42"/>
    <p:sldId id="689" r:id="rId43"/>
    <p:sldId id="690" r:id="rId44"/>
    <p:sldId id="691" r:id="rId45"/>
    <p:sldId id="692" r:id="rId46"/>
    <p:sldId id="693"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0F5C9B4-AF17-5DBB-88DE-C3E4A15C0ADE}">
          <p14:sldIdLst>
            <p14:sldId id="652"/>
            <p14:sldId id="694"/>
          </p14:sldIdLst>
        </p14:section>
        <p14:section name="1. L'héritage en Java" id="{C9A610E1-69B2-59A6-B7F9-3F655F71CEF2}">
          <p14:sldIdLst>
            <p14:sldId id="653"/>
            <p14:sldId id="654"/>
            <p14:sldId id="655"/>
            <p14:sldId id="656"/>
            <p14:sldId id="657"/>
            <p14:sldId id="658"/>
            <p14:sldId id="695"/>
          </p14:sldIdLst>
        </p14:section>
        <p14:section name="2. Le même code, trois fois" id="{ACAAA0D8-71E0-5C4F-892E-9D52B9A8B4FE}">
          <p14:sldIdLst>
            <p14:sldId id="659"/>
            <p14:sldId id="577"/>
            <p14:sldId id="660"/>
            <p14:sldId id="661"/>
            <p14:sldId id="662"/>
            <p14:sldId id="663"/>
          </p14:sldIdLst>
        </p14:section>
        <p14:section name="3. La classe abstraite" id="{3B8104F6-AE0E-526B-8C48-9869C28A1C8F}">
          <p14:sldIdLst>
            <p14:sldId id="664"/>
            <p14:sldId id="665"/>
            <p14:sldId id="666"/>
            <p14:sldId id="667"/>
          </p14:sldIdLst>
        </p14:section>
        <p14:section name="4. Ce qui monte, ce qui descend" id="{953DD7B7-DED9-5FDB-A825-D08A415964E7}">
          <p14:sldIdLst>
            <p14:sldId id="668"/>
            <p14:sldId id="669"/>
            <p14:sldId id="670"/>
            <p14:sldId id="671"/>
            <p14:sldId id="590"/>
            <p14:sldId id="672"/>
            <p14:sldId id="673"/>
          </p14:sldIdLst>
        </p14:section>
        <p14:section name="5. Le polymorphisme" id="{CC80C41C-605D-5B65-9D21-60E0737FD4CE}">
          <p14:sldIdLst>
            <p14:sldId id="674"/>
            <p14:sldId id="675"/>
            <p14:sldId id="676"/>
            <p14:sldId id="677"/>
            <p14:sldId id="678"/>
          </p14:sldIdLst>
        </p14:section>
        <p14:section name="6. La mère appelle la fille" id="{71F96C91-D2EB-5445-B197-0AFD9D215817}">
          <p14:sldIdLst>
            <p14:sldId id="679"/>
            <p14:sldId id="599"/>
            <p14:sldId id="681"/>
            <p14:sldId id="601"/>
            <p14:sldId id="683"/>
            <p14:sldId id="684"/>
            <p14:sldId id="685"/>
          </p14:sldIdLst>
        </p14:section>
        <p14:section name="7. Deux étages" id="{BF9E647A-E461-5E4B-8CC0-C61198F461D8}">
          <p14:sldIdLst>
            <p14:sldId id="686"/>
            <p14:sldId id="687"/>
            <p14:sldId id="688"/>
            <p14:sldId id="689"/>
            <p14:sldId id="690"/>
          </p14:sldIdLst>
        </p14:section>
        <p14:section name="8. Décider soi-même" id="{35312C8C-5099-5346-85D7-520AE8BE596C}">
          <p14:sldIdLst>
            <p14:sldId id="691"/>
            <p14:sldId id="692"/>
            <p14:sldId id="69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02"/>
    <p:restoredTop sz="84932"/>
  </p:normalViewPr>
  <p:slideViewPr>
    <p:cSldViewPr snapToGrid="0">
      <p:cViewPr varScale="1">
        <p:scale>
          <a:sx n="107" d="100"/>
          <a:sy n="107" d="100"/>
        </p:scale>
        <p:origin x="968"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notesMaster" Target="notesMasters/notesMaster1.xml"/><Relationship Id="rId49" Type="http://schemas.openxmlformats.org/officeDocument/2006/relationships/handoutMaster" Target="handoutMasters/handout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4"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module répond à une question de conception : que faire quand plusieurs classes font la même chose, à un détail près. La réponse tient en une phrase, qui sert de sous-titre au fascicule : ce qui est commun monte, ce qui varie descend.</a:t>
            </a:r>
          </a:p>
          <a:p>
            <a:r>
              <a:t>L'outil pour cela est la classe abstraite, et le mécanisme qui la rend utile est le polymorphisme. Les deux ont été annoncés au module POO, où la slide des quatre principes renvoyait ici.</a:t>
            </a:r>
          </a:p>
          <a:p>
            <a:r>
              <a:t>C'est aussi la matière de la quatrième question de l'examen, et l'endroit où se concentre l'erreur la plus fréquente : recopier la même méthode dans trois sous-classes.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huit sections : 1. L'héritage en Java ; 2. Le même code, trois fois ; 3. La classe abstraite ; 4. Ce qui monte, ce qui descend ; 5. Le polymorphisme ; 6. La mère appelle la fille ; 7. Deux étages ; 8. Décider soi-même.</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vu l'héritage en C#. Cette section le retrouve en Java, sur des classes ordinaires : la syntaxe, l'appel au constructeur de la classe mère, la redéfinition d'une méthode et la visibilité. Rien d'abstrait avant la section 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L'héritage exprime une relation : un compte d'épargne *est* un compte bancaire. Tout ce que </a:t>
            </a:r>
            <a:r>
              <a:rPr>
                <a:latin typeface="Consolas"/>
              </a:rPr>
              <a:t>CompteBancaire</a:t>
            </a:r>
            <a:r>
              <a:t> sait faire, </a:t>
            </a:r>
            <a:r>
              <a:rPr>
                <a:latin typeface="Consolas"/>
              </a:rPr>
              <a:t>CompteEpargne</a:t>
            </a:r>
            <a:r>
              <a:t> le sait aussi, sans qu'une seule ligne soit recopiée.</a:t>
            </a:r>
          </a:p>
          <a:p>
            <a:r>
              <a:t>La sous-classe ajoute ce qui la distingue : ici un taux, et une méthode qui s'en sert. Elle appelle </a:t>
            </a:r>
            <a:r>
              <a:rPr>
                <a:latin typeface="Consolas"/>
              </a:rPr>
              <a:t>deposer</a:t>
            </a:r>
            <a:r>
              <a:t> et </a:t>
            </a:r>
            <a:r>
              <a:rPr>
                <a:latin typeface="Consolas"/>
              </a:rPr>
              <a:t>solde</a:t>
            </a:r>
            <a:r>
              <a:t> sans les avoir écrites, puisqu'elle en a hérité.</a:t>
            </a:r>
          </a:p>
          <a:p>
            <a:r>
              <a:t>Une classe ne peut étendre qu'une seule classe. C'est une différence importante avec les interfaces, que le module suivant abordera.</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objet </a:t>
            </a:r>
            <a:r>
              <a:rPr>
                <a:latin typeface="Consolas"/>
              </a:rPr>
              <a:t>CompteEpargne</a:t>
            </a:r>
            <a:r>
              <a:t> contient aussi un </a:t>
            </a:r>
            <a:r>
              <a:rPr>
                <a:latin typeface="Consolas"/>
              </a:rPr>
              <a:t>CompteBancaire</a:t>
            </a:r>
            <a:r>
              <a:t>, avec ses champs. Quelqu'un doit les initialiser, et ce quelqu'un est le constructeur de la classe mère.</a:t>
            </a:r>
          </a:p>
          <a:p>
            <a:r>
              <a:t>L'appel s'écrit </a:t>
            </a:r>
            <a:r>
              <a:rPr>
                <a:latin typeface="Consolas"/>
              </a:rPr>
              <a:t>super(...)</a:t>
            </a:r>
            <a:r>
              <a:t> et doit être la première instruction du constructeur. Si vous ne l'écrivez pas, le compilateur ajoute </a:t>
            </a:r>
            <a:r>
              <a:rPr>
                <a:latin typeface="Consolas"/>
              </a:rPr>
              <a:t>super()</a:t>
            </a:r>
            <a:r>
              <a:t> tout seul — et se plaint quand la classe mère n'a pas de constructeur sans argument.</a:t>
            </a:r>
          </a:p>
          <a:p>
            <a:r>
              <a:t>Le mot-clé </a:t>
            </a:r>
            <a:r>
              <a:rPr>
                <a:latin typeface="Consolas"/>
              </a:rPr>
              <a:t>super</a:t>
            </a:r>
            <a:r>
              <a:t> sert aussi à appeler une méthode de la mère depuis la fille, quand on la redéfinit sans vouloir la remplacer complètement.</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Redéfinir, c'est fournir une autre version d'une méthode que la mère possède déjà. La signature doit être la même, sinon il ne s'agit plus d'une redéfinition mais d'une nouvelle méthode qui vit à côté.</a:t>
            </a:r>
          </a:p>
          <a:p>
            <a:r>
              <a:t>C'est précisément ce que </a:t>
            </a:r>
            <a:r>
              <a:rPr>
                <a:latin typeface="Consolas"/>
              </a:rPr>
              <a:t>@Override</a:t>
            </a:r>
            <a:r>
              <a:t> empêche. Une faute de frappe dans le nom, un paramètre oublié, et le compilateur refuse — alors que sans l'annotation, le programme compilerait et appellerait la méthode de la mère, en silence. L'annotation est facultative pour le langage ; elle ne l'est pas dans votre code.</a:t>
            </a:r>
          </a:p>
          <a:p>
            <a:r>
              <a:t>L'appel à </a:t>
            </a:r>
            <a:r>
              <a:rPr>
                <a:latin typeface="Consolas"/>
              </a:rPr>
              <a:t>super.deposer</a:t>
            </a:r>
            <a:r>
              <a:t> ajoute un comportement sans jeter celui de la mère. Sans lui, la version de la fille remplacerait purement et simplement l'autre.</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Hériter</a:t>
            </a:r>
            <a:r>
              <a:rPr dirty="0"/>
              <a:t> ne </a:t>
            </a:r>
            <a:r>
              <a:rPr dirty="0" err="1"/>
              <a:t>donne</a:t>
            </a:r>
            <a:r>
              <a:rPr dirty="0"/>
              <a:t> pas </a:t>
            </a:r>
            <a:r>
              <a:rPr dirty="0" err="1"/>
              <a:t>tous</a:t>
            </a:r>
            <a:r>
              <a:rPr dirty="0"/>
              <a:t> les droits. Un champ </a:t>
            </a:r>
            <a:r>
              <a:rPr dirty="0">
                <a:latin typeface="Consolas"/>
              </a:rPr>
              <a:t>private</a:t>
            </a:r>
            <a:r>
              <a:rPr dirty="0"/>
              <a:t> </a:t>
            </a:r>
            <a:r>
              <a:rPr dirty="0" err="1"/>
              <a:t>appartient</a:t>
            </a:r>
            <a:r>
              <a:rPr dirty="0"/>
              <a:t> à la </a:t>
            </a:r>
            <a:r>
              <a:rPr dirty="0" err="1"/>
              <a:t>classe</a:t>
            </a:r>
            <a:r>
              <a:rPr dirty="0"/>
              <a:t> qui le </a:t>
            </a:r>
            <a:r>
              <a:rPr dirty="0" err="1"/>
              <a:t>déclare</a:t>
            </a:r>
            <a:r>
              <a:rPr dirty="0"/>
              <a:t>, et la sous-</a:t>
            </a:r>
            <a:r>
              <a:rPr dirty="0" err="1"/>
              <a:t>classe</a:t>
            </a:r>
            <a:r>
              <a:rPr dirty="0"/>
              <a:t> ne </a:t>
            </a:r>
            <a:r>
              <a:rPr dirty="0" err="1"/>
              <a:t>peut</a:t>
            </a:r>
            <a:r>
              <a:rPr dirty="0"/>
              <a:t> pas le lire </a:t>
            </a:r>
            <a:r>
              <a:rPr dirty="0" err="1"/>
              <a:t>directement</a:t>
            </a:r>
            <a:r>
              <a:rPr dirty="0"/>
              <a:t> — </a:t>
            </a:r>
            <a:r>
              <a:rPr dirty="0" err="1"/>
              <a:t>même</a:t>
            </a:r>
            <a:r>
              <a:rPr dirty="0"/>
              <a:t> </a:t>
            </a:r>
            <a:r>
              <a:rPr dirty="0" err="1"/>
              <a:t>si</a:t>
            </a:r>
            <a:r>
              <a:rPr dirty="0"/>
              <a:t> </a:t>
            </a:r>
            <a:r>
              <a:rPr dirty="0" err="1"/>
              <a:t>l'objet</a:t>
            </a:r>
            <a:r>
              <a:rPr dirty="0"/>
              <a:t> le </a:t>
            </a:r>
            <a:r>
              <a:rPr dirty="0" err="1"/>
              <a:t>contient</a:t>
            </a:r>
            <a:r>
              <a:rPr dirty="0"/>
              <a:t> bel et bien.</a:t>
            </a:r>
          </a:p>
          <a:p>
            <a:r>
              <a:rPr dirty="0"/>
              <a:t>Le </a:t>
            </a:r>
            <a:r>
              <a:rPr dirty="0" err="1"/>
              <a:t>modificateur</a:t>
            </a:r>
            <a:r>
              <a:rPr dirty="0"/>
              <a:t> </a:t>
            </a:r>
            <a:r>
              <a:rPr dirty="0">
                <a:latin typeface="Consolas"/>
              </a:rPr>
              <a:t>protected</a:t>
            </a:r>
            <a:r>
              <a:rPr dirty="0"/>
              <a:t> </a:t>
            </a:r>
            <a:r>
              <a:rPr lang="nl-BE" dirty="0"/>
              <a:t>sera vu en détail </a:t>
            </a:r>
            <a:r>
              <a:rPr dirty="0"/>
              <a:t>au module PKG. Il </a:t>
            </a:r>
            <a:r>
              <a:rPr dirty="0" err="1"/>
              <a:t>ouvre</a:t>
            </a:r>
            <a:r>
              <a:rPr dirty="0"/>
              <a:t> </a:t>
            </a:r>
            <a:r>
              <a:rPr dirty="0" err="1"/>
              <a:t>l'accès</a:t>
            </a:r>
            <a:r>
              <a:rPr dirty="0"/>
              <a:t> aux sous-classes et au package, et à </a:t>
            </a:r>
            <a:r>
              <a:rPr dirty="0" err="1"/>
              <a:t>personne</a:t>
            </a:r>
            <a:r>
              <a:rPr dirty="0"/>
              <a:t> </a:t>
            </a:r>
            <a:r>
              <a:rPr dirty="0" err="1"/>
              <a:t>d'autre</a:t>
            </a:r>
            <a:r>
              <a:rPr dirty="0"/>
              <a:t>. </a:t>
            </a:r>
            <a:r>
              <a:rPr dirty="0" err="1"/>
              <a:t>C'est</a:t>
            </a:r>
            <a:r>
              <a:rPr dirty="0"/>
              <a:t> le bon choix pour </a:t>
            </a:r>
            <a:r>
              <a:rPr dirty="0" err="1"/>
              <a:t>ce</a:t>
            </a:r>
            <a:r>
              <a:rPr dirty="0"/>
              <a:t> qui est un </a:t>
            </a:r>
            <a:r>
              <a:rPr dirty="0" err="1"/>
              <a:t>détail</a:t>
            </a:r>
            <a:r>
              <a:rPr dirty="0"/>
              <a:t> de </a:t>
            </a:r>
            <a:r>
              <a:rPr dirty="0" err="1"/>
              <a:t>fonctionnement</a:t>
            </a:r>
            <a:r>
              <a:rPr dirty="0"/>
              <a:t> </a:t>
            </a:r>
            <a:r>
              <a:rPr dirty="0" err="1"/>
              <a:t>partagé</a:t>
            </a:r>
            <a:r>
              <a:rPr dirty="0"/>
              <a:t> avec les filles, </a:t>
            </a:r>
            <a:r>
              <a:rPr dirty="0" err="1"/>
              <a:t>mais</a:t>
            </a:r>
            <a:r>
              <a:rPr dirty="0"/>
              <a:t> qui ne </a:t>
            </a:r>
            <a:r>
              <a:rPr dirty="0" err="1"/>
              <a:t>regarde</a:t>
            </a:r>
            <a:r>
              <a:rPr dirty="0"/>
              <a:t> pas le </a:t>
            </a:r>
            <a:r>
              <a:rPr dirty="0" err="1"/>
              <a:t>reste</a:t>
            </a:r>
            <a:r>
              <a:rPr dirty="0"/>
              <a:t> du </a:t>
            </a:r>
            <a:r>
              <a:rPr dirty="0" err="1"/>
              <a:t>programme</a:t>
            </a:r>
            <a:r>
              <a:rPr dirty="0"/>
              <a:t>. Voir PKG.5.</a:t>
            </a:r>
          </a:p>
          <a:p>
            <a:r>
              <a:rPr dirty="0"/>
              <a:t>Le </a:t>
            </a:r>
            <a:r>
              <a:rPr dirty="0" err="1"/>
              <a:t>réflexe</a:t>
            </a:r>
            <a:r>
              <a:rPr dirty="0"/>
              <a:t> de tout passer </a:t>
            </a:r>
            <a:r>
              <a:rPr dirty="0" err="1"/>
              <a:t>en</a:t>
            </a:r>
            <a:r>
              <a:rPr dirty="0"/>
              <a:t> </a:t>
            </a:r>
            <a:r>
              <a:rPr dirty="0">
                <a:latin typeface="Consolas"/>
              </a:rPr>
              <a:t>protected</a:t>
            </a:r>
            <a:r>
              <a:rPr dirty="0"/>
              <a:t> pour se simplifier la vie </a:t>
            </a:r>
            <a:r>
              <a:rPr dirty="0" err="1"/>
              <a:t>coûte</a:t>
            </a:r>
            <a:r>
              <a:rPr dirty="0"/>
              <a:t> </a:t>
            </a:r>
            <a:r>
              <a:rPr dirty="0" err="1"/>
              <a:t>cher</a:t>
            </a:r>
            <a:r>
              <a:rPr dirty="0"/>
              <a:t> : </a:t>
            </a:r>
            <a:r>
              <a:rPr dirty="0" err="1"/>
              <a:t>chaque</a:t>
            </a:r>
            <a:r>
              <a:rPr dirty="0"/>
              <a:t> champ </a:t>
            </a:r>
            <a:r>
              <a:rPr dirty="0" err="1"/>
              <a:t>ouvert</a:t>
            </a:r>
            <a:r>
              <a:rPr dirty="0"/>
              <a:t> est un champ </a:t>
            </a:r>
            <a:r>
              <a:rPr dirty="0" err="1"/>
              <a:t>que</a:t>
            </a:r>
            <a:r>
              <a:rPr dirty="0"/>
              <a:t> les sous-classes </a:t>
            </a:r>
            <a:r>
              <a:rPr dirty="0" err="1"/>
              <a:t>peuvent</a:t>
            </a:r>
            <a:r>
              <a:rPr dirty="0"/>
              <a:t> </a:t>
            </a:r>
            <a:r>
              <a:rPr dirty="0" err="1"/>
              <a:t>corrompre</a:t>
            </a:r>
            <a:r>
              <a:rPr dirty="0"/>
              <a:t>, et </a:t>
            </a:r>
            <a:r>
              <a:rPr dirty="0" err="1"/>
              <a:t>qu'on</a:t>
            </a:r>
            <a:r>
              <a:rPr dirty="0"/>
              <a:t> ne </a:t>
            </a:r>
            <a:r>
              <a:rPr dirty="0" err="1"/>
              <a:t>peut</a:t>
            </a:r>
            <a:r>
              <a:rPr dirty="0"/>
              <a:t> plus </a:t>
            </a:r>
            <a:r>
              <a:rPr dirty="0" err="1"/>
              <a:t>renommer</a:t>
            </a:r>
            <a:r>
              <a:rPr dirty="0"/>
              <a:t> sans les </a:t>
            </a:r>
            <a:r>
              <a:rPr dirty="0" err="1"/>
              <a:t>casser</a:t>
            </a:r>
            <a:r>
              <a:rPr dirty="0"/>
              <a:t>.</a:t>
            </a:r>
          </a:p>
          <a:p>
            <a:r>
              <a:rPr lang="fr-BE" dirty="0"/>
              <a:t>Le code complet, à exécuter : demos, classe demo.abs.slides.UneClasseQuiReprendUneAutre.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concepts sont les mêmes, l'écriture change. Deux différences méritent l'attention.</a:t>
            </a:r>
          </a:p>
          <a:p>
            <a:r>
              <a:t>En C#, </a:t>
            </a:r>
            <a:r>
              <a:rPr>
                <a:latin typeface="Consolas"/>
              </a:rPr>
              <a:t>override</a:t>
            </a:r>
            <a:r>
              <a:t> est obligatoire et fait partie de la déclaration. En Java, </a:t>
            </a:r>
            <a:r>
              <a:rPr>
                <a:latin typeface="Consolas"/>
              </a:rPr>
              <a:t>@Override</a:t>
            </a:r>
            <a:r>
              <a:t> est une annotation facultative, ce qui veut dire qu'on peut redéfinir sans la mettre, et donc se tromper sans être prévenu.</a:t>
            </a:r>
          </a:p>
          <a:p>
            <a:r>
              <a:t>En C#, l'appel au constructeur de base s'écrit dans l'en-tête ; en Java, il s'écrit dans le corps, en première instruction. La conséquence est la même, la place est différente.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Au module TAB, le vendeur de l'exercice TAB.4 possédait une Person : c'était un champ, comme un autre. Maintenant que l'héritage est là, l'autre modèle s'écrit : un vendeur est une personne, Vendor extends Person.</a:t>
            </a:r>
          </a:p>
          <a:p>
            <a:r>
              <a:rPr lang="fr-BE"/>
              <a:t>Les deux se défendent. L'héritage est le plus direct : le vendeur reçoit le nom, le prénom et tout ce que la personne sait faire, sans rien redéclarer. Il convient tant que le vendeur restera vendeur, toute sa vie dans le programme.</a:t>
            </a:r>
          </a:p>
          <a:p>
            <a:r>
              <a:rPr lang="fr-BE"/>
              <a:t>Le modèle par rôle est plus souple. La même personne peut être vendeur et cliente à la fois, ou cesser d'être vendeur sans disparaître. Avec l'héritage, c'est impossible : un objet ne change jamais de classe, et une classe Java n'a qu'une seule mère. Une personne qui est à la fois vendeur et cliente ne peut pas hériter des deux.</a:t>
            </a:r>
          </a:p>
          <a:p>
            <a:r>
              <a:rPr lang="fr-BE"/>
              <a:t>La question à se poser est donc moins « est-ce vrai dans la vie ? » que « ce rôle peut-il changer, ou se cumuler ? ». Si oui, le champ ; si non, l'héritage.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section pose le problème que la classe abstraite résout, et montre le geste par lequel on le corrige. Le problème est la duplication entre classes sœurs, et c'est l'erreur la plus fréquente à l'examen.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de parler de classe abstraite, il faut un problème qu'elle résout. Celui-ci est volontairement ordinaire : une application qui doit prévenir ses utilisateurs, par mail, par SMS ou par une notification sur le téléphone.</a:t>
            </a:r>
          </a:p>
          <a:p>
            <a:r>
              <a:t>Les trois canaux font la même chose, envoyer un texte, mais chacun à sa façon. La première idée, celle que presque tout le monde a, est d'écrire une classe par canal, chacune de son côté. Elle n'est pas mauvaise : elle fonctionne, et chaque classe est simple.</a:t>
            </a:r>
          </a:p>
          <a:p>
            <a:r>
              <a:t>Les slides suivantes montrent ce qu'elle coûte : du code répété trois fois, et surtout aucun moyen de traiter les trois canaux ensemble. C'est ce double défaut que la classe abstraite va corriger.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dans ce code n'est faux. Il compile, il fonctionne, et chaque classe est courte et lisible. Le défaut n'apparaît qu'au moment où la demande change.</a:t>
            </a:r>
          </a:p>
          <a:p>
            <a:r>
              <a:t>Ajoutez une règle — refuser les messages vides, horodater l'envoi, compter les notifications — et il faut la porter dans chaque classe. Le jour où l'une est oubliée, le programme se met à se comporter différemment selon le canal, et personne ne saura dire pourquoi.</a:t>
            </a:r>
          </a:p>
          <a:p>
            <a:r>
              <a:t>C'est l'objet de CC-CLS.3 du mémento Clean Code : la duplication entre sous-classes se traite en faisant remonter ce qui est commun, pas en le recopiant plus soigneusement.</a:t>
            </a:r>
          </a:p>
          <a:p>
            <a:r>
              <a:rPr lang="fr-BE" dirty="0"/>
              <a:t>Le code complet, à exécuter : demos, classe demo.abs.slides.TroisClassesUnComportement.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duplication est le défaut visible. Voici le défaut invisible, et il est plus grave.</a:t>
            </a:r>
          </a:p>
          <a:p>
            <a:r>
              <a:t>Ces trois classes font la même chose, et le compilateur n'en sait rien. Il n'existe aucun type qui les désigne toutes les trois, donc aucun moyen d'écrire une boucle qui les traite ensemble. Le seul type commun est </a:t>
            </a:r>
            <a:r>
              <a:rPr>
                <a:latin typeface="Consolas"/>
              </a:rPr>
              <a:t>Object</a:t>
            </a:r>
            <a:r>
              <a:t>, qui ne sait rien envoyer du tout.</a:t>
            </a:r>
          </a:p>
          <a:p>
            <a:r>
              <a:t>Le programme se retrouve à répéter le même traitement canal par canal, avec une condition pour chacun. Ajouter WhatsApp demandera de retoucher tous ces endroits.</a:t>
            </a:r>
          </a:p>
          <a:p>
            <a:r>
              <a:rPr lang="fr-BE" dirty="0"/>
              <a:t>Le code complet, à exécuter : demos, classe demo.abs.slides.TroisClassesUnComportement.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des trois notifications et montre le geste inverse de la recopie : faire remonter. Les deux tentatives impossibles — le tableau, puis la modification en trois endroits — sont jouées d'abord.</a:t>
            </a:r>
          </a:p>
          <a:p>
            <a:r>
              <a:t>L'extraction de la classe mère est faite par IntelliJ, sans qu'une ligne soit tapée. Reste ensuite à décider ce qui ne peut pas remonter : le nom du canal, qui devient abstrait. Le tableau de l'étape 2 compile alors.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Repérer une duplication, c'est une chose ; la supprimer sans rien casser en est une autre. IntelliJ le fait pour vous, et c'est un geste à connaître pour lui-même.</a:t>
            </a:r>
          </a:p>
          <a:p>
            <a:r>
              <a:t>Clic droit sur la classe, puis </a:t>
            </a:r>
            <a:r>
              <a:rPr>
                <a:latin typeface="Consolas"/>
              </a:rPr>
              <a:t>Refactor</a:t>
            </a:r>
            <a:r>
              <a:t> → </a:t>
            </a:r>
            <a:r>
              <a:rPr>
                <a:latin typeface="Consolas"/>
              </a:rPr>
              <a:t>Extract</a:t>
            </a:r>
            <a:r>
              <a:t> → </a:t>
            </a:r>
            <a:r>
              <a:rPr>
                <a:latin typeface="Consolas"/>
              </a:rPr>
              <a:t>Superclass</a:t>
            </a:r>
            <a:r>
              <a:t> : l'outil demande le nom de la nouvelle classe mère et la liste de ce qui doit y monter. Pour les classes suivantes, </a:t>
            </a:r>
            <a:r>
              <a:rPr>
                <a:latin typeface="Consolas"/>
              </a:rPr>
              <a:t>Refactor</a:t>
            </a:r>
            <a:r>
              <a:t> → </a:t>
            </a:r>
            <a:r>
              <a:rPr>
                <a:latin typeface="Consolas"/>
              </a:rPr>
              <a:t>Pull Members Up</a:t>
            </a:r>
            <a:r>
              <a:t> fait remonter les membres déjà écrits.</a:t>
            </a:r>
          </a:p>
          <a:p>
            <a:r>
              <a:t>L'intérêt n'est pas le temps gagné, qui est faible. C'est qu'un déplacement fait à la main oublie un import, renomme mal un champ ou laisse une copie derrière lui, alors que l'outil met à jour tout ce qui référence ce qu'il déplace. Voir IDE.21.</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mot-clé </a:t>
            </a:r>
            <a:r>
              <a:rPr>
                <a:latin typeface="Consolas"/>
              </a:rPr>
              <a:t>abstract</a:t>
            </a:r>
            <a:r>
              <a:t>, ce qu'il interdit, et à quoi sert une classe qu'on ne peut pas construire.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mère extraite à la section précédente pose une question : que voudrait dire </a:t>
            </a:r>
            <a:r>
              <a:rPr>
                <a:latin typeface="Consolas"/>
              </a:rPr>
              <a:t>new Notification(...)</a:t>
            </a:r>
            <a:r>
              <a:t> ? Une notification qui n'est ni un mail, ni un SMS, ni un push n'a pas de canal, donc rien à faire.</a:t>
            </a:r>
          </a:p>
          <a:p>
            <a:r>
              <a:t>Le mot-clé </a:t>
            </a:r>
            <a:r>
              <a:rPr>
                <a:latin typeface="Consolas"/>
              </a:rPr>
              <a:t>abstract</a:t>
            </a:r>
            <a:r>
              <a:t> transforme cette absurdité en erreur de compilation. La classe existe, elle a des champs, des méthodes et un constructeur, mais elle ne produit aucun objet à elle seule.</a:t>
            </a:r>
          </a:p>
          <a:p>
            <a:r>
              <a:t>La distinction à retenir est celle entre déclarer et instancier. La variable </a:t>
            </a:r>
            <a:r>
              <a:rPr>
                <a:latin typeface="Consolas"/>
              </a:rPr>
              <a:t>envoi</a:t>
            </a:r>
            <a:r>
              <a:t> est de type </a:t>
            </a:r>
            <a:r>
              <a:rPr>
                <a:latin typeface="Consolas"/>
              </a:rPr>
              <a:t>Notification</a:t>
            </a:r>
            <a:r>
              <a:t> : c'est une promesse sur ce qu'elle sait faire, pas sur la classe exacte de l'objet qu'elle désigne.</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réponse à la question posée par le deck d'origine : à quoi peut bien servir une classe qu'on ne peut pas instancier ?</a:t>
            </a:r>
          </a:p>
          <a:p>
            <a:r>
              <a:t>Elle sert de vocabulaire. Écrire </a:t>
            </a:r>
            <a:r>
              <a:rPr>
                <a:latin typeface="Consolas"/>
              </a:rPr>
              <a:t>Notification[]</a:t>
            </a:r>
            <a:r>
              <a:t> dit au compilateur que tous les éléments savent envoyer, sans dire par quel canal. Une méthode qui prend une </a:t>
            </a:r>
            <a:r>
              <a:rPr>
                <a:latin typeface="Consolas"/>
              </a:rPr>
              <a:t>Notification</a:t>
            </a:r>
            <a:r>
              <a:t> en paramètre accepte les trois sortes et n'a pas à les distinguer.</a:t>
            </a:r>
          </a:p>
          <a:p>
            <a:r>
              <a:t>Le tableau ci-dessus ne contient aucune </a:t>
            </a:r>
            <a:r>
              <a:rPr>
                <a:latin typeface="Consolas"/>
              </a:rPr>
              <a:t>Notification</a:t>
            </a:r>
            <a:r>
              <a:t>, au sens strict. Il ne contient que des objets de sous-classes — et c'est la section 5 qui expliquera ce qui se passe quand on appelle une méthode dessus.</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classe abstraite contient des champs, et ces champs doivent être initialisés. C'est le travail d'un constructeur, exactement comme ailleurs — la seule différence est que personne ne l'appelle par </a:t>
            </a:r>
            <a:r>
              <a:rPr>
                <a:latin typeface="Consolas"/>
              </a:rPr>
              <a:t>new</a:t>
            </a:r>
            <a:r>
              <a:t>, mais toujours par </a:t>
            </a:r>
            <a:r>
              <a:rPr>
                <a:latin typeface="Consolas"/>
              </a:rPr>
              <a:t>super</a:t>
            </a:r>
            <a:r>
              <a:t> depuis une sous-classe.</a:t>
            </a:r>
          </a:p>
          <a:p>
            <a:r>
              <a:t>Pourquoi </a:t>
            </a:r>
            <a:r>
              <a:rPr>
                <a:latin typeface="Consolas"/>
              </a:rPr>
              <a:t>protected</a:t>
            </a:r>
            <a:r>
              <a:t> plutôt que </a:t>
            </a:r>
            <a:r>
              <a:rPr>
                <a:latin typeface="Consolas"/>
              </a:rPr>
              <a:t>public</a:t>
            </a:r>
            <a:r>
              <a:t>, puisque </a:t>
            </a:r>
            <a:r>
              <a:rPr>
                <a:latin typeface="Consolas"/>
              </a:rPr>
              <a:t>new</a:t>
            </a:r>
            <a:r>
              <a:t> est de toute façon interdit ? Parce que le modificateur est une déclaration d'intention. Il dit à celui qui lit la classe : ce constructeur existe pour les sous-classes. C'est une question d'</a:t>
            </a:r>
            <a:r>
              <a:rPr>
                <a:latin typeface="Consolas"/>
              </a:rPr>
              <a:t>ABS.1</a:t>
            </a:r>
            <a:r>
              <a:t>, et elle mérite une vraie réponse.</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règle de partage, qui est le cœur du module. Tout le reste en découle : la méthode abstraite, l'obligation faite aux sous-classes, et la façon de juger un découpage.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Déclarer une méthode abstraite, c'est nommer une obligation. La classe mère affirme que toute notification a un canal, et reconnaît dans le même mouvement qu'elle ne peut pas dire lequel.</a:t>
            </a:r>
          </a:p>
          <a:p>
            <a:r>
              <a:t>L'écriture est celle d'un entête ordinaire, sans accolades, terminé par un point-virgule. Le mot-clé </a:t>
            </a:r>
            <a:r>
              <a:rPr>
                <a:latin typeface="Consolas"/>
              </a:rPr>
              <a:t>abstract</a:t>
            </a:r>
            <a:r>
              <a:t> apparaît sur la méthode, et la classe doit le porter aussi.</a:t>
            </a:r>
          </a:p>
          <a:p>
            <a:r>
              <a:t>Le lien entre les deux est à sens unique : une classe abstraite peut très bien n'avoir aucune méthode abstraite, alors qu'une classe qui en a une est forcément abstraite.</a:t>
            </a:r>
          </a:p>
          <a:p>
            <a:r>
              <a:rPr lang="fr-BE" dirty="0"/>
              <a:t>Le code complet, à exécuter : demos, classe demo.abs.slides.UnTypeQuOnNeConstruitPas.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la règle entière, et elle tient en deux lignes. Ce qui est commun monte, ce qui varie descend.</a:t>
            </a:r>
          </a:p>
          <a:p>
            <a:r>
              <a:t>Regardez la méthode </a:t>
            </a:r>
            <a:r>
              <a:rPr>
                <a:latin typeface="Consolas"/>
              </a:rPr>
              <a:t>affiche</a:t>
            </a:r>
            <a:r>
              <a:t>. Elle est écrite une seule fois, dans la classe mère, et elle appelle </a:t>
            </a:r>
            <a:r>
              <a:rPr>
                <a:latin typeface="Consolas"/>
              </a:rPr>
              <a:t>nom</a:t>
            </a:r>
            <a:r>
              <a:t>, qui n'existe nulle part. Cela compile, parce que le compilateur sait que toute sous-classe concrète en fournira une version. C'est le mécanisme qui portera la section 6.</a:t>
            </a:r>
          </a:p>
          <a:p>
            <a:r>
              <a:t>Le test pratique est simple. Si vos trois sous-classes contiennent plus d'une méthode, demandez-vous ce qui aurait dû monter. C'est la question posée en fin d'</a:t>
            </a:r>
            <a:r>
              <a:rPr>
                <a:latin typeface="Consolas"/>
              </a:rPr>
              <a:t>ABS.1</a:t>
            </a:r>
            <a:r>
              <a:t>, et elle revient à chaque exercice du module.</a:t>
            </a:r>
          </a:p>
          <a:p>
            <a:r>
              <a:rPr lang="fr-BE" dirty="0"/>
              <a:t>Le code complet, à exécuter : demos, classe demo.abs.slides.LaRegleDePartage.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contrepartie de la promesse faite par la classe mère. Elle a déclaré que toute forme a un nom ; chaque forme concrète doit le fournir.</a:t>
            </a:r>
          </a:p>
          <a:p>
            <a:r>
              <a:t>Une sous-classe qui n'en définit qu'une partie reste incomplète. Java l'autorise, à condition qu'elle se déclare </a:t>
            </a:r>
            <a:r>
              <a:rPr>
                <a:latin typeface="Consolas"/>
              </a:rPr>
              <a:t>abstract</a:t>
            </a:r>
            <a:r>
              <a:t> elle aussi — et ce n'est pas un accident de parcours, c'est exactement ce dont la section 7 aura besoin.</a:t>
            </a:r>
          </a:p>
          <a:p>
            <a:r>
              <a:t>Remarquez que </a:t>
            </a:r>
            <a:r>
              <a:rPr>
                <a:latin typeface="Consolas"/>
              </a:rPr>
              <a:t>Cercle</a:t>
            </a:r>
            <a:r>
              <a:t> ne contient qu'une méthode. Tout le reste — la position, la rotation, l'affichage — vit dans la classe mère et n'est écrit qu'une fois.</a:t>
            </a:r>
          </a:p>
          <a:p>
            <a:r>
              <a:rPr lang="fr-BE" dirty="0"/>
              <a:t>Le code complet, à exécuter : demos, classe demo.abs.slides.LaRegleDePartage.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L'annotation </a:t>
            </a:r>
            <a:r>
              <a:rPr>
                <a:latin typeface="Consolas"/>
              </a:rPr>
              <a:t>@Override</a:t>
            </a:r>
            <a:r>
              <a:t> a été présentée avec la redéfinition, en début de module : elle demande au compilateur de vérifier qu'une méthode remplace bien une méthode de la classe mère. Elle s'applique exactement de la même façon quand la méthode de la mère est abstraite. Pour Java, fournir le corps d'une méthode abstraite, c'est la redéfinir.</a:t>
            </a:r>
          </a:p>
          <a:p>
            <a:r>
              <a:t>On pourrait penser l'annotation inutile ici, puisque le compilateur refuse déjà une classe concrète qui oublie une méthode abstraite. La différence est dans l'endroit où il le dit. Sans </a:t>
            </a:r>
            <a:r>
              <a:rPr>
                <a:latin typeface="Consolas"/>
              </a:rPr>
              <a:t>@Override</a:t>
            </a:r>
            <a:r>
              <a:t>, une faute de frappe comme </a:t>
            </a:r>
            <a:r>
              <a:rPr>
                <a:latin typeface="Consolas"/>
              </a:rPr>
              <a:t>Nom()</a:t>
            </a:r>
            <a:r>
              <a:t> au lieu de </a:t>
            </a:r>
            <a:r>
              <a:rPr>
                <a:latin typeface="Consolas"/>
              </a:rPr>
              <a:t>nom()</a:t>
            </a:r>
            <a:r>
              <a:t> crée une nouvelle méthode, et l'erreur tombe sur la ligne de la classe : </a:t>
            </a:r>
            <a:r>
              <a:rPr>
                <a:latin typeface="Consolas"/>
              </a:rPr>
              <a:t>Cercle</a:t>
            </a:r>
            <a:r>
              <a:t> ne définirait pas </a:t>
            </a:r>
            <a:r>
              <a:rPr>
                <a:latin typeface="Consolas"/>
              </a:rPr>
              <a:t>nom()</a:t>
            </a:r>
            <a:r>
              <a:t>. Avec l'annotation, l'erreur tombe sur la méthode mal écrite, qui ne redéfinit rien. On trouve la faute là où elle est.</a:t>
            </a:r>
          </a:p>
          <a:p>
            <a:r>
              <a:t>Vous n'avez d'ailleurs pas à l'écrire vous-même : quand IntelliJ génère les méthodes à fournir (Code → Implement Methods), il ajoute </a:t>
            </a:r>
            <a:r>
              <a:rPr>
                <a:latin typeface="Consolas"/>
              </a:rPr>
              <a:t>@Override</a:t>
            </a:r>
            <a:r>
              <a:t> à chacune.</a:t>
            </a:r>
          </a:p>
          <a:p>
            <a:r>
              <a:rPr lang="fr-BE" dirty="0"/>
              <a:t>Le code complet : demos, classe demo.abs.slides.Cercle.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point n'a rien à voir avec les classes abstraites. Il est ici parce qu'</a:t>
            </a:r>
            <a:r>
              <a:rPr>
                <a:latin typeface="Consolas"/>
              </a:rPr>
              <a:t>ABS.1</a:t>
            </a:r>
            <a:r>
              <a:t> en a besoin et qu'il piège tout le monde une fois.</a:t>
            </a:r>
          </a:p>
          <a:p>
            <a:r>
              <a:t>La rotation d'une forme doit toujours valoir entre 0 inclus et 360 exclu. Le réflexe est d'écrire un modulo, et il fonctionne pour </a:t>
            </a:r>
            <a:r>
              <a:rPr>
                <a:latin typeface="Consolas"/>
              </a:rPr>
              <a:t>setRotation(370)</a:t>
            </a:r>
            <a:r>
              <a:t>, qui donne bien 10. Il échoue pour </a:t>
            </a:r>
            <a:r>
              <a:rPr>
                <a:latin typeface="Consolas"/>
              </a:rPr>
              <a:t>setRotation(-90)</a:t>
            </a:r>
            <a:r>
              <a:t>, parce qu'en Java le reste de la division garde le signe du dividende.</a:t>
            </a:r>
          </a:p>
          <a:p>
            <a:r>
              <a:t>La correction tient en une expression : ajouter le diviseur au résultat, puis reprendre le modulo. Le premier modulo ramène la valeur dans l'intervalle, l'addition la rend positive, le second efface le tour de trop. Le test d'</a:t>
            </a:r>
            <a:r>
              <a:rPr>
                <a:latin typeface="Consolas"/>
              </a:rPr>
              <a:t>ABS.1</a:t>
            </a:r>
            <a:r>
              <a:t> vérifie ce cas précisément.</a:t>
            </a:r>
          </a:p>
          <a:p>
            <a:r>
              <a:rPr lang="fr-BE" dirty="0"/>
              <a:t>Le code complet, à exécuter : demos, classe demo.abs.slides.LeResteDUneDivisionNegative.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premier exercice du module demande une décision à chaque méthode : monte-t-elle ou descend-elle ? Le nom varie d'une forme à l'autre, donc il est abstrait. L'affichage et l'effacement s'écrivent une seule fois, à partir du nom.</a:t>
            </a:r>
          </a:p>
          <a:p>
            <a:r>
              <a:t>La mesure de la réussite est donnée par l'énoncé : chacune de vos trois sous-classes ne devrait contenir qu'une seule méthode. Si l'une en a deux, quelque chose n'est pas remonté.</a:t>
            </a:r>
          </a:p>
          <a:p>
            <a:r>
              <a:t>Les questions de fin d'exercice portent sur le constructeur </a:t>
            </a:r>
            <a:r>
              <a:rPr>
                <a:latin typeface="Consolas"/>
              </a:rPr>
              <a:t>protected</a:t>
            </a:r>
            <a:r>
              <a:t>, sur ce que dit le compilateur devant </a:t>
            </a:r>
            <a:r>
              <a:rPr>
                <a:latin typeface="Consolas"/>
              </a:rPr>
              <a:t>new Shape(...)</a:t>
            </a:r>
            <a:r>
              <a:t>, et sur ce tableau de </a:t>
            </a:r>
            <a:r>
              <a:rPr>
                <a:latin typeface="Consolas"/>
              </a:rPr>
              <a:t>Shape</a:t>
            </a:r>
            <a:r>
              <a:t> qui ne contient aucun </a:t>
            </a:r>
            <a:r>
              <a:rPr>
                <a:latin typeface="Consolas"/>
              </a:rPr>
              <a:t>Shape</a:t>
            </a:r>
            <a:r>
              <a:t> — de quoi préparer la section suivante.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mécanisme</a:t>
            </a:r>
            <a:r>
              <a:rPr dirty="0"/>
              <a:t> qui rend la </a:t>
            </a:r>
            <a:r>
              <a:rPr dirty="0" err="1"/>
              <a:t>classe</a:t>
            </a:r>
            <a:r>
              <a:rPr dirty="0"/>
              <a:t> </a:t>
            </a:r>
            <a:r>
              <a:rPr dirty="0" err="1"/>
              <a:t>abstraite</a:t>
            </a:r>
            <a:r>
              <a:rPr dirty="0"/>
              <a:t> utile : </a:t>
            </a:r>
            <a:r>
              <a:rPr dirty="0" err="1"/>
              <a:t>appeler</a:t>
            </a:r>
            <a:r>
              <a:rPr dirty="0"/>
              <a:t> </a:t>
            </a:r>
            <a:r>
              <a:rPr dirty="0" err="1"/>
              <a:t>une</a:t>
            </a:r>
            <a:r>
              <a:rPr dirty="0"/>
              <a:t> </a:t>
            </a:r>
            <a:r>
              <a:rPr dirty="0" err="1"/>
              <a:t>méthode</a:t>
            </a:r>
            <a:r>
              <a:rPr dirty="0"/>
              <a:t> sur un </a:t>
            </a:r>
            <a:r>
              <a:rPr dirty="0" err="1"/>
              <a:t>objet</a:t>
            </a:r>
            <a:r>
              <a:rPr dirty="0"/>
              <a:t> </a:t>
            </a:r>
            <a:r>
              <a:rPr dirty="0" err="1"/>
              <a:t>dont</a:t>
            </a:r>
            <a:r>
              <a:rPr dirty="0"/>
              <a:t> on ignore la </a:t>
            </a:r>
            <a:r>
              <a:rPr dirty="0" err="1"/>
              <a:t>classe</a:t>
            </a:r>
            <a:r>
              <a:rPr dirty="0"/>
              <a:t> </a:t>
            </a:r>
            <a:r>
              <a:rPr dirty="0" err="1"/>
              <a:t>exacte</a:t>
            </a:r>
            <a:r>
              <a:rPr dirty="0"/>
              <a:t>, et </a:t>
            </a:r>
            <a:r>
              <a:rPr dirty="0" err="1"/>
              <a:t>obtenir</a:t>
            </a:r>
            <a:r>
              <a:rPr dirty="0"/>
              <a:t> </a:t>
            </a:r>
            <a:r>
              <a:rPr dirty="0" err="1"/>
              <a:t>quand</a:t>
            </a:r>
            <a:r>
              <a:rPr dirty="0"/>
              <a:t> </a:t>
            </a:r>
            <a:r>
              <a:rPr dirty="0" err="1"/>
              <a:t>même</a:t>
            </a:r>
            <a:r>
              <a:rPr dirty="0"/>
              <a:t> le bon </a:t>
            </a:r>
            <a:r>
              <a:rPr dirty="0" err="1"/>
              <a:t>comportement</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question posée en fin d'</a:t>
            </a:r>
            <a:r>
              <a:rPr>
                <a:latin typeface="Consolas"/>
              </a:rPr>
              <a:t>ABS.1</a:t>
            </a:r>
            <a:r>
              <a:t> : comment un tableau de </a:t>
            </a:r>
            <a:r>
              <a:rPr>
                <a:latin typeface="Consolas"/>
              </a:rPr>
              <a:t>Shape</a:t>
            </a:r>
            <a:r>
              <a:t> peut-il exister alors que </a:t>
            </a:r>
            <a:r>
              <a:rPr>
                <a:latin typeface="Consolas"/>
              </a:rPr>
              <a:t>Shape</a:t>
            </a:r>
            <a:r>
              <a:t> ne s'instancie pas ?</a:t>
            </a:r>
          </a:p>
          <a:p>
            <a:r>
              <a:t>Parce que le type déclaré d'une variable et la classe réelle de l'objet sont deux choses différentes. Le type déclaré dit ce qu'on a le droit de demander ; la classe réelle dit qui répond. Un </a:t>
            </a:r>
            <a:r>
              <a:rPr>
                <a:latin typeface="Consolas"/>
              </a:rPr>
              <a:t>Circle</a:t>
            </a:r>
            <a:r>
              <a:t> *est* un </a:t>
            </a:r>
            <a:r>
              <a:rPr>
                <a:latin typeface="Consolas"/>
              </a:rPr>
              <a:t>Shape</a:t>
            </a:r>
            <a:r>
              <a:t>, donc il a sa place dans le tableau.</a:t>
            </a:r>
          </a:p>
          <a:p>
            <a:r>
              <a:t>La boucle ne contient aucune trace des trois formes. Ajouter un losange ne la changera pas d'une ligne.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variable est déclarée </a:t>
            </a:r>
            <a:r>
              <a:rPr>
                <a:latin typeface="Consolas"/>
              </a:rPr>
              <a:t>Shape</a:t>
            </a:r>
            <a:r>
              <a:t>, et pourtant c'est la version du cercle qui s'exécute. Le compilateur vérifie seulement que </a:t>
            </a:r>
            <a:r>
              <a:rPr>
                <a:latin typeface="Consolas"/>
              </a:rPr>
              <a:t>Shape</a:t>
            </a:r>
            <a:r>
              <a:t> possède bien une méthode </a:t>
            </a:r>
            <a:r>
              <a:rPr>
                <a:latin typeface="Consolas"/>
              </a:rPr>
              <a:t>affiche</a:t>
            </a:r>
            <a:r>
              <a:t> ; le choix de la version revient à la machine virtuelle, au moment de l'appel, en regardant l'objet réel.</a:t>
            </a:r>
          </a:p>
          <a:p>
            <a:r>
              <a:t>Ce mécanisme porte un nom, la liaison dynamique, et c'est lui qui donne tout son intérêt à la classe abstraite. Sans lui, déclarer un tableau de </a:t>
            </a:r>
            <a:r>
              <a:rPr>
                <a:latin typeface="Consolas"/>
              </a:rPr>
              <a:t>Shape</a:t>
            </a:r>
            <a:r>
              <a:t> ne servirait à rien, puisqu'on n'obtiendrait jamais que le comportement générique.</a:t>
            </a:r>
          </a:p>
          <a:p>
            <a:r>
              <a:t>C'est le quatrième des quatre principes de la POO, annoncé au module POO et renvoyé ici.</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L'opérateur </a:t>
            </a:r>
            <a:r>
              <a:rPr>
                <a:latin typeface="Consolas"/>
              </a:rPr>
              <a:t>instanceof</a:t>
            </a:r>
            <a:r>
              <a:t> existe et a ses usages, mais il n'a rien à faire dans une boucle comme celle-ci. Si vous avez besoin de savoir quelle forme vous tenez pour décider quoi faire, c'est que le quoi-faire aurait dû être une méthode de la forme.</a:t>
            </a:r>
          </a:p>
          <a:p>
            <a:r>
              <a:t>Le test pratique est celui de CC-CLS.4 : combien de classes faut-il modifier pour ajouter une sorte de plus ? Avec le polymorphisme, aucune — on écrit la nouvelle classe, et le programme existant la traite sans le savoir. Avec des tests de type, il faut retrouver chaque endroit où le test est écrit.</a:t>
            </a:r>
          </a:p>
          <a:p>
            <a:r>
              <a:t>Les énoncés </a:t>
            </a:r>
            <a:r>
              <a:rPr>
                <a:latin typeface="Consolas"/>
              </a:rPr>
              <a:t>ABS.2</a:t>
            </a:r>
            <a:r>
              <a:t> à </a:t>
            </a:r>
            <a:r>
              <a:rPr>
                <a:latin typeface="Consolas"/>
              </a:rPr>
              <a:t>ABS.5</a:t>
            </a:r>
            <a:r>
              <a:t> posent tous cette contrainte explicitement. Ce n'est pas une coquetterie : c'est le seul moyen de vérifier que le découpage tient.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même geste qu'</a:t>
            </a:r>
            <a:r>
              <a:rPr>
                <a:latin typeface="Consolas"/>
              </a:rPr>
              <a:t>ABS.1</a:t>
            </a:r>
            <a:r>
              <a:t>, sur un cas plus court, mais avec une nouveauté : le tableau est rempli au hasard, donc le programme ignore vraiment ce qu'il contient.</a:t>
            </a:r>
          </a:p>
          <a:p>
            <a:r>
              <a:t>Les deux questions de fin d'exercice valent le détour. Ajouter une vache demande de compter les lignes à modifier dans le programme. Et refaire l'exercice sans classe abstraite, avec deux classes indépendantes, fait toucher du doigt ce qui devient impossible.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cas professionnel : la classe mère écrit le déroulé complet d'un traitement, et laisse aux sous-classes les seuls endroits qui varient. C'est la forme la plus utile de la classe abstraite, et le sujet d'</a:t>
            </a:r>
            <a:r>
              <a:rPr>
                <a:latin typeface="Consolas"/>
              </a:rPr>
              <a:t>ABS.3</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Voici la situation, avant tout code. Une application affiche les mouvements bancaires de ses utilisateurs. Elle fonctionne aujourd'hui avec une seule banque, Fric en Vrac, et il faut y ajouter Banquier Pépère.</a:t>
            </a:r>
          </a:p>
          <a:p>
            <a:r>
              <a:rPr lang="fr-BE"/>
              <a:t>Les deux banques livrent exactement les mêmes informations : un compte, un montant, une communication. Chaque ligne devient un Mouvement, un record. Elles ne les livrent pas dans le même ordre de colonnes, et c'est la seule chose qui les distingue.</a:t>
            </a:r>
          </a:p>
          <a:p>
            <a:r>
              <a:rPr lang="fr-BE"/>
              <a:t>Le diagramme montre où l'on va. En haut, la classe abstraite VisualiseurDeDonneesBancaires sait calculer le total et mettre le rapport en forme ; ces deux méthodes sont écrites une fois pour toutes. Les trois méthodes en italique, elle ne sait pas les écrire : d'où viennent les données, comment s'appelle la banque, comment se lit une ligne. Ce sont ses méthodes abstraites.</a:t>
            </a:r>
          </a:p>
          <a:p>
            <a:r>
              <a:rPr lang="fr-BE"/>
              <a:t>En bas, une sous-classe par banque. Celle de Fric en Vrac existe déjà et vous sert de modèle ; celle de Banquier Pépère est à écrire, et c'est tout l'exercice ABS.3. La question du dispositif est donc : où placer ce qui diffère, pour n'écrire qu'une fois ce qui ne diffère pas ?</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Regardez l'ordre des choses. La classe mère ne délègue pas le traitement : elle le possède. Elle sait convertir l'ensemble, additionner les montants et mettre en forme le rapport. Ce qu'elle ignore, c'est d'où viennent les données, comment s'appelle la banque et comment se lit une ligne.</a:t>
            </a:r>
          </a:p>
          <a:p>
            <a:r>
              <a:t>Ces trois trous sont déclarés abstraits. Chaque banque les bouche à sa façon, et hérite de tout le reste sans rien écrire.</a:t>
            </a:r>
          </a:p>
          <a:p>
            <a:r>
              <a:t>Le renversement est le point à comprendre : ce n'est pas la sous-classe qui appelle la mère, c'est la mère qui appelle la sous-classe. Le code commun mène la danse et vient chercher le détail au moment où il en a besoin.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Le cas est réduit à l'essentiel, et c'est volontaire : deux banques, trois colonnes, et un ordre qui diffère. Le tableau le montre ligne par ligne : chaque banque livre un compte, un montant et une communication, mais pas dans les mêmes cases. Les couleurs suivent chaque information d'une banque à l'autre ; les en-têtes donnent l'indice de la colonne, celui qu'on lit dans le tableau de chaînes, ligne[0], ligne[1] et ligne[2].</a:t>
            </a:r>
          </a:p>
          <a:p>
            <a:r>
              <a:rPr lang="fr-BE"/>
              <a:t>Toute la différence entre les deux visualiseurs tient donc dans versMouvement : l'un lit le compte en ligne[0], l'autre en ligne[1]. Le reste est identique.</a:t>
            </a:r>
          </a:p>
          <a:p>
            <a:r>
              <a:rPr lang="fr-BE"/>
              <a:t>C'est exactement la situation où la duplication est tentante. Recopier le visualiseur existant et déplacer trois indices prend cinq minutes et fonctionne. Puis le calcul du total se révèle faux un jour, et il faut le corriger dans les deux : c'est la troisième question de fin d'exercice.</a:t>
            </a:r>
          </a:p>
          <a:p>
            <a:r>
              <a:rPr lang="fr-BE"/>
              <a:t>La bonne réponse tient en trois méthodes de deux lignes, et rien d'autre.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question est posée en fin d'</a:t>
            </a:r>
            <a:r>
              <a:rPr>
                <a:latin typeface="Consolas"/>
              </a:rPr>
              <a:t>ABS.3</a:t>
            </a:r>
            <a:r>
              <a:t> : pourquoi la méthode qui convertit une ligne est-elle </a:t>
            </a:r>
            <a:r>
              <a:rPr>
                <a:latin typeface="Consolas"/>
              </a:rPr>
              <a:t>protected</a:t>
            </a:r>
            <a:r>
              <a:t>, puisque c'est précisément une méthode qu'une autre classe doit définir ?</a:t>
            </a:r>
          </a:p>
          <a:p>
            <a:r>
              <a:t>Parce que « une autre classe » veut dire ici « une sous-classe », et rien de plus. Le programme qui affiche les rapports n'a aucune raison de lire une ligne lui-même : il appelle </a:t>
            </a:r>
            <a:r>
              <a:rPr>
                <a:latin typeface="Consolas"/>
              </a:rPr>
              <a:t>rapport</a:t>
            </a:r>
            <a:r>
              <a:t> et </a:t>
            </a:r>
            <a:r>
              <a:rPr>
                <a:latin typeface="Consolas"/>
              </a:rPr>
              <a:t>total</a:t>
            </a:r>
            <a:r>
              <a:t>. Tout ce qui sert à construire le résultat est un détail de fabrication.</a:t>
            </a:r>
          </a:p>
          <a:p>
            <a:r>
              <a:t>Ouvrir ces méthodes en </a:t>
            </a:r>
            <a:r>
              <a:rPr>
                <a:latin typeface="Consolas"/>
              </a:rPr>
              <a:t>public</a:t>
            </a:r>
            <a:r>
              <a:t> ne casserait rien aujourd'hui. Cela transformerait simplement un détail interne en promesse faite au reste du programme, qu'il faudrait ensuite tenir.</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L'énoncé donne le critère avant que vous ne commenciez, et ce n'est pas courant. Servez- vous-en : c'est un moyen de vérifier votre travail sans attendre les tests.</a:t>
            </a:r>
          </a:p>
          <a:p>
            <a:r>
              <a:t>Une classe trop longue est le signe qu'on a dupliqué ce qui existait déjà. Un programme qui teste la banque est le signe qu'on n'a pas fait confiance au polymorphisme.</a:t>
            </a:r>
          </a:p>
          <a:p>
            <a:r>
              <a:t>Le tableau du programme est déclaré </a:t>
            </a:r>
            <a:r>
              <a:rPr>
                <a:latin typeface="Consolas"/>
              </a:rPr>
              <a:t>VisualiseurDeDonneesBancaires[]</a:t>
            </a:r>
            <a:r>
              <a:t>, et la boucle appelle </a:t>
            </a:r>
            <a:r>
              <a:rPr>
                <a:latin typeface="Consolas"/>
              </a:rPr>
              <a:t>rapport</a:t>
            </a:r>
            <a:r>
              <a:t> et </a:t>
            </a:r>
            <a:r>
              <a:rPr>
                <a:latin typeface="Consolas"/>
              </a:rPr>
              <a:t>total</a:t>
            </a:r>
            <a:r>
              <a:t> sans savoir quelle banque répond. C'est le même geste qu'</a:t>
            </a:r>
            <a:r>
              <a:rPr>
                <a:latin typeface="Consolas"/>
              </a:rPr>
              <a:t>ABS.2</a:t>
            </a:r>
            <a:r>
              <a:t>, sur un cas qui ressemble au travail réel.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ne vous demande pas d'écrire un dispositif, mais d'en compléter un qui existe déjà. C'est la situation la plus fréquente en entreprise, et elle demande une discipline particulière : lire ce qui est fourni avant d'écrire, et n'ajouter que ce qui manque réellement.</a:t>
            </a:r>
          </a:p>
          <a:p>
            <a:r>
              <a:t>Le visualiseur de la première banque vous sert de modèle. Il montre la forme attendue, et il est déjà couvert par les tests.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exercices précédents n'avaient qu'un seul niveau d'abstraction. Cette section en ajoute un second, et c'est la forme que prend la quatrième question de l'examen.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société facture au forfait ou à l'heure, et chaque façon connaît deux variantes. Deux niveaux de regroupement apparaissent donc naturellement : ce qui est vrai de toute prestation, et ce qui n'est vrai que des prestations horaires.</a:t>
            </a:r>
          </a:p>
          <a:p>
            <a:r>
              <a:t>La hiérarchie suit ce découpage. </a:t>
            </a:r>
            <a:r>
              <a:rPr>
                <a:latin typeface="Consolas"/>
              </a:rPr>
              <a:t>Prestation</a:t>
            </a:r>
            <a:r>
              <a:t> connaît le client, parce que toute prestation en a un. </a:t>
            </a:r>
            <a:r>
              <a:rPr>
                <a:latin typeface="Consolas"/>
              </a:rPr>
              <a:t>Horaire</a:t>
            </a:r>
            <a:r>
              <a:t> connaît le taux et le nombre d'heures, parce que les prestations au forfait n'en ont pas. </a:t>
            </a:r>
            <a:r>
              <a:rPr>
                <a:latin typeface="Consolas"/>
              </a:rPr>
              <a:t>Urgence</a:t>
            </a:r>
            <a:r>
              <a:t> connaît la majoration, parce qu'elle est seule à en avoir une.</a:t>
            </a:r>
          </a:p>
          <a:p>
            <a:r>
              <a:t>Quatre classes sont concrètes, trois ne le sont pas. Une classe est abstraite tant qu'elle ne suffit pas à décrire une prestation réelle.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même règle qu'à la section 4, appliquée à plusieurs étages. Le taux horaire n'appartient pas à </a:t>
            </a:r>
            <a:r>
              <a:rPr>
                <a:latin typeface="Consolas"/>
              </a:rPr>
              <a:t>Prestation</a:t>
            </a:r>
            <a:r>
              <a:t>, puisqu'un abonnement n'en a pas. Il n'appartient pas non plus à </a:t>
            </a:r>
            <a:r>
              <a:rPr>
                <a:latin typeface="Consolas"/>
              </a:rPr>
              <a:t>Depannage</a:t>
            </a:r>
            <a:r>
              <a:t> et à </a:t>
            </a:r>
            <a:r>
              <a:rPr>
                <a:latin typeface="Consolas"/>
              </a:rPr>
              <a:t>Urgence</a:t>
            </a:r>
            <a:r>
              <a:t> séparément, puisque les deux en ont un. Il appartient à </a:t>
            </a:r>
            <a:r>
              <a:rPr>
                <a:latin typeface="Consolas"/>
              </a:rPr>
              <a:t>Horaire</a:t>
            </a:r>
            <a:r>
              <a:t>.</a:t>
            </a:r>
          </a:p>
          <a:p>
            <a:r>
              <a:t>La méthode </a:t>
            </a:r>
            <a:r>
              <a:rPr>
                <a:latin typeface="Consolas"/>
              </a:rPr>
              <a:t>base</a:t>
            </a:r>
            <a:r>
              <a:t> suit le même raisonnement : le produit des heures par le taux est commun aux deux sous-classes, donc il monte. </a:t>
            </a:r>
            <a:r>
              <a:rPr>
                <a:latin typeface="Consolas"/>
              </a:rPr>
              <a:t>Urgence</a:t>
            </a:r>
            <a:r>
              <a:t> s'en servira en y appliquant sa majoration.</a:t>
            </a:r>
          </a:p>
          <a:p>
            <a:r>
              <a:t>Sa visibilité est une des deux décisions que l'exercice vous laisse. C'est un détail de calcul dont les sous-classes ont besoin, et personne d'autre — voir PKG.5.</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interfaces sont le sujet du module suivant. Il suffit ici d'en savoir ceci : une interface énonce ce qu'une classe doit savoir faire, et </a:t>
            </a:r>
            <a:r>
              <a:rPr>
                <a:latin typeface="Consolas"/>
              </a:rPr>
              <a:t>implements</a:t>
            </a:r>
            <a:r>
              <a:t> s'engage à le faire.</a:t>
            </a:r>
          </a:p>
          <a:p>
            <a:r>
              <a:rPr>
                <a:latin typeface="Consolas"/>
              </a:rPr>
              <a:t>Prestation</a:t>
            </a:r>
            <a:r>
              <a:t> s'y engage sans tenir l'engagement, et c'est légal parce qu'elle est abstraite : elle reporte l'obligation sur ses descendants, exactement comme une méthode abstraite ordinaire. Ce sont les quatre classes concrètes qui écriront </a:t>
            </a:r>
            <a:r>
              <a:rPr>
                <a:latin typeface="Consolas"/>
              </a:rPr>
              <a:t>montant</a:t>
            </a:r>
            <a:r>
              <a:t>, chacune à sa façon.</a:t>
            </a:r>
          </a:p>
          <a:p>
            <a:r>
              <a:t>La méthode </a:t>
            </a:r>
            <a:r>
              <a:rPr>
                <a:latin typeface="Consolas"/>
              </a:rPr>
              <a:t>facture</a:t>
            </a:r>
            <a:r>
              <a:t>, elle, est écrite tout de suite, et appelle une méthode qui n'existe dans aucune classe au moment où on l'écrit. C'est le mécanisme de la section 6, poussé un cran plus loin.</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réunit tout le module : deux étages d'abstraction, une interface à implémenter, un champ à placer au bon niveau, un tableau du type le plus général et pas un seul test de type.</a:t>
            </a:r>
          </a:p>
          <a:p>
            <a:r>
              <a:t>Il demande l'interface </a:t>
            </a:r>
            <a:r>
              <a:rPr>
                <a:latin typeface="Consolas"/>
              </a:rPr>
              <a:t>Facturable</a:t>
            </a:r>
            <a:r>
              <a:t>, qui appartient au module suivant. Faites-le donc après ITF — l'énoncé le rappelle.</a:t>
            </a:r>
          </a:p>
          <a:p>
            <a:r>
              <a:t>Les deux décisions qu'il vous laisse sont les plus intéressantes : où implémenter </a:t>
            </a:r>
            <a:r>
              <a:rPr>
                <a:latin typeface="Consolas"/>
              </a:rPr>
              <a:t>montant</a:t>
            </a:r>
            <a:r>
              <a:t>, et quelle visibilité donner aux accesseurs intermédiaires. Aucune des deux n'est vérifiée par un test, et toutes deux se voient à la lecture.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dernier </a:t>
            </a:r>
            <a:r>
              <a:rPr dirty="0" err="1"/>
              <a:t>exercice</a:t>
            </a:r>
            <a:r>
              <a:rPr dirty="0"/>
              <a:t> du </a:t>
            </a:r>
            <a:r>
              <a:rPr dirty="0" err="1"/>
              <a:t>module</a:t>
            </a:r>
            <a:r>
              <a:rPr dirty="0"/>
              <a:t> ne </a:t>
            </a:r>
            <a:r>
              <a:rPr dirty="0" err="1"/>
              <a:t>fournit</a:t>
            </a:r>
            <a:r>
              <a:rPr dirty="0"/>
              <a:t> </a:t>
            </a:r>
            <a:r>
              <a:rPr dirty="0" err="1"/>
              <a:t>aucun</a:t>
            </a:r>
            <a:r>
              <a:rPr dirty="0"/>
              <a:t> </a:t>
            </a:r>
            <a:r>
              <a:rPr dirty="0" err="1"/>
              <a:t>squelette</a:t>
            </a:r>
            <a:r>
              <a:rPr dirty="0"/>
              <a:t>. </a:t>
            </a:r>
            <a:r>
              <a:rPr dirty="0" err="1"/>
              <a:t>C'est</a:t>
            </a:r>
            <a:r>
              <a:rPr dirty="0"/>
              <a:t> le seul du </a:t>
            </a:r>
            <a:r>
              <a:rPr dirty="0" err="1"/>
              <a:t>recueil</a:t>
            </a:r>
            <a:r>
              <a:rPr dirty="0"/>
              <a:t>, et </a:t>
            </a:r>
            <a:r>
              <a:rPr dirty="0" err="1"/>
              <a:t>c'est</a:t>
            </a:r>
            <a:r>
              <a:rPr dirty="0"/>
              <a:t> la situation de </a:t>
            </a:r>
            <a:r>
              <a:rPr dirty="0" err="1"/>
              <a:t>l'examen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quatre exercices précédents donnaient les classes, les signatures et les types : il restait à remplir les corps. Ici, vous partez d'un fichier vide, et les décisions de conception sont l'exercice lui-même.</a:t>
            </a:r>
          </a:p>
          <a:p>
            <a:r>
              <a:t>Trois questions suffisent à démarrer. Qu'est-ce que les sortes ont en commun ? Ce qui est commun monte, et ne s'écrit qu'une fois. Que sait faire un envoi « en général » ? S'il y a une chose qu'il ne sait pas faire alors que toutes ses sortes la savent, vous tenez votre méthode abstraite. L'étiquette doit-elle être écrite trois fois ? Regardez ce qui y change d'une sorte à l'autre, et relisez </a:t>
            </a:r>
            <a:r>
              <a:rPr>
                <a:latin typeface="Consolas"/>
              </a:rPr>
              <a:t>ABS.1</a:t>
            </a:r>
            <a:r>
              <a:t>.</a:t>
            </a:r>
          </a:p>
          <a:p>
            <a:r>
              <a:t>La classe de test est fournie, mais en commentaire, parce qu'elle appelle des classes qui n'existent pas encore. Décommentez-la quand vos classes seront écrites, d'un seul coup, avec </a:t>
            </a:r>
            <a:r>
              <a:rPr>
                <a:latin typeface="Consolas"/>
              </a:rPr>
              <a:t>Ctrl+/</a:t>
            </a:r>
            <a:r>
              <a:t>.</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ABS.5</a:t>
            </a:r>
            <a:r>
              <a:t> vous fait écrire un service postal à trois tarifs. Le piège n'est pas dans le calcul mais dans la borne : « jusqu'à 50 g inclus » s'écrit avec un </a:t>
            </a:r>
            <a:r>
              <a:rPr>
                <a:latin typeface="Consolas"/>
              </a:rPr>
              <a:t>&lt;=</a:t>
            </a:r>
            <a:r>
              <a:t>, et une erreur d'un gramme ne se voit pas en essayant au hasard. Le test à la borne l'attrape tout de suite.</a:t>
            </a:r>
          </a:p>
          <a:p>
            <a:r>
              <a:t>La dernière question de l'exercice mérite qu'on s'y arrête : comparez le temps passé sur </a:t>
            </a:r>
            <a:r>
              <a:rPr>
                <a:latin typeface="Consolas"/>
              </a:rPr>
              <a:t>ABS.5</a:t>
            </a:r>
            <a:r>
              <a:t> et sur </a:t>
            </a:r>
            <a:r>
              <a:rPr>
                <a:latin typeface="Consolas"/>
              </a:rPr>
              <a:t>ABS.4</a:t>
            </a:r>
            <a:r>
              <a:t>, et demandez-vous où est passée la différence — à écrire, ou à décider.</a:t>
            </a:r>
          </a:p>
          <a:p>
            <a:r>
              <a:t>Côté fil rouge, </a:t>
            </a:r>
            <a:r>
              <a:rPr>
                <a:latin typeface="Consolas"/>
              </a:rPr>
              <a:t>G.10</a:t>
            </a:r>
            <a:r>
              <a:t> introduit la classe abstraite </a:t>
            </a:r>
            <a:r>
              <a:rPr>
                <a:latin typeface="Consolas"/>
              </a:rPr>
              <a:t>Jeu</a:t>
            </a:r>
            <a:r>
              <a:t>, qui connaît la partie en cours et déclare une méthode </a:t>
            </a:r>
            <a:r>
              <a:rPr>
                <a:latin typeface="Consolas"/>
              </a:rPr>
              <a:t>jouer</a:t>
            </a:r>
            <a:r>
              <a:t> que chaque jeu définira. C'est le socle sur lequel les jeux concrets viendront se poser.</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cas où la même méthode est redéfinie à plusieurs étages. truc() est écrite dans A, redéfinie dans C et dans D.</a:t>
            </a:r>
          </a:p>
          <a:p>
            <a:r>
              <a:t>Règle : Java part de la classe réelle de l'objet, et remonte jusqu'à la première classe qui écrit la méthode. Un objet A exécute celle de A ; B, celle de A, puisqu'il ne l'écrit pas ; C, la sienne ; D, la sienne ; E, celle de A, en passant par B ; F, celle de C.</a:t>
            </a:r>
          </a:p>
          <a:p>
            <a:r>
              <a:t>Le type de la variable ne change rien : A x = new F(); puis x.truc() exécute la version de C.</a:t>
            </a:r>
          </a:p>
          <a:p>
            <a:r>
              <a:t>Dans D, super.truc() désigne la version dont B dispose : B ne l'écrit pas, c'est donc celle de A. super ne désigne pas forcément une méthode écrite dans la mère directe, mais la plus proche en remontant.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4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9.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0.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ABS</a:t>
            </a:r>
          </a:p>
          <a:p>
            <a:r>
              <a:t>Classes abstraites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19"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20" name="Section 1"/>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L'héritage en Java</a:t>
              </a:r>
            </a:p>
          </p:txBody>
        </p:sp>
      </p:grpSp>
      <p:grpSp>
        <p:nvGrpSpPr>
          <p:cNvPr id="21"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Le même code, trois fois</a:t>
              </a:r>
            </a:p>
          </p:txBody>
        </p:sp>
      </p:grpSp>
      <p:grpSp>
        <p:nvGrpSpPr>
          <p:cNvPr id="22"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La classe abstraite</a:t>
              </a:r>
            </a:p>
          </p:txBody>
        </p:sp>
      </p:grpSp>
      <p:grpSp>
        <p:nvGrpSpPr>
          <p:cNvPr id="23"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Ce qui monte, ce qui descend</a:t>
              </a:r>
            </a:p>
          </p:txBody>
        </p:sp>
      </p:grpSp>
      <p:grpSp>
        <p:nvGrpSpPr>
          <p:cNvPr id="24"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Le polymorphisme</a:t>
              </a:r>
            </a:p>
          </p:txBody>
        </p:sp>
      </p:grpSp>
      <p:grpSp>
        <p:nvGrpSpPr>
          <p:cNvPr id="25"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La mère appelle la fille</a:t>
              </a:r>
            </a:p>
          </p:txBody>
        </p:sp>
      </p:grpSp>
      <p:grpSp>
        <p:nvGrpSpPr>
          <p:cNvPr id="26" name="Section 7"/>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a:solidFill>
                    <a:schemeClr val="accent4"/>
                  </a:solidFill>
                </a:rPr>
                <a:t>7   </a:t>
              </a:r>
              <a:r>
                <a:rPr sz="2600">
                  <a:solidFill>
                    <a:srgbClr val="FFFFFF"/>
                  </a:solidFill>
                </a:rPr>
                <a:t>Deux étages</a:t>
              </a:r>
            </a:p>
          </p:txBody>
        </p:sp>
      </p:grpSp>
      <p:grpSp>
        <p:nvGrpSpPr>
          <p:cNvPr id="27" name="Section 8"/>
          <p:cNvGrpSpPr/>
          <p:nvPr/>
        </p:nvGrpSpPr>
        <p:grpSpPr>
          <a:xfrm>
            <a:off x="6217920" y="4754879"/>
            <a:ext cx="5394960" cy="914400"/>
            <a:chOff x="6217920" y="4754879"/>
            <a:chExt cx="5394960" cy="914400"/>
          </a:xfrm>
        </p:grpSpPr>
        <p:sp>
          <p:nvSpPr>
            <p:cNvPr id="17" name="Sommaire du module"/>
            <p:cNvSpPr/>
            <p:nvPr/>
          </p:nvSpPr>
          <p:spPr>
            <a:xfrm>
              <a:off x="621792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ommaire du module, texte"/>
            <p:cNvSpPr txBox="1"/>
            <p:nvPr/>
          </p:nvSpPr>
          <p:spPr>
            <a:xfrm>
              <a:off x="6400800" y="4754879"/>
              <a:ext cx="5029200" cy="914400"/>
            </a:xfrm>
            <a:prstGeom prst="rect">
              <a:avLst/>
            </a:prstGeom>
            <a:noFill/>
          </p:spPr>
          <p:txBody>
            <a:bodyPr wrap="none" anchor="ctr">
              <a:spAutoFit/>
            </a:bodyPr>
            <a:lstStyle/>
            <a:p>
              <a:r>
                <a:rPr sz="3000" b="1">
                  <a:solidFill>
                    <a:schemeClr val="accent4"/>
                  </a:solidFill>
                </a:rPr>
                <a:t>8   </a:t>
              </a:r>
              <a:r>
                <a:rPr sz="2600">
                  <a:solidFill>
                    <a:srgbClr val="FFFFFF"/>
                  </a:solidFill>
                </a:rPr>
                <a:t>Décider soi-même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 glowing holographic tree made of light and circuit lines rises from a dark circuit board. At its root sits a large luminous crystal cube, the “parent”. Its branches carry smaller crystal cubes that share the same shape and glowing core pattern, each adding its own unique feature: an extra ring, a new facet, a different light. Blue particles flow from the root up through the branches, showing traits passed down. Cinematic lighting, depth of field, high-tech atmosphere, photorealistic, no text.">
            <a:extLst>
              <a:ext uri="{FF2B5EF4-FFF2-40B4-BE49-F238E27FC236}">
                <a16:creationId xmlns:a16="http://schemas.microsoft.com/office/drawing/2014/main" id="{C12608D0-4EFB-138B-3093-9A9CADAD4096}"/>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flipV="1">
            <a:off x="1" y="0"/>
            <a:ext cx="12326586"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199" y="946800"/>
            <a:ext cx="7180564"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L'héritage en Java</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qui reprend une autre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mot-clé </a:t>
            </a:r>
            <a:r>
              <a:rPr sz="2400">
                <a:solidFill>
                  <a:schemeClr val="accent4"/>
                </a:solidFill>
                <a:latin typeface="Consolas"/>
              </a:rPr>
              <a:t>extends</a:t>
            </a:r>
            <a:r>
              <a:rPr sz="2800"/>
              <a:t> place une classe sous une autre</a:t>
            </a:r>
          </a:p>
          <a:p>
            <a:pPr marL="0" indent="0">
              <a:spcAft>
                <a:spcPts val="1000"/>
              </a:spcAft>
              <a:buNone/>
            </a:pPr>
            <a:r>
              <a:rPr sz="2800"/>
              <a:t>La sous-classe reçoit les champs et les méthodes de la classe mère, sans les réécrire</a:t>
            </a:r>
          </a:p>
          <a:p>
            <a:pPr marL="0" indent="0">
              <a:spcAft>
                <a:spcPts val="1000"/>
              </a:spcAft>
              <a:buNone/>
            </a:pPr>
            <a:r>
              <a:rPr sz="2800"/>
              <a:t>Elle ajoute ce qui lui est propre</a:t>
            </a:r>
          </a:p>
        </p:txBody>
      </p:sp>
      <p:sp>
        <p:nvSpPr>
          <p:cNvPr id="4" name="Code"/>
          <p:cNvSpPr txBox="1"/>
          <p:nvPr/>
        </p:nvSpPr>
        <p:spPr>
          <a:xfrm>
            <a:off x="2381250" y="3733799"/>
            <a:ext cx="742950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CompteEpargne </a:t>
            </a:r>
            <a:r>
              <a:rPr sz="1800">
                <a:solidFill>
                  <a:srgbClr val="CF8E6D"/>
                </a:solidFill>
                <a:latin typeface="Consolas"/>
              </a:rPr>
              <a:t>extends</a:t>
            </a:r>
            <a:r>
              <a:rPr sz="1800">
                <a:solidFill>
                  <a:srgbClr val="BCBEC4"/>
                </a:solidFill>
                <a:latin typeface="Consolas"/>
              </a:rPr>
              <a:t> CompteBancaire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taux;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crediterInterets</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deposer</a:t>
            </a:r>
            <a:r>
              <a:rPr sz="1800">
                <a:solidFill>
                  <a:srgbClr val="BCBEC4"/>
                </a:solidFill>
                <a:latin typeface="Consolas"/>
              </a:rPr>
              <a:t>(</a:t>
            </a:r>
            <a:r>
              <a:rPr sz="1800">
                <a:solidFill>
                  <a:srgbClr val="56A8F5"/>
                </a:solidFill>
                <a:latin typeface="Consolas"/>
              </a:rPr>
              <a:t>getSolde</a:t>
            </a:r>
            <a:r>
              <a:rPr sz="1800">
                <a:solidFill>
                  <a:srgbClr val="BCBEC4"/>
                </a:solidFill>
                <a:latin typeface="Consolas"/>
              </a:rPr>
              <a:t>() * taux);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Appeler le constructeur de la classe mère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Le mot-clé </a:t>
            </a:r>
            <a:r>
              <a:rPr sz="2100">
                <a:solidFill>
                  <a:schemeClr val="accent4"/>
                </a:solidFill>
                <a:latin typeface="Consolas"/>
              </a:rPr>
              <a:t>super</a:t>
            </a:r>
            <a:r>
              <a:rPr sz="2400"/>
              <a:t> appelle le constructeur de la classe mère</a:t>
            </a:r>
          </a:p>
          <a:p>
            <a:pPr marL="0" indent="0">
              <a:spcAft>
                <a:spcPts val="1000"/>
              </a:spcAft>
              <a:buNone/>
            </a:pPr>
            <a:r>
              <a:rPr sz="2400"/>
              <a:t>Cet appel est toujours la première instruction du constructeur</a:t>
            </a:r>
          </a:p>
          <a:p>
            <a:pPr marL="0" indent="0">
              <a:spcAft>
                <a:spcPts val="1000"/>
              </a:spcAft>
              <a:buNone/>
            </a:pPr>
            <a:r>
              <a:rPr sz="2400"/>
              <a:t>La classe mère initialise sa part, la classe fille initialise la sienne</a:t>
            </a:r>
          </a:p>
        </p:txBody>
      </p:sp>
      <p:sp>
        <p:nvSpPr>
          <p:cNvPr id="4" name="Code"/>
          <p:cNvSpPr txBox="1"/>
          <p:nvPr/>
        </p:nvSpPr>
        <p:spPr>
          <a:xfrm>
            <a:off x="2311400" y="3489960"/>
            <a:ext cx="75692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CompteEpargne </a:t>
            </a:r>
            <a:r>
              <a:rPr sz="1800">
                <a:solidFill>
                  <a:srgbClr val="CF8E6D"/>
                </a:solidFill>
                <a:latin typeface="Consolas"/>
              </a:rPr>
              <a:t>extends</a:t>
            </a:r>
            <a:r>
              <a:rPr sz="1800">
                <a:solidFill>
                  <a:srgbClr val="BCBEC4"/>
                </a:solidFill>
                <a:latin typeface="Consolas"/>
              </a:rPr>
              <a:t> CompteBancaire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56A8F5"/>
                </a:solidFill>
                <a:latin typeface="Consolas"/>
              </a:rPr>
              <a:t>CompteEpargne</a:t>
            </a:r>
            <a:r>
              <a:rPr sz="1800">
                <a:solidFill>
                  <a:srgbClr val="BCBEC4"/>
                </a:solidFill>
                <a:latin typeface="Consolas"/>
              </a:rPr>
              <a:t>(</a:t>
            </a:r>
            <a:r>
              <a:rPr sz="1800">
                <a:solidFill>
                  <a:srgbClr val="CF8E6D"/>
                </a:solidFill>
                <a:latin typeface="Consolas"/>
              </a:rPr>
              <a:t>long</a:t>
            </a:r>
            <a:r>
              <a:rPr sz="1800">
                <a:solidFill>
                  <a:srgbClr val="BCBEC4"/>
                </a:solidFill>
                <a:latin typeface="Consolas"/>
              </a:rPr>
              <a:t> numero, </a:t>
            </a:r>
            <a:r>
              <a:rPr sz="1800">
                <a:solidFill>
                  <a:srgbClr val="CF8E6D"/>
                </a:solidFill>
                <a:latin typeface="Consolas"/>
              </a:rPr>
              <a:t>double</a:t>
            </a:r>
            <a:r>
              <a:rPr sz="1800">
                <a:solidFill>
                  <a:srgbClr val="BCBEC4"/>
                </a:solidFill>
                <a:latin typeface="Consolas"/>
              </a:rPr>
              <a:t> taux)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super</a:t>
            </a:r>
            <a:r>
              <a:rPr sz="1800">
                <a:solidFill>
                  <a:srgbClr val="BCBEC4"/>
                </a:solidFill>
                <a:latin typeface="Consolas"/>
              </a:rPr>
              <a:t>(numero);</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.taux = taux;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Redéfinir une méthode</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a:t>Une sous-classe peut redéfinir une méthode héritée en la réécrivant</a:t>
            </a:r>
          </a:p>
          <a:p>
            <a:pPr marL="0" indent="0">
              <a:spcAft>
                <a:spcPts val="1000"/>
              </a:spcAft>
              <a:buNone/>
            </a:pPr>
            <a:r>
              <a:rPr sz="2400"/>
              <a:t>L'annotation </a:t>
            </a:r>
            <a:r>
              <a:rPr sz="2100">
                <a:solidFill>
                  <a:schemeClr val="accent4"/>
                </a:solidFill>
                <a:latin typeface="Consolas"/>
              </a:rPr>
              <a:t>@Override</a:t>
            </a:r>
            <a:r>
              <a:rPr sz="2400"/>
              <a:t> demande au compilateur de vérifier qu'il s'agit bien d'une redéfinition</a:t>
            </a:r>
          </a:p>
          <a:p>
            <a:pPr marL="0" indent="0">
              <a:spcAft>
                <a:spcPts val="1000"/>
              </a:spcAft>
              <a:buNone/>
            </a:pPr>
            <a:r>
              <a:rPr sz="2400"/>
              <a:t>Elle est facultative, et il faut toujours l'écrire</a:t>
            </a:r>
          </a:p>
        </p:txBody>
      </p:sp>
      <p:sp>
        <p:nvSpPr>
          <p:cNvPr id="4" name="Code"/>
          <p:cNvSpPr txBox="1"/>
          <p:nvPr/>
        </p:nvSpPr>
        <p:spPr>
          <a:xfrm>
            <a:off x="2579158" y="3855720"/>
            <a:ext cx="7033683" cy="2316480"/>
          </a:xfrm>
          <a:prstGeom prst="roundRect">
            <a:avLst>
              <a:gd name="adj" fmla="val 394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CompteEpargne </a:t>
            </a:r>
            <a:r>
              <a:rPr sz="1700">
                <a:solidFill>
                  <a:srgbClr val="CF8E6D"/>
                </a:solidFill>
                <a:latin typeface="Consolas"/>
              </a:rPr>
              <a:t>extends</a:t>
            </a:r>
            <a:r>
              <a:rPr sz="1700">
                <a:solidFill>
                  <a:srgbClr val="BCBEC4"/>
                </a:solidFill>
                <a:latin typeface="Consolas"/>
              </a:rPr>
              <a:t> CompteBancaire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B3AE60"/>
                </a:solidFill>
                <a:latin typeface="Consolas"/>
              </a:rPr>
              <a:t>@Override</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deposer</a:t>
            </a:r>
            <a:r>
              <a:rPr sz="1700">
                <a:solidFill>
                  <a:srgbClr val="BCBEC4"/>
                </a:solidFill>
                <a:latin typeface="Consolas"/>
              </a:rPr>
              <a:t>(</a:t>
            </a:r>
            <a:r>
              <a:rPr sz="1700">
                <a:solidFill>
                  <a:srgbClr val="CF8E6D"/>
                </a:solidFill>
                <a:latin typeface="Consolas"/>
              </a:rPr>
              <a:t>double</a:t>
            </a:r>
            <a:r>
              <a:rPr sz="1700">
                <a:solidFill>
                  <a:srgbClr val="BCBEC4"/>
                </a:solidFill>
                <a:latin typeface="Consolas"/>
              </a:rPr>
              <a:t> montant)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super</a:t>
            </a:r>
            <a:r>
              <a:rPr sz="1700">
                <a:solidFill>
                  <a:srgbClr val="BCBEC4"/>
                </a:solidFill>
                <a:latin typeface="Consolas"/>
              </a:rPr>
              <a:t>.</a:t>
            </a:r>
            <a:r>
              <a:rPr sz="1700">
                <a:solidFill>
                  <a:srgbClr val="56A8F5"/>
                </a:solidFill>
                <a:latin typeface="Consolas"/>
              </a:rPr>
              <a:t>deposer</a:t>
            </a:r>
            <a:r>
              <a:rPr sz="1700">
                <a:solidFill>
                  <a:srgbClr val="BCBEC4"/>
                </a:solidFill>
                <a:latin typeface="Consolas"/>
              </a:rPr>
              <a:t>(montant);</a:t>
            </a:r>
          </a:p>
          <a:p>
            <a:pPr>
              <a:lnSpc>
                <a:spcPct val="100000"/>
              </a:lnSpc>
              <a:spcBef>
                <a:spcPts val="0"/>
              </a:spcBef>
              <a:spcAft>
                <a:spcPts val="0"/>
              </a:spcAft>
            </a:pPr>
            <a:r>
              <a:rPr sz="1700">
                <a:solidFill>
                  <a:srgbClr val="BCBEC4"/>
                </a:solidFill>
                <a:latin typeface="Consolas"/>
              </a:rPr>
              <a:t>        </a:t>
            </a:r>
            <a:r>
              <a:rPr sz="1700">
                <a:solidFill>
                  <a:srgbClr val="56A8F5"/>
                </a:solidFill>
                <a:latin typeface="Consolas"/>
              </a:rPr>
              <a:t>journaliser</a:t>
            </a:r>
            <a:r>
              <a:rPr sz="1700">
                <a:solidFill>
                  <a:srgbClr val="BCBEC4"/>
                </a:solidFill>
                <a:latin typeface="Consolas"/>
              </a:rPr>
              <a:t>(montant);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la fille voit de la mère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Un champ </a:t>
            </a:r>
            <a:r>
              <a:rPr sz="2400" dirty="0">
                <a:solidFill>
                  <a:schemeClr val="accent4"/>
                </a:solidFill>
                <a:latin typeface="Consolas"/>
              </a:rPr>
              <a:t>private</a:t>
            </a:r>
            <a:r>
              <a:rPr sz="2800" dirty="0"/>
              <a:t> de la mère </a:t>
            </a:r>
            <a:r>
              <a:rPr sz="2800" dirty="0" err="1"/>
              <a:t>reste</a:t>
            </a:r>
            <a:r>
              <a:rPr sz="2800" dirty="0"/>
              <a:t> invisible dans la fille</a:t>
            </a:r>
          </a:p>
          <a:p>
            <a:pPr marL="0" indent="0">
              <a:spcAft>
                <a:spcPts val="1000"/>
              </a:spcAft>
              <a:buNone/>
            </a:pPr>
            <a:r>
              <a:rPr sz="2800" dirty="0"/>
              <a:t>Le </a:t>
            </a:r>
            <a:r>
              <a:rPr sz="2800" dirty="0" err="1"/>
              <a:t>modificateur</a:t>
            </a:r>
            <a:r>
              <a:rPr sz="2800" dirty="0"/>
              <a:t> </a:t>
            </a:r>
            <a:r>
              <a:rPr sz="2400" dirty="0">
                <a:solidFill>
                  <a:schemeClr val="accent4"/>
                </a:solidFill>
                <a:latin typeface="Consolas"/>
              </a:rPr>
              <a:t>protected</a:t>
            </a:r>
            <a:r>
              <a:rPr sz="2800" dirty="0"/>
              <a:t> </a:t>
            </a:r>
            <a:r>
              <a:rPr lang="fr-BE" dirty="0"/>
              <a:t>ouvre le membre aux sous-classes, et aussi au package.</a:t>
            </a:r>
            <a:endParaRPr sz="2800" dirty="0"/>
          </a:p>
          <a:p>
            <a:pPr marL="0" indent="0">
              <a:spcAft>
                <a:spcPts val="1000"/>
              </a:spcAft>
              <a:buNone/>
            </a:pPr>
            <a:r>
              <a:rPr sz="2800" dirty="0"/>
              <a:t>Un </a:t>
            </a:r>
            <a:r>
              <a:rPr sz="2800" dirty="0" err="1"/>
              <a:t>accesseur</a:t>
            </a:r>
            <a:r>
              <a:rPr sz="2800" dirty="0"/>
              <a:t> </a:t>
            </a:r>
            <a:r>
              <a:rPr sz="2400" dirty="0">
                <a:solidFill>
                  <a:schemeClr val="accent4"/>
                </a:solidFill>
                <a:latin typeface="Consolas"/>
              </a:rPr>
              <a:t>public</a:t>
            </a:r>
            <a:r>
              <a:rPr sz="2800" dirty="0"/>
              <a:t> </a:t>
            </a:r>
            <a:r>
              <a:rPr sz="2800" dirty="0" err="1"/>
              <a:t>reste</a:t>
            </a:r>
            <a:r>
              <a:rPr sz="2800" dirty="0"/>
              <a:t> </a:t>
            </a:r>
            <a:r>
              <a:rPr sz="2800" dirty="0" err="1"/>
              <a:t>une</a:t>
            </a:r>
            <a:r>
              <a:rPr sz="2800" dirty="0"/>
              <a:t> solution, </a:t>
            </a:r>
            <a:r>
              <a:rPr sz="2800" dirty="0" err="1"/>
              <a:t>quand</a:t>
            </a:r>
            <a:r>
              <a:rPr sz="2800" dirty="0"/>
              <a:t> </a:t>
            </a:r>
            <a:r>
              <a:rPr sz="2800" dirty="0" err="1"/>
              <a:t>l'information</a:t>
            </a:r>
            <a:r>
              <a:rPr sz="2800" dirty="0"/>
              <a:t> </a:t>
            </a:r>
            <a:r>
              <a:rPr sz="2800" dirty="0" err="1"/>
              <a:t>regarde</a:t>
            </a:r>
            <a:r>
              <a:rPr sz="2800" dirty="0"/>
              <a:t> tout le monde</a:t>
            </a:r>
          </a:p>
        </p:txBody>
      </p:sp>
      <p:sp>
        <p:nvSpPr>
          <p:cNvPr id="4" name="Code"/>
          <p:cNvSpPr txBox="1"/>
          <p:nvPr/>
        </p:nvSpPr>
        <p:spPr>
          <a:xfrm>
            <a:off x="1597378" y="4587240"/>
            <a:ext cx="8997244"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class</a:t>
            </a:r>
            <a:r>
              <a:rPr sz="1750">
                <a:solidFill>
                  <a:srgbClr val="BCBEC4"/>
                </a:solidFill>
                <a:latin typeface="Consolas"/>
              </a:rPr>
              <a:t> CompteBancaire {</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private</a:t>
            </a:r>
            <a:r>
              <a:rPr sz="1750">
                <a:solidFill>
                  <a:srgbClr val="BCBEC4"/>
                </a:solidFill>
                <a:latin typeface="Consolas"/>
              </a:rPr>
              <a:t> </a:t>
            </a:r>
            <a:r>
              <a:rPr sz="1750">
                <a:solidFill>
                  <a:srgbClr val="CF8E6D"/>
                </a:solidFill>
                <a:latin typeface="Consolas"/>
              </a:rPr>
              <a:t>double</a:t>
            </a:r>
            <a:r>
              <a:rPr sz="1750">
                <a:solidFill>
                  <a:srgbClr val="BCBEC4"/>
                </a:solidFill>
                <a:latin typeface="Consolas"/>
              </a:rPr>
              <a:t> solde;        </a:t>
            </a:r>
            <a:r>
              <a:rPr sz="1750">
                <a:solidFill>
                  <a:srgbClr val="7A7E85"/>
                </a:solidFill>
                <a:latin typeface="Consolas"/>
              </a:rPr>
              <a:t>// invisible dans CompteEpargne</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protected</a:t>
            </a:r>
            <a:r>
              <a:rPr sz="1750">
                <a:solidFill>
                  <a:srgbClr val="BCBEC4"/>
                </a:solidFill>
                <a:latin typeface="Consolas"/>
              </a:rPr>
              <a:t> </a:t>
            </a:r>
            <a:r>
              <a:rPr sz="1750">
                <a:solidFill>
                  <a:srgbClr val="CF8E6D"/>
                </a:solidFill>
                <a:latin typeface="Consolas"/>
              </a:rPr>
              <a:t>long</a:t>
            </a:r>
            <a:r>
              <a:rPr sz="1750">
                <a:solidFill>
                  <a:srgbClr val="BCBEC4"/>
                </a:solidFill>
                <a:latin typeface="Consolas"/>
              </a:rPr>
              <a:t> numero;       </a:t>
            </a:r>
            <a:r>
              <a:rPr sz="1750">
                <a:solidFill>
                  <a:srgbClr val="7A7E85"/>
                </a:solidFill>
                <a:latin typeface="Consolas"/>
              </a:rPr>
              <a:t>// visible dans CompteEpargne</a:t>
            </a:r>
          </a:p>
          <a:p>
            <a:pPr>
              <a:lnSpc>
                <a:spcPct val="100000"/>
              </a:lnSpc>
              <a:spcBef>
                <a:spcPts val="0"/>
              </a:spcBef>
              <a:spcAft>
                <a:spcPts val="0"/>
              </a:spcAft>
            </a:pPr>
            <a:r>
              <a:rPr sz="175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 C# à Java</a:t>
            </a:r>
          </a:p>
        </p:txBody>
      </p:sp>
      <p:sp>
        <p:nvSpPr>
          <p:cNvPr id="3" name="TextBox 2"/>
          <p:cNvSpPr txBox="1"/>
          <p:nvPr/>
        </p:nvSpPr>
        <p:spPr>
          <a:xfrm>
            <a:off x="777240" y="1371600"/>
            <a:ext cx="2693323" cy="585216"/>
          </a:xfrm>
          <a:prstGeom prst="rect">
            <a:avLst/>
          </a:prstGeom>
          <a:noFill/>
        </p:spPr>
        <p:txBody>
          <a:bodyPr wrap="square" anchor="ctr">
            <a:spAutoFit/>
          </a:bodyPr>
          <a:lstStyle/>
          <a:p>
            <a:r>
              <a:rPr sz="2000" b="1">
                <a:solidFill>
                  <a:schemeClr val="accent4"/>
                </a:solidFill>
              </a:rPr>
              <a:t>En C#</a:t>
            </a:r>
          </a:p>
        </p:txBody>
      </p:sp>
      <p:sp>
        <p:nvSpPr>
          <p:cNvPr id="4" name="TextBox 3"/>
          <p:cNvSpPr txBox="1"/>
          <p:nvPr/>
        </p:nvSpPr>
        <p:spPr>
          <a:xfrm>
            <a:off x="3744883" y="1371600"/>
            <a:ext cx="7639396" cy="585216"/>
          </a:xfrm>
          <a:prstGeom prst="rect">
            <a:avLst/>
          </a:prstGeom>
          <a:noFill/>
        </p:spPr>
        <p:txBody>
          <a:bodyPr wrap="square" anchor="ctr">
            <a:spAutoFit/>
          </a:bodyPr>
          <a:lstStyle/>
          <a:p>
            <a:r>
              <a:rPr sz="2000" b="1">
                <a:solidFill>
                  <a:schemeClr val="accent4"/>
                </a:solidFill>
              </a:rPr>
              <a:t>En Java</a:t>
            </a:r>
          </a:p>
        </p:txBody>
      </p:sp>
      <p:sp>
        <p:nvSpPr>
          <p:cNvPr id="21"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grpSp>
        <p:nvGrpSpPr>
          <p:cNvPr id="22"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2693323" cy="585216"/>
            </a:xfrm>
            <a:prstGeom prst="rect">
              <a:avLst/>
            </a:prstGeom>
            <a:noFill/>
          </p:spPr>
          <p:txBody>
            <a:bodyPr wrap="square" anchor="ctr">
              <a:spAutoFit/>
            </a:bodyPr>
            <a:lstStyle/>
            <a:p>
              <a:r>
                <a:rPr sz="1900">
                  <a:solidFill>
                    <a:schemeClr val="accent4"/>
                  </a:solidFill>
                  <a:latin typeface="Consolas"/>
                </a:rPr>
                <a:t>class Fille : Mere</a:t>
              </a:r>
            </a:p>
          </p:txBody>
        </p:sp>
        <p:sp>
          <p:nvSpPr>
            <p:cNvPr id="7" name="TextBox 6"/>
            <p:cNvSpPr txBox="1"/>
            <p:nvPr/>
          </p:nvSpPr>
          <p:spPr>
            <a:xfrm>
              <a:off x="3744883" y="2029967"/>
              <a:ext cx="7639396" cy="585216"/>
            </a:xfrm>
            <a:prstGeom prst="rect">
              <a:avLst/>
            </a:prstGeom>
            <a:noFill/>
          </p:spPr>
          <p:txBody>
            <a:bodyPr wrap="square" anchor="ctr">
              <a:spAutoFit/>
            </a:bodyPr>
            <a:lstStyle/>
            <a:p>
              <a:r>
                <a:rPr sz="1900">
                  <a:solidFill>
                    <a:schemeClr val="accent4"/>
                  </a:solidFill>
                  <a:latin typeface="Consolas"/>
                </a:rPr>
                <a:t>class Fille extends Mere</a:t>
              </a:r>
            </a:p>
          </p:txBody>
        </p:sp>
      </p:grpSp>
      <p:grpSp>
        <p:nvGrpSpPr>
          <p:cNvPr id="23"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2693323" cy="585216"/>
            </a:xfrm>
            <a:prstGeom prst="rect">
              <a:avLst/>
            </a:prstGeom>
            <a:noFill/>
          </p:spPr>
          <p:txBody>
            <a:bodyPr wrap="square" anchor="ctr">
              <a:spAutoFit/>
            </a:bodyPr>
            <a:lstStyle/>
            <a:p>
              <a:r>
                <a:rPr sz="1900">
                  <a:solidFill>
                    <a:schemeClr val="accent4"/>
                  </a:solidFill>
                  <a:latin typeface="Consolas"/>
                </a:rPr>
                <a:t>: base(...)</a:t>
              </a:r>
            </a:p>
          </p:txBody>
        </p:sp>
        <p:sp>
          <p:nvSpPr>
            <p:cNvPr id="10" name="TextBox 9"/>
            <p:cNvSpPr txBox="1"/>
            <p:nvPr/>
          </p:nvSpPr>
          <p:spPr>
            <a:xfrm>
              <a:off x="3744883" y="2688335"/>
              <a:ext cx="7639396" cy="585216"/>
            </a:xfrm>
            <a:prstGeom prst="rect">
              <a:avLst/>
            </a:prstGeom>
            <a:noFill/>
          </p:spPr>
          <p:txBody>
            <a:bodyPr wrap="square" anchor="ctr">
              <a:spAutoFit/>
            </a:bodyPr>
            <a:lstStyle/>
            <a:p>
              <a:r>
                <a:rPr sz="1900">
                  <a:solidFill>
                    <a:schemeClr val="accent4"/>
                  </a:solidFill>
                  <a:latin typeface="Consolas"/>
                </a:rPr>
                <a:t>super(...)</a:t>
              </a:r>
              <a:r>
                <a:rPr sz="2200">
                  <a:solidFill>
                    <a:srgbClr val="FFFFFF"/>
                  </a:solidFill>
                </a:rPr>
                <a:t>, première instruction du constructeur</a:t>
              </a:r>
            </a:p>
          </p:txBody>
        </p:sp>
      </p:grpSp>
      <p:grpSp>
        <p:nvGrpSpPr>
          <p:cNvPr id="24"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2693323" cy="585216"/>
            </a:xfrm>
            <a:prstGeom prst="rect">
              <a:avLst/>
            </a:prstGeom>
            <a:noFill/>
          </p:spPr>
          <p:txBody>
            <a:bodyPr wrap="square" anchor="ctr">
              <a:spAutoFit/>
            </a:bodyPr>
            <a:lstStyle/>
            <a:p>
              <a:r>
                <a:rPr sz="1900">
                  <a:solidFill>
                    <a:schemeClr val="accent4"/>
                  </a:solidFill>
                  <a:latin typeface="Consolas"/>
                </a:rPr>
                <a:t>override</a:t>
              </a:r>
            </a:p>
          </p:txBody>
        </p:sp>
        <p:sp>
          <p:nvSpPr>
            <p:cNvPr id="13" name="TextBox 12"/>
            <p:cNvSpPr txBox="1"/>
            <p:nvPr/>
          </p:nvSpPr>
          <p:spPr>
            <a:xfrm>
              <a:off x="3744883" y="3346703"/>
              <a:ext cx="7639396" cy="585216"/>
            </a:xfrm>
            <a:prstGeom prst="rect">
              <a:avLst/>
            </a:prstGeom>
            <a:noFill/>
          </p:spPr>
          <p:txBody>
            <a:bodyPr wrap="square" anchor="ctr">
              <a:spAutoFit/>
            </a:bodyPr>
            <a:lstStyle/>
            <a:p>
              <a:r>
                <a:rPr sz="1900">
                  <a:solidFill>
                    <a:schemeClr val="accent4"/>
                  </a:solidFill>
                  <a:latin typeface="Consolas"/>
                </a:rPr>
                <a:t>@Override</a:t>
              </a:r>
              <a:r>
                <a:rPr sz="2200">
                  <a:solidFill>
                    <a:srgbClr val="FFFFFF"/>
                  </a:solidFill>
                </a:rPr>
                <a:t>, facultative (mais bonne pratique)</a:t>
              </a:r>
            </a:p>
          </p:txBody>
        </p:sp>
      </p:grpSp>
      <p:grpSp>
        <p:nvGrpSpPr>
          <p:cNvPr id="25"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2693323" cy="585216"/>
            </a:xfrm>
            <a:prstGeom prst="rect">
              <a:avLst/>
            </a:prstGeom>
            <a:noFill/>
          </p:spPr>
          <p:txBody>
            <a:bodyPr wrap="square" anchor="ctr">
              <a:spAutoFit/>
            </a:bodyPr>
            <a:lstStyle/>
            <a:p>
              <a:r>
                <a:rPr sz="1900">
                  <a:solidFill>
                    <a:schemeClr val="accent4"/>
                  </a:solidFill>
                  <a:latin typeface="Consolas"/>
                </a:rPr>
                <a:t>is</a:t>
              </a:r>
            </a:p>
          </p:txBody>
        </p:sp>
        <p:sp>
          <p:nvSpPr>
            <p:cNvPr id="16" name="TextBox 15"/>
            <p:cNvSpPr txBox="1"/>
            <p:nvPr/>
          </p:nvSpPr>
          <p:spPr>
            <a:xfrm>
              <a:off x="3744883" y="4005071"/>
              <a:ext cx="7639396" cy="585216"/>
            </a:xfrm>
            <a:prstGeom prst="rect">
              <a:avLst/>
            </a:prstGeom>
            <a:noFill/>
          </p:spPr>
          <p:txBody>
            <a:bodyPr wrap="square" anchor="ctr">
              <a:spAutoFit/>
            </a:bodyPr>
            <a:lstStyle/>
            <a:p>
              <a:r>
                <a:rPr sz="1900">
                  <a:solidFill>
                    <a:schemeClr val="accent4"/>
                  </a:solidFill>
                  <a:latin typeface="Consolas"/>
                </a:rPr>
                <a:t>instanceof</a:t>
              </a:r>
            </a:p>
          </p:txBody>
        </p:sp>
      </p:grpSp>
      <p:grpSp>
        <p:nvGrpSpPr>
          <p:cNvPr id="26" name="Ligne 5"/>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2693323" cy="585216"/>
            </a:xfrm>
            <a:prstGeom prst="rect">
              <a:avLst/>
            </a:prstGeom>
            <a:noFill/>
          </p:spPr>
          <p:txBody>
            <a:bodyPr wrap="square" anchor="ctr">
              <a:spAutoFit/>
            </a:bodyPr>
            <a:lstStyle/>
            <a:p>
              <a:r>
                <a:rPr sz="1900">
                  <a:solidFill>
                    <a:schemeClr val="accent4"/>
                  </a:solidFill>
                  <a:latin typeface="Consolas"/>
                </a:rPr>
                <a:t>abstract</a:t>
              </a:r>
            </a:p>
          </p:txBody>
        </p:sp>
        <p:sp>
          <p:nvSpPr>
            <p:cNvPr id="19" name="TextBox 18"/>
            <p:cNvSpPr txBox="1"/>
            <p:nvPr/>
          </p:nvSpPr>
          <p:spPr>
            <a:xfrm>
              <a:off x="3744883" y="4663439"/>
              <a:ext cx="7639396" cy="585216"/>
            </a:xfrm>
            <a:prstGeom prst="rect">
              <a:avLst/>
            </a:prstGeom>
            <a:noFill/>
          </p:spPr>
          <p:txBody>
            <a:bodyPr wrap="square" anchor="ctr">
              <a:spAutoFit/>
            </a:bodyPr>
            <a:lstStyle/>
            <a:p>
              <a:r>
                <a:rPr sz="1900">
                  <a:solidFill>
                    <a:schemeClr val="accent4"/>
                  </a:solidFill>
                  <a:latin typeface="Consolas"/>
                </a:rPr>
                <a:t>abstract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a:t>A une personne, ou est une personne ?</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lang="fr-BE" sz="2800" dirty="0"/>
              <a:t>Au module </a:t>
            </a:r>
            <a:r>
              <a:rPr lang="fr-BE" sz="2800" dirty="0">
                <a:solidFill>
                  <a:schemeClr val="accent4"/>
                </a:solidFill>
                <a:latin typeface="Consolas"/>
              </a:rPr>
              <a:t>TAB</a:t>
            </a:r>
            <a:r>
              <a:rPr lang="fr-BE" sz="2800" dirty="0"/>
              <a:t>, un vendeur </a:t>
            </a:r>
            <a:r>
              <a:rPr lang="fr-BE" sz="2800" b="1" dirty="0"/>
              <a:t>avait une</a:t>
            </a:r>
            <a:r>
              <a:rPr lang="fr-BE" sz="2800" dirty="0"/>
              <a:t> </a:t>
            </a:r>
            <a:r>
              <a:rPr lang="fr-BE" sz="2400" dirty="0">
                <a:solidFill>
                  <a:schemeClr val="accent4"/>
                </a:solidFill>
                <a:latin typeface="Consolas"/>
              </a:rPr>
              <a:t>Person</a:t>
            </a:r>
            <a:r>
              <a:rPr lang="fr-BE" sz="2800" dirty="0"/>
              <a:t> : un champ. L'héritage permet l'autre modèle : </a:t>
            </a:r>
            <a:r>
              <a:rPr lang="fr-BE" sz="2400" dirty="0">
                <a:solidFill>
                  <a:schemeClr val="accent4"/>
                </a:solidFill>
                <a:latin typeface="Consolas"/>
              </a:rPr>
              <a:t>Vendor extends Person</a:t>
            </a:r>
          </a:p>
          <a:p>
            <a:pPr marL="0" indent="0">
              <a:spcAft>
                <a:spcPts val="1000"/>
              </a:spcAft>
              <a:buNone/>
            </a:pPr>
            <a:r>
              <a:rPr lang="fr-BE" sz="2800" b="1" dirty="0"/>
              <a:t>Est une</a:t>
            </a:r>
            <a:r>
              <a:rPr lang="fr-BE" sz="2800" dirty="0"/>
              <a:t> : le vendeur reçoit tout ce que sait la personne. Simple, tant que ce rôle ne change pas</a:t>
            </a:r>
          </a:p>
          <a:p>
            <a:pPr marL="0" indent="0">
              <a:spcAft>
                <a:spcPts val="1000"/>
              </a:spcAft>
              <a:buNone/>
            </a:pPr>
            <a:r>
              <a:rPr lang="fr-BE" sz="2800" b="1" dirty="0"/>
              <a:t>A une</a:t>
            </a:r>
            <a:r>
              <a:rPr lang="fr-BE" sz="2800" dirty="0"/>
              <a:t> : le vendeur est un rôle. La même personne peut aussi être cliente, ou cesser de vendre</a:t>
            </a:r>
          </a:p>
        </p:txBody>
      </p:sp>
      <p:sp>
        <p:nvSpPr>
          <p:cNvPr id="4" name="Code"/>
          <p:cNvSpPr txBox="1"/>
          <p:nvPr/>
        </p:nvSpPr>
        <p:spPr>
          <a:xfrm>
            <a:off x="1325739" y="4434840"/>
            <a:ext cx="9540522" cy="17373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lang="fr-BE" sz="1750" dirty="0">
                <a:solidFill>
                  <a:srgbClr val="7A7E85"/>
                </a:solidFill>
                <a:latin typeface="Consolas"/>
              </a:rPr>
              <a:t>// a une personne : un rôle         // est une personne : l'héritage</a:t>
            </a:r>
          </a:p>
          <a:p>
            <a:pPr>
              <a:lnSpc>
                <a:spcPct val="100000"/>
              </a:lnSpc>
              <a:spcBef>
                <a:spcPts val="0"/>
              </a:spcBef>
              <a:spcAft>
                <a:spcPts val="0"/>
              </a:spcAft>
            </a:pPr>
            <a:r>
              <a:rPr lang="fr-BE" sz="1750" dirty="0">
                <a:solidFill>
                  <a:srgbClr val="CF8E6D"/>
                </a:solidFill>
                <a:latin typeface="Consolas"/>
              </a:rPr>
              <a:t>class</a:t>
            </a:r>
            <a:r>
              <a:rPr lang="fr-BE" sz="1750" dirty="0">
                <a:solidFill>
                  <a:srgbClr val="BCBEC4"/>
                </a:solidFill>
                <a:latin typeface="Consolas"/>
              </a:rPr>
              <a:t> Vendor {                      </a:t>
            </a:r>
            <a:r>
              <a:rPr lang="fr-BE" sz="1750" dirty="0">
                <a:solidFill>
                  <a:srgbClr val="CF8E6D"/>
                </a:solidFill>
                <a:latin typeface="Consolas"/>
              </a:rPr>
              <a:t>class</a:t>
            </a:r>
            <a:r>
              <a:rPr lang="fr-BE" sz="1750" dirty="0">
                <a:solidFill>
                  <a:srgbClr val="BCBEC4"/>
                </a:solidFill>
                <a:latin typeface="Consolas"/>
              </a:rPr>
              <a:t> Vendor </a:t>
            </a:r>
            <a:r>
              <a:rPr lang="fr-BE" sz="1750" dirty="0">
                <a:solidFill>
                  <a:srgbClr val="CF8E6D"/>
                </a:solidFill>
                <a:latin typeface="Consolas"/>
              </a:rPr>
              <a:t>extends</a:t>
            </a:r>
            <a:r>
              <a:rPr lang="fr-BE" sz="1750" dirty="0">
                <a:solidFill>
                  <a:srgbClr val="BCBEC4"/>
                </a:solidFill>
                <a:latin typeface="Consolas"/>
              </a:rPr>
              <a:t> Person {</a:t>
            </a:r>
          </a:p>
          <a:p>
            <a:pPr>
              <a:lnSpc>
                <a:spcPct val="100000"/>
              </a:lnSpc>
              <a:spcBef>
                <a:spcPts val="0"/>
              </a:spcBef>
              <a:spcAft>
                <a:spcPts val="0"/>
              </a:spcAft>
            </a:pPr>
            <a:r>
              <a:rPr lang="fr-BE" sz="1750" dirty="0">
                <a:solidFill>
                  <a:srgbClr val="BCBEC4"/>
                </a:solidFill>
                <a:latin typeface="Consolas"/>
              </a:rPr>
              <a:t>    </a:t>
            </a:r>
            <a:r>
              <a:rPr lang="fr-BE" sz="1750" dirty="0">
                <a:solidFill>
                  <a:srgbClr val="CF8E6D"/>
                </a:solidFill>
                <a:latin typeface="Consolas"/>
              </a:rPr>
              <a:t>private</a:t>
            </a:r>
            <a:r>
              <a:rPr lang="fr-BE" sz="1750" dirty="0">
                <a:solidFill>
                  <a:srgbClr val="BCBEC4"/>
                </a:solidFill>
                <a:latin typeface="Consolas"/>
              </a:rPr>
              <a:t> Person personne;            </a:t>
            </a:r>
            <a:r>
              <a:rPr lang="fr-BE" sz="1750" dirty="0">
                <a:solidFill>
                  <a:srgbClr val="CF8E6D"/>
                </a:solidFill>
                <a:latin typeface="Consolas"/>
              </a:rPr>
              <a:t>private</a:t>
            </a:r>
            <a:r>
              <a:rPr lang="fr-BE" sz="1750" dirty="0">
                <a:solidFill>
                  <a:srgbClr val="BCBEC4"/>
                </a:solidFill>
                <a:latin typeface="Consolas"/>
              </a:rPr>
              <a:t> Sale[] ventes;</a:t>
            </a:r>
          </a:p>
          <a:p>
            <a:pPr>
              <a:lnSpc>
                <a:spcPct val="100000"/>
              </a:lnSpc>
              <a:spcBef>
                <a:spcPts val="0"/>
              </a:spcBef>
              <a:spcAft>
                <a:spcPts val="0"/>
              </a:spcAft>
            </a:pPr>
            <a:r>
              <a:rPr lang="fr-BE" sz="1750" dirty="0">
                <a:solidFill>
                  <a:srgbClr val="BCBEC4"/>
                </a:solidFill>
                <a:latin typeface="Consolas"/>
              </a:rPr>
              <a:t>    </a:t>
            </a:r>
            <a:r>
              <a:rPr lang="fr-BE" sz="1750" dirty="0">
                <a:solidFill>
                  <a:srgbClr val="CF8E6D"/>
                </a:solidFill>
                <a:latin typeface="Consolas"/>
              </a:rPr>
              <a:t>private</a:t>
            </a:r>
            <a:r>
              <a:rPr lang="fr-BE" sz="1750" dirty="0">
                <a:solidFill>
                  <a:srgbClr val="BCBEC4"/>
                </a:solidFill>
                <a:latin typeface="Consolas"/>
              </a:rPr>
              <a:t> Sale[] ventes;          }</a:t>
            </a:r>
          </a:p>
          <a:p>
            <a:pPr>
              <a:lnSpc>
                <a:spcPct val="100000"/>
              </a:lnSpc>
              <a:spcBef>
                <a:spcPts val="0"/>
              </a:spcBef>
              <a:spcAft>
                <a:spcPts val="0"/>
              </a:spcAft>
            </a:pPr>
            <a:r>
              <a:rPr lang="fr-BE" sz="1750" dirty="0">
                <a:solidFill>
                  <a:srgbClr val="BCBEC4"/>
                </a:solidFill>
                <a:latin typeface="Consolas"/>
              </a:rPr>
              <a:t>}                                   </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1. L'héritage en Java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A futuristic digital illustration in deep blue tones: three separate glowing machines stand side by side on a dark circuit board. Each machine is different on the outside, but inside each one sits the exact same complex glowing mechanism, copied three times, identical gears and light patterns. One copy shows a small red crack, while the other two remain intact, suggesting a fix applied in one place but forgotten elsewhere. Redundant cables and tangled light beams clutter the scene. Cinematic lighting, depth of field, photorealistic, no text.">
            <a:extLst>
              <a:ext uri="{FF2B5EF4-FFF2-40B4-BE49-F238E27FC236}">
                <a16:creationId xmlns:a16="http://schemas.microsoft.com/office/drawing/2014/main" id="{9F90D4F9-C033-D0D3-A443-B08BAD2824C1}"/>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552290"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Le même code, trois fois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exemple : prévenir un utilisateur</a:t>
            </a:r>
          </a:p>
        </p:txBody>
      </p:sp>
      <p:sp>
        <p:nvSpPr>
          <p:cNvPr id="3" name="Content Placeholder 2"/>
          <p:cNvSpPr>
            <a:spLocks noGrp="1"/>
          </p:cNvSpPr>
          <p:nvPr>
            <p:ph idx="1"/>
          </p:nvPr>
        </p:nvSpPr>
        <p:spPr>
          <a:xfrm>
            <a:off x="640080" y="1371600"/>
            <a:ext cx="10881360" cy="3815080"/>
          </a:xfrm>
        </p:spPr>
        <p:txBody>
          <a:bodyPr/>
          <a:lstStyle/>
          <a:p>
            <a:pPr marL="0" indent="0">
              <a:spcAft>
                <a:spcPts val="1000"/>
              </a:spcAft>
              <a:buNone/>
            </a:pPr>
            <a:r>
              <a:rPr sz="2600" dirty="0"/>
              <a:t>Une application doit </a:t>
            </a:r>
            <a:r>
              <a:rPr sz="2600" dirty="0" err="1"/>
              <a:t>prévenir</a:t>
            </a:r>
            <a:r>
              <a:rPr sz="2600" dirty="0"/>
              <a:t> </a:t>
            </a:r>
            <a:r>
              <a:rPr sz="2600" dirty="0" err="1"/>
              <a:t>ses</a:t>
            </a:r>
            <a:r>
              <a:rPr sz="2600" dirty="0"/>
              <a:t> </a:t>
            </a:r>
            <a:r>
              <a:rPr sz="2600" dirty="0" err="1"/>
              <a:t>utilisateurs</a:t>
            </a:r>
            <a:r>
              <a:rPr sz="2600" dirty="0"/>
              <a:t>, et </a:t>
            </a:r>
            <a:r>
              <a:rPr sz="2600" dirty="0" err="1"/>
              <a:t>elle</a:t>
            </a:r>
            <a:r>
              <a:rPr sz="2600" dirty="0"/>
              <a:t> a </a:t>
            </a:r>
            <a:r>
              <a:rPr sz="2600" dirty="0" err="1"/>
              <a:t>plusieurs</a:t>
            </a:r>
            <a:r>
              <a:rPr sz="2600" dirty="0"/>
              <a:t> moyens de le faire</a:t>
            </a:r>
          </a:p>
          <a:p>
            <a:pPr marL="0" indent="0">
              <a:spcAft>
                <a:spcPts val="1000"/>
              </a:spcAft>
              <a:buNone/>
            </a:pPr>
            <a:r>
              <a:rPr sz="2600" dirty="0"/>
              <a:t>Un mail, un SMS, </a:t>
            </a:r>
            <a:r>
              <a:rPr sz="2600" dirty="0" err="1"/>
              <a:t>une</a:t>
            </a:r>
            <a:r>
              <a:rPr sz="2600" dirty="0"/>
              <a:t> notification sur le </a:t>
            </a:r>
            <a:r>
              <a:rPr sz="2600" dirty="0" err="1"/>
              <a:t>téléphone</a:t>
            </a:r>
            <a:r>
              <a:rPr sz="2600" dirty="0"/>
              <a:t> : trois </a:t>
            </a:r>
            <a:r>
              <a:rPr sz="2600" dirty="0" err="1"/>
              <a:t>canaux</a:t>
            </a:r>
            <a:r>
              <a:rPr sz="2600" dirty="0"/>
              <a:t>, un </a:t>
            </a:r>
            <a:r>
              <a:rPr sz="2600" dirty="0" err="1"/>
              <a:t>même</a:t>
            </a:r>
            <a:r>
              <a:rPr sz="2600" dirty="0"/>
              <a:t> </a:t>
            </a:r>
            <a:r>
              <a:rPr sz="2600" dirty="0" err="1"/>
              <a:t>geste</a:t>
            </a:r>
            <a:r>
              <a:rPr lang="nl-BE" sz="2600" dirty="0"/>
              <a:t> :</a:t>
            </a:r>
            <a:r>
              <a:rPr sz="2600" dirty="0"/>
              <a:t> </a:t>
            </a:r>
            <a:r>
              <a:rPr sz="2600" dirty="0" err="1"/>
              <a:t>envoyer</a:t>
            </a:r>
            <a:r>
              <a:rPr sz="2600" dirty="0"/>
              <a:t> un </a:t>
            </a:r>
            <a:r>
              <a:rPr sz="2600" dirty="0" err="1"/>
              <a:t>texte</a:t>
            </a:r>
            <a:endParaRPr sz="2600" dirty="0"/>
          </a:p>
          <a:p>
            <a:pPr marL="0" indent="0">
              <a:spcAft>
                <a:spcPts val="1000"/>
              </a:spcAft>
              <a:buNone/>
            </a:pPr>
            <a:r>
              <a:rPr sz="2600" dirty="0"/>
              <a:t>Première idée, la plus naturelle : </a:t>
            </a:r>
            <a:r>
              <a:rPr sz="2600" dirty="0" err="1"/>
              <a:t>une</a:t>
            </a:r>
            <a:r>
              <a:rPr sz="2600" dirty="0"/>
              <a:t> </a:t>
            </a:r>
            <a:r>
              <a:rPr sz="2600" dirty="0" err="1"/>
              <a:t>classe</a:t>
            </a:r>
            <a:r>
              <a:rPr sz="2600" dirty="0"/>
              <a:t> par canal, </a:t>
            </a:r>
            <a:r>
              <a:rPr sz="2600" dirty="0" err="1"/>
              <a:t>chacune</a:t>
            </a:r>
            <a:r>
              <a:rPr sz="2600" dirty="0"/>
              <a:t> </a:t>
            </a:r>
            <a:r>
              <a:rPr sz="2600" dirty="0" err="1"/>
              <a:t>écrite</a:t>
            </a:r>
            <a:r>
              <a:rPr sz="2600" dirty="0"/>
              <a:t> pour </a:t>
            </a:r>
            <a:r>
              <a:rPr sz="2600" dirty="0" err="1"/>
              <a:t>elle-même</a:t>
            </a:r>
            <a:endParaRPr sz="2600" dirty="0"/>
          </a:p>
          <a:p>
            <a:pPr marL="0" indent="0">
              <a:spcAft>
                <a:spcPts val="1000"/>
              </a:spcAft>
              <a:buNone/>
            </a:pPr>
            <a:r>
              <a:rPr sz="2600" dirty="0" err="1"/>
              <a:t>Voyons</a:t>
            </a:r>
            <a:r>
              <a:rPr sz="2600" dirty="0"/>
              <a:t> </a:t>
            </a:r>
            <a:r>
              <a:rPr sz="2600" dirty="0" err="1"/>
              <a:t>ce</a:t>
            </a:r>
            <a:r>
              <a:rPr sz="2600" dirty="0"/>
              <a:t> </a:t>
            </a:r>
            <a:r>
              <a:rPr sz="2600" dirty="0" err="1"/>
              <a:t>que</a:t>
            </a:r>
            <a:r>
              <a:rPr sz="2600" dirty="0"/>
              <a:t> </a:t>
            </a:r>
            <a:r>
              <a:rPr sz="2600" dirty="0" err="1"/>
              <a:t>cette</a:t>
            </a:r>
            <a:r>
              <a:rPr sz="2600" dirty="0"/>
              <a:t> première idée </a:t>
            </a:r>
            <a:r>
              <a:rPr sz="2600" dirty="0" err="1"/>
              <a:t>coûte</a:t>
            </a:r>
            <a:r>
              <a:rPr sz="2600" dirty="0"/>
              <a:t>, avant de </a:t>
            </a:r>
            <a:r>
              <a:rPr sz="2600" dirty="0" err="1"/>
              <a:t>chercher</a:t>
            </a:r>
            <a:r>
              <a:rPr sz="2600" dirty="0"/>
              <a:t> </a:t>
            </a:r>
            <a:r>
              <a:rPr sz="2600" dirty="0" err="1"/>
              <a:t>mieux</a:t>
            </a:r>
            <a:endParaRPr sz="2600" dirty="0"/>
          </a:p>
        </p:txBody>
      </p:sp>
      <p:sp>
        <p:nvSpPr>
          <p:cNvPr id="4" name="Code"/>
          <p:cNvSpPr txBox="1"/>
          <p:nvPr/>
        </p:nvSpPr>
        <p:spPr>
          <a:xfrm>
            <a:off x="1282033" y="5214140"/>
            <a:ext cx="2880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gn="ctr">
              <a:lnSpc>
                <a:spcPct val="100000"/>
              </a:lnSpc>
              <a:spcBef>
                <a:spcPts val="0"/>
              </a:spcBef>
              <a:spcAft>
                <a:spcPts val="0"/>
              </a:spcAft>
            </a:pPr>
            <a:r>
              <a:rPr sz="1800" dirty="0" err="1">
                <a:solidFill>
                  <a:srgbClr val="BCBEC4"/>
                </a:solidFill>
                <a:latin typeface="Consolas"/>
              </a:rPr>
              <a:t>NotificationMail</a:t>
            </a:r>
            <a:endParaRPr lang="nl-BE" dirty="0">
              <a:solidFill>
                <a:srgbClr val="BCBEC4"/>
              </a:solidFill>
              <a:latin typeface="Consolas"/>
            </a:endParaRPr>
          </a:p>
          <a:p>
            <a:pPr algn="ctr">
              <a:lnSpc>
                <a:spcPct val="100000"/>
              </a:lnSpc>
              <a:spcBef>
                <a:spcPts val="0"/>
              </a:spcBef>
              <a:spcAft>
                <a:spcPts val="0"/>
              </a:spcAft>
            </a:pPr>
            <a:r>
              <a:rPr sz="1800" dirty="0" err="1">
                <a:solidFill>
                  <a:srgbClr val="56A8F5"/>
                </a:solidFill>
                <a:latin typeface="Consolas"/>
              </a:rPr>
              <a:t>envoyer</a:t>
            </a:r>
            <a:r>
              <a:rPr sz="1800" dirty="0">
                <a:solidFill>
                  <a:srgbClr val="BCBEC4"/>
                </a:solidFill>
                <a:latin typeface="Consolas"/>
              </a:rPr>
              <a:t>(</a:t>
            </a:r>
            <a:r>
              <a:rPr sz="1800" dirty="0" err="1">
                <a:solidFill>
                  <a:srgbClr val="BCBEC4"/>
                </a:solidFill>
                <a:latin typeface="Consolas"/>
              </a:rPr>
              <a:t>texte</a:t>
            </a: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
        <p:nvSpPr>
          <p:cNvPr id="8" name="Code">
            <a:extLst>
              <a:ext uri="{FF2B5EF4-FFF2-40B4-BE49-F238E27FC236}">
                <a16:creationId xmlns:a16="http://schemas.microsoft.com/office/drawing/2014/main" id="{CE9BAFF7-3B2B-6D38-838D-3A64ABDD9C9E}"/>
              </a:ext>
            </a:extLst>
          </p:cNvPr>
          <p:cNvSpPr txBox="1"/>
          <p:nvPr/>
        </p:nvSpPr>
        <p:spPr>
          <a:xfrm>
            <a:off x="4533233" y="5214140"/>
            <a:ext cx="2880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gn="ctr">
              <a:lnSpc>
                <a:spcPct val="100000"/>
              </a:lnSpc>
              <a:spcBef>
                <a:spcPts val="0"/>
              </a:spcBef>
              <a:spcAft>
                <a:spcPts val="0"/>
              </a:spcAft>
            </a:pPr>
            <a:r>
              <a:rPr lang="fr-BE" dirty="0" err="1">
                <a:solidFill>
                  <a:srgbClr val="BCBEC4"/>
                </a:solidFill>
                <a:latin typeface="Consolas"/>
              </a:rPr>
              <a:t>NotificationSms</a:t>
            </a:r>
            <a:endParaRPr lang="fr-BE" dirty="0">
              <a:solidFill>
                <a:srgbClr val="BCBEC4"/>
              </a:solidFill>
              <a:latin typeface="Consolas"/>
            </a:endParaRPr>
          </a:p>
          <a:p>
            <a:pPr algn="ctr">
              <a:lnSpc>
                <a:spcPct val="100000"/>
              </a:lnSpc>
              <a:spcBef>
                <a:spcPts val="0"/>
              </a:spcBef>
              <a:spcAft>
                <a:spcPts val="0"/>
              </a:spcAft>
            </a:pPr>
            <a:r>
              <a:rPr lang="fr-BE" dirty="0">
                <a:solidFill>
                  <a:srgbClr val="56A8F5"/>
                </a:solidFill>
                <a:latin typeface="Consolas"/>
              </a:rPr>
              <a:t>envoyer</a:t>
            </a:r>
            <a:r>
              <a:rPr lang="fr-BE" dirty="0">
                <a:solidFill>
                  <a:srgbClr val="BCBEC4"/>
                </a:solidFill>
                <a:latin typeface="Consolas"/>
              </a:rPr>
              <a:t>(texte)</a:t>
            </a:r>
            <a:endParaRPr sz="1800" dirty="0">
              <a:solidFill>
                <a:srgbClr val="BCBEC4"/>
              </a:solidFill>
              <a:latin typeface="Consolas"/>
            </a:endParaRPr>
          </a:p>
        </p:txBody>
      </p:sp>
      <p:sp>
        <p:nvSpPr>
          <p:cNvPr id="9" name="Code">
            <a:extLst>
              <a:ext uri="{FF2B5EF4-FFF2-40B4-BE49-F238E27FC236}">
                <a16:creationId xmlns:a16="http://schemas.microsoft.com/office/drawing/2014/main" id="{29B33ACC-4E89-763D-67FD-03981AFA8AAC}"/>
              </a:ext>
            </a:extLst>
          </p:cNvPr>
          <p:cNvSpPr txBox="1"/>
          <p:nvPr/>
        </p:nvSpPr>
        <p:spPr>
          <a:xfrm>
            <a:off x="7767500" y="5214140"/>
            <a:ext cx="2880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gn="ctr">
              <a:lnSpc>
                <a:spcPct val="100000"/>
              </a:lnSpc>
              <a:spcBef>
                <a:spcPts val="0"/>
              </a:spcBef>
              <a:spcAft>
                <a:spcPts val="0"/>
              </a:spcAft>
            </a:pPr>
            <a:r>
              <a:rPr sz="1800" dirty="0" err="1">
                <a:solidFill>
                  <a:srgbClr val="BCBEC4"/>
                </a:solidFill>
                <a:latin typeface="Consolas"/>
              </a:rPr>
              <a:t>NotificationPus</a:t>
            </a:r>
            <a:r>
              <a:rPr lang="nl-BE" sz="1800" dirty="0">
                <a:solidFill>
                  <a:srgbClr val="BCBEC4"/>
                </a:solidFill>
                <a:latin typeface="Consolas"/>
              </a:rPr>
              <a:t>h</a:t>
            </a:r>
          </a:p>
          <a:p>
            <a:pPr algn="ctr">
              <a:lnSpc>
                <a:spcPct val="100000"/>
              </a:lnSpc>
              <a:spcBef>
                <a:spcPts val="0"/>
              </a:spcBef>
              <a:spcAft>
                <a:spcPts val="0"/>
              </a:spcAft>
            </a:pPr>
            <a:r>
              <a:rPr lang="fr-BE" dirty="0">
                <a:solidFill>
                  <a:srgbClr val="56A8F5"/>
                </a:solidFill>
                <a:latin typeface="Consolas"/>
              </a:rPr>
              <a:t>envoyer</a:t>
            </a:r>
            <a:r>
              <a:rPr lang="fr-BE" dirty="0">
                <a:solidFill>
                  <a:srgbClr val="BCBEC4"/>
                </a:solidFill>
                <a:latin typeface="Consolas"/>
              </a:rPr>
              <a:t>(texte)</a:t>
            </a:r>
            <a:endParaRPr sz="1800" dirty="0">
              <a:solidFill>
                <a:srgbClr val="BCBEC4"/>
              </a:solidFill>
              <a:latin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1"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8" grpId="0" animBg="1"/>
      <p:bldP spid="8" grpId="1" animBg="1"/>
      <p:bldP spid="9" grpId="0" animBg="1"/>
      <p:bldP spid="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classes, un seul comportement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Trois canaux, trois classes indépendantes</a:t>
            </a:r>
          </a:p>
          <a:p>
            <a:pPr marL="0" indent="0">
              <a:spcAft>
                <a:spcPts val="1000"/>
              </a:spcAft>
              <a:buNone/>
            </a:pPr>
            <a:r>
              <a:rPr sz="2800"/>
              <a:t>La méthode d'envoi y est écrite trois fois</a:t>
            </a:r>
          </a:p>
          <a:p>
            <a:pPr marL="0" indent="0">
              <a:spcAft>
                <a:spcPts val="1000"/>
              </a:spcAft>
              <a:buNone/>
            </a:pPr>
            <a:r>
              <a:rPr sz="2800"/>
              <a:t>Une règle nouvelle devra être portée dans chacune</a:t>
            </a:r>
          </a:p>
        </p:txBody>
      </p:sp>
      <p:sp>
        <p:nvSpPr>
          <p:cNvPr id="4" name="Code"/>
          <p:cNvSpPr txBox="1"/>
          <p:nvPr/>
        </p:nvSpPr>
        <p:spPr>
          <a:xfrm>
            <a:off x="469233" y="3437544"/>
            <a:ext cx="5067967" cy="1325563"/>
          </a:xfrm>
          <a:prstGeom prst="roundRect">
            <a:avLst>
              <a:gd name="adj" fmla="val 3191"/>
            </a:avLst>
          </a:prstGeom>
          <a:solidFill>
            <a:srgbClr val="1D1F22"/>
          </a:solidFill>
          <a:ln>
            <a:solidFill>
              <a:schemeClr val="bg2"/>
            </a:solidFill>
          </a:ln>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lang="fr-BE" sz="1550" dirty="0">
                <a:solidFill>
                  <a:srgbClr val="CF8E6D"/>
                </a:solidFill>
                <a:latin typeface="Consolas"/>
              </a:rPr>
              <a:t>public</a:t>
            </a:r>
            <a:r>
              <a:rPr lang="fr-BE" sz="1550" dirty="0">
                <a:solidFill>
                  <a:srgbClr val="BCBEC4"/>
                </a:solidFill>
                <a:latin typeface="Consolas"/>
              </a:rPr>
              <a:t> </a:t>
            </a:r>
            <a:r>
              <a:rPr lang="fr-BE" sz="1550" dirty="0">
                <a:solidFill>
                  <a:srgbClr val="CF8E6D"/>
                </a:solidFill>
                <a:latin typeface="Consolas"/>
              </a:rPr>
              <a:t>class</a:t>
            </a:r>
            <a:r>
              <a:rPr lang="fr-BE" sz="1550" dirty="0">
                <a:solidFill>
                  <a:srgbClr val="BCBEC4"/>
                </a:solidFill>
                <a:latin typeface="Consolas"/>
              </a:rPr>
              <a:t> </a:t>
            </a:r>
            <a:r>
              <a:rPr lang="fr-BE" sz="1550" dirty="0" err="1">
                <a:solidFill>
                  <a:srgbClr val="BCBEC4"/>
                </a:solidFill>
                <a:latin typeface="Consolas"/>
              </a:rPr>
              <a:t>NotificationMail</a:t>
            </a:r>
            <a:r>
              <a:rPr lang="fr-BE" sz="1550" dirty="0">
                <a:solidFill>
                  <a:srgbClr val="BCBEC4"/>
                </a:solidFill>
                <a:latin typeface="Consolas"/>
              </a:rPr>
              <a:t> {</a:t>
            </a:r>
          </a:p>
          <a:p>
            <a:pPr>
              <a:lnSpc>
                <a:spcPct val="100000"/>
              </a:lnSpc>
              <a:spcBef>
                <a:spcPts val="0"/>
              </a:spcBef>
              <a:spcAft>
                <a:spcPts val="0"/>
              </a:spcAft>
            </a:pPr>
            <a:r>
              <a:rPr lang="fr-BE" sz="1550" dirty="0">
                <a:solidFill>
                  <a:srgbClr val="BCBEC4"/>
                </a:solidFill>
                <a:latin typeface="Consolas"/>
              </a:rPr>
              <a:t>    </a:t>
            </a:r>
            <a:r>
              <a:rPr lang="fr-BE" sz="1550" dirty="0">
                <a:solidFill>
                  <a:srgbClr val="CF8E6D"/>
                </a:solidFill>
                <a:latin typeface="Consolas"/>
              </a:rPr>
              <a:t>public</a:t>
            </a:r>
            <a:r>
              <a:rPr lang="fr-BE" sz="1550" dirty="0">
                <a:solidFill>
                  <a:srgbClr val="BCBEC4"/>
                </a:solidFill>
                <a:latin typeface="Consolas"/>
              </a:rPr>
              <a:t> </a:t>
            </a:r>
            <a:r>
              <a:rPr lang="fr-BE" sz="1550" dirty="0" err="1">
                <a:solidFill>
                  <a:srgbClr val="CF8E6D"/>
                </a:solidFill>
                <a:latin typeface="Consolas"/>
              </a:rPr>
              <a:t>void</a:t>
            </a:r>
            <a:r>
              <a:rPr lang="fr-BE" sz="1550" dirty="0">
                <a:solidFill>
                  <a:srgbClr val="BCBEC4"/>
                </a:solidFill>
                <a:latin typeface="Consolas"/>
              </a:rPr>
              <a:t> </a:t>
            </a:r>
            <a:r>
              <a:rPr lang="fr-BE" sz="1550" dirty="0">
                <a:solidFill>
                  <a:srgbClr val="56A8F5"/>
                </a:solidFill>
                <a:latin typeface="Consolas"/>
              </a:rPr>
              <a:t>envoyer</a:t>
            </a:r>
            <a:r>
              <a:rPr lang="fr-BE" sz="1550" dirty="0">
                <a:solidFill>
                  <a:srgbClr val="BCBEC4"/>
                </a:solidFill>
                <a:latin typeface="Consolas"/>
              </a:rPr>
              <a:t>(String texte) {</a:t>
            </a:r>
          </a:p>
          <a:p>
            <a:pPr>
              <a:lnSpc>
                <a:spcPct val="100000"/>
              </a:lnSpc>
              <a:spcBef>
                <a:spcPts val="0"/>
              </a:spcBef>
              <a:spcAft>
                <a:spcPts val="0"/>
              </a:spcAft>
            </a:pPr>
            <a:r>
              <a:rPr lang="fr-BE" sz="1550" dirty="0">
                <a:solidFill>
                  <a:srgbClr val="BCBEC4"/>
                </a:solidFill>
                <a:latin typeface="Consolas"/>
              </a:rPr>
              <a:t>        </a:t>
            </a:r>
            <a:r>
              <a:rPr lang="fr-BE" sz="1550" dirty="0" err="1">
                <a:solidFill>
                  <a:srgbClr val="BCBEC4"/>
                </a:solidFill>
                <a:latin typeface="Consolas"/>
              </a:rPr>
              <a:t>System.out.</a:t>
            </a:r>
            <a:r>
              <a:rPr lang="fr-BE" sz="1550" dirty="0" err="1">
                <a:solidFill>
                  <a:srgbClr val="56A8F5"/>
                </a:solidFill>
                <a:latin typeface="Consolas"/>
              </a:rPr>
              <a:t>println</a:t>
            </a:r>
            <a:r>
              <a:rPr lang="fr-BE" sz="1550" dirty="0">
                <a:solidFill>
                  <a:srgbClr val="BCBEC4"/>
                </a:solidFill>
                <a:latin typeface="Consolas"/>
              </a:rPr>
              <a:t>(</a:t>
            </a:r>
            <a:r>
              <a:rPr lang="fr-BE" sz="1550" dirty="0">
                <a:solidFill>
                  <a:srgbClr val="6AAB73"/>
                </a:solidFill>
                <a:latin typeface="Consolas"/>
              </a:rPr>
              <a:t>"mail : "</a:t>
            </a:r>
            <a:r>
              <a:rPr lang="fr-BE" sz="1550" dirty="0">
                <a:solidFill>
                  <a:srgbClr val="BCBEC4"/>
                </a:solidFill>
                <a:latin typeface="Consolas"/>
              </a:rPr>
              <a:t> + texte);</a:t>
            </a:r>
          </a:p>
          <a:p>
            <a:pPr>
              <a:lnSpc>
                <a:spcPct val="100000"/>
              </a:lnSpc>
              <a:spcBef>
                <a:spcPts val="0"/>
              </a:spcBef>
              <a:spcAft>
                <a:spcPts val="0"/>
              </a:spcAft>
            </a:pPr>
            <a:r>
              <a:rPr lang="fr-BE" sz="1550" dirty="0">
                <a:solidFill>
                  <a:srgbClr val="BCBEC4"/>
                </a:solidFill>
                <a:latin typeface="Consolas"/>
              </a:rPr>
              <a:t>    }</a:t>
            </a:r>
          </a:p>
          <a:p>
            <a:pPr>
              <a:lnSpc>
                <a:spcPct val="100000"/>
              </a:lnSpc>
              <a:spcBef>
                <a:spcPts val="0"/>
              </a:spcBef>
              <a:spcAft>
                <a:spcPts val="0"/>
              </a:spcAft>
            </a:pPr>
            <a:r>
              <a:rPr lang="fr-BE" sz="1550" dirty="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
        <p:nvSpPr>
          <p:cNvPr id="5" name="Code">
            <a:extLst>
              <a:ext uri="{FF2B5EF4-FFF2-40B4-BE49-F238E27FC236}">
                <a16:creationId xmlns:a16="http://schemas.microsoft.com/office/drawing/2014/main" id="{058F06FA-5D3C-B03B-5540-C334DE2D560C}"/>
              </a:ext>
            </a:extLst>
          </p:cNvPr>
          <p:cNvSpPr txBox="1"/>
          <p:nvPr/>
        </p:nvSpPr>
        <p:spPr>
          <a:xfrm>
            <a:off x="3562286" y="4236608"/>
            <a:ext cx="5067967" cy="1325563"/>
          </a:xfrm>
          <a:prstGeom prst="roundRect">
            <a:avLst>
              <a:gd name="adj" fmla="val 3191"/>
            </a:avLst>
          </a:prstGeom>
          <a:solidFill>
            <a:srgbClr val="1D1F22"/>
          </a:solidFill>
          <a:ln>
            <a:solidFill>
              <a:schemeClr val="bg2"/>
            </a:solidFill>
          </a:ln>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a:t>
            </a:r>
            <a:r>
              <a:rPr sz="1550" dirty="0" err="1">
                <a:solidFill>
                  <a:srgbClr val="BCBEC4"/>
                </a:solidFill>
                <a:latin typeface="Consolas"/>
              </a:rPr>
              <a:t>NotificationSms</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err="1">
                <a:solidFill>
                  <a:srgbClr val="56A8F5"/>
                </a:solidFill>
                <a:latin typeface="Consolas"/>
              </a:rPr>
              <a:t>envoyer</a:t>
            </a:r>
            <a:r>
              <a:rPr sz="1550" dirty="0">
                <a:solidFill>
                  <a:srgbClr val="BCBEC4"/>
                </a:solidFill>
                <a:latin typeface="Consolas"/>
              </a:rPr>
              <a:t>(String </a:t>
            </a:r>
            <a:r>
              <a:rPr sz="1550" dirty="0" err="1">
                <a:solidFill>
                  <a:srgbClr val="BCBEC4"/>
                </a:solidFill>
                <a:latin typeface="Consolas"/>
              </a:rPr>
              <a:t>texte</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err="1">
                <a:solidFill>
                  <a:srgbClr val="BCBEC4"/>
                </a:solidFill>
                <a:latin typeface="Consolas"/>
              </a:rPr>
              <a:t>System.out.</a:t>
            </a:r>
            <a:r>
              <a:rPr sz="1550" dirty="0" err="1">
                <a:solidFill>
                  <a:srgbClr val="56A8F5"/>
                </a:solidFill>
                <a:latin typeface="Consolas"/>
              </a:rPr>
              <a:t>println</a:t>
            </a:r>
            <a:r>
              <a:rPr sz="1550" dirty="0">
                <a:solidFill>
                  <a:srgbClr val="BCBEC4"/>
                </a:solidFill>
                <a:latin typeface="Consolas"/>
              </a:rPr>
              <a:t>(</a:t>
            </a:r>
            <a:r>
              <a:rPr sz="1550" dirty="0">
                <a:solidFill>
                  <a:srgbClr val="6AAB73"/>
                </a:solidFill>
                <a:latin typeface="Consolas"/>
              </a:rPr>
              <a:t>"</a:t>
            </a:r>
            <a:r>
              <a:rPr sz="1550" dirty="0" err="1">
                <a:solidFill>
                  <a:srgbClr val="6AAB73"/>
                </a:solidFill>
                <a:latin typeface="Consolas"/>
              </a:rPr>
              <a:t>sms</a:t>
            </a:r>
            <a:r>
              <a:rPr sz="1550" dirty="0">
                <a:solidFill>
                  <a:srgbClr val="6AAB73"/>
                </a:solidFill>
                <a:latin typeface="Consolas"/>
              </a:rPr>
              <a:t> : "</a:t>
            </a:r>
            <a:r>
              <a:rPr sz="1550" dirty="0">
                <a:solidFill>
                  <a:srgbClr val="BCBEC4"/>
                </a:solidFill>
                <a:latin typeface="Consolas"/>
              </a:rPr>
              <a:t> + </a:t>
            </a:r>
            <a:r>
              <a:rPr sz="1550" dirty="0" err="1">
                <a:solidFill>
                  <a:srgbClr val="BCBEC4"/>
                </a:solidFill>
                <a:latin typeface="Consolas"/>
              </a:rPr>
              <a:t>texte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a:t>
            </a:r>
          </a:p>
        </p:txBody>
      </p:sp>
      <p:sp>
        <p:nvSpPr>
          <p:cNvPr id="6" name="Code">
            <a:extLst>
              <a:ext uri="{FF2B5EF4-FFF2-40B4-BE49-F238E27FC236}">
                <a16:creationId xmlns:a16="http://schemas.microsoft.com/office/drawing/2014/main" id="{08FB0E32-7FCE-46DA-BE6D-C9FD2D1B14C1}"/>
              </a:ext>
            </a:extLst>
          </p:cNvPr>
          <p:cNvSpPr txBox="1"/>
          <p:nvPr/>
        </p:nvSpPr>
        <p:spPr>
          <a:xfrm>
            <a:off x="6655339" y="5035671"/>
            <a:ext cx="5067967" cy="1325563"/>
          </a:xfrm>
          <a:prstGeom prst="roundRect">
            <a:avLst>
              <a:gd name="adj" fmla="val 3191"/>
            </a:avLst>
          </a:prstGeom>
          <a:solidFill>
            <a:srgbClr val="1D1F22"/>
          </a:solidFill>
          <a:ln>
            <a:solidFill>
              <a:schemeClr val="bg2"/>
            </a:solidFill>
          </a:ln>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Notification</a:t>
            </a:r>
            <a:r>
              <a:rPr lang="nl-BE" sz="1550" dirty="0">
                <a:solidFill>
                  <a:srgbClr val="BCBEC4"/>
                </a:solidFill>
                <a:latin typeface="Consolas"/>
              </a:rPr>
              <a:t>Push</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void</a:t>
            </a:r>
            <a:r>
              <a:rPr sz="1550" dirty="0">
                <a:solidFill>
                  <a:srgbClr val="BCBEC4"/>
                </a:solidFill>
                <a:latin typeface="Consolas"/>
              </a:rPr>
              <a:t> </a:t>
            </a:r>
            <a:r>
              <a:rPr sz="1550" dirty="0" err="1">
                <a:solidFill>
                  <a:srgbClr val="56A8F5"/>
                </a:solidFill>
                <a:latin typeface="Consolas"/>
              </a:rPr>
              <a:t>envoyer</a:t>
            </a:r>
            <a:r>
              <a:rPr sz="1550" dirty="0">
                <a:solidFill>
                  <a:srgbClr val="BCBEC4"/>
                </a:solidFill>
                <a:latin typeface="Consolas"/>
              </a:rPr>
              <a:t>(String </a:t>
            </a:r>
            <a:r>
              <a:rPr sz="1550" dirty="0" err="1">
                <a:solidFill>
                  <a:srgbClr val="BCBEC4"/>
                </a:solidFill>
                <a:latin typeface="Consolas"/>
              </a:rPr>
              <a:t>texte</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err="1">
                <a:solidFill>
                  <a:srgbClr val="BCBEC4"/>
                </a:solidFill>
                <a:latin typeface="Consolas"/>
              </a:rPr>
              <a:t>System.out.</a:t>
            </a:r>
            <a:r>
              <a:rPr sz="1550" dirty="0" err="1">
                <a:solidFill>
                  <a:srgbClr val="56A8F5"/>
                </a:solidFill>
                <a:latin typeface="Consolas"/>
              </a:rPr>
              <a:t>println</a:t>
            </a:r>
            <a:r>
              <a:rPr sz="1550" dirty="0">
                <a:solidFill>
                  <a:srgbClr val="BCBEC4"/>
                </a:solidFill>
                <a:latin typeface="Consolas"/>
              </a:rPr>
              <a:t>(</a:t>
            </a:r>
            <a:r>
              <a:rPr sz="1550" dirty="0">
                <a:solidFill>
                  <a:srgbClr val="6AAB73"/>
                </a:solidFill>
                <a:latin typeface="Consolas"/>
              </a:rPr>
              <a:t>"</a:t>
            </a:r>
            <a:r>
              <a:rPr lang="nl-BE" sz="1550" dirty="0">
                <a:solidFill>
                  <a:srgbClr val="6AAB73"/>
                </a:solidFill>
                <a:latin typeface="Consolas"/>
              </a:rPr>
              <a:t>push</a:t>
            </a:r>
            <a:r>
              <a:rPr sz="1550" dirty="0">
                <a:solidFill>
                  <a:srgbClr val="6AAB73"/>
                </a:solidFill>
                <a:latin typeface="Consolas"/>
              </a:rPr>
              <a:t> : "</a:t>
            </a:r>
            <a:r>
              <a:rPr sz="1550" dirty="0">
                <a:solidFill>
                  <a:srgbClr val="BCBEC4"/>
                </a:solidFill>
                <a:latin typeface="Consolas"/>
              </a:rPr>
              <a:t> + </a:t>
            </a:r>
            <a:r>
              <a:rPr sz="1550" dirty="0" err="1">
                <a:solidFill>
                  <a:srgbClr val="BCBEC4"/>
                </a:solidFill>
                <a:latin typeface="Consolas"/>
              </a:rPr>
              <a:t>texte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qu'on ne peut pas faire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Ranger les trois notifications dans un tableau demande un type commun</a:t>
            </a:r>
          </a:p>
          <a:p>
            <a:pPr marL="0" indent="0">
              <a:spcAft>
                <a:spcPts val="1000"/>
              </a:spcAft>
              <a:buNone/>
            </a:pPr>
            <a:r>
              <a:rPr sz="2800"/>
              <a:t>Ces trois classes n'en ont aucun, aux yeux du compilateur</a:t>
            </a:r>
          </a:p>
          <a:p>
            <a:pPr marL="0" indent="0">
              <a:spcAft>
                <a:spcPts val="1000"/>
              </a:spcAft>
              <a:buNone/>
            </a:pPr>
            <a:r>
              <a:rPr sz="2800"/>
              <a:t>Sans type commun, pas de boucle : chaque canal se traite à la main</a:t>
            </a:r>
          </a:p>
        </p:txBody>
      </p:sp>
      <p:sp>
        <p:nvSpPr>
          <p:cNvPr id="4" name="Code"/>
          <p:cNvSpPr txBox="1"/>
          <p:nvPr/>
        </p:nvSpPr>
        <p:spPr>
          <a:xfrm>
            <a:off x="2101850" y="4587240"/>
            <a:ext cx="79883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NotificationMail[] canaux = { mail, sms, push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refus : sms et push ne sont pas des NotificationMail</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Laisser l'outil supprimer la duplication</a:t>
            </a:r>
          </a:p>
          <a:p>
            <a:pPr>
              <a:spcBef>
                <a:spcPts val="1200"/>
              </a:spcBef>
            </a:pPr>
            <a:r>
              <a:rPr sz="1400">
                <a:solidFill>
                  <a:srgbClr val="BCBEC4"/>
                </a:solidFill>
              </a:rPr>
              <a:t>Déroulé : Demo_ABS</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geste, pas le code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refactoring </a:t>
            </a:r>
            <a:r>
              <a:rPr sz="2400">
                <a:solidFill>
                  <a:schemeClr val="accent4"/>
                </a:solidFill>
                <a:latin typeface="Consolas"/>
              </a:rPr>
              <a:t>Extract Superclass</a:t>
            </a:r>
            <a:r>
              <a:rPr sz="2800"/>
              <a:t> crée la classe mère et y déplace ce qu'on désigne</a:t>
            </a:r>
          </a:p>
          <a:p>
            <a:pPr marL="0" indent="0">
              <a:spcAft>
                <a:spcPts val="1000"/>
              </a:spcAft>
              <a:buNone/>
            </a:pPr>
            <a:r>
              <a:rPr sz="2800"/>
              <a:t>Le refactoring </a:t>
            </a:r>
            <a:r>
              <a:rPr sz="2400">
                <a:solidFill>
                  <a:schemeClr val="accent4"/>
                </a:solidFill>
                <a:latin typeface="Consolas"/>
              </a:rPr>
              <a:t>Pull Members Up</a:t>
            </a:r>
            <a:r>
              <a:rPr sz="2800"/>
              <a:t> fait remonter une méthode d'une classe existante</a:t>
            </a:r>
          </a:p>
          <a:p>
            <a:pPr marL="0" indent="0">
              <a:spcAft>
                <a:spcPts val="1000"/>
              </a:spcAft>
              <a:buNone/>
            </a:pPr>
            <a:r>
              <a:rPr sz="2800"/>
              <a:t>L'outil déplace, corrige les déclarations et ne se trompe pas de nom</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2. Le même code, trois fois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t the center floats a translucent, ghostly wireframe silhouette of a vehicle, made only of faint glowing outlines, with several empty glowing sockets where parts are missing. It looks unfinished and cannot exist on its own. Below it, on a dark circuit board, three solid, fully built vehicles (a car, a boat, a plane) share the same base outline, each filling the empty sockets with its own concrete parts. Blue light beams connect the wireframe to the finished vehicles. Glowing particles, neon blue circuitry, cinematic lighting, depth of field, photorealistic, no text.">
            <a:extLst>
              <a:ext uri="{FF2B5EF4-FFF2-40B4-BE49-F238E27FC236}">
                <a16:creationId xmlns:a16="http://schemas.microsoft.com/office/drawing/2014/main" id="{F19021B8-A07E-94CD-BA2D-2F785A0CE1B8}"/>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0" y="0"/>
            <a:ext cx="123444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39744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La classe abstraite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16</a:t>
            </a:fld>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qu'on ne peut pas instancier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mot-clé </a:t>
            </a:r>
            <a:r>
              <a:rPr sz="2400">
                <a:solidFill>
                  <a:schemeClr val="accent4"/>
                </a:solidFill>
                <a:latin typeface="Consolas"/>
              </a:rPr>
              <a:t>abstract</a:t>
            </a:r>
            <a:r>
              <a:rPr sz="2800"/>
              <a:t> interdit la création d'objets de cette classe</a:t>
            </a:r>
          </a:p>
          <a:p>
            <a:pPr marL="0" indent="0">
              <a:spcAft>
                <a:spcPts val="1000"/>
              </a:spcAft>
              <a:buNone/>
            </a:pPr>
            <a:r>
              <a:rPr sz="2800"/>
              <a:t>On peut toujours déclarer une variable de ce type</a:t>
            </a:r>
          </a:p>
          <a:p>
            <a:pPr marL="0" indent="0">
              <a:spcAft>
                <a:spcPts val="1000"/>
              </a:spcAft>
              <a:buNone/>
            </a:pPr>
            <a:r>
              <a:rPr sz="2800"/>
              <a:t>Seules les sous-classes concrètes se construisent</a:t>
            </a:r>
          </a:p>
        </p:txBody>
      </p:sp>
      <p:sp>
        <p:nvSpPr>
          <p:cNvPr id="4" name="Code"/>
          <p:cNvSpPr txBox="1"/>
          <p:nvPr/>
        </p:nvSpPr>
        <p:spPr>
          <a:xfrm>
            <a:off x="1612900" y="3733799"/>
            <a:ext cx="89662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abstract</a:t>
            </a:r>
            <a:r>
              <a:rPr sz="1800" dirty="0">
                <a:solidFill>
                  <a:srgbClr val="BCBEC4"/>
                </a:solidFill>
                <a:latin typeface="Consolas"/>
              </a:rPr>
              <a:t> </a:t>
            </a:r>
            <a:r>
              <a:rPr sz="1800" dirty="0">
                <a:solidFill>
                  <a:srgbClr val="CF8E6D"/>
                </a:solidFill>
                <a:latin typeface="Consolas"/>
              </a:rPr>
              <a:t>class</a:t>
            </a:r>
            <a:r>
              <a:rPr sz="1800" dirty="0">
                <a:solidFill>
                  <a:srgbClr val="BCBEC4"/>
                </a:solidFill>
                <a:latin typeface="Consolas"/>
              </a:rPr>
              <a:t> Notification { ...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Notification envoi;                  </a:t>
            </a:r>
            <a:r>
              <a:rPr sz="1800" dirty="0">
                <a:solidFill>
                  <a:srgbClr val="7A7E85"/>
                </a:solidFill>
                <a:latin typeface="Consolas"/>
              </a:rPr>
              <a:t>// </a:t>
            </a:r>
            <a:r>
              <a:rPr sz="1800" dirty="0" err="1">
                <a:solidFill>
                  <a:srgbClr val="7A7E85"/>
                </a:solidFill>
                <a:latin typeface="Consolas"/>
              </a:rPr>
              <a:t>d'accord</a:t>
            </a:r>
            <a:endParaRPr sz="1800" dirty="0">
              <a:solidFill>
                <a:srgbClr val="7A7E85"/>
              </a:solidFill>
              <a:latin typeface="Consolas"/>
            </a:endParaRPr>
          </a:p>
          <a:p>
            <a:pPr>
              <a:lnSpc>
                <a:spcPct val="100000"/>
              </a:lnSpc>
              <a:spcBef>
                <a:spcPts val="0"/>
              </a:spcBef>
              <a:spcAft>
                <a:spcPts val="0"/>
              </a:spcAft>
            </a:pPr>
            <a:r>
              <a:rPr sz="1800" dirty="0">
                <a:solidFill>
                  <a:schemeClr val="accent4"/>
                </a:solidFill>
                <a:latin typeface="Consolas"/>
              </a:rPr>
              <a:t>envoi = new Notification("Ada");     // </a:t>
            </a:r>
            <a:r>
              <a:rPr sz="1800" dirty="0" err="1">
                <a:solidFill>
                  <a:schemeClr val="accent4"/>
                </a:solidFill>
                <a:latin typeface="Consolas"/>
              </a:rPr>
              <a:t>refus</a:t>
            </a:r>
            <a:r>
              <a:rPr sz="1800" dirty="0">
                <a:solidFill>
                  <a:schemeClr val="accent4"/>
                </a:solidFill>
                <a:latin typeface="Consolas"/>
              </a:rPr>
              <a:t> a la compilation</a:t>
            </a:r>
          </a:p>
          <a:p>
            <a:pPr>
              <a:lnSpc>
                <a:spcPct val="100000"/>
              </a:lnSpc>
              <a:spcBef>
                <a:spcPts val="0"/>
              </a:spcBef>
              <a:spcAft>
                <a:spcPts val="0"/>
              </a:spcAft>
            </a:pPr>
            <a:r>
              <a:rPr sz="1800" dirty="0">
                <a:solidFill>
                  <a:srgbClr val="BCBEC4"/>
                </a:solidFill>
                <a:latin typeface="Consolas"/>
              </a:rPr>
              <a:t>envoi = </a:t>
            </a:r>
            <a:r>
              <a:rPr sz="1800" dirty="0">
                <a:solidFill>
                  <a:srgbClr val="CF8E6D"/>
                </a:solidFill>
                <a:latin typeface="Consolas"/>
              </a:rPr>
              <a:t>new</a:t>
            </a:r>
            <a:r>
              <a:rPr sz="1800" dirty="0">
                <a:solidFill>
                  <a:srgbClr val="BCBEC4"/>
                </a:solidFill>
                <a:latin typeface="Consolas"/>
              </a:rPr>
              <a:t> </a:t>
            </a:r>
            <a:r>
              <a:rPr sz="1800" dirty="0" err="1">
                <a:solidFill>
                  <a:srgbClr val="56A8F5"/>
                </a:solidFill>
                <a:latin typeface="Consolas"/>
              </a:rPr>
              <a:t>NotificationMail</a:t>
            </a:r>
            <a:r>
              <a:rPr sz="1800" dirty="0">
                <a:solidFill>
                  <a:srgbClr val="BCBEC4"/>
                </a:solidFill>
                <a:latin typeface="Consolas"/>
              </a:rPr>
              <a:t>(</a:t>
            </a:r>
            <a:r>
              <a:rPr sz="1800" dirty="0">
                <a:solidFill>
                  <a:srgbClr val="6AAB73"/>
                </a:solidFill>
                <a:latin typeface="Consolas"/>
              </a:rPr>
              <a:t>"Ada"</a:t>
            </a:r>
            <a:r>
              <a:rPr sz="1800" dirty="0">
                <a:solidFill>
                  <a:srgbClr val="BCBEC4"/>
                </a:solidFill>
                <a:latin typeface="Consolas"/>
              </a:rPr>
              <a:t>); </a:t>
            </a:r>
            <a:r>
              <a:rPr sz="1800" dirty="0">
                <a:solidFill>
                  <a:srgbClr val="7A7E85"/>
                </a:solidFill>
                <a:latin typeface="Consolas"/>
              </a:rPr>
              <a:t>// </a:t>
            </a:r>
            <a:r>
              <a:rPr sz="1800" dirty="0" err="1">
                <a:solidFill>
                  <a:srgbClr val="7A7E85"/>
                </a:solidFill>
                <a:latin typeface="Consolas"/>
              </a:rPr>
              <a:t>d'accord</a:t>
            </a:r>
            <a:endParaRPr sz="1800" dirty="0">
              <a:solidFill>
                <a:srgbClr val="7A7E85"/>
              </a:solidFill>
              <a:latin typeface="Consolas"/>
            </a:endParaRP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3. La classe abstraite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À quoi sert un type qu'on ne construit pas</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Il </a:t>
            </a:r>
            <a:r>
              <a:rPr sz="2800" dirty="0" err="1"/>
              <a:t>sert</a:t>
            </a:r>
            <a:r>
              <a:rPr sz="2800" dirty="0"/>
              <a:t> de type de variable, de </a:t>
            </a:r>
            <a:r>
              <a:rPr sz="2800" dirty="0" err="1"/>
              <a:t>paramètre</a:t>
            </a:r>
            <a:r>
              <a:rPr sz="2800" dirty="0"/>
              <a:t> et de </a:t>
            </a:r>
            <a:r>
              <a:rPr sz="2800" dirty="0" err="1"/>
              <a:t>valeur</a:t>
            </a:r>
            <a:r>
              <a:rPr sz="2800" dirty="0"/>
              <a:t> de retour</a:t>
            </a:r>
          </a:p>
          <a:p>
            <a:pPr marL="0" indent="0">
              <a:spcAft>
                <a:spcPts val="1000"/>
              </a:spcAft>
              <a:buNone/>
            </a:pPr>
            <a:r>
              <a:rPr sz="2800" dirty="0"/>
              <a:t>Il </a:t>
            </a:r>
            <a:r>
              <a:rPr sz="2800" dirty="0" err="1"/>
              <a:t>sert</a:t>
            </a:r>
            <a:r>
              <a:rPr sz="2800" dirty="0"/>
              <a:t> surtout de type </a:t>
            </a:r>
            <a:r>
              <a:rPr sz="2800" dirty="0" err="1"/>
              <a:t>d'élément</a:t>
            </a:r>
            <a:r>
              <a:rPr sz="2800" dirty="0"/>
              <a:t> dans un tableau (et plus tard dans </a:t>
            </a:r>
            <a:r>
              <a:rPr sz="2800" dirty="0" err="1"/>
              <a:t>une</a:t>
            </a:r>
            <a:r>
              <a:rPr sz="2800" dirty="0"/>
              <a:t> </a:t>
            </a:r>
            <a:r>
              <a:rPr lang="nl-BE" sz="2800"/>
              <a:t>c</a:t>
            </a:r>
            <a:r>
              <a:rPr sz="2800"/>
              <a:t>ollection</a:t>
            </a:r>
            <a:r>
              <a:rPr sz="2800" dirty="0"/>
              <a:t>, voir COL)</a:t>
            </a:r>
          </a:p>
          <a:p>
            <a:pPr marL="0" indent="0">
              <a:spcAft>
                <a:spcPts val="1000"/>
              </a:spcAft>
              <a:buNone/>
            </a:pPr>
            <a:r>
              <a:rPr sz="2800" dirty="0"/>
              <a:t>Il </a:t>
            </a:r>
            <a:r>
              <a:rPr sz="2800" dirty="0" err="1"/>
              <a:t>désigne</a:t>
            </a:r>
            <a:r>
              <a:rPr sz="2800" dirty="0"/>
              <a:t> </a:t>
            </a:r>
            <a:r>
              <a:rPr sz="2800" dirty="0" err="1"/>
              <a:t>ce</a:t>
            </a:r>
            <a:r>
              <a:rPr sz="2800" dirty="0"/>
              <a:t> </a:t>
            </a:r>
            <a:r>
              <a:rPr sz="2800" dirty="0" err="1"/>
              <a:t>que</a:t>
            </a:r>
            <a:r>
              <a:rPr sz="2800" dirty="0"/>
              <a:t> </a:t>
            </a:r>
            <a:r>
              <a:rPr sz="2800" dirty="0" err="1"/>
              <a:t>toutes</a:t>
            </a:r>
            <a:r>
              <a:rPr sz="2800" dirty="0"/>
              <a:t> les sous-classes </a:t>
            </a:r>
            <a:r>
              <a:rPr sz="2800" dirty="0" err="1"/>
              <a:t>savent</a:t>
            </a:r>
            <a:r>
              <a:rPr sz="2800" dirty="0"/>
              <a:t> faire, et rien de plus</a:t>
            </a:r>
          </a:p>
        </p:txBody>
      </p:sp>
      <p:sp>
        <p:nvSpPr>
          <p:cNvPr id="4" name="Code"/>
          <p:cNvSpPr txBox="1"/>
          <p:nvPr/>
        </p:nvSpPr>
        <p:spPr>
          <a:xfrm>
            <a:off x="3566760" y="4047594"/>
            <a:ext cx="505848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Notification[] canaux =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NotificationMail</a:t>
            </a:r>
            <a:r>
              <a:rPr sz="1750">
                <a:solidFill>
                  <a:srgbClr val="BCBEC4"/>
                </a:solidFill>
                <a:latin typeface="Consolas"/>
              </a:rPr>
              <a:t>(</a:t>
            </a:r>
            <a:r>
              <a:rPr sz="1750">
                <a:solidFill>
                  <a:srgbClr val="6AAB73"/>
                </a:solidFill>
                <a:latin typeface="Consolas"/>
              </a:rPr>
              <a:t>"Ada"</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NotificationSms</a:t>
            </a:r>
            <a:r>
              <a:rPr sz="1750">
                <a:solidFill>
                  <a:srgbClr val="BCBEC4"/>
                </a:solidFill>
                <a:latin typeface="Consolas"/>
              </a:rPr>
              <a:t>(</a:t>
            </a:r>
            <a:r>
              <a:rPr sz="1750">
                <a:solidFill>
                  <a:srgbClr val="6AAB73"/>
                </a:solidFill>
                <a:latin typeface="Consolas"/>
              </a:rPr>
              <a:t>"0470..."</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NotificationPush</a:t>
            </a:r>
            <a:r>
              <a:rPr sz="1750">
                <a:solidFill>
                  <a:srgbClr val="BCBEC4"/>
                </a:solidFill>
                <a:latin typeface="Consolas"/>
              </a:rPr>
              <a:t>(</a:t>
            </a:r>
            <a:r>
              <a:rPr sz="1750">
                <a:solidFill>
                  <a:srgbClr val="6AAB73"/>
                </a:solidFill>
                <a:latin typeface="Consolas"/>
              </a:rPr>
              <a:t>"ada42"</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3. La classe abstraite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constructeur, quand même</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600" dirty="0"/>
              <a:t>Une </a:t>
            </a:r>
            <a:r>
              <a:rPr sz="2600" dirty="0" err="1"/>
              <a:t>classe</a:t>
            </a:r>
            <a:r>
              <a:rPr sz="2600" dirty="0"/>
              <a:t> </a:t>
            </a:r>
            <a:r>
              <a:rPr sz="2600" dirty="0" err="1"/>
              <a:t>abstraite</a:t>
            </a:r>
            <a:r>
              <a:rPr sz="2600" dirty="0"/>
              <a:t> a un </a:t>
            </a:r>
            <a:r>
              <a:rPr sz="2600" dirty="0" err="1"/>
              <a:t>constructeur</a:t>
            </a:r>
            <a:r>
              <a:rPr sz="2600" dirty="0"/>
              <a:t>, </a:t>
            </a:r>
            <a:r>
              <a:rPr sz="2600" dirty="0" err="1"/>
              <a:t>même</a:t>
            </a:r>
            <a:r>
              <a:rPr sz="2600" dirty="0"/>
              <a:t> </a:t>
            </a:r>
            <a:r>
              <a:rPr sz="2600" dirty="0" err="1"/>
              <a:t>si</a:t>
            </a:r>
            <a:r>
              <a:rPr sz="2600" dirty="0"/>
              <a:t> </a:t>
            </a:r>
            <a:r>
              <a:rPr sz="2600" dirty="0" err="1"/>
              <a:t>personne</a:t>
            </a:r>
            <a:r>
              <a:rPr sz="2600" dirty="0"/>
              <a:t> ne </a:t>
            </a:r>
            <a:r>
              <a:rPr sz="2600" dirty="0" err="1"/>
              <a:t>l'appelle</a:t>
            </a:r>
            <a:r>
              <a:rPr sz="2600" dirty="0"/>
              <a:t> </a:t>
            </a:r>
            <a:r>
              <a:rPr sz="2600" dirty="0" err="1"/>
              <a:t>directement</a:t>
            </a:r>
            <a:endParaRPr sz="2600" dirty="0"/>
          </a:p>
          <a:p>
            <a:pPr marL="0" indent="0">
              <a:spcAft>
                <a:spcPts val="1000"/>
              </a:spcAft>
              <a:buNone/>
            </a:pPr>
            <a:r>
              <a:rPr sz="2600" dirty="0"/>
              <a:t>Le </a:t>
            </a:r>
            <a:r>
              <a:rPr sz="2600" dirty="0" err="1"/>
              <a:t>constructeur</a:t>
            </a:r>
            <a:r>
              <a:rPr sz="2600" dirty="0"/>
              <a:t> de la sous-</a:t>
            </a:r>
            <a:r>
              <a:rPr sz="2600" dirty="0" err="1"/>
              <a:t>classe</a:t>
            </a:r>
            <a:r>
              <a:rPr sz="2600" dirty="0"/>
              <a:t> </a:t>
            </a:r>
            <a:r>
              <a:rPr sz="2600" dirty="0" err="1"/>
              <a:t>l'appelle</a:t>
            </a:r>
            <a:r>
              <a:rPr sz="2600" dirty="0"/>
              <a:t> par </a:t>
            </a:r>
            <a:r>
              <a:rPr sz="2200" dirty="0">
                <a:solidFill>
                  <a:schemeClr val="accent4"/>
                </a:solidFill>
                <a:latin typeface="Consolas"/>
              </a:rPr>
              <a:t>super</a:t>
            </a:r>
          </a:p>
          <a:p>
            <a:pPr marL="0" indent="0">
              <a:spcAft>
                <a:spcPts val="1000"/>
              </a:spcAft>
              <a:buNone/>
            </a:pPr>
            <a:r>
              <a:rPr sz="2600" dirty="0"/>
              <a:t>Le </a:t>
            </a:r>
            <a:r>
              <a:rPr sz="2600" dirty="0" err="1"/>
              <a:t>déclarer</a:t>
            </a:r>
            <a:r>
              <a:rPr sz="2600" dirty="0"/>
              <a:t> </a:t>
            </a:r>
            <a:r>
              <a:rPr sz="2200" dirty="0">
                <a:solidFill>
                  <a:schemeClr val="accent4"/>
                </a:solidFill>
                <a:latin typeface="Consolas"/>
              </a:rPr>
              <a:t>protected</a:t>
            </a:r>
            <a:r>
              <a:rPr sz="2600" dirty="0"/>
              <a:t> </a:t>
            </a:r>
            <a:r>
              <a:rPr sz="2600" dirty="0" err="1"/>
              <a:t>dit</a:t>
            </a:r>
            <a:r>
              <a:rPr sz="2600" dirty="0"/>
              <a:t> </a:t>
            </a:r>
            <a:r>
              <a:rPr sz="2600" dirty="0" err="1"/>
              <a:t>qu'il</a:t>
            </a:r>
            <a:r>
              <a:rPr sz="2600" dirty="0"/>
              <a:t> </a:t>
            </a:r>
            <a:r>
              <a:rPr sz="2600" dirty="0" err="1"/>
              <a:t>n'est</a:t>
            </a:r>
            <a:r>
              <a:rPr sz="2600" dirty="0"/>
              <a:t> </a:t>
            </a:r>
            <a:r>
              <a:rPr sz="2600" dirty="0" err="1"/>
              <a:t>là</a:t>
            </a:r>
            <a:r>
              <a:rPr sz="2600" dirty="0"/>
              <a:t> </a:t>
            </a:r>
            <a:r>
              <a:rPr sz="2600" dirty="0" err="1"/>
              <a:t>que</a:t>
            </a:r>
            <a:r>
              <a:rPr sz="2600" dirty="0"/>
              <a:t> pour </a:t>
            </a:r>
            <a:r>
              <a:rPr lang="nl-BE" sz="2600" dirty="0"/>
              <a:t>les sous-classes.</a:t>
            </a:r>
            <a:endParaRPr sz="2600" dirty="0"/>
          </a:p>
        </p:txBody>
      </p:sp>
      <p:sp>
        <p:nvSpPr>
          <p:cNvPr id="4" name="Code"/>
          <p:cNvSpPr txBox="1"/>
          <p:nvPr/>
        </p:nvSpPr>
        <p:spPr>
          <a:xfrm>
            <a:off x="2552825" y="3611879"/>
            <a:ext cx="705587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Notification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String destinataire;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56A8F5"/>
                </a:solidFill>
                <a:latin typeface="Consolas"/>
              </a:rPr>
              <a:t>Notification</a:t>
            </a:r>
            <a:r>
              <a:rPr sz="1800">
                <a:solidFill>
                  <a:srgbClr val="BCBEC4"/>
                </a:solidFill>
                <a:latin typeface="Consolas"/>
              </a:rPr>
              <a:t>(String destinataire)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.destinataire = destinataire;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3. La classe abstraite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 tall transparent glass tower with several glowing floors stands on a dark circuit board. On the left side, identical blue glowing cubes rise rapidly upward along a vertical rail of light, each cube leaving a long luminous comet tail trailing below it, with strong motion blur, converging and stacking on the top floor. On the right side, very different objects (a sphere, a pyramid, a cylinder, a star, a ring) in various colors fall downward along a second rail of light, each leaving a glowing trail above it, and each one landing on a different lower floor. Two clear opposite flows: rising on the left, falling on the right. Dynamic motion, speed lines, glowing particles, cinematic lighting, isometric view, photorealistic, no text.">
            <a:extLst>
              <a:ext uri="{FF2B5EF4-FFF2-40B4-BE49-F238E27FC236}">
                <a16:creationId xmlns:a16="http://schemas.microsoft.com/office/drawing/2014/main" id="{059AB57E-0B55-F65D-6E3B-7A51310567DE}"/>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37841" y="-14989"/>
            <a:ext cx="12229841" cy="687299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280106" cy="101304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4. Ce qui monte, ce qui descend</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20</a:t>
            </a:fld>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méthode abstraite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Une méthode abstraite se déclare par son entête, suivi d'un point-virgule</a:t>
            </a:r>
          </a:p>
          <a:p>
            <a:pPr marL="0" indent="0">
              <a:spcAft>
                <a:spcPts val="1000"/>
              </a:spcAft>
              <a:buNone/>
            </a:pPr>
            <a:r>
              <a:rPr sz="2800"/>
              <a:t>Elle n'a pas de corps : la classe mère ne sait pas comment faire</a:t>
            </a:r>
          </a:p>
          <a:p>
            <a:pPr marL="0" indent="0">
              <a:spcAft>
                <a:spcPts val="1000"/>
              </a:spcAft>
              <a:buNone/>
            </a:pPr>
            <a:r>
              <a:rPr sz="2800"/>
              <a:t>Une classe qui contient une méthode abstraite est elle-même abstraite</a:t>
            </a:r>
          </a:p>
        </p:txBody>
      </p:sp>
      <p:sp>
        <p:nvSpPr>
          <p:cNvPr id="4" name="Code"/>
          <p:cNvSpPr txBox="1"/>
          <p:nvPr/>
        </p:nvSpPr>
        <p:spPr>
          <a:xfrm>
            <a:off x="3289300" y="4044695"/>
            <a:ext cx="56134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Notification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String </a:t>
            </a:r>
            <a:r>
              <a:rPr sz="1800">
                <a:solidFill>
                  <a:srgbClr val="56A8F5"/>
                </a:solidFill>
                <a:latin typeface="Consolas"/>
              </a:rPr>
              <a:t>canal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règle de partage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Une méthode dont le code serait identique partout appartient à la classe mère</a:t>
            </a:r>
          </a:p>
          <a:p>
            <a:pPr marL="0" indent="0">
              <a:spcAft>
                <a:spcPts val="1000"/>
              </a:spcAft>
              <a:buNone/>
            </a:pPr>
            <a:r>
              <a:rPr sz="2400"/>
              <a:t>Une méthode dont le code diffère à chaque fois est abstraite</a:t>
            </a:r>
          </a:p>
          <a:p>
            <a:pPr marL="0" indent="0">
              <a:spcAft>
                <a:spcPts val="1000"/>
              </a:spcAft>
              <a:buNone/>
            </a:pPr>
            <a:r>
              <a:rPr sz="2400"/>
              <a:t>Le reste du module n'est que l'application de ce principe</a:t>
            </a:r>
          </a:p>
        </p:txBody>
      </p:sp>
      <p:sp>
        <p:nvSpPr>
          <p:cNvPr id="4" name="Code"/>
          <p:cNvSpPr txBox="1"/>
          <p:nvPr/>
        </p:nvSpPr>
        <p:spPr>
          <a:xfrm>
            <a:off x="640080" y="3489960"/>
            <a:ext cx="10881360" cy="2682240"/>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abstract</a:t>
            </a:r>
            <a:r>
              <a:rPr sz="1600">
                <a:solidFill>
                  <a:srgbClr val="BCBEC4"/>
                </a:solidFill>
                <a:latin typeface="Consolas"/>
              </a:rPr>
              <a:t> </a:t>
            </a:r>
            <a:r>
              <a:rPr sz="1600">
                <a:solidFill>
                  <a:srgbClr val="CF8E6D"/>
                </a:solidFill>
                <a:latin typeface="Consolas"/>
              </a:rPr>
              <a:t>class</a:t>
            </a:r>
            <a:r>
              <a:rPr sz="1600">
                <a:solidFill>
                  <a:srgbClr val="BCBEC4"/>
                </a:solidFill>
                <a:latin typeface="Consolas"/>
              </a:rPr>
              <a:t> Forme {</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7A7E85"/>
                </a:solidFill>
                <a:latin typeface="Consolas"/>
              </a:rPr>
              <a:t>// ce qui VARIE : chaque sous-classe le definit</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abstract</a:t>
            </a:r>
            <a:r>
              <a:rPr sz="1600">
                <a:solidFill>
                  <a:srgbClr val="BCBEC4"/>
                </a:solidFill>
                <a:latin typeface="Consolas"/>
              </a:rPr>
              <a:t> String </a:t>
            </a:r>
            <a:r>
              <a:rPr sz="1600">
                <a:solidFill>
                  <a:srgbClr val="56A8F5"/>
                </a:solidFill>
                <a:latin typeface="Consolas"/>
              </a:rPr>
              <a:t>nom</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7A7E85"/>
                </a:solidFill>
                <a:latin typeface="Consolas"/>
              </a:rPr>
              <a:t>// ce qui est COMMUN : ecrit une seule fois</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void</a:t>
            </a:r>
            <a:r>
              <a:rPr sz="1600">
                <a:solidFill>
                  <a:srgbClr val="BCBEC4"/>
                </a:solidFill>
                <a:latin typeface="Consolas"/>
              </a:rPr>
              <a:t> </a:t>
            </a:r>
            <a:r>
              <a:rPr sz="1600">
                <a:solidFill>
                  <a:srgbClr val="56A8F5"/>
                </a:solidFill>
                <a:latin typeface="Consolas"/>
              </a:rPr>
              <a:t>affiche</a:t>
            </a: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System.out.</a:t>
            </a:r>
            <a:r>
              <a:rPr sz="1600">
                <a:solidFill>
                  <a:srgbClr val="56A8F5"/>
                </a:solidFill>
                <a:latin typeface="Consolas"/>
              </a:rPr>
              <a:t>println</a:t>
            </a:r>
            <a:r>
              <a:rPr sz="1600">
                <a:solidFill>
                  <a:srgbClr val="BCBEC4"/>
                </a:solidFill>
                <a:latin typeface="Consolas"/>
              </a:rPr>
              <a:t>(</a:t>
            </a:r>
            <a:r>
              <a:rPr sz="1600">
                <a:solidFill>
                  <a:srgbClr val="6AAB73"/>
                </a:solidFill>
                <a:latin typeface="Consolas"/>
              </a:rPr>
              <a:t>"Je suis un "</a:t>
            </a:r>
            <a:r>
              <a:rPr sz="1600">
                <a:solidFill>
                  <a:srgbClr val="BCBEC4"/>
                </a:solidFill>
                <a:latin typeface="Consolas"/>
              </a:rPr>
              <a:t> + </a:t>
            </a:r>
            <a:r>
              <a:rPr sz="1600">
                <a:solidFill>
                  <a:srgbClr val="56A8F5"/>
                </a:solidFill>
                <a:latin typeface="Consolas"/>
              </a:rPr>
              <a:t>nom</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
        <p:nvSpPr>
          <p:cNvPr id="5" name="Flèche vers le haut 4">
            <a:extLst>
              <a:ext uri="{FF2B5EF4-FFF2-40B4-BE49-F238E27FC236}">
                <a16:creationId xmlns:a16="http://schemas.microsoft.com/office/drawing/2014/main" id="{A919C3BF-870F-8A39-6FB2-0439A6E2EA26}"/>
              </a:ext>
            </a:extLst>
          </p:cNvPr>
          <p:cNvSpPr/>
          <p:nvPr/>
        </p:nvSpPr>
        <p:spPr>
          <a:xfrm>
            <a:off x="8527986" y="3692967"/>
            <a:ext cx="2600696" cy="593766"/>
          </a:xfrm>
          <a:prstGeom prst="up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COMMUN</a:t>
            </a:r>
          </a:p>
        </p:txBody>
      </p:sp>
      <p:sp>
        <p:nvSpPr>
          <p:cNvPr id="6" name="Flèche vers le bas 5">
            <a:extLst>
              <a:ext uri="{FF2B5EF4-FFF2-40B4-BE49-F238E27FC236}">
                <a16:creationId xmlns:a16="http://schemas.microsoft.com/office/drawing/2014/main" id="{2F19BB60-FF41-B05B-E47A-6E381B78F9D2}"/>
              </a:ext>
            </a:extLst>
          </p:cNvPr>
          <p:cNvSpPr/>
          <p:nvPr/>
        </p:nvSpPr>
        <p:spPr>
          <a:xfrm>
            <a:off x="8527986" y="4359272"/>
            <a:ext cx="2600696" cy="593766"/>
          </a:xfrm>
          <a:prstGeom prst="down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DIFFERENT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err="1"/>
              <a:t>L'obligation</a:t>
            </a:r>
            <a:r>
              <a:rPr sz="4000" dirty="0"/>
              <a:t> </a:t>
            </a:r>
            <a:r>
              <a:rPr sz="4000" dirty="0" err="1"/>
              <a:t>faite</a:t>
            </a:r>
            <a:r>
              <a:rPr sz="4000" dirty="0"/>
              <a:t> aux sous-classes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a:t>Une sous-</a:t>
            </a:r>
            <a:r>
              <a:rPr sz="2800" dirty="0" err="1"/>
              <a:t>classe</a:t>
            </a:r>
            <a:r>
              <a:rPr sz="2800" dirty="0"/>
              <a:t> concrète </a:t>
            </a:r>
            <a:r>
              <a:rPr lang="nl-BE" sz="2800" dirty="0"/>
              <a:t>a l’obligation de </a:t>
            </a:r>
            <a:r>
              <a:rPr sz="2800" dirty="0" err="1"/>
              <a:t>défini</a:t>
            </a:r>
            <a:r>
              <a:rPr lang="nl-BE" sz="2800" dirty="0"/>
              <a:t>r</a:t>
            </a:r>
            <a:r>
              <a:rPr sz="2800" dirty="0"/>
              <a:t> </a:t>
            </a:r>
            <a:r>
              <a:rPr sz="2800" dirty="0" err="1"/>
              <a:t>toutes</a:t>
            </a:r>
            <a:r>
              <a:rPr sz="2800" dirty="0"/>
              <a:t> les </a:t>
            </a:r>
            <a:r>
              <a:rPr sz="2800" dirty="0" err="1"/>
              <a:t>méthodes</a:t>
            </a:r>
            <a:endParaRPr sz="2800" dirty="0"/>
          </a:p>
          <a:p>
            <a:pPr marL="0" indent="0">
              <a:spcAft>
                <a:spcPts val="1000"/>
              </a:spcAft>
              <a:buNone/>
            </a:pPr>
            <a:r>
              <a:rPr sz="2800" dirty="0"/>
              <a:t>Sinon </a:t>
            </a:r>
            <a:r>
              <a:rPr sz="2800" dirty="0" err="1"/>
              <a:t>elle</a:t>
            </a:r>
            <a:r>
              <a:rPr sz="2800" dirty="0"/>
              <a:t> est </a:t>
            </a:r>
            <a:r>
              <a:rPr sz="2800" dirty="0" err="1"/>
              <a:t>abstraite</a:t>
            </a:r>
            <a:r>
              <a:rPr sz="2800" dirty="0"/>
              <a:t> à son tour, et </a:t>
            </a:r>
            <a:r>
              <a:rPr lang="nl-BE" sz="2800" dirty="0"/>
              <a:t>elle </a:t>
            </a:r>
            <a:r>
              <a:rPr sz="2800" dirty="0"/>
              <a:t>doit le dire</a:t>
            </a:r>
            <a:r>
              <a:rPr lang="nl-BE" sz="2800" dirty="0"/>
              <a:t> dans son en-tête</a:t>
            </a:r>
            <a:endParaRPr sz="2800" dirty="0"/>
          </a:p>
          <a:p>
            <a:pPr marL="0" indent="0">
              <a:spcAft>
                <a:spcPts val="1000"/>
              </a:spcAft>
              <a:buNone/>
            </a:pPr>
            <a:r>
              <a:rPr sz="2800" dirty="0"/>
              <a:t>Le </a:t>
            </a:r>
            <a:r>
              <a:rPr sz="2800" dirty="0" err="1"/>
              <a:t>compilateur</a:t>
            </a:r>
            <a:r>
              <a:rPr sz="2800" dirty="0"/>
              <a:t> ne laisse pas passer </a:t>
            </a:r>
            <a:r>
              <a:rPr sz="2800" dirty="0" err="1"/>
              <a:t>l'oubli</a:t>
            </a:r>
            <a:endParaRPr sz="2800" dirty="0"/>
          </a:p>
        </p:txBody>
      </p:sp>
      <p:sp>
        <p:nvSpPr>
          <p:cNvPr id="4" name="Code"/>
          <p:cNvSpPr txBox="1"/>
          <p:nvPr/>
        </p:nvSpPr>
        <p:spPr>
          <a:xfrm>
            <a:off x="3498850" y="3307080"/>
            <a:ext cx="51943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Cercle </a:t>
            </a:r>
            <a:r>
              <a:rPr sz="1800">
                <a:solidFill>
                  <a:srgbClr val="CF8E6D"/>
                </a:solidFill>
                <a:latin typeface="Consolas"/>
              </a:rPr>
              <a:t>extends</a:t>
            </a:r>
            <a:r>
              <a:rPr sz="1800">
                <a:solidFill>
                  <a:srgbClr val="BCBEC4"/>
                </a:solidFill>
                <a:latin typeface="Consolas"/>
              </a:rPr>
              <a:t> Forme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String </a:t>
            </a:r>
            <a:r>
              <a:rPr sz="1800">
                <a:solidFill>
                  <a:srgbClr val="56A8F5"/>
                </a:solidFill>
                <a:latin typeface="Consolas"/>
              </a:rPr>
              <a:t>nom</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6AAB73"/>
                </a:solidFill>
                <a:latin typeface="Consolas"/>
              </a:rPr>
              <a:t>"cercle"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@Override</a:t>
            </a:r>
            <a:r>
              <a:rPr sz="4000"/>
              <a:t>, aussi pour une méthode abstraite</a:t>
            </a:r>
          </a:p>
        </p:txBody>
      </p:sp>
      <p:sp>
        <p:nvSpPr>
          <p:cNvPr id="3" name="Content Placeholder 2"/>
          <p:cNvSpPr>
            <a:spLocks noGrp="1"/>
          </p:cNvSpPr>
          <p:nvPr>
            <p:ph idx="1"/>
          </p:nvPr>
        </p:nvSpPr>
        <p:spPr>
          <a:xfrm>
            <a:off x="640080" y="1371600"/>
            <a:ext cx="10881360" cy="2712719"/>
          </a:xfrm>
        </p:spPr>
        <p:txBody>
          <a:bodyPr/>
          <a:lstStyle/>
          <a:p>
            <a:pPr marL="0" indent="0">
              <a:spcAft>
                <a:spcPts val="1000"/>
              </a:spcAft>
              <a:buNone/>
            </a:pPr>
            <a:r>
              <a:rPr sz="2400"/>
              <a:t>Rappel : </a:t>
            </a:r>
            <a:r>
              <a:rPr sz="2000">
                <a:solidFill>
                  <a:schemeClr val="accent4"/>
                </a:solidFill>
                <a:latin typeface="Consolas"/>
              </a:rPr>
              <a:t>@Override</a:t>
            </a:r>
            <a:r>
              <a:rPr sz="2400"/>
              <a:t> demande au compilateur de vérifier qu'on redéfinit bien une méthode de la classe mère</a:t>
            </a:r>
          </a:p>
          <a:p>
            <a:pPr marL="0" indent="0">
              <a:spcAft>
                <a:spcPts val="1000"/>
              </a:spcAft>
              <a:buNone/>
            </a:pPr>
            <a:r>
              <a:rPr sz="2400"/>
              <a:t>Définir une méthode abstraite, c'est aussi la redéfinir : l'annotation s'écrit de la même façon</a:t>
            </a:r>
          </a:p>
          <a:p>
            <a:pPr marL="0" indent="0">
              <a:spcAft>
                <a:spcPts val="1000"/>
              </a:spcAft>
              <a:buNone/>
            </a:pPr>
            <a:r>
              <a:rPr sz="2400"/>
              <a:t>Avec elle, une faute de frappe est signalée sur la ligne fautive, et non sur la classe</a:t>
            </a:r>
          </a:p>
        </p:txBody>
      </p:sp>
      <p:sp>
        <p:nvSpPr>
          <p:cNvPr id="4" name="Code"/>
          <p:cNvSpPr txBox="1"/>
          <p:nvPr/>
        </p:nvSpPr>
        <p:spPr>
          <a:xfrm>
            <a:off x="2013179" y="4221480"/>
            <a:ext cx="8135162" cy="1950719"/>
          </a:xfrm>
          <a:prstGeom prst="roundRect">
            <a:avLst>
              <a:gd name="adj" fmla="val 468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Cercle </a:t>
            </a:r>
            <a:r>
              <a:rPr sz="1600" dirty="0">
                <a:solidFill>
                  <a:srgbClr val="CF8E6D"/>
                </a:solidFill>
                <a:latin typeface="Consolas"/>
              </a:rPr>
              <a:t>extends</a:t>
            </a:r>
            <a:r>
              <a:rPr sz="1600" dirty="0">
                <a:solidFill>
                  <a:srgbClr val="BCBEC4"/>
                </a:solidFill>
                <a:latin typeface="Consolas"/>
              </a:rPr>
              <a:t> </a:t>
            </a:r>
            <a:r>
              <a:rPr sz="1600" dirty="0" err="1">
                <a:solidFill>
                  <a:srgbClr val="BCBEC4"/>
                </a:solidFill>
                <a:latin typeface="Consolas"/>
              </a:rPr>
              <a:t>Forme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chemeClr val="accent4"/>
                </a:solidFill>
                <a:latin typeface="Consolas"/>
              </a:rPr>
              <a:t>    public String Nom() {          // </a:t>
            </a:r>
            <a:r>
              <a:rPr sz="1600" dirty="0" err="1">
                <a:solidFill>
                  <a:schemeClr val="accent4"/>
                </a:solidFill>
                <a:latin typeface="Consolas"/>
              </a:rPr>
              <a:t>refus</a:t>
            </a:r>
            <a:r>
              <a:rPr sz="1600" dirty="0">
                <a:solidFill>
                  <a:schemeClr val="accent4"/>
                </a:solidFill>
                <a:latin typeface="Consolas"/>
              </a:rPr>
              <a:t> : Nom() ne </a:t>
            </a:r>
            <a:r>
              <a:rPr sz="1600" dirty="0" err="1">
                <a:solidFill>
                  <a:schemeClr val="accent4"/>
                </a:solidFill>
                <a:latin typeface="Consolas"/>
              </a:rPr>
              <a:t>redéfinit</a:t>
            </a:r>
            <a:r>
              <a:rPr sz="1600" dirty="0">
                <a:solidFill>
                  <a:schemeClr val="accent4"/>
                </a:solidFill>
                <a:latin typeface="Consolas"/>
              </a:rPr>
              <a:t> rien</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a:t>
            </a:r>
            <a:r>
              <a:rPr sz="1600" dirty="0">
                <a:solidFill>
                  <a:srgbClr val="6AAB73"/>
                </a:solidFill>
                <a:latin typeface="Consolas"/>
              </a:rPr>
              <a:t>"cercle"</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Petit détour : le reste d'une division négative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En Java, le reste garde le signe du dividende : </a:t>
            </a:r>
            <a:r>
              <a:rPr sz="2400">
                <a:solidFill>
                  <a:schemeClr val="accent4"/>
                </a:solidFill>
                <a:latin typeface="Consolas"/>
              </a:rPr>
              <a:t>-90 % 360</a:t>
            </a:r>
            <a:r>
              <a:rPr sz="2800"/>
              <a:t> vaut </a:t>
            </a:r>
            <a:r>
              <a:rPr sz="2400">
                <a:solidFill>
                  <a:schemeClr val="accent4"/>
                </a:solidFill>
                <a:latin typeface="Consolas"/>
              </a:rPr>
              <a:t>-90</a:t>
            </a:r>
          </a:p>
          <a:p>
            <a:pPr marL="0" indent="0">
              <a:spcAft>
                <a:spcPts val="1000"/>
              </a:spcAft>
              <a:buNone/>
            </a:pPr>
            <a:r>
              <a:rPr sz="2800"/>
              <a:t>Un modulo seul ne ramène donc pas une valeur dans un intervalle positif</a:t>
            </a:r>
          </a:p>
          <a:p>
            <a:pPr marL="0" indent="0">
              <a:spcAft>
                <a:spcPts val="1000"/>
              </a:spcAft>
              <a:buNone/>
            </a:pPr>
            <a:r>
              <a:rPr sz="2800"/>
              <a:t>Ajouter le diviseur puis reprendre le modulo corrige le cas</a:t>
            </a:r>
          </a:p>
        </p:txBody>
      </p:sp>
      <p:sp>
        <p:nvSpPr>
          <p:cNvPr id="4" name="Code"/>
          <p:cNvSpPr txBox="1"/>
          <p:nvPr/>
        </p:nvSpPr>
        <p:spPr>
          <a:xfrm>
            <a:off x="2882609" y="4587240"/>
            <a:ext cx="6396302"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a:t>
            </a:r>
            <a:r>
              <a:rPr sz="1800">
                <a:solidFill>
                  <a:srgbClr val="2AACB8"/>
                </a:solidFill>
                <a:latin typeface="Consolas"/>
              </a:rPr>
              <a:t>90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a:t>
            </a:r>
            <a:r>
              <a:rPr sz="1800">
                <a:solidFill>
                  <a:srgbClr val="7A7E85"/>
                </a:solidFill>
                <a:latin typeface="Consolas"/>
              </a:rPr>
              <a:t>// -90, et non 270</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r>
              <a:rPr sz="1800">
                <a:solidFill>
                  <a:srgbClr val="2AACB8"/>
                </a:solidFill>
                <a:latin typeface="Consolas"/>
              </a:rPr>
              <a:t>90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 </a:t>
            </a:r>
            <a:r>
              <a:rPr sz="1800">
                <a:solidFill>
                  <a:srgbClr val="2AACB8"/>
                </a:solidFill>
                <a:latin typeface="Consolas"/>
              </a:rPr>
              <a:t>360</a:t>
            </a:r>
            <a:r>
              <a:rPr sz="1800">
                <a:solidFill>
                  <a:srgbClr val="BCBEC4"/>
                </a:solidFill>
                <a:latin typeface="Consolas"/>
              </a:rPr>
              <a:t> </a:t>
            </a:r>
            <a:r>
              <a:rPr sz="1800">
                <a:solidFill>
                  <a:srgbClr val="7A7E85"/>
                </a:solidFill>
                <a:latin typeface="Consolas"/>
              </a:rPr>
              <a:t>// 270</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Des formes géométriques</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a:t>
            </a:r>
            <a:r>
              <a:rPr sz="2400">
                <a:solidFill>
                  <a:schemeClr val="accent4"/>
                </a:solidFill>
                <a:latin typeface="Consolas"/>
              </a:rPr>
              <a:t>CC-CLS.3</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4. Ce qui monte, ce qui descend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a holographic conductor made of blue light raises a glowing baton above a dark circuit board. In front of him, several different holographic instruments (a violin, a drum, a trumpet, a piano) all receive the same glowing gesture, but each produces its own distinct wave of light and sound in a different shape. One gesture, many unique responses. Cinematic lighting, depth of field, photorealistic, no text.">
            <a:extLst>
              <a:ext uri="{FF2B5EF4-FFF2-40B4-BE49-F238E27FC236}">
                <a16:creationId xmlns:a16="http://schemas.microsoft.com/office/drawing/2014/main" id="{26AA44A7-FA58-2A52-F146-0DB2493BB4A1}"/>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1" y="0"/>
            <a:ext cx="12191999"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55582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Le polymorphisme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tableau du type le plus général</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dirty="0"/>
              <a:t>Le tableau du code </a:t>
            </a:r>
            <a:r>
              <a:rPr sz="2600" dirty="0" err="1"/>
              <a:t>suivant</a:t>
            </a:r>
            <a:r>
              <a:rPr sz="2600" dirty="0"/>
              <a:t> est </a:t>
            </a:r>
            <a:r>
              <a:rPr sz="2600" dirty="0" err="1"/>
              <a:t>déclaré</a:t>
            </a:r>
            <a:r>
              <a:rPr sz="2600" dirty="0"/>
              <a:t> </a:t>
            </a:r>
            <a:r>
              <a:rPr sz="2200" dirty="0">
                <a:solidFill>
                  <a:schemeClr val="accent4"/>
                </a:solidFill>
                <a:latin typeface="Consolas"/>
              </a:rPr>
              <a:t>Shape[]</a:t>
            </a:r>
            <a:r>
              <a:rPr sz="2600" dirty="0"/>
              <a:t> et ne </a:t>
            </a:r>
            <a:r>
              <a:rPr sz="2600" dirty="0" err="1"/>
              <a:t>contient</a:t>
            </a:r>
            <a:r>
              <a:rPr sz="2600" dirty="0"/>
              <a:t> </a:t>
            </a:r>
            <a:r>
              <a:rPr sz="2600" dirty="0" err="1"/>
              <a:t>aucun</a:t>
            </a:r>
            <a:r>
              <a:rPr sz="2600" dirty="0"/>
              <a:t> </a:t>
            </a:r>
            <a:r>
              <a:rPr sz="2200" dirty="0">
                <a:solidFill>
                  <a:schemeClr val="accent4"/>
                </a:solidFill>
                <a:latin typeface="Consolas"/>
              </a:rPr>
              <a:t>Shape</a:t>
            </a:r>
          </a:p>
          <a:p>
            <a:pPr marL="0" indent="0">
              <a:spcAft>
                <a:spcPts val="1000"/>
              </a:spcAft>
              <a:buNone/>
            </a:pPr>
            <a:r>
              <a:rPr sz="2600" dirty="0" err="1"/>
              <a:t>Chaque</a:t>
            </a:r>
            <a:r>
              <a:rPr sz="2600" dirty="0"/>
              <a:t> case </a:t>
            </a:r>
            <a:r>
              <a:rPr lang="nl-BE" sz="2600" dirty="0"/>
              <a:t>du tableau </a:t>
            </a:r>
            <a:r>
              <a:rPr sz="2600" dirty="0" err="1"/>
              <a:t>désigne</a:t>
            </a:r>
            <a:r>
              <a:rPr sz="2600" dirty="0"/>
              <a:t> un </a:t>
            </a:r>
            <a:r>
              <a:rPr sz="2600" dirty="0" err="1"/>
              <a:t>objet</a:t>
            </a:r>
            <a:r>
              <a:rPr sz="2600" dirty="0"/>
              <a:t> </a:t>
            </a:r>
            <a:r>
              <a:rPr sz="2600" dirty="0" err="1"/>
              <a:t>d'une</a:t>
            </a:r>
            <a:r>
              <a:rPr sz="2600" dirty="0"/>
              <a:t> sous-</a:t>
            </a:r>
            <a:r>
              <a:rPr sz="2600" dirty="0" err="1"/>
              <a:t>classe</a:t>
            </a:r>
            <a:r>
              <a:rPr sz="2600" dirty="0"/>
              <a:t> concrète</a:t>
            </a:r>
          </a:p>
          <a:p>
            <a:pPr marL="0" indent="0">
              <a:spcAft>
                <a:spcPts val="1000"/>
              </a:spcAft>
              <a:buNone/>
            </a:pPr>
            <a:r>
              <a:rPr sz="2600" dirty="0"/>
              <a:t>La boucle </a:t>
            </a:r>
            <a:r>
              <a:rPr sz="2600" dirty="0" err="1"/>
              <a:t>traite</a:t>
            </a:r>
            <a:r>
              <a:rPr sz="2600" dirty="0"/>
              <a:t> les trois </a:t>
            </a:r>
            <a:r>
              <a:rPr sz="2600" dirty="0" err="1"/>
              <a:t>formes</a:t>
            </a:r>
            <a:r>
              <a:rPr sz="2600" dirty="0"/>
              <a:t> sans savoir </a:t>
            </a:r>
            <a:r>
              <a:rPr sz="2600" dirty="0" err="1"/>
              <a:t>lesquelles</a:t>
            </a:r>
            <a:r>
              <a:rPr sz="2600" dirty="0"/>
              <a:t> </a:t>
            </a:r>
            <a:r>
              <a:rPr sz="2600" dirty="0" err="1"/>
              <a:t>elle</a:t>
            </a:r>
            <a:r>
              <a:rPr sz="2600" dirty="0"/>
              <a:t> </a:t>
            </a:r>
            <a:r>
              <a:rPr sz="2600" dirty="0" err="1"/>
              <a:t>traite</a:t>
            </a:r>
            <a:endParaRPr sz="2600" dirty="0"/>
          </a:p>
        </p:txBody>
      </p:sp>
      <p:sp>
        <p:nvSpPr>
          <p:cNvPr id="4" name="Code"/>
          <p:cNvSpPr txBox="1"/>
          <p:nvPr/>
        </p:nvSpPr>
        <p:spPr>
          <a:xfrm>
            <a:off x="1473200" y="3588394"/>
            <a:ext cx="92456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Shape[] formes =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Circle</a:t>
            </a:r>
            <a:r>
              <a:rPr sz="1800">
                <a:solidFill>
                  <a:srgbClr val="BCBEC4"/>
                </a:solidFill>
                <a:latin typeface="Consolas"/>
              </a:rPr>
              <a:t>(centre),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Square</a:t>
            </a:r>
            <a:r>
              <a:rPr sz="1800">
                <a:solidFill>
                  <a:srgbClr val="BCBEC4"/>
                </a:solidFill>
                <a:latin typeface="Consolas"/>
              </a:rPr>
              <a:t>(centre),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Triangle</a:t>
            </a:r>
            <a:r>
              <a:rPr sz="1800">
                <a:solidFill>
                  <a:srgbClr val="BCBEC4"/>
                </a:solidFill>
                <a:latin typeface="Consolas"/>
              </a:rPr>
              <a:t>(centre)</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(Shape forme : formes) {</a:t>
            </a:r>
          </a:p>
          <a:p>
            <a:pPr>
              <a:lnSpc>
                <a:spcPct val="100000"/>
              </a:lnSpc>
              <a:spcBef>
                <a:spcPts val="0"/>
              </a:spcBef>
              <a:spcAft>
                <a:spcPts val="0"/>
              </a:spcAft>
            </a:pPr>
            <a:r>
              <a:rPr sz="1800">
                <a:solidFill>
                  <a:srgbClr val="BCBEC4"/>
                </a:solidFill>
                <a:latin typeface="Consolas"/>
              </a:rPr>
              <a:t>    forme.</a:t>
            </a:r>
            <a:r>
              <a:rPr sz="1800">
                <a:solidFill>
                  <a:srgbClr val="56A8F5"/>
                </a:solidFill>
                <a:latin typeface="Consolas"/>
              </a:rPr>
              <a:t>affiche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répond à l'appel</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La méthode exécutée est celle de la classe réelle de l'objet</a:t>
            </a:r>
          </a:p>
          <a:p>
            <a:pPr marL="0" indent="0">
              <a:spcAft>
                <a:spcPts val="1000"/>
              </a:spcAft>
              <a:buNone/>
            </a:pPr>
            <a:r>
              <a:rPr sz="2800"/>
              <a:t>Le choix se fait à l'exécution, pas à la compilation</a:t>
            </a:r>
          </a:p>
          <a:p>
            <a:pPr marL="0" indent="0">
              <a:spcAft>
                <a:spcPts val="1000"/>
              </a:spcAft>
              <a:buNone/>
            </a:pPr>
            <a:r>
              <a:rPr sz="2800"/>
              <a:t>C'est le polymorphisme, annoncé au module </a:t>
            </a:r>
            <a:r>
              <a:rPr sz="2800">
                <a:solidFill>
                  <a:schemeClr val="accent4"/>
                </a:solidFill>
                <a:latin typeface="Consolas"/>
              </a:rPr>
              <a:t>POO</a:t>
            </a:r>
          </a:p>
        </p:txBody>
      </p:sp>
      <p:sp>
        <p:nvSpPr>
          <p:cNvPr id="4" name="Code"/>
          <p:cNvSpPr txBox="1"/>
          <p:nvPr/>
        </p:nvSpPr>
        <p:spPr>
          <a:xfrm>
            <a:off x="1962150" y="3733799"/>
            <a:ext cx="82677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Shape forme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Circle</a:t>
            </a:r>
            <a:r>
              <a:rPr sz="1800">
                <a:solidFill>
                  <a:srgbClr val="BCBEC4"/>
                </a:solidFill>
                <a:latin typeface="Consolas"/>
              </a:rPr>
              <a:t>(centre);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forme.</a:t>
            </a:r>
            <a:r>
              <a:rPr sz="1800">
                <a:solidFill>
                  <a:srgbClr val="56A8F5"/>
                </a:solidFill>
                <a:latin typeface="Consolas"/>
              </a:rPr>
              <a:t>affiche</a:t>
            </a:r>
            <a:r>
              <a:rPr sz="1800">
                <a:solidFill>
                  <a:srgbClr val="BCBEC4"/>
                </a:solidFill>
                <a:latin typeface="Consolas"/>
              </a:rPr>
              <a:t>();   </a:t>
            </a:r>
            <a:r>
              <a:rPr sz="1800">
                <a:solidFill>
                  <a:srgbClr val="7A7E85"/>
                </a:solidFill>
                <a:latin typeface="Consolas"/>
              </a:rPr>
              <a:t>// "Je suis un cercle et je m'affiche"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Quelle version s'exécute ?</a:t>
            </a: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pic>
        <p:nvPicPr>
          <p:cNvPr id="19" name="Picture 18" descr="abs-chaine.png"/>
          <p:cNvPicPr>
            <a:picLocks noChangeAspect="1"/>
          </p:cNvPicPr>
          <p:nvPr/>
        </p:nvPicPr>
        <p:blipFill>
          <a:blip r:embed="rId2"/>
          <a:stretch>
            <a:fillRect/>
          </a:stretch>
        </p:blipFill>
        <p:spPr>
          <a:xfrm>
            <a:off x="560000" y="1450000"/>
            <a:ext cx="6200000" cy="2314666"/>
          </a:xfrm>
          <a:prstGeom prst="rect">
            <a:avLst/>
          </a:prstGeom>
        </p:spPr>
      </p:pic>
      <p:sp>
        <p:nvSpPr>
          <p:cNvPr id="20" name="TextBox 19"/>
          <p:cNvSpPr txBox="1"/>
          <p:nvPr/>
        </p:nvSpPr>
        <p:spPr>
          <a:xfrm>
            <a:off x="7060000" y="1600000"/>
            <a:ext cx="4492000" cy="3500000"/>
          </a:xfrm>
          <a:prstGeom prst="rect">
            <a:avLst/>
          </a:prstGeom>
          <a:noFill/>
        </p:spPr>
        <p:txBody>
          <a:bodyPr wrap="square">
            <a:spAutoFit/>
          </a:bodyPr>
          <a:lstStyle/>
          <a:p>
            <a:pPr>
              <a:spcAft>
                <a:spcPts val="1200"/>
              </a:spcAft>
            </a:pPr>
            <a:r>
              <a:rPr sz="2000">
                <a:solidFill>
                  <a:srgbClr val="FFFFFF"/>
                </a:solidFill>
              </a:rPr>
              <a:t>On part de la classe réelle de l'objet</a:t>
            </a:r>
          </a:p>
          <a:p>
            <a:pPr>
              <a:spcAft>
                <a:spcPts val="1200"/>
              </a:spcAft>
            </a:pPr>
            <a:r>
              <a:rPr sz="2000">
                <a:solidFill>
                  <a:srgbClr val="FFFFFF"/>
                </a:solidFill>
              </a:rPr>
              <a:t>On remonte jusqu'à la première classe qui écrit la méthode</a:t>
            </a:r>
          </a:p>
          <a:p>
            <a:pPr>
              <a:spcAft>
                <a:spcPts val="1200"/>
              </a:spcAft>
            </a:pPr>
            <a:r>
              <a:rPr sz="2000">
                <a:solidFill>
                  <a:schemeClr val="accent4"/>
                </a:solidFill>
                <a:latin typeface="Consolas"/>
              </a:rPr>
              <a:t>super.truc()</a:t>
            </a:r>
            <a:r>
              <a:rPr sz="2000">
                <a:solidFill>
                  <a:srgbClr val="FFFFFF"/>
                </a:solidFill>
              </a:rPr>
              <a:t> : la version la plus proche au-dessus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Ni </a:t>
            </a:r>
            <a:r>
              <a:rPr sz="3400">
                <a:solidFill>
                  <a:schemeClr val="accent4"/>
                </a:solidFill>
                <a:latin typeface="Consolas"/>
              </a:rPr>
              <a:t>instanceof</a:t>
            </a:r>
            <a:r>
              <a:rPr sz="4000"/>
              <a:t>, ni test de type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 test de type dans la boucle signale une hiérarchie mal découpée</a:t>
            </a:r>
          </a:p>
          <a:p>
            <a:pPr marL="0" indent="0">
              <a:spcAft>
                <a:spcPts val="1000"/>
              </a:spcAft>
              <a:buNone/>
            </a:pPr>
            <a:r>
              <a:rPr sz="2800"/>
              <a:t>Ce que vous testez, la machine virtuelle le sait déjà</a:t>
            </a:r>
          </a:p>
          <a:p>
            <a:pPr marL="0" indent="0">
              <a:spcAft>
                <a:spcPts val="1000"/>
              </a:spcAft>
              <a:buNone/>
            </a:pPr>
            <a:r>
              <a:rPr sz="2800"/>
              <a:t>Ajouter une sorte de </a:t>
            </a:r>
            <a:r>
              <a:rPr sz="2400">
                <a:solidFill>
                  <a:schemeClr val="accent4"/>
                </a:solidFill>
                <a:latin typeface="Consolas"/>
              </a:rPr>
              <a:t>Shape</a:t>
            </a:r>
            <a:r>
              <a:rPr sz="2800"/>
              <a:t> nécessite une classe, et aucune autre modification ; si vous utilisez un </a:t>
            </a:r>
            <a:r>
              <a:rPr sz="2400">
                <a:solidFill>
                  <a:schemeClr val="accent4"/>
                </a:solidFill>
                <a:latin typeface="Consolas"/>
              </a:rPr>
              <a:t>instanceof</a:t>
            </a:r>
            <a:r>
              <a:rPr sz="2800"/>
              <a:t> vous devrez faire d'autres modifications</a:t>
            </a:r>
          </a:p>
        </p:txBody>
      </p:sp>
      <p:sp>
        <p:nvSpPr>
          <p:cNvPr id="4" name="Code"/>
          <p:cNvSpPr txBox="1"/>
          <p:nvPr/>
        </p:nvSpPr>
        <p:spPr>
          <a:xfrm>
            <a:off x="2208566" y="4587240"/>
            <a:ext cx="7774868"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CF8E6D"/>
                </a:solidFill>
                <a:latin typeface="Consolas"/>
              </a:rPr>
              <a:t>for</a:t>
            </a:r>
            <a:r>
              <a:rPr sz="1750" dirty="0">
                <a:solidFill>
                  <a:srgbClr val="BCBEC4"/>
                </a:solidFill>
                <a:latin typeface="Consolas"/>
              </a:rPr>
              <a:t> (Shape </a:t>
            </a:r>
            <a:r>
              <a:rPr sz="1750" dirty="0" err="1">
                <a:solidFill>
                  <a:srgbClr val="BCBEC4"/>
                </a:solidFill>
                <a:latin typeface="Consolas"/>
              </a:rPr>
              <a:t>forme</a:t>
            </a:r>
            <a:r>
              <a:rPr sz="1750" dirty="0">
                <a:solidFill>
                  <a:srgbClr val="BCBEC4"/>
                </a:solidFill>
                <a:latin typeface="Consolas"/>
              </a:rPr>
              <a:t> : </a:t>
            </a:r>
            <a:r>
              <a:rPr sz="1750" dirty="0" err="1">
                <a:solidFill>
                  <a:srgbClr val="BCBEC4"/>
                </a:solidFill>
                <a:latin typeface="Consolas"/>
              </a:rPr>
              <a:t>formes</a:t>
            </a:r>
            <a:r>
              <a:rPr sz="1750" dirty="0">
                <a:solidFill>
                  <a:srgbClr val="BCBEC4"/>
                </a:solidFill>
                <a:latin typeface="Consolas"/>
              </a:rPr>
              <a:t>) {</a:t>
            </a:r>
          </a:p>
          <a:p>
            <a:pPr>
              <a:lnSpc>
                <a:spcPct val="100000"/>
              </a:lnSpc>
              <a:spcBef>
                <a:spcPts val="0"/>
              </a:spcBef>
              <a:spcAft>
                <a:spcPts val="0"/>
              </a:spcAft>
            </a:pPr>
            <a:r>
              <a:rPr sz="1750" dirty="0">
                <a:solidFill>
                  <a:schemeClr val="accent4"/>
                </a:solidFill>
                <a:latin typeface="Consolas"/>
              </a:rPr>
              <a:t>    if (</a:t>
            </a:r>
            <a:r>
              <a:rPr sz="1750" dirty="0" err="1">
                <a:solidFill>
                  <a:schemeClr val="accent4"/>
                </a:solidFill>
                <a:latin typeface="Consolas"/>
              </a:rPr>
              <a:t>forme</a:t>
            </a:r>
            <a:r>
              <a:rPr sz="1750" dirty="0">
                <a:solidFill>
                  <a:schemeClr val="accent4"/>
                </a:solidFill>
                <a:latin typeface="Consolas"/>
              </a:rPr>
              <a:t> </a:t>
            </a:r>
            <a:r>
              <a:rPr sz="1750" dirty="0" err="1">
                <a:solidFill>
                  <a:schemeClr val="accent4"/>
                </a:solidFill>
                <a:latin typeface="Consolas"/>
              </a:rPr>
              <a:t>instanceof</a:t>
            </a:r>
            <a:r>
              <a:rPr sz="1750" dirty="0">
                <a:solidFill>
                  <a:schemeClr val="accent4"/>
                </a:solidFill>
                <a:latin typeface="Consolas"/>
              </a:rPr>
              <a:t> Circle) {   // a ne pas </a:t>
            </a:r>
            <a:r>
              <a:rPr sz="1750" dirty="0" err="1">
                <a:solidFill>
                  <a:schemeClr val="accent4"/>
                </a:solidFill>
                <a:latin typeface="Consolas"/>
              </a:rPr>
              <a:t>ecrire</a:t>
            </a:r>
            <a:endParaRPr sz="1750" dirty="0">
              <a:solidFill>
                <a:schemeClr val="accent4"/>
              </a:solidFill>
              <a:latin typeface="Consolas"/>
            </a:endParaRP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Des animaux qui font du bruit</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a:t>
            </a:r>
            <a:r>
              <a:rPr sz="2400">
                <a:solidFill>
                  <a:schemeClr val="accent4"/>
                </a:solidFill>
                <a:latin typeface="Consolas"/>
              </a:rPr>
              <a:t>CC-CLS.4</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5. Le polymorphisme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isometric view, on a dark circuit board. On the left, two different glowing bank buildings made of transparent glass, one tall and angular, one wide and rounded, without any logos. From each bank, a stream of three glowing objects flows toward the center: a small card, a gold coin and an envelope. From the first bank they arrive in the order card, coin, envelope; from the second bank in the order envelope, card, coin. Each stream passes through its own small, uniquely shaped glowing lens or decoder at the exit of its bank, which rearranges the objects into the same order. Both streams then enter one large, shared, central machine of blue light with gears and circuits, clearly the main engine, which transforms them into neat, identical glowing rows on a large holographic screen on the right, showing abstract rows of light. Dynamic motion, light trails, glowing particles, cinematic lighting, photorealistic, no text, no logos.">
            <a:extLst>
              <a:ext uri="{FF2B5EF4-FFF2-40B4-BE49-F238E27FC236}">
                <a16:creationId xmlns:a16="http://schemas.microsoft.com/office/drawing/2014/main" id="{A52D0C1C-D7DF-D281-A111-18418645F0BB}"/>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1" y="0"/>
            <a:ext cx="12187004"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40037"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La mère appelle la fille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32</a:t>
            </a:fld>
            <a:endParaRPr lang="fr-F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 quoi il s'agit</a:t>
            </a:r>
          </a:p>
        </p:txBody>
      </p:sp>
      <p:sp>
        <p:nvSpPr>
          <p:cNvPr id="3" name="Content Placeholder 2"/>
          <p:cNvSpPr>
            <a:spLocks noGrp="1"/>
          </p:cNvSpPr>
          <p:nvPr>
            <p:ph idx="1"/>
          </p:nvPr>
        </p:nvSpPr>
        <p:spPr>
          <a:xfrm>
            <a:off x="640080" y="1371600"/>
            <a:ext cx="10881360" cy="1828800"/>
          </a:xfrm>
        </p:spPr>
        <p:txBody>
          <a:bodyPr/>
          <a:lstStyle/>
          <a:p>
            <a:pPr marL="0" indent="0">
              <a:spcAft>
                <a:spcPts val="1000"/>
              </a:spcAft>
              <a:buNone/>
            </a:pPr>
            <a:r>
              <a:rPr lang="fr-BE" sz="2400" dirty="0"/>
              <a:t>Une application affiche les mouvements bancaires d'une seule banque, Fric en Vrac</a:t>
            </a:r>
          </a:p>
          <a:p>
            <a:pPr marL="0" indent="0">
              <a:spcAft>
                <a:spcPts val="1000"/>
              </a:spcAft>
              <a:buNone/>
            </a:pPr>
            <a:r>
              <a:rPr lang="fr-BE" sz="2400" dirty="0"/>
              <a:t>Il faut ajouter Banquier Pépère : mêmes informations, autre ordre de colonnes</a:t>
            </a:r>
          </a:p>
          <a:p>
            <a:pPr marL="0" indent="0">
              <a:spcAft>
                <a:spcPts val="1000"/>
              </a:spcAft>
              <a:buNone/>
            </a:pPr>
            <a:r>
              <a:rPr lang="fr-BE" sz="2400" dirty="0"/>
              <a:t>Le total et le rapport restent les mêmes d'une banque à l'autre</a:t>
            </a:r>
          </a:p>
        </p:txBody>
      </p:sp>
      <p:sp>
        <p:nvSpPr>
          <p:cNvPr id="1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grpSp>
        <p:nvGrpSpPr>
          <p:cNvPr id="12" name="Diagramme de classes"/>
          <p:cNvGrpSpPr/>
          <p:nvPr/>
        </p:nvGrpSpPr>
        <p:grpSpPr>
          <a:xfrm>
            <a:off x="1051560" y="3657600"/>
            <a:ext cx="10744200" cy="2194560"/>
            <a:chOff x="1051560" y="3657600"/>
            <a:chExt cx="10744200" cy="2194560"/>
          </a:xfrm>
        </p:grpSpPr>
        <p:sp>
          <p:nvSpPr>
            <p:cNvPr id="5" name="Rounded Rectangle 4"/>
            <p:cNvSpPr/>
            <p:nvPr/>
          </p:nvSpPr>
          <p:spPr>
            <a:xfrm>
              <a:off x="2697480" y="3657600"/>
              <a:ext cx="6537960" cy="1005840"/>
            </a:xfrm>
            <a:prstGeom prst="roundRect">
              <a:avLst>
                <a:gd name="adj" fmla="val 8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i="1" dirty="0">
                  <a:solidFill>
                    <a:schemeClr val="accent4"/>
                  </a:solidFill>
                  <a:latin typeface="Consolas"/>
                </a:rPr>
                <a:t>VisualiseurDeDonneesBancaires</a:t>
              </a:r>
              <a:r>
                <a:rPr lang="fr-BE" sz="1200" i="1" dirty="0">
                  <a:solidFill>
                    <a:srgbClr val="9DA0A8"/>
                  </a:solidFill>
                </a:rPr>
                <a:t>   abstraite</a:t>
              </a:r>
            </a:p>
            <a:p>
              <a:pPr algn="ctr"/>
              <a:r>
                <a:rPr lang="fr-BE" sz="1300" dirty="0">
                  <a:solidFill>
                    <a:srgbClr val="E8E8E8"/>
                  </a:solidFill>
                  <a:latin typeface="Consolas"/>
                </a:rPr>
                <a:t>total()   rapport()</a:t>
              </a:r>
              <a:r>
                <a:rPr lang="fr-BE" sz="1200" dirty="0">
                  <a:solidFill>
                    <a:srgbClr val="9DA0A8"/>
                  </a:solidFill>
                </a:rPr>
                <a:t>      écrites une fois</a:t>
              </a:r>
            </a:p>
            <a:p>
              <a:pPr algn="ctr"/>
              <a:r>
                <a:rPr lang="fr-BE" sz="1200" i="1" dirty="0">
                  <a:solidFill>
                    <a:srgbClr val="9DA0A8"/>
                  </a:solidFill>
                  <a:latin typeface="Consolas"/>
                </a:rPr>
                <a:t>donneesBrutes()   nomDeLaBanque()   versMouvement(ligne)</a:t>
              </a:r>
            </a:p>
          </p:txBody>
        </p:sp>
        <p:sp>
          <p:nvSpPr>
            <p:cNvPr id="6" name="Rounded Rectangle 5"/>
            <p:cNvSpPr/>
            <p:nvPr/>
          </p:nvSpPr>
          <p:spPr>
            <a:xfrm>
              <a:off x="1051560" y="5120640"/>
              <a:ext cx="4206240" cy="731520"/>
            </a:xfrm>
            <a:prstGeom prst="roundRect">
              <a:avLst>
                <a:gd name="adj" fmla="val 8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dirty="0">
                  <a:solidFill>
                    <a:schemeClr val="accent4"/>
                  </a:solidFill>
                  <a:latin typeface="Consolas"/>
                </a:rPr>
                <a:t>VisualiseurFricEnVrac</a:t>
              </a:r>
            </a:p>
            <a:p>
              <a:pPr algn="ctr"/>
              <a:r>
                <a:rPr lang="fr-BE" sz="1200" dirty="0">
                  <a:solidFill>
                    <a:srgbClr val="9DA0A8"/>
                  </a:solidFill>
                </a:rPr>
                <a:t>existe déjà : votre modèle</a:t>
              </a:r>
            </a:p>
          </p:txBody>
        </p:sp>
        <p:sp>
          <p:nvSpPr>
            <p:cNvPr id="7" name="Rounded Rectangle 6"/>
            <p:cNvSpPr/>
            <p:nvPr/>
          </p:nvSpPr>
          <p:spPr>
            <a:xfrm>
              <a:off x="6903720" y="5120640"/>
              <a:ext cx="4206240" cy="731520"/>
            </a:xfrm>
            <a:prstGeom prst="roundRect">
              <a:avLst>
                <a:gd name="adj" fmla="val 8000"/>
              </a:avLst>
            </a:prstGeom>
            <a:solidFill>
              <a:srgbClr val="1D1F22"/>
            </a:solidFill>
            <a:ln w="19050">
              <a:solidFill>
                <a:srgbClr val="FFC000"/>
              </a:solidFill>
              <a:prstDash val="dash"/>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dirty="0">
                  <a:solidFill>
                    <a:schemeClr val="accent4"/>
                  </a:solidFill>
                  <a:latin typeface="Consolas"/>
                </a:rPr>
                <a:t>VisualiseurBanquierPepere</a:t>
              </a:r>
            </a:p>
            <a:p>
              <a:pPr algn="ctr"/>
              <a:r>
                <a:rPr lang="fr-BE" sz="1200" b="1" dirty="0">
                  <a:solidFill>
                    <a:srgbClr val="FFC000"/>
                  </a:solidFill>
                </a:rPr>
                <a:t>à écrire : </a:t>
              </a:r>
              <a:r>
                <a:rPr lang="fr-BE" sz="1200" b="1" dirty="0">
                  <a:solidFill>
                    <a:schemeClr val="accent4"/>
                  </a:solidFill>
                  <a:latin typeface="Consolas"/>
                </a:rPr>
                <a:t>ABS.3</a:t>
              </a:r>
            </a:p>
          </p:txBody>
        </p:sp>
        <p:sp>
          <p:nvSpPr>
            <p:cNvPr id="8" name="Rounded Rectangle 7"/>
            <p:cNvSpPr/>
            <p:nvPr/>
          </p:nvSpPr>
          <p:spPr>
            <a:xfrm>
              <a:off x="9601200" y="3767328"/>
              <a:ext cx="2194560" cy="777240"/>
            </a:xfrm>
            <a:prstGeom prst="roundRect">
              <a:avLst>
                <a:gd name="adj" fmla="val 8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ctr"/>
              <a:r>
                <a:rPr lang="fr-BE" sz="1600" b="1" dirty="0">
                  <a:solidFill>
                    <a:schemeClr val="accent4"/>
                  </a:solidFill>
                  <a:latin typeface="Consolas"/>
                </a:rPr>
                <a:t>Mouvement</a:t>
              </a:r>
            </a:p>
            <a:p>
              <a:pPr algn="ctr"/>
              <a:r>
                <a:rPr lang="fr-BE" sz="1100" dirty="0">
                  <a:solidFill>
                    <a:srgbClr val="9DA0A8"/>
                  </a:solidFill>
                  <a:latin typeface="Consolas"/>
                </a:rPr>
                <a:t>compte, montant,</a:t>
              </a:r>
            </a:p>
            <a:p>
              <a:pPr algn="ctr"/>
              <a:r>
                <a:rPr lang="fr-BE" sz="1100" dirty="0">
                  <a:solidFill>
                    <a:srgbClr val="9DA0A8"/>
                  </a:solidFill>
                  <a:latin typeface="Consolas"/>
                </a:rPr>
                <a:t>communication</a:t>
              </a:r>
            </a:p>
          </p:txBody>
        </p:sp>
        <p:cxnSp>
          <p:nvCxnSpPr>
            <p:cNvPr id="9" name="Connector 8"/>
            <p:cNvCxnSpPr/>
            <p:nvPr/>
          </p:nvCxnSpPr>
          <p:spPr>
            <a:xfrm flipV="1">
              <a:off x="3154680" y="4663440"/>
              <a:ext cx="1600200" cy="45720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7315200" y="4663440"/>
              <a:ext cx="1691640" cy="45720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235440" y="4160520"/>
              <a:ext cx="365760" cy="0"/>
            </a:xfrm>
            <a:prstGeom prst="line">
              <a:avLst/>
            </a:prstGeom>
            <a:ln w="22225">
              <a:solidFill>
                <a:srgbClr val="BCBEC4"/>
              </a:solidFill>
              <a:prstDash val="dash"/>
              <a:tailEnd type="arrow" w="med" len="med"/>
            </a:ln>
          </p:spPr>
          <p:style>
            <a:lnRef idx="2">
              <a:schemeClr val="accent1"/>
            </a:lnRef>
            <a:fillRef idx="0">
              <a:schemeClr val="accent1"/>
            </a:fillRef>
            <a:effectRef idx="1">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squelette, puis le détail</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La classe mère écrit le traitement entier</a:t>
            </a:r>
          </a:p>
          <a:p>
            <a:pPr marL="0" indent="0">
              <a:spcAft>
                <a:spcPts val="1000"/>
              </a:spcAft>
              <a:buNone/>
            </a:pPr>
            <a:r>
              <a:rPr sz="2800"/>
              <a:t>Elle déclare abstraits les seuls points qui varient</a:t>
            </a:r>
          </a:p>
          <a:p>
            <a:pPr marL="0" indent="0">
              <a:spcAft>
                <a:spcPts val="1000"/>
              </a:spcAft>
              <a:buNone/>
            </a:pPr>
            <a:r>
              <a:rPr sz="2800"/>
              <a:t>Une méthode concrète appelle une méthode abstraite</a:t>
            </a:r>
          </a:p>
        </p:txBody>
      </p:sp>
      <p:sp>
        <p:nvSpPr>
          <p:cNvPr id="4" name="Code"/>
          <p:cNvSpPr txBox="1"/>
          <p:nvPr/>
        </p:nvSpPr>
        <p:spPr>
          <a:xfrm>
            <a:off x="2154238" y="3307080"/>
            <a:ext cx="7883524"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a:t>
            </a:r>
            <a:r>
              <a:rPr sz="1550" dirty="0" err="1">
                <a:solidFill>
                  <a:srgbClr val="BCBEC4"/>
                </a:solidFill>
                <a:latin typeface="Consolas"/>
              </a:rPr>
              <a:t>VisualiseurDeDonneesBancaires</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7A7E85"/>
                </a:solidFill>
                <a:latin typeface="Consolas"/>
              </a:rPr>
              <a:t>// a </a:t>
            </a:r>
            <a:r>
              <a:rPr sz="1550" dirty="0" err="1">
                <a:solidFill>
                  <a:srgbClr val="7A7E85"/>
                </a:solidFill>
                <a:latin typeface="Consolas"/>
              </a:rPr>
              <a:t>fournir</a:t>
            </a:r>
            <a:r>
              <a:rPr sz="1550" dirty="0">
                <a:solidFill>
                  <a:srgbClr val="7A7E85"/>
                </a:solidFill>
                <a:latin typeface="Consolas"/>
              </a:rPr>
              <a:t> par </a:t>
            </a:r>
            <a:r>
              <a:rPr sz="1550" dirty="0" err="1">
                <a:solidFill>
                  <a:srgbClr val="7A7E85"/>
                </a:solidFill>
                <a:latin typeface="Consolas"/>
              </a:rPr>
              <a:t>chaque</a:t>
            </a:r>
            <a:r>
              <a:rPr sz="1550" dirty="0">
                <a:solidFill>
                  <a:srgbClr val="7A7E85"/>
                </a:solidFill>
                <a:latin typeface="Consolas"/>
              </a:rPr>
              <a:t> </a:t>
            </a:r>
            <a:r>
              <a:rPr sz="1550" dirty="0" err="1">
                <a:solidFill>
                  <a:srgbClr val="7A7E85"/>
                </a:solidFill>
                <a:latin typeface="Consolas"/>
              </a:rPr>
              <a:t>banque</a:t>
            </a:r>
            <a:endParaRPr sz="1550" dirty="0">
              <a:solidFill>
                <a:srgbClr val="7A7E85"/>
              </a:solidFill>
              <a:latin typeface="Consolas"/>
            </a:endParaRP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protected</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String[][] </a:t>
            </a:r>
            <a:r>
              <a:rPr sz="1550" dirty="0" err="1">
                <a:solidFill>
                  <a:srgbClr val="56A8F5"/>
                </a:solidFill>
                <a:latin typeface="Consolas"/>
              </a:rPr>
              <a:t>donnees</a:t>
            </a:r>
            <a:r>
              <a:rPr lang="nl-BE" sz="1550" dirty="0">
                <a:solidFill>
                  <a:srgbClr val="56A8F5"/>
                </a:solidFill>
                <a:latin typeface="Consolas"/>
              </a:rPr>
              <a:t>Brutes</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protected</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String </a:t>
            </a:r>
            <a:r>
              <a:rPr sz="1550" dirty="0">
                <a:solidFill>
                  <a:srgbClr val="56A8F5"/>
                </a:solidFill>
                <a:latin typeface="Consolas"/>
              </a:rPr>
              <a:t>nom</a:t>
            </a:r>
            <a:r>
              <a:rPr lang="nl-BE" sz="1550" dirty="0">
                <a:solidFill>
                  <a:srgbClr val="56A8F5"/>
                </a:solidFill>
                <a:latin typeface="Consolas"/>
              </a:rPr>
              <a:t>DeLa</a:t>
            </a:r>
            <a:r>
              <a:rPr sz="1550" dirty="0">
                <a:solidFill>
                  <a:srgbClr val="56A8F5"/>
                </a:solidFill>
                <a:latin typeface="Consolas"/>
              </a:rPr>
              <a:t>Banque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protected</a:t>
            </a:r>
            <a:r>
              <a:rPr sz="1550" dirty="0">
                <a:solidFill>
                  <a:srgbClr val="BCBEC4"/>
                </a:solidFill>
                <a:latin typeface="Consolas"/>
              </a:rPr>
              <a:t> </a:t>
            </a:r>
            <a:r>
              <a:rPr sz="1550" dirty="0">
                <a:solidFill>
                  <a:srgbClr val="CF8E6D"/>
                </a:solidFill>
                <a:latin typeface="Consolas"/>
              </a:rPr>
              <a:t>abstract</a:t>
            </a:r>
            <a:r>
              <a:rPr sz="1550" dirty="0">
                <a:solidFill>
                  <a:srgbClr val="BCBEC4"/>
                </a:solidFill>
                <a:latin typeface="Consolas"/>
              </a:rPr>
              <a:t> </a:t>
            </a:r>
            <a:r>
              <a:rPr sz="1550" dirty="0" err="1">
                <a:solidFill>
                  <a:srgbClr val="BCBEC4"/>
                </a:solidFill>
                <a:latin typeface="Consolas"/>
              </a:rPr>
              <a:t>Mouvement</a:t>
            </a:r>
            <a:r>
              <a:rPr sz="1550" dirty="0">
                <a:solidFill>
                  <a:srgbClr val="BCBEC4"/>
                </a:solidFill>
                <a:latin typeface="Consolas"/>
              </a:rPr>
              <a:t> </a:t>
            </a:r>
            <a:r>
              <a:rPr lang="nl-BE" sz="1550" dirty="0">
                <a:solidFill>
                  <a:srgbClr val="56A8F5"/>
                </a:solidFill>
                <a:latin typeface="Consolas"/>
              </a:rPr>
              <a:t>versMouvement</a:t>
            </a:r>
            <a:r>
              <a:rPr sz="1550" dirty="0">
                <a:solidFill>
                  <a:srgbClr val="BCBEC4"/>
                </a:solidFill>
                <a:latin typeface="Consolas"/>
              </a:rPr>
              <a:t>(String[] </a:t>
            </a:r>
            <a:r>
              <a:rPr sz="1550" dirty="0" err="1">
                <a:solidFill>
                  <a:srgbClr val="BCBEC4"/>
                </a:solidFill>
                <a:latin typeface="Consolas"/>
              </a:rPr>
              <a:t>ligne</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7A7E85"/>
                </a:solidFill>
                <a:latin typeface="Consolas"/>
              </a:rPr>
              <a:t>// </a:t>
            </a:r>
            <a:r>
              <a:rPr sz="1550" dirty="0" err="1">
                <a:solidFill>
                  <a:srgbClr val="7A7E85"/>
                </a:solidFill>
                <a:latin typeface="Consolas"/>
              </a:rPr>
              <a:t>deja</a:t>
            </a:r>
            <a:r>
              <a:rPr sz="1550" dirty="0">
                <a:solidFill>
                  <a:srgbClr val="7A7E85"/>
                </a:solidFill>
                <a:latin typeface="Consolas"/>
              </a:rPr>
              <a:t> </a:t>
            </a:r>
            <a:r>
              <a:rPr sz="1550" dirty="0" err="1">
                <a:solidFill>
                  <a:srgbClr val="7A7E85"/>
                </a:solidFill>
                <a:latin typeface="Consolas"/>
              </a:rPr>
              <a:t>ecrit</a:t>
            </a:r>
            <a:r>
              <a:rPr sz="1550" dirty="0">
                <a:solidFill>
                  <a:srgbClr val="7A7E85"/>
                </a:solidFill>
                <a:latin typeface="Consolas"/>
              </a:rPr>
              <a:t>, </a:t>
            </a:r>
            <a:r>
              <a:rPr sz="1550" dirty="0" err="1">
                <a:solidFill>
                  <a:srgbClr val="7A7E85"/>
                </a:solidFill>
                <a:latin typeface="Consolas"/>
              </a:rPr>
              <a:t>une</a:t>
            </a:r>
            <a:r>
              <a:rPr sz="1550" dirty="0">
                <a:solidFill>
                  <a:srgbClr val="7A7E85"/>
                </a:solidFill>
                <a:latin typeface="Consolas"/>
              </a:rPr>
              <a:t> </a:t>
            </a:r>
            <a:r>
              <a:rPr sz="1550" dirty="0" err="1">
                <a:solidFill>
                  <a:srgbClr val="7A7E85"/>
                </a:solidFill>
                <a:latin typeface="Consolas"/>
              </a:rPr>
              <a:t>fois</a:t>
            </a:r>
            <a:r>
              <a:rPr sz="1550" dirty="0">
                <a:solidFill>
                  <a:srgbClr val="7A7E85"/>
                </a:solidFill>
                <a:latin typeface="Consolas"/>
              </a:rPr>
              <a:t> pour </a:t>
            </a:r>
            <a:r>
              <a:rPr sz="1550" dirty="0" err="1">
                <a:solidFill>
                  <a:srgbClr val="7A7E85"/>
                </a:solidFill>
                <a:latin typeface="Consolas"/>
              </a:rPr>
              <a:t>toutes</a:t>
            </a:r>
            <a:endParaRPr sz="1550" dirty="0">
              <a:solidFill>
                <a:srgbClr val="7A7E85"/>
              </a:solidFill>
              <a:latin typeface="Consolas"/>
            </a:endParaRP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double</a:t>
            </a:r>
            <a:r>
              <a:rPr sz="1550" dirty="0">
                <a:solidFill>
                  <a:srgbClr val="BCBEC4"/>
                </a:solidFill>
                <a:latin typeface="Consolas"/>
              </a:rPr>
              <a:t> </a:t>
            </a:r>
            <a:r>
              <a:rPr sz="1550" dirty="0">
                <a:solidFill>
                  <a:srgbClr val="56A8F5"/>
                </a:solidFill>
                <a:latin typeface="Consolas"/>
              </a:rPr>
              <a:t>total</a:t>
            </a:r>
            <a:r>
              <a:rPr sz="1550" dirty="0">
                <a:solidFill>
                  <a:srgbClr val="BCBEC4"/>
                </a:solidFill>
                <a:latin typeface="Consolas"/>
              </a:rPr>
              <a:t>() { ...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String </a:t>
            </a:r>
            <a:r>
              <a:rPr sz="1550" dirty="0">
                <a:solidFill>
                  <a:srgbClr val="56A8F5"/>
                </a:solidFill>
                <a:latin typeface="Consolas"/>
              </a:rPr>
              <a:t>rapport</a:t>
            </a:r>
            <a:r>
              <a:rPr sz="1550" dirty="0">
                <a:solidFill>
                  <a:srgbClr val="BCBEC4"/>
                </a:solidFill>
                <a:latin typeface="Consolas"/>
              </a:rPr>
              <a:t>() { ... }</a:t>
            </a:r>
          </a:p>
          <a:p>
            <a:pPr>
              <a:lnSpc>
                <a:spcPct val="100000"/>
              </a:lnSpc>
              <a:spcBef>
                <a:spcPts val="0"/>
              </a:spcBef>
              <a:spcAft>
                <a:spcPts val="0"/>
              </a:spcAft>
            </a:pPr>
            <a:r>
              <a:rPr sz="1550" dirty="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banques, un seul traitement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Les deux banques livrent les mêmes informations, dans un ordre de colonnes différent</a:t>
            </a:r>
          </a:p>
          <a:p>
            <a:pPr marL="0" indent="0">
              <a:spcAft>
                <a:spcPts val="1000"/>
              </a:spcAft>
              <a:buNone/>
            </a:pPr>
            <a:r>
              <a:rPr sz="2800"/>
              <a:t>Seule la lecture d'une ligne change ; le total et le rapport sont communs</a:t>
            </a:r>
          </a:p>
          <a:p>
            <a:pPr marL="0" indent="0">
              <a:spcAft>
                <a:spcPts val="1000"/>
              </a:spcAft>
              <a:buNone/>
            </a:pPr>
            <a:r>
              <a:rPr sz="2800"/>
              <a:t>Une troisième banque coûtera une classe, et pas une ligne ailleurs</a:t>
            </a:r>
          </a:p>
        </p:txBody>
      </p:sp>
      <p:sp>
        <p:nvSpPr>
          <p:cNvPr id="4"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graphicFrame>
        <p:nvGraphicFramePr>
          <p:cNvPr id="8" name="Diagramme colonnes des banques"/>
          <p:cNvGraphicFramePr>
            <a:graphicFrameLocks noGrp="1"/>
          </p:cNvGraphicFramePr>
          <p:nvPr/>
        </p:nvGraphicFramePr>
        <p:xfrm>
          <a:off x="822960" y="4678680"/>
          <a:ext cx="10515600" cy="1371600"/>
        </p:xfrm>
        <a:graphic>
          <a:graphicData uri="http://schemas.openxmlformats.org/drawingml/2006/table">
            <a:tbl>
              <a:tblPr/>
              <a:tblGrid>
                <a:gridCol w="2926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23744">
                  <a:extLst>
                    <a:ext uri="{9D8B030D-6E8A-4147-A177-3AD203B41FA5}">
                      <a16:colId xmlns:a16="http://schemas.microsoft.com/office/drawing/2014/main" val="20003"/>
                    </a:ext>
                  </a:extLst>
                </a:gridCol>
              </a:tblGrid>
              <a:tr h="457200">
                <a:tc>
                  <a:txBody>
                    <a:bodyPr/>
                    <a:lstStyle/>
                    <a:p>
                      <a:pPr algn="l"/>
                      <a:r>
                        <a:rPr lang="fr-BE" sz="1800" b="1">
                          <a:solidFill>
                            <a:srgbClr val="9DA0A8"/>
                          </a:solidFill>
                        </a:rPr>
                        <a:t>Banque</a:t>
                      </a:r>
                    </a:p>
                  </a:txBody>
                  <a:tcPr marL="137160" anchor="ctr">
                    <a:solidFill>
                      <a:srgbClr val="2B2D30"/>
                    </a:solidFill>
                  </a:tcPr>
                </a:tc>
                <a:tc>
                  <a:txBody>
                    <a:bodyPr/>
                    <a:lstStyle/>
                    <a:p>
                      <a:pPr algn="ctr"/>
                      <a:r>
                        <a:rPr lang="fr-BE" sz="1800" b="1">
                          <a:solidFill>
                            <a:srgbClr val="9DA0A8"/>
                          </a:solidFill>
                          <a:latin typeface="Consolas"/>
                        </a:rPr>
                        <a:t>ligne[0]</a:t>
                      </a:r>
                    </a:p>
                  </a:txBody>
                  <a:tcPr marL="137160" anchor="ctr">
                    <a:solidFill>
                      <a:srgbClr val="2B2D30"/>
                    </a:solidFill>
                  </a:tcPr>
                </a:tc>
                <a:tc>
                  <a:txBody>
                    <a:bodyPr/>
                    <a:lstStyle/>
                    <a:p>
                      <a:pPr algn="ctr"/>
                      <a:r>
                        <a:rPr lang="fr-BE" sz="1800" b="1">
                          <a:solidFill>
                            <a:srgbClr val="9DA0A8"/>
                          </a:solidFill>
                          <a:latin typeface="Consolas"/>
                        </a:rPr>
                        <a:t>ligne[1]</a:t>
                      </a:r>
                    </a:p>
                  </a:txBody>
                  <a:tcPr marL="137160" anchor="ctr">
                    <a:solidFill>
                      <a:srgbClr val="2B2D30"/>
                    </a:solidFill>
                  </a:tcPr>
                </a:tc>
                <a:tc>
                  <a:txBody>
                    <a:bodyPr/>
                    <a:lstStyle/>
                    <a:p>
                      <a:pPr algn="ctr"/>
                      <a:r>
                        <a:rPr lang="fr-BE" sz="1800" b="1">
                          <a:solidFill>
                            <a:srgbClr val="9DA0A8"/>
                          </a:solidFill>
                          <a:latin typeface="Consolas"/>
                        </a:rPr>
                        <a:t>ligne[2]</a:t>
                      </a:r>
                    </a:p>
                  </a:txBody>
                  <a:tcPr marL="137160" anchor="ctr">
                    <a:solidFill>
                      <a:srgbClr val="2B2D30"/>
                    </a:solidFill>
                  </a:tcPr>
                </a:tc>
                <a:extLst>
                  <a:ext uri="{0D108BD9-81ED-4DB2-BD59-A6C34878D82A}">
                    <a16:rowId xmlns:a16="http://schemas.microsoft.com/office/drawing/2014/main" val="10000"/>
                  </a:ext>
                </a:extLst>
              </a:tr>
              <a:tr h="457200">
                <a:tc>
                  <a:txBody>
                    <a:bodyPr/>
                    <a:lstStyle/>
                    <a:p>
                      <a:pPr algn="l"/>
                      <a:r>
                        <a:rPr lang="fr-BE" sz="2000" b="1">
                          <a:solidFill>
                            <a:srgbClr val="E8E8E8"/>
                          </a:solidFill>
                        </a:rPr>
                        <a:t>Fric en Vrac</a:t>
                      </a:r>
                    </a:p>
                  </a:txBody>
                  <a:tcPr marL="137160" anchor="ctr">
                    <a:solidFill>
                      <a:srgbClr val="1D1F22"/>
                    </a:solidFill>
                  </a:tcPr>
                </a:tc>
                <a:tc>
                  <a:txBody>
                    <a:bodyPr/>
                    <a:lstStyle/>
                    <a:p>
                      <a:pPr algn="ctr"/>
                      <a:r>
                        <a:rPr lang="fr-BE" sz="2000">
                          <a:solidFill>
                            <a:srgbClr val="FFC000"/>
                          </a:solidFill>
                          <a:latin typeface="Consolas"/>
                        </a:rPr>
                        <a:t>compte</a:t>
                      </a:r>
                    </a:p>
                  </a:txBody>
                  <a:tcPr marL="137160" anchor="ctr">
                    <a:solidFill>
                      <a:srgbClr val="1D1F22"/>
                    </a:solidFill>
                  </a:tcPr>
                </a:tc>
                <a:tc>
                  <a:txBody>
                    <a:bodyPr/>
                    <a:lstStyle/>
                    <a:p>
                      <a:pPr algn="ctr"/>
                      <a:r>
                        <a:rPr lang="fr-BE" sz="2000">
                          <a:solidFill>
                            <a:srgbClr val="56A8F5"/>
                          </a:solidFill>
                          <a:latin typeface="Consolas"/>
                        </a:rPr>
                        <a:t>montant</a:t>
                      </a:r>
                    </a:p>
                  </a:txBody>
                  <a:tcPr marL="137160" anchor="ctr">
                    <a:solidFill>
                      <a:srgbClr val="1D1F22"/>
                    </a:solidFill>
                  </a:tcPr>
                </a:tc>
                <a:tc>
                  <a:txBody>
                    <a:bodyPr/>
                    <a:lstStyle/>
                    <a:p>
                      <a:pPr algn="ctr"/>
                      <a:r>
                        <a:rPr lang="fr-BE" sz="2000">
                          <a:solidFill>
                            <a:srgbClr val="6AAB73"/>
                          </a:solidFill>
                          <a:latin typeface="Consolas"/>
                        </a:rPr>
                        <a:t>communication</a:t>
                      </a:r>
                    </a:p>
                  </a:txBody>
                  <a:tcPr marL="137160" anchor="ctr">
                    <a:solidFill>
                      <a:srgbClr val="1D1F22"/>
                    </a:solidFill>
                  </a:tcPr>
                </a:tc>
                <a:extLst>
                  <a:ext uri="{0D108BD9-81ED-4DB2-BD59-A6C34878D82A}">
                    <a16:rowId xmlns:a16="http://schemas.microsoft.com/office/drawing/2014/main" val="10001"/>
                  </a:ext>
                </a:extLst>
              </a:tr>
              <a:tr h="457200">
                <a:tc>
                  <a:txBody>
                    <a:bodyPr/>
                    <a:lstStyle/>
                    <a:p>
                      <a:pPr algn="l"/>
                      <a:r>
                        <a:rPr lang="fr-BE" sz="2000" b="1">
                          <a:solidFill>
                            <a:srgbClr val="E8E8E8"/>
                          </a:solidFill>
                        </a:rPr>
                        <a:t>Banquier Pépère</a:t>
                      </a:r>
                    </a:p>
                  </a:txBody>
                  <a:tcPr marL="137160" anchor="ctr">
                    <a:solidFill>
                      <a:srgbClr val="1D1F22"/>
                    </a:solidFill>
                  </a:tcPr>
                </a:tc>
                <a:tc>
                  <a:txBody>
                    <a:bodyPr/>
                    <a:lstStyle/>
                    <a:p>
                      <a:pPr algn="ctr"/>
                      <a:r>
                        <a:rPr lang="fr-BE" sz="2000">
                          <a:solidFill>
                            <a:srgbClr val="6AAB73"/>
                          </a:solidFill>
                          <a:latin typeface="Consolas"/>
                        </a:rPr>
                        <a:t>communication</a:t>
                      </a:r>
                    </a:p>
                  </a:txBody>
                  <a:tcPr marL="137160" anchor="ctr">
                    <a:solidFill>
                      <a:srgbClr val="1D1F22"/>
                    </a:solidFill>
                  </a:tcPr>
                </a:tc>
                <a:tc>
                  <a:txBody>
                    <a:bodyPr/>
                    <a:lstStyle/>
                    <a:p>
                      <a:pPr algn="ctr"/>
                      <a:r>
                        <a:rPr lang="fr-BE" sz="2000">
                          <a:solidFill>
                            <a:srgbClr val="FFC000"/>
                          </a:solidFill>
                          <a:latin typeface="Consolas"/>
                        </a:rPr>
                        <a:t>compte</a:t>
                      </a:r>
                    </a:p>
                  </a:txBody>
                  <a:tcPr marL="137160" anchor="ctr">
                    <a:solidFill>
                      <a:srgbClr val="1D1F22"/>
                    </a:solidFill>
                  </a:tcPr>
                </a:tc>
                <a:tc>
                  <a:txBody>
                    <a:bodyPr/>
                    <a:lstStyle/>
                    <a:p>
                      <a:pPr algn="ctr"/>
                      <a:r>
                        <a:rPr lang="fr-BE" sz="2000">
                          <a:solidFill>
                            <a:srgbClr val="56A8F5"/>
                          </a:solidFill>
                          <a:latin typeface="Consolas"/>
                        </a:rPr>
                        <a:t>montant</a:t>
                      </a:r>
                    </a:p>
                  </a:txBody>
                  <a:tcPr marL="137160" anchor="ctr">
                    <a:solidFill>
                      <a:srgbClr val="1D1F22"/>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Pourquoi </a:t>
            </a:r>
            <a:r>
              <a:rPr sz="3400">
                <a:solidFill>
                  <a:schemeClr val="accent4"/>
                </a:solidFill>
                <a:latin typeface="Consolas"/>
              </a:rPr>
              <a:t>protected</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Une méthode que seule la classe mère appelle n'a pas à être </a:t>
            </a:r>
            <a:r>
              <a:rPr sz="2400">
                <a:solidFill>
                  <a:schemeClr val="accent4"/>
                </a:solidFill>
                <a:latin typeface="Consolas"/>
              </a:rPr>
              <a:t>public</a:t>
            </a:r>
          </a:p>
          <a:p>
            <a:pPr marL="0" indent="0">
              <a:spcAft>
                <a:spcPts val="1000"/>
              </a:spcAft>
              <a:buNone/>
            </a:pPr>
            <a:r>
              <a:rPr sz="2800"/>
              <a:t>Le modificateur </a:t>
            </a:r>
            <a:r>
              <a:rPr sz="2400">
                <a:solidFill>
                  <a:schemeClr val="accent4"/>
                </a:solidFill>
                <a:latin typeface="Consolas"/>
              </a:rPr>
              <a:t>protected</a:t>
            </a:r>
            <a:r>
              <a:rPr sz="2800"/>
              <a:t> l'ouvre aux sous-classes, et la ferme au reste</a:t>
            </a:r>
          </a:p>
          <a:p>
            <a:pPr marL="0" indent="0">
              <a:spcAft>
                <a:spcPts val="1000"/>
              </a:spcAft>
              <a:buNone/>
            </a:pPr>
            <a:r>
              <a:rPr sz="2800"/>
              <a:t>Une méthode abstraite </a:t>
            </a:r>
            <a:r>
              <a:rPr sz="2400">
                <a:solidFill>
                  <a:schemeClr val="accent4"/>
                </a:solidFill>
                <a:latin typeface="Consolas"/>
              </a:rPr>
              <a:t>protected</a:t>
            </a:r>
            <a:r>
              <a:rPr sz="2800"/>
              <a:t> reste redéfinissable par les sous-classes</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mesure de la réussite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La nouvelle classe devrait faire une vingtaine de lignes, dont trois méthodes de deux lignes</a:t>
            </a:r>
          </a:p>
          <a:p>
            <a:pPr marL="0" indent="0">
              <a:spcAft>
                <a:spcPts val="1000"/>
              </a:spcAft>
              <a:buNone/>
            </a:pPr>
            <a:r>
              <a:rPr sz="2800"/>
              <a:t>Si elle est plus longue, c'est que quelque chose a été recopié de la mère</a:t>
            </a:r>
          </a:p>
          <a:p>
            <a:pPr marL="0" indent="0">
              <a:spcAft>
                <a:spcPts val="1000"/>
              </a:spcAft>
              <a:buNone/>
            </a:pPr>
            <a:r>
              <a:rPr sz="2800"/>
              <a:t>Et le programme ne contient ni </a:t>
            </a:r>
            <a:r>
              <a:rPr sz="2400">
                <a:solidFill>
                  <a:schemeClr val="accent4"/>
                </a:solidFill>
                <a:latin typeface="Consolas"/>
              </a:rPr>
              <a:t>instanceof</a:t>
            </a:r>
            <a:r>
              <a:rPr sz="2800"/>
              <a:t>, ni condition sur la banque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Deux banques, un seul traitement</a:t>
            </a:r>
          </a:p>
          <a:p>
            <a:r>
              <a:rPr sz="1400">
                <a:solidFill>
                  <a:srgbClr val="BCBEC4"/>
                </a:solidFill>
              </a:rPr>
              <a:t>fascicule ABS</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6. La mère appelle la fille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isometric view, on a dark circuit board. Three floating platforms of light are stacked vertically, connected by glowing beams. On the top platform: a faint, ghostly, transparent wireframe outline of a generic vehicle, made only of thin glowing lines, with many empty glowing sockets where parts are missing. On the middle platform: the same vehicle outline, now half-solid and semi-transparent, with wings filled in as solid glowing parts, but a few sockets still empty, especially the engine. On the bottom platform: a fully solid, complete, luminous flying drone, all sockets filled, bright and real. The same base silhouette is clearly recognizable on all three levels. A sense of progressive materialization from top to bottom. Glowing particles, cinematic lighting, photorealistic, no text.">
            <a:extLst>
              <a:ext uri="{FF2B5EF4-FFF2-40B4-BE49-F238E27FC236}">
                <a16:creationId xmlns:a16="http://schemas.microsoft.com/office/drawing/2014/main" id="{51AEABB8-4A4F-9F02-561B-870B390F8D16}"/>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1" y="1"/>
            <a:ext cx="12231975" cy="6955432"/>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5344500"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7. Deux étages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39</a:t>
            </a:fld>
            <a:endParaRPr lang="fr-F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classe abstraite peut en étendre une autre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Rien n'interdit deux niveaux d'abstraction</a:t>
            </a:r>
          </a:p>
          <a:p>
            <a:pPr marL="0" indent="0">
              <a:spcAft>
                <a:spcPts val="1000"/>
              </a:spcAft>
              <a:buNone/>
            </a:pPr>
            <a:r>
              <a:rPr sz="2800"/>
              <a:t>Chaque étage contient ce qui est commun en dessous</a:t>
            </a:r>
          </a:p>
          <a:p>
            <a:pPr marL="0" indent="0">
              <a:spcAft>
                <a:spcPts val="1000"/>
              </a:spcAft>
              <a:buNone/>
            </a:pPr>
            <a:r>
              <a:rPr sz="2800"/>
              <a:t>Seules les feuilles de l'arbre sont concrètes</a:t>
            </a:r>
          </a:p>
        </p:txBody>
      </p:sp>
      <p:sp>
        <p:nvSpPr>
          <p:cNvPr id="4" name="Code"/>
          <p:cNvSpPr txBox="1"/>
          <p:nvPr/>
        </p:nvSpPr>
        <p:spPr>
          <a:xfrm>
            <a:off x="2876021" y="3307080"/>
            <a:ext cx="6439957"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BCBEC4"/>
                </a:solidFill>
                <a:latin typeface="Consolas"/>
              </a:rPr>
              <a:t>Facturable          </a:t>
            </a:r>
            <a:r>
              <a:rPr sz="1550">
                <a:solidFill>
                  <a:srgbClr val="CF8E6D"/>
                </a:solidFill>
                <a:latin typeface="Consolas"/>
              </a:rPr>
              <a:t>interface</a:t>
            </a:r>
            <a:r>
              <a:rPr sz="1550">
                <a:solidFill>
                  <a:srgbClr val="BCBEC4"/>
                </a:solidFill>
                <a:latin typeface="Consolas"/>
              </a:rPr>
              <a:t> : </a:t>
            </a:r>
            <a:r>
              <a:rPr sz="1550">
                <a:solidFill>
                  <a:srgbClr val="CF8E6D"/>
                </a:solidFill>
                <a:latin typeface="Consolas"/>
              </a:rPr>
              <a:t>double</a:t>
            </a:r>
            <a:r>
              <a:rPr sz="1550">
                <a:solidFill>
                  <a:srgbClr val="BCBEC4"/>
                </a:solidFill>
                <a:latin typeface="Consolas"/>
              </a:rPr>
              <a:t> </a:t>
            </a:r>
            <a:r>
              <a:rPr sz="1550">
                <a:solidFill>
                  <a:srgbClr val="56A8F5"/>
                </a:solidFill>
                <a:latin typeface="Consolas"/>
              </a:rPr>
              <a:t>montant</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Prestation     abstraite : client, </a:t>
            </a:r>
            <a:r>
              <a:rPr sz="1550">
                <a:solidFill>
                  <a:srgbClr val="56A8F5"/>
                </a:solidFill>
                <a:latin typeface="Consolas"/>
              </a:rPr>
              <a:t>facture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Forfait    abstraite : prixForfait</a:t>
            </a:r>
          </a:p>
          <a:p>
            <a:pPr>
              <a:lnSpc>
                <a:spcPct val="100000"/>
              </a:lnSpc>
              <a:spcBef>
                <a:spcPts val="0"/>
              </a:spcBef>
              <a:spcAft>
                <a:spcPts val="0"/>
              </a:spcAft>
            </a:pPr>
            <a:r>
              <a:rPr sz="1550">
                <a:solidFill>
                  <a:srgbClr val="BCBEC4"/>
                </a:solidFill>
                <a:latin typeface="Consolas"/>
              </a:rPr>
              <a:t>      |   +- Abonnement</a:t>
            </a:r>
          </a:p>
          <a:p>
            <a:pPr>
              <a:lnSpc>
                <a:spcPct val="100000"/>
              </a:lnSpc>
              <a:spcBef>
                <a:spcPts val="0"/>
              </a:spcBef>
              <a:spcAft>
                <a:spcPts val="0"/>
              </a:spcAft>
            </a:pPr>
            <a:r>
              <a:rPr sz="1550">
                <a:solidFill>
                  <a:srgbClr val="BCBEC4"/>
                </a:solidFill>
                <a:latin typeface="Consolas"/>
              </a:rPr>
              <a:t>      |   +- Installation</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 Horaire    abstraite : tauxHoraire, heures</a:t>
            </a:r>
          </a:p>
          <a:p>
            <a:pPr>
              <a:lnSpc>
                <a:spcPct val="100000"/>
              </a:lnSpc>
              <a:spcBef>
                <a:spcPts val="0"/>
              </a:spcBef>
              <a:spcAft>
                <a:spcPts val="0"/>
              </a:spcAft>
            </a:pPr>
            <a:r>
              <a:rPr sz="1550">
                <a:solidFill>
                  <a:srgbClr val="BCBEC4"/>
                </a:solidFill>
                <a:latin typeface="Consolas"/>
              </a:rPr>
              <a:t>          +- Depannage</a:t>
            </a:r>
          </a:p>
          <a:p>
            <a:pPr>
              <a:lnSpc>
                <a:spcPct val="100000"/>
              </a:lnSpc>
              <a:spcBef>
                <a:spcPts val="0"/>
              </a:spcBef>
              <a:spcAft>
                <a:spcPts val="0"/>
              </a:spcAft>
            </a:pPr>
            <a:r>
              <a:rPr sz="1550">
                <a:solidFill>
                  <a:srgbClr val="BCBEC4"/>
                </a:solidFill>
                <a:latin typeface="Consolas"/>
              </a:rPr>
              <a:t>          +- Urgence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40</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placer chaque champ</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champ se déclare à l'étage où il devient commun</a:t>
            </a:r>
          </a:p>
          <a:p>
            <a:pPr marL="0" indent="0">
              <a:spcAft>
                <a:spcPts val="1000"/>
              </a:spcAft>
              <a:buNone/>
            </a:pPr>
            <a:r>
              <a:rPr sz="2800"/>
              <a:t>Trop haut, il encombre qui n'en a pas l'usage</a:t>
            </a:r>
          </a:p>
          <a:p>
            <a:pPr marL="0" indent="0">
              <a:spcAft>
                <a:spcPts val="1000"/>
              </a:spcAft>
              <a:buNone/>
            </a:pPr>
            <a:r>
              <a:rPr sz="2800"/>
              <a:t>Trop bas, il s'écrit deux fois</a:t>
            </a:r>
          </a:p>
        </p:txBody>
      </p:sp>
      <p:sp>
        <p:nvSpPr>
          <p:cNvPr id="4" name="Code"/>
          <p:cNvSpPr txBox="1"/>
          <p:nvPr/>
        </p:nvSpPr>
        <p:spPr>
          <a:xfrm>
            <a:off x="2451100" y="3307080"/>
            <a:ext cx="72898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Horaire </a:t>
            </a:r>
            <a:r>
              <a:rPr sz="1800">
                <a:solidFill>
                  <a:srgbClr val="CF8E6D"/>
                </a:solidFill>
                <a:latin typeface="Consolas"/>
              </a:rPr>
              <a:t>extends</a:t>
            </a:r>
            <a:r>
              <a:rPr sz="1800">
                <a:solidFill>
                  <a:srgbClr val="BCBEC4"/>
                </a:solidFill>
                <a:latin typeface="Consolas"/>
              </a:rPr>
              <a:t> Prestation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tauxHoraire;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heures;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a:t>
            </a:r>
            <a:r>
              <a:rPr sz="1800">
                <a:solidFill>
                  <a:srgbClr val="56A8F5"/>
                </a:solidFill>
                <a:latin typeface="Consolas"/>
              </a:rPr>
              <a:t>base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heures * tauxHoraire;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41</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Implémenter sans définir</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Une classe abstraite peut implémenter une interface sans écrire ses méthodes</a:t>
            </a:r>
          </a:p>
          <a:p>
            <a:pPr marL="0" indent="0">
              <a:spcAft>
                <a:spcPts val="1000"/>
              </a:spcAft>
              <a:buNone/>
            </a:pPr>
            <a:r>
              <a:rPr sz="2600"/>
              <a:t>La promesse est reportée sur les sous-classes concrètes</a:t>
            </a:r>
          </a:p>
          <a:p>
            <a:pPr marL="0" indent="0">
              <a:spcAft>
                <a:spcPts val="1000"/>
              </a:spcAft>
              <a:buNone/>
            </a:pPr>
            <a:r>
              <a:rPr sz="2600"/>
              <a:t>La méthode </a:t>
            </a:r>
            <a:r>
              <a:rPr sz="2200">
                <a:solidFill>
                  <a:schemeClr val="accent4"/>
                </a:solidFill>
                <a:latin typeface="Consolas"/>
              </a:rPr>
              <a:t>facture</a:t>
            </a:r>
            <a:r>
              <a:rPr sz="2600"/>
              <a:t> appelle </a:t>
            </a:r>
            <a:r>
              <a:rPr sz="2200">
                <a:solidFill>
                  <a:schemeClr val="accent4"/>
                </a:solidFill>
                <a:latin typeface="Consolas"/>
              </a:rPr>
              <a:t>montant</a:t>
            </a:r>
            <a:r>
              <a:rPr sz="2600"/>
              <a:t>, qui n'existe encore nulle part</a:t>
            </a:r>
          </a:p>
        </p:txBody>
      </p:sp>
      <p:sp>
        <p:nvSpPr>
          <p:cNvPr id="4" name="Code"/>
          <p:cNvSpPr txBox="1"/>
          <p:nvPr/>
        </p:nvSpPr>
        <p:spPr>
          <a:xfrm>
            <a:off x="2032000" y="4008119"/>
            <a:ext cx="8128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Prestation </a:t>
            </a:r>
            <a:r>
              <a:rPr sz="1800">
                <a:solidFill>
                  <a:srgbClr val="CF8E6D"/>
                </a:solidFill>
                <a:latin typeface="Consolas"/>
              </a:rPr>
              <a:t>implements</a:t>
            </a:r>
            <a:r>
              <a:rPr sz="1800">
                <a:solidFill>
                  <a:srgbClr val="BCBEC4"/>
                </a:solidFill>
                <a:latin typeface="Consolas"/>
              </a:rPr>
              <a:t> Facturable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String </a:t>
            </a:r>
            <a:r>
              <a:rPr sz="1800">
                <a:solidFill>
                  <a:srgbClr val="56A8F5"/>
                </a:solidFill>
                <a:latin typeface="Consolas"/>
              </a:rPr>
              <a:t>facture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client + </a:t>
            </a:r>
            <a:r>
              <a:rPr sz="1800">
                <a:solidFill>
                  <a:srgbClr val="6AAB73"/>
                </a:solidFill>
                <a:latin typeface="Consolas"/>
              </a:rPr>
              <a:t>" : "</a:t>
            </a:r>
            <a:r>
              <a:rPr sz="1800">
                <a:solidFill>
                  <a:srgbClr val="BCBEC4"/>
                </a:solidFill>
                <a:latin typeface="Consolas"/>
              </a:rPr>
              <a:t> + </a:t>
            </a:r>
            <a:r>
              <a:rPr sz="1800">
                <a:solidFill>
                  <a:srgbClr val="56A8F5"/>
                </a:solidFill>
                <a:latin typeface="Consolas"/>
              </a:rPr>
              <a:t>montant</a:t>
            </a:r>
            <a:r>
              <a:rPr sz="1800">
                <a:solidFill>
                  <a:srgbClr val="BCBEC4"/>
                </a:solidFill>
                <a:latin typeface="Consolas"/>
              </a:rPr>
              <a:t>() + </a:t>
            </a:r>
            <a:r>
              <a:rPr sz="1800">
                <a:solidFill>
                  <a:srgbClr val="6AAB73"/>
                </a:solidFill>
                <a:latin typeface="Consolas"/>
              </a:rPr>
              <a:t>" EUR"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42</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hiérarchie à deux niveaux</a:t>
            </a:r>
          </a:p>
          <a:p>
            <a:r>
              <a:rPr sz="1400">
                <a:solidFill>
                  <a:srgbClr val="BCBEC4"/>
                </a:solidFill>
              </a:rPr>
              <a:t>fascicule ABS</a:t>
            </a:r>
          </a:p>
        </p:txBody>
      </p:sp>
      <p:sp>
        <p:nvSpPr>
          <p:cNvPr id="6" name="TextBox 5"/>
          <p:cNvSpPr txBox="1"/>
          <p:nvPr/>
        </p:nvSpPr>
        <p:spPr>
          <a:xfrm>
            <a:off x="640080" y="2651760"/>
            <a:ext cx="9326880" cy="822960"/>
          </a:xfrm>
          <a:prstGeom prst="rect">
            <a:avLst/>
          </a:prstGeom>
          <a:noFill/>
        </p:spPr>
        <p:txBody>
          <a:bodyPr wrap="square">
            <a:spAutoFit/>
          </a:bodyPr>
          <a:lstStyle/>
          <a:p>
            <a:r>
              <a:rPr sz="2400"/>
              <a:t>À faire après le module </a:t>
            </a:r>
            <a:r>
              <a:rPr sz="2400">
                <a:solidFill>
                  <a:schemeClr val="accent4"/>
                </a:solidFill>
                <a:latin typeface="Consolas"/>
              </a:rPr>
              <a:t>ITF</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43</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7. Deux étages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A futuristic digital illustration in deep blue tones, isometric view, on a dark circuit board. An anonymous silhouette made of soft blue light stands at a glowing crossroads where several luminous paths branch out in different directions. At the end of each path floats a different holographic structure: a tall glass tower with floors, a stack of three platforms with a ghostly wireframe on top, a single solid glowing machine, and a cluster of separate small blocks. Each path glows faintly, none is highlighted, suggesting that no option is obviously right. The silhouette looks thoughtful, one hand slightly raised. Glowing particles, cinematic lighting, depth of field, photorealistic, no text.">
            <a:extLst>
              <a:ext uri="{FF2B5EF4-FFF2-40B4-BE49-F238E27FC236}">
                <a16:creationId xmlns:a16="http://schemas.microsoft.com/office/drawing/2014/main" id="{2C37AC27-2CF4-F3F1-3E06-0633E013F7DE}"/>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433857"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8. Décider soi-même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461DFEF1-FAFC-ECE7-F556-CD1C796960AF}"/>
              </a:ext>
            </a:extLst>
          </p:cNvPr>
          <p:cNvSpPr>
            <a:spLocks noGrp="1"/>
          </p:cNvSpPr>
          <p:nvPr>
            <p:ph type="sldNum" sz="quarter" idx="4"/>
          </p:nvPr>
        </p:nvSpPr>
        <p:spPr/>
        <p:txBody>
          <a:bodyPr/>
          <a:lstStyle/>
          <a:p>
            <a:fld id="{33C783E2-4793-4F48-A271-51A73CC37D74}" type="slidenum">
              <a:rPr lang="fr-FR" smtClean="0"/>
              <a:t>44</a:t>
            </a:fld>
            <a:endParaRPr lang="fr-F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Quand il n'y a plus de squelette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err="1"/>
              <a:t>L'énoncé</a:t>
            </a:r>
            <a:r>
              <a:rPr sz="2800" dirty="0"/>
              <a:t> </a:t>
            </a:r>
            <a:r>
              <a:rPr sz="2800" dirty="0" err="1"/>
              <a:t>décrit</a:t>
            </a:r>
            <a:r>
              <a:rPr sz="2800" dirty="0"/>
              <a:t> </a:t>
            </a:r>
            <a:r>
              <a:rPr sz="2800" dirty="0" err="1"/>
              <a:t>ce</a:t>
            </a:r>
            <a:r>
              <a:rPr sz="2800" dirty="0"/>
              <a:t> </a:t>
            </a:r>
            <a:r>
              <a:rPr sz="2800" dirty="0" err="1"/>
              <a:t>que</a:t>
            </a:r>
            <a:r>
              <a:rPr sz="2800" dirty="0"/>
              <a:t> le </a:t>
            </a:r>
            <a:r>
              <a:rPr sz="2800" dirty="0" err="1"/>
              <a:t>programme</a:t>
            </a:r>
            <a:r>
              <a:rPr sz="2800" dirty="0"/>
              <a:t> doit faire, et </a:t>
            </a:r>
            <a:r>
              <a:rPr sz="2800" dirty="0" err="1"/>
              <a:t>s'arrête</a:t>
            </a:r>
            <a:r>
              <a:rPr sz="2800" dirty="0"/>
              <a:t> </a:t>
            </a:r>
            <a:r>
              <a:rPr sz="2800" dirty="0" err="1"/>
              <a:t>là</a:t>
            </a:r>
            <a:endParaRPr sz="2800" dirty="0"/>
          </a:p>
          <a:p>
            <a:pPr marL="0" indent="0">
              <a:spcAft>
                <a:spcPts val="1000"/>
              </a:spcAft>
              <a:buNone/>
            </a:pPr>
            <a:r>
              <a:rPr sz="2800" dirty="0" err="1"/>
              <a:t>Combien</a:t>
            </a:r>
            <a:r>
              <a:rPr sz="2800" dirty="0"/>
              <a:t> de classes, </a:t>
            </a:r>
            <a:r>
              <a:rPr sz="2800" dirty="0" err="1"/>
              <a:t>laquelle</a:t>
            </a:r>
            <a:r>
              <a:rPr sz="2800" dirty="0"/>
              <a:t> est </a:t>
            </a:r>
            <a:r>
              <a:rPr sz="2800" dirty="0" err="1"/>
              <a:t>abstraite</a:t>
            </a:r>
            <a:r>
              <a:rPr sz="2800" dirty="0"/>
              <a:t>, </a:t>
            </a:r>
            <a:r>
              <a:rPr sz="2800" dirty="0" err="1"/>
              <a:t>où</a:t>
            </a:r>
            <a:r>
              <a:rPr sz="2800" dirty="0"/>
              <a:t> </a:t>
            </a:r>
            <a:r>
              <a:rPr sz="2800" dirty="0" err="1"/>
              <a:t>va</a:t>
            </a:r>
            <a:r>
              <a:rPr sz="2800" dirty="0"/>
              <a:t> </a:t>
            </a:r>
            <a:r>
              <a:rPr sz="2800" dirty="0" err="1"/>
              <a:t>chaque</a:t>
            </a:r>
            <a:r>
              <a:rPr sz="2800" dirty="0"/>
              <a:t> </a:t>
            </a:r>
            <a:r>
              <a:rPr sz="2800" dirty="0" err="1"/>
              <a:t>méthode</a:t>
            </a:r>
            <a:r>
              <a:rPr sz="2800" dirty="0"/>
              <a:t> : à vous de savoir</a:t>
            </a:r>
          </a:p>
          <a:p>
            <a:pPr marL="0" indent="0">
              <a:spcAft>
                <a:spcPts val="1000"/>
              </a:spcAft>
              <a:buNone/>
            </a:pPr>
            <a:r>
              <a:rPr sz="2800" dirty="0"/>
              <a:t>Les trois questions à se poser avant </a:t>
            </a:r>
            <a:r>
              <a:rPr sz="2800" dirty="0" err="1"/>
              <a:t>d'écrire</a:t>
            </a:r>
            <a:r>
              <a:rPr sz="2800" dirty="0"/>
              <a:t> </a:t>
            </a:r>
            <a:r>
              <a:rPr sz="2800" dirty="0" err="1"/>
              <a:t>une</a:t>
            </a:r>
            <a:r>
              <a:rPr sz="2800" dirty="0"/>
              <a:t> </a:t>
            </a:r>
            <a:r>
              <a:rPr sz="2800" dirty="0" err="1"/>
              <a:t>ligne</a:t>
            </a:r>
            <a:endParaRPr sz="2800" dirty="0"/>
          </a:p>
          <a:p>
            <a:pPr lvl="1">
              <a:spcAft>
                <a:spcPts val="1000"/>
              </a:spcAft>
            </a:pPr>
            <a:r>
              <a:rPr dirty="0" err="1"/>
              <a:t>Qu'est-ce</a:t>
            </a:r>
            <a:r>
              <a:rPr dirty="0"/>
              <a:t> </a:t>
            </a:r>
            <a:r>
              <a:rPr dirty="0" err="1"/>
              <a:t>que</a:t>
            </a:r>
            <a:r>
              <a:rPr dirty="0"/>
              <a:t> les classes </a:t>
            </a:r>
            <a:r>
              <a:rPr dirty="0" err="1"/>
              <a:t>ont</a:t>
            </a:r>
            <a:r>
              <a:rPr dirty="0"/>
              <a:t> </a:t>
            </a:r>
            <a:r>
              <a:rPr dirty="0" err="1"/>
              <a:t>en</a:t>
            </a:r>
            <a:r>
              <a:rPr dirty="0"/>
              <a:t> </a:t>
            </a:r>
            <a:r>
              <a:rPr dirty="0" err="1"/>
              <a:t>commun</a:t>
            </a:r>
            <a:r>
              <a:rPr dirty="0"/>
              <a:t> ?</a:t>
            </a:r>
          </a:p>
          <a:p>
            <a:pPr lvl="1">
              <a:spcAft>
                <a:spcPts val="1000"/>
              </a:spcAft>
            </a:pPr>
            <a:r>
              <a:rPr dirty="0"/>
              <a:t>Ce qui est </a:t>
            </a:r>
            <a:r>
              <a:rPr dirty="0" err="1"/>
              <a:t>commun</a:t>
            </a:r>
            <a:r>
              <a:rPr dirty="0"/>
              <a:t> monte, et ne </a:t>
            </a:r>
            <a:r>
              <a:rPr dirty="0" err="1"/>
              <a:t>s'écrit</a:t>
            </a:r>
            <a:r>
              <a:rPr dirty="0"/>
              <a:t> </a:t>
            </a:r>
            <a:r>
              <a:rPr dirty="0" err="1"/>
              <a:t>qu'une</a:t>
            </a:r>
            <a:r>
              <a:rPr dirty="0"/>
              <a:t> </a:t>
            </a:r>
            <a:r>
              <a:rPr dirty="0" err="1"/>
              <a:t>fois</a:t>
            </a:r>
            <a:endParaRPr dirty="0"/>
          </a:p>
          <a:p>
            <a:pPr lvl="1">
              <a:spcAft>
                <a:spcPts val="1000"/>
              </a:spcAft>
            </a:pPr>
            <a:r>
              <a:rPr dirty="0" err="1"/>
              <a:t>Que</a:t>
            </a:r>
            <a:r>
              <a:rPr dirty="0"/>
              <a:t> </a:t>
            </a:r>
            <a:r>
              <a:rPr dirty="0" err="1"/>
              <a:t>sait</a:t>
            </a:r>
            <a:r>
              <a:rPr dirty="0"/>
              <a:t> faire la </a:t>
            </a:r>
            <a:r>
              <a:rPr dirty="0" err="1"/>
              <a:t>classe</a:t>
            </a:r>
            <a:r>
              <a:rPr dirty="0"/>
              <a:t> « </a:t>
            </a:r>
            <a:r>
              <a:rPr dirty="0" err="1"/>
              <a:t>en</a:t>
            </a:r>
            <a:r>
              <a:rPr dirty="0"/>
              <a:t> </a:t>
            </a:r>
            <a:r>
              <a:rPr dirty="0" err="1"/>
              <a:t>général</a:t>
            </a:r>
            <a:r>
              <a:rPr dirty="0"/>
              <a:t> » ?</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45</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8. Décider soi-même</a:t>
            </a:r>
          </a:p>
        </p:txBody>
      </p:sp>
      <p:sp>
        <p:nvSpPr>
          <p:cNvPr id="4" name="Flèche vers le haut 3">
            <a:extLst>
              <a:ext uri="{FF2B5EF4-FFF2-40B4-BE49-F238E27FC236}">
                <a16:creationId xmlns:a16="http://schemas.microsoft.com/office/drawing/2014/main" id="{1C2C2A03-D5EF-64B9-6655-19FE14025C31}"/>
              </a:ext>
            </a:extLst>
          </p:cNvPr>
          <p:cNvSpPr/>
          <p:nvPr/>
        </p:nvSpPr>
        <p:spPr>
          <a:xfrm>
            <a:off x="8527986" y="3692967"/>
            <a:ext cx="2600696" cy="593766"/>
          </a:xfrm>
          <a:prstGeom prst="up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COMMUN</a:t>
            </a:r>
          </a:p>
        </p:txBody>
      </p:sp>
      <p:sp>
        <p:nvSpPr>
          <p:cNvPr id="5" name="Flèche vers le bas 4">
            <a:extLst>
              <a:ext uri="{FF2B5EF4-FFF2-40B4-BE49-F238E27FC236}">
                <a16:creationId xmlns:a16="http://schemas.microsoft.com/office/drawing/2014/main" id="{A9268023-E646-2573-8D8C-EFC2F612B2B4}"/>
              </a:ext>
            </a:extLst>
          </p:cNvPr>
          <p:cNvSpPr/>
          <p:nvPr/>
        </p:nvSpPr>
        <p:spPr>
          <a:xfrm>
            <a:off x="8527986" y="4359272"/>
            <a:ext cx="2600696" cy="593766"/>
          </a:xfrm>
          <a:prstGeom prst="downArrow">
            <a:avLst/>
          </a:prstGeom>
          <a:solidFill>
            <a:srgbClr val="FFFF00"/>
          </a:solidFill>
          <a:effectLst>
            <a:glow rad="63500">
              <a:schemeClr val="accent4">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n w="0"/>
                <a:solidFill>
                  <a:sysClr val="windowText" lastClr="000000"/>
                </a:solidFill>
                <a:effectLst>
                  <a:outerShdw blurRad="38100" dist="19050" dir="2700000" algn="tl" rotWithShape="0">
                    <a:schemeClr val="dk1">
                      <a:alpha val="40000"/>
                    </a:schemeClr>
                  </a:outerShdw>
                </a:effectLst>
              </a:rPr>
              <a:t>DIFFERENT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9" name="TextBox 8"/>
          <p:cNvSpPr txBox="1"/>
          <p:nvPr/>
        </p:nvSpPr>
        <p:spPr>
          <a:xfrm>
            <a:off x="640080" y="3794759"/>
            <a:ext cx="9326880" cy="822960"/>
          </a:xfrm>
          <a:prstGeom prst="rect">
            <a:avLst/>
          </a:prstGeom>
          <a:noFill/>
        </p:spPr>
        <p:txBody>
          <a:bodyPr wrap="square">
            <a:spAutoFit/>
          </a:bodyPr>
          <a:lstStyle/>
          <a:p>
            <a:r>
              <a:rPr sz="2400"/>
              <a:t>Attention à la borne : « jusqu'à 50 g » inclut les 50 g…</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46</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ABS · </a:t>
            </a:r>
            <a:r>
              <a:rPr sz="1100" b="1">
                <a:solidFill>
                  <a:schemeClr val="accent4"/>
                </a:solidFill>
              </a:rPr>
              <a:t>8. Décider soi-même</a:t>
            </a:r>
          </a:p>
        </p:txBody>
      </p:sp>
      <p:grpSp>
        <p:nvGrpSpPr>
          <p:cNvPr id="13" name="Exercice 1"/>
          <p:cNvGrpSpPr/>
          <p:nvPr/>
        </p:nvGrpSpPr>
        <p:grpSpPr>
          <a:xfrm>
            <a:off x="640080" y="1257300"/>
            <a:ext cx="10972800" cy="1280160"/>
            <a:chOff x="640080" y="1257300"/>
            <a:chExt cx="10972800" cy="128016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ABS.5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Tout écrire, à partir de rien</a:t>
              </a:r>
            </a:p>
            <a:p>
              <a:r>
                <a:rPr sz="1400">
                  <a:solidFill>
                    <a:srgbClr val="BCBEC4"/>
                  </a:solidFill>
                </a:rPr>
                <a:t>fascicule ABS</a:t>
              </a:r>
            </a:p>
          </p:txBody>
        </p:sp>
        <p:pic>
          <p:nvPicPr>
            <p:cNvPr id="10" name="Picture 9"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1257300"/>
              <a:ext cx="1280160" cy="1280160"/>
            </a:xfrm>
            <a:prstGeom prst="rect">
              <a:avLst/>
            </a:prstGeom>
          </p:spPr>
        </p:pic>
      </p:grpSp>
      <p:grpSp>
        <p:nvGrpSpPr>
          <p:cNvPr id="14" name="Exercice 2"/>
          <p:cNvGrpSpPr/>
          <p:nvPr/>
        </p:nvGrpSpPr>
        <p:grpSpPr>
          <a:xfrm>
            <a:off x="640080" y="2432304"/>
            <a:ext cx="11055096" cy="1216152"/>
            <a:chOff x="640080" y="2432304"/>
            <a:chExt cx="11055096" cy="1216152"/>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G.10</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La classe abstraite </a:t>
              </a:r>
              <a:r>
                <a:rPr sz="2400">
                  <a:solidFill>
                    <a:srgbClr val="FFFFFF"/>
                  </a:solidFill>
                  <a:latin typeface="Consolas"/>
                </a:rPr>
                <a:t>Jeu</a:t>
              </a:r>
            </a:p>
            <a:p>
              <a:r>
                <a:rPr sz="1400">
                  <a:solidFill>
                    <a:srgbClr val="BCBEC4"/>
                  </a:solidFill>
                </a:rPr>
                <a:t>fil rouge GameHub</a:t>
              </a:r>
            </a:p>
          </p:txBody>
        </p:sp>
        <p:pic>
          <p:nvPicPr>
            <p:cNvPr id="20" name="iconGameHub" descr="gamehub.jpg"/>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420000">
              <a:off x="10479024" y="2432304"/>
              <a:ext cx="1216152" cy="1216152"/>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115885</TotalTime>
  <Words>7782</Words>
  <Application>Microsoft Macintosh PowerPoint</Application>
  <PresentationFormat>Grand écran</PresentationFormat>
  <Paragraphs>584</Paragraphs>
  <Slides>46</Slides>
  <Notes>46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46</vt:i4>
      </vt:variant>
    </vt:vector>
  </HeadingPairs>
  <TitlesOfParts>
    <vt:vector size="52" baseType="lpstr">
      <vt:lpstr>Aptos</vt:lpstr>
      <vt:lpstr>Arial</vt:lpstr>
      <vt:lpstr>Calibri</vt:lpstr>
      <vt:lpstr>Consolas</vt:lpstr>
      <vt:lpstr>Corbel</vt:lpstr>
      <vt:lpstr>ThemeEphec2022</vt:lpstr>
      <vt:lpstr>JAVA 2</vt:lpstr>
      <vt:lpstr>Au programme</vt:lpstr>
      <vt:lpstr>Présentation PowerPoint</vt:lpstr>
      <vt:lpstr>Une classe qui reprend une autre</vt:lpstr>
      <vt:lpstr>Appeler le constructeur de la classe mère</vt:lpstr>
      <vt:lpstr>Redéfinir une méthode</vt:lpstr>
      <vt:lpstr>Ce que la fille voit de la mère</vt:lpstr>
      <vt:lpstr>De C# à Java</vt:lpstr>
      <vt:lpstr>A une personne, ou est une personne ?</vt:lpstr>
      <vt:lpstr>Présentation PowerPoint</vt:lpstr>
      <vt:lpstr>Un exemple : prévenir un utilisateur</vt:lpstr>
      <vt:lpstr>Trois classes, un seul comportement</vt:lpstr>
      <vt:lpstr>Ce qu'on ne peut pas faire</vt:lpstr>
      <vt:lpstr>Démonstration</vt:lpstr>
      <vt:lpstr>Le geste, pas le code</vt:lpstr>
      <vt:lpstr>Présentation PowerPoint</vt:lpstr>
      <vt:lpstr>Une classe qu'on ne peut pas instancier</vt:lpstr>
      <vt:lpstr>À quoi sert un type qu'on ne construit pas</vt:lpstr>
      <vt:lpstr>Un constructeur, quand même</vt:lpstr>
      <vt:lpstr>Présentation PowerPoint</vt:lpstr>
      <vt:lpstr>La méthode abstraite</vt:lpstr>
      <vt:lpstr>La règle de partage</vt:lpstr>
      <vt:lpstr>L'obligation faite aux sous-classes</vt:lpstr>
      <vt:lpstr>@Override, aussi pour une méthode abstraite</vt:lpstr>
      <vt:lpstr>Petit détour : le reste d'une division négative</vt:lpstr>
      <vt:lpstr>Exercices</vt:lpstr>
      <vt:lpstr>Présentation PowerPoint</vt:lpstr>
      <vt:lpstr>Un tableau du type le plus général</vt:lpstr>
      <vt:lpstr>Qui répond à l'appel</vt:lpstr>
      <vt:lpstr>Ni instanceof, ni test de type</vt:lpstr>
      <vt:lpstr>Exercices</vt:lpstr>
      <vt:lpstr>Présentation PowerPoint</vt:lpstr>
      <vt:lpstr>De quoi il s'agit</vt:lpstr>
      <vt:lpstr>Le squelette, puis le détail</vt:lpstr>
      <vt:lpstr>Deux banques, un seul traitement</vt:lpstr>
      <vt:lpstr>Pourquoi protected</vt:lpstr>
      <vt:lpstr>La mesure de la réussite</vt:lpstr>
      <vt:lpstr>Exercices</vt:lpstr>
      <vt:lpstr>Présentation PowerPoint</vt:lpstr>
      <vt:lpstr>Une classe abstraite peut en étendre une autre</vt:lpstr>
      <vt:lpstr>Où placer chaque champ</vt:lpstr>
      <vt:lpstr>Implémenter sans définir</vt:lpstr>
      <vt:lpstr>Exercices</vt:lpstr>
      <vt:lpstr>Présentation PowerPoint</vt:lpstr>
      <vt:lpstr>Quand il n'y a plus de squelette</vt:lpstr>
      <vt:lpstr>Exercices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42</cp:revision>
  <dcterms:created xsi:type="dcterms:W3CDTF">2023-01-04T13:50:20Z</dcterms:created>
  <dcterms:modified xsi:type="dcterms:W3CDTF">2026-10-22T21:57:59Z</dcterms:modified>
</cp:coreProperties>
</file>