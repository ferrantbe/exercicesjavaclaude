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29"/>
  </p:notesMasterIdLst>
  <p:handoutMasterIdLst>
    <p:handoutMasterId r:id="rId30"/>
  </p:handoutMasterIdLst>
  <p:sldIdLst>
    <p:sldId id="568" r:id="rId2"/>
    <p:sldId id="592" r:id="rId3"/>
    <p:sldId id="569" r:id="rId4"/>
    <p:sldId id="570" r:id="rId5"/>
    <p:sldId id="571" r:id="rId6"/>
    <p:sldId id="572" r:id="rId7"/>
    <p:sldId id="573" r:id="rId8"/>
    <p:sldId id="594" r:id="rId9"/>
    <p:sldId id="574" r:id="rId10"/>
    <p:sldId id="575" r:id="rId11"/>
    <p:sldId id="576" r:id="rId12"/>
    <p:sldId id="577" r:id="rId13"/>
    <p:sldId id="578" r:id="rId14"/>
    <p:sldId id="579" r:id="rId15"/>
    <p:sldId id="580" r:id="rId16"/>
    <p:sldId id="581" r:id="rId17"/>
    <p:sldId id="582" r:id="rId18"/>
    <p:sldId id="583" r:id="rId19"/>
    <p:sldId id="584" r:id="rId20"/>
    <p:sldId id="585" r:id="rId21"/>
    <p:sldId id="586" r:id="rId22"/>
    <p:sldId id="595" r:id="rId23"/>
    <p:sldId id="587" r:id="rId24"/>
    <p:sldId id="588" r:id="rId25"/>
    <p:sldId id="589" r:id="rId26"/>
    <p:sldId id="590" r:id="rId27"/>
    <p:sldId id="591"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0B016359-6165-5D94-BF4C-1EA2F8C5BF82}">
          <p14:sldIdLst>
            <p14:sldId id="568"/>
            <p14:sldId id="592"/>
          </p14:sldIdLst>
        </p14:section>
        <p14:section name="1. Le mécanisme" id="{F59F1D31-2855-541B-A60F-E0E0DCCAFBC7}">
          <p14:sldIdLst>
            <p14:sldId id="569"/>
            <p14:sldId id="570"/>
            <p14:sldId id="571"/>
            <p14:sldId id="572"/>
            <p14:sldId id="573"/>
            <p14:sldId id="594"/>
          </p14:sldIdLst>
        </p14:section>
        <p14:section name="2. Lever et déclarer" id="{CADB66B9-5F17-56F7-8C5D-DC5F8A1FDD4D}">
          <p14:sldIdLst>
            <p14:sldId id="574"/>
            <p14:sldId id="575"/>
            <p14:sldId id="576"/>
            <p14:sldId id="577"/>
            <p14:sldId id="578"/>
          </p14:sldIdLst>
        </p14:section>
        <p14:section name="3. Attraper" id="{9265A1F0-F704-5BFD-98A7-4582689298B1}">
          <p14:sldIdLst>
            <p14:sldId id="579"/>
            <p14:sldId id="580"/>
            <p14:sldId id="581"/>
            <p14:sldId id="582"/>
            <p14:sldId id="583"/>
            <p14:sldId id="584"/>
          </p14:sldIdLst>
        </p14:section>
        <p14:section name="4. Les non contrôlées" id="{6EF1B8C9-2E80-5538-9D7D-FBBA2AFE23C7}">
          <p14:sldIdLst>
            <p14:sldId id="585"/>
            <p14:sldId id="586"/>
            <p14:sldId id="595"/>
            <p14:sldId id="587"/>
            <p14:sldId id="588"/>
            <p14:sldId id="589"/>
            <p14:sldId id="590"/>
            <p14:sldId id="59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176"/>
    <p:restoredTop sz="88219"/>
  </p:normalViewPr>
  <p:slideViewPr>
    <p:cSldViewPr snapToGrid="0">
      <p:cViewPr varScale="1">
        <p:scale>
          <a:sx n="111" d="100"/>
          <a:sy n="111" d="100"/>
        </p:scale>
        <p:origin x="1776" y="208"/>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22/10/2026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22/10/2026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Jusqu'ici, quand quelque chose tournait mal, le programme s'arrêtait sur un message rouge, ou continuait avec une valeur fausse. Ce module donne un moyen de dire ce qui ne va pas, à l'endroit où on le constate, et de le traiter à l'endroit où l'on peut y faire quelque chose.</a:t>
            </a:r>
          </a:p>
          <a:p>
            <a:r>
              <a:t>Ce sont deux gestes distincts, faits à deux endroits différents : lever et attraper. Presque tout ce qui suit découle de cette séparation.</a:t>
            </a:r>
          </a:p>
          <a:p>
            <a:r>
              <a:t>Le module compte six exercices. Il pèse aussi à l'examen : chaque session commence par une classe qui lève ses propres exceptions.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quatre sections : 1. Le mécanisme ; 2. Lever et déclarer ; 3. Attraper ; 4. Les non contrôlées.</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La </a:t>
            </a:r>
            <a:r>
              <a:rPr dirty="0" err="1"/>
              <a:t>démonstration</a:t>
            </a:r>
            <a:r>
              <a:rPr dirty="0"/>
              <a:t> part d'un panier </a:t>
            </a:r>
            <a:r>
              <a:rPr dirty="0" err="1"/>
              <a:t>dont</a:t>
            </a:r>
            <a:r>
              <a:rPr dirty="0"/>
              <a:t> on </a:t>
            </a:r>
            <a:r>
              <a:rPr dirty="0" err="1"/>
              <a:t>demande</a:t>
            </a:r>
            <a:r>
              <a:rPr dirty="0"/>
              <a:t> la </a:t>
            </a:r>
            <a:r>
              <a:rPr dirty="0" err="1"/>
              <a:t>moyenne</a:t>
            </a:r>
            <a:r>
              <a:rPr dirty="0"/>
              <a:t> </a:t>
            </a:r>
            <a:r>
              <a:rPr dirty="0" err="1"/>
              <a:t>alors</a:t>
            </a:r>
            <a:r>
              <a:rPr dirty="0"/>
              <a:t> </a:t>
            </a:r>
            <a:r>
              <a:rPr dirty="0" err="1"/>
              <a:t>qu'il</a:t>
            </a:r>
            <a:r>
              <a:rPr dirty="0"/>
              <a:t> est vide. Le premier </a:t>
            </a:r>
            <a:r>
              <a:rPr dirty="0" err="1"/>
              <a:t>essai</a:t>
            </a:r>
            <a:r>
              <a:rPr dirty="0"/>
              <a:t> ne </a:t>
            </a:r>
            <a:r>
              <a:rPr dirty="0" err="1"/>
              <a:t>plante</a:t>
            </a:r>
            <a:r>
              <a:rPr dirty="0"/>
              <a:t> pas du tout : il affiche </a:t>
            </a:r>
            <a:r>
              <a:rPr dirty="0" err="1"/>
              <a:t>une</a:t>
            </a:r>
            <a:r>
              <a:rPr dirty="0"/>
              <a:t> </a:t>
            </a:r>
            <a:r>
              <a:rPr dirty="0" err="1"/>
              <a:t>valeur</a:t>
            </a:r>
            <a:r>
              <a:rPr dirty="0"/>
              <a:t> </a:t>
            </a:r>
            <a:r>
              <a:rPr dirty="0" err="1"/>
              <a:t>absurde</a:t>
            </a:r>
            <a:r>
              <a:rPr dirty="0"/>
              <a:t>, sans rien signaler. Le second </a:t>
            </a:r>
            <a:r>
              <a:rPr dirty="0" err="1"/>
              <a:t>plante</a:t>
            </a:r>
            <a:r>
              <a:rPr dirty="0"/>
              <a:t>, et </a:t>
            </a:r>
            <a:r>
              <a:rPr dirty="0" err="1"/>
              <a:t>c'est</a:t>
            </a:r>
            <a:r>
              <a:rPr dirty="0"/>
              <a:t> un </a:t>
            </a:r>
            <a:r>
              <a:rPr dirty="0" err="1"/>
              <a:t>progrès</a:t>
            </a:r>
            <a:r>
              <a:rPr dirty="0"/>
              <a:t>. On lit </a:t>
            </a:r>
            <a:r>
              <a:rPr dirty="0" err="1"/>
              <a:t>alors</a:t>
            </a:r>
            <a:r>
              <a:rPr dirty="0"/>
              <a:t> la trace ensemble, dans le bon </a:t>
            </a:r>
            <a:r>
              <a:rPr dirty="0" err="1"/>
              <a:t>sens</a:t>
            </a:r>
            <a:r>
              <a:rPr dirty="0"/>
              <a:t>, </a:t>
            </a:r>
            <a:r>
              <a:rPr dirty="0" err="1"/>
              <a:t>puis</a:t>
            </a:r>
            <a:r>
              <a:rPr dirty="0"/>
              <a:t> on </a:t>
            </a:r>
            <a:r>
              <a:rPr dirty="0" err="1"/>
              <a:t>discute</a:t>
            </a:r>
            <a:r>
              <a:rPr dirty="0"/>
              <a:t> trois corrections avant </a:t>
            </a:r>
            <a:r>
              <a:rPr dirty="0" err="1"/>
              <a:t>d'en</a:t>
            </a:r>
            <a:r>
              <a:rPr dirty="0"/>
              <a:t> coder </a:t>
            </a:r>
            <a:r>
              <a:rPr dirty="0" err="1"/>
              <a:t>une</a:t>
            </a:r>
            <a:r>
              <a:rPr dirty="0"/>
              <a:t>.</a:t>
            </a:r>
          </a:p>
          <a:p>
            <a:r>
              <a:rPr dirty="0" err="1"/>
              <a:t>Retenez</a:t>
            </a:r>
            <a:r>
              <a:rPr dirty="0"/>
              <a:t> deux choses </a:t>
            </a:r>
            <a:r>
              <a:rPr dirty="0" err="1"/>
              <a:t>plutôt</a:t>
            </a:r>
            <a:r>
              <a:rPr dirty="0"/>
              <a:t> </a:t>
            </a:r>
            <a:r>
              <a:rPr dirty="0" err="1"/>
              <a:t>que</a:t>
            </a:r>
            <a:r>
              <a:rPr dirty="0"/>
              <a:t> la </a:t>
            </a:r>
            <a:r>
              <a:rPr dirty="0" err="1"/>
              <a:t>syntaxe</a:t>
            </a:r>
            <a:r>
              <a:rPr dirty="0"/>
              <a:t>. Un </a:t>
            </a:r>
            <a:r>
              <a:rPr dirty="0" err="1"/>
              <a:t>plantage</a:t>
            </a:r>
            <a:r>
              <a:rPr dirty="0"/>
              <a:t> </a:t>
            </a:r>
            <a:r>
              <a:rPr dirty="0" err="1"/>
              <a:t>bruyant</a:t>
            </a:r>
            <a:r>
              <a:rPr dirty="0"/>
              <a:t> </a:t>
            </a:r>
            <a:r>
              <a:rPr dirty="0" err="1"/>
              <a:t>vaut</a:t>
            </a:r>
            <a:r>
              <a:rPr dirty="0"/>
              <a:t> </a:t>
            </a:r>
            <a:r>
              <a:rPr dirty="0" err="1"/>
              <a:t>mieux</a:t>
            </a:r>
            <a:r>
              <a:rPr dirty="0"/>
              <a:t> </a:t>
            </a:r>
            <a:r>
              <a:rPr dirty="0" err="1"/>
              <a:t>qu'un</a:t>
            </a:r>
            <a:r>
              <a:rPr dirty="0"/>
              <a:t> </a:t>
            </a:r>
            <a:r>
              <a:rPr dirty="0" err="1"/>
              <a:t>résultat</a:t>
            </a:r>
            <a:r>
              <a:rPr dirty="0"/>
              <a:t> faux qui continue </a:t>
            </a:r>
            <a:r>
              <a:rPr dirty="0" err="1"/>
              <a:t>en</a:t>
            </a:r>
            <a:r>
              <a:rPr dirty="0"/>
              <a:t> silence. Et on </a:t>
            </a:r>
            <a:r>
              <a:rPr dirty="0" err="1"/>
              <a:t>lève</a:t>
            </a:r>
            <a:r>
              <a:rPr dirty="0"/>
              <a:t> </a:t>
            </a:r>
            <a:r>
              <a:rPr dirty="0" err="1"/>
              <a:t>une</a:t>
            </a:r>
            <a:r>
              <a:rPr dirty="0"/>
              <a:t> exception </a:t>
            </a:r>
            <a:r>
              <a:rPr dirty="0" err="1"/>
              <a:t>là</a:t>
            </a:r>
            <a:r>
              <a:rPr dirty="0"/>
              <a:t> </a:t>
            </a:r>
            <a:r>
              <a:rPr dirty="0" err="1"/>
              <a:t>où</a:t>
            </a:r>
            <a:r>
              <a:rPr dirty="0"/>
              <a:t> </a:t>
            </a:r>
            <a:r>
              <a:rPr dirty="0" err="1"/>
              <a:t>l'on</a:t>
            </a:r>
            <a:r>
              <a:rPr dirty="0"/>
              <a:t> constate le </a:t>
            </a:r>
            <a:r>
              <a:rPr dirty="0" err="1"/>
              <a:t>problème</a:t>
            </a:r>
            <a:r>
              <a:rPr dirty="0"/>
              <a:t>, on </a:t>
            </a:r>
            <a:r>
              <a:rPr dirty="0" err="1"/>
              <a:t>l'attrape</a:t>
            </a:r>
            <a:r>
              <a:rPr dirty="0"/>
              <a:t> </a:t>
            </a:r>
            <a:r>
              <a:rPr dirty="0" err="1"/>
              <a:t>là</a:t>
            </a:r>
            <a:r>
              <a:rPr dirty="0"/>
              <a:t> </a:t>
            </a:r>
            <a:r>
              <a:rPr dirty="0" err="1"/>
              <a:t>où</a:t>
            </a:r>
            <a:r>
              <a:rPr dirty="0"/>
              <a:t> </a:t>
            </a:r>
            <a:r>
              <a:rPr dirty="0" err="1"/>
              <a:t>l'on</a:t>
            </a:r>
            <a:r>
              <a:rPr dirty="0"/>
              <a:t> </a:t>
            </a:r>
            <a:r>
              <a:rPr dirty="0" err="1"/>
              <a:t>peut</a:t>
            </a:r>
            <a:r>
              <a:rPr dirty="0"/>
              <a:t> y faire quelque chose.</a:t>
            </a:r>
          </a:p>
          <a:p>
            <a:r>
              <a:rPr dirty="0"/>
              <a:t>Le </a:t>
            </a:r>
            <a:r>
              <a:rPr dirty="0" err="1"/>
              <a:t>reste</a:t>
            </a:r>
            <a:r>
              <a:rPr dirty="0"/>
              <a:t> du module met des mots et des </a:t>
            </a:r>
            <a:r>
              <a:rPr dirty="0" err="1"/>
              <a:t>règles</a:t>
            </a:r>
            <a:r>
              <a:rPr dirty="0"/>
              <a:t> sur </a:t>
            </a:r>
            <a:r>
              <a:rPr dirty="0" err="1"/>
              <a:t>ce</a:t>
            </a:r>
            <a:r>
              <a:rPr dirty="0"/>
              <a:t> qui </a:t>
            </a:r>
            <a:r>
              <a:rPr dirty="0" err="1"/>
              <a:t>vient</a:t>
            </a:r>
            <a:r>
              <a:rPr dirty="0"/>
              <a:t> d'être </a:t>
            </a:r>
            <a:r>
              <a:rPr dirty="0" err="1"/>
              <a:t>montré</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Depuis le module POO, chaque méthode à compléter contient une ligne de ce genre. Vous avez vu le test passer au rouge avec ce message, sans vous demander d'où il venait : c'était une exception, levée exprès.</a:t>
            </a:r>
          </a:p>
          <a:p>
            <a:r>
              <a:t>Quand l'incrément G.15 vous a demandé de lever « une exception explicite » dans la fabrique, la plupart d'entre vous ont recopié ce geste. C'était le bon.</a:t>
            </a:r>
          </a:p>
          <a:p>
            <a:r>
              <a:t>Ce module explique ce qui se passe quand cette ligne s'exécute, comment écrire vos propres exceptions, et comment les attraper.</a:t>
            </a:r>
          </a:p>
          <a:p>
            <a:r>
              <a:rPr lang="fr-BE" dirty="0"/>
              <a:t>Le code complet, à exécuter : demos, classe demo.exc.slides.VousEnLevezDeja.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exception n'a rien de magique : c'est un objet, d'une classe comme les autres, que l'on crée avec </a:t>
            </a:r>
            <a:r>
              <a:rPr>
                <a:latin typeface="Consolas"/>
              </a:rPr>
              <a:t>new</a:t>
            </a:r>
            <a:r>
              <a:t>. Au moment de sa création, il mémorise un message et l'état de la pile des appels. C'est ce qu'affiche la trace.</a:t>
            </a:r>
          </a:p>
          <a:p>
            <a:r>
              <a:t>Toutes les exceptions descendent de </a:t>
            </a:r>
            <a:r>
              <a:rPr>
                <a:latin typeface="Consolas"/>
              </a:rPr>
              <a:t>Throwable</a:t>
            </a:r>
            <a:r>
              <a:t>. Les </a:t>
            </a:r>
            <a:r>
              <a:rPr>
                <a:latin typeface="Consolas"/>
              </a:rPr>
              <a:t>Error</a:t>
            </a:r>
            <a:r>
              <a:t>, comme </a:t>
            </a:r>
            <a:r>
              <a:rPr>
                <a:latin typeface="Consolas"/>
              </a:rPr>
              <a:t>OutOfMemoryError</a:t>
            </a:r>
            <a:r>
              <a:t> ou </a:t>
            </a:r>
            <a:r>
              <a:rPr>
                <a:latin typeface="Consolas"/>
              </a:rPr>
              <a:t>StackOverflowError</a:t>
            </a:r>
            <a:r>
              <a:t>, disent que la JVM elle-même ne peut plus continuer. On ne les attrape pas : il n'y a rien à faire d'utile à ce moment-là.</a:t>
            </a:r>
          </a:p>
          <a:p>
            <a:r>
              <a:t>Sous </a:t>
            </a:r>
            <a:r>
              <a:rPr>
                <a:latin typeface="Consolas"/>
              </a:rPr>
              <a:t>Exception</a:t>
            </a:r>
            <a:r>
              <a:t>, une branche compte particulièrement : </a:t>
            </a:r>
            <a:r>
              <a:rPr>
                <a:latin typeface="Consolas"/>
              </a:rPr>
              <a:t>RuntimeException</a:t>
            </a:r>
            <a:r>
              <a:t>. Ses descendantes sont dites non contrôlées, les autres contrôlées. La différence porte sur ce que le compilateur exige, et la slide 2.4 la montre. Le tableau du fascicule dit quand choisir l'une ou l'autre.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Quand </a:t>
            </a:r>
            <a:r>
              <a:rPr>
                <a:latin typeface="Consolas"/>
              </a:rPr>
              <a:t>verifier</a:t>
            </a:r>
            <a:r>
              <a:t> lève l'exception, elle ne retourne pas : elle s'arrête net. La méthode </a:t>
            </a:r>
            <a:r>
              <a:rPr>
                <a:latin typeface="Consolas"/>
              </a:rPr>
              <a:t>monter</a:t>
            </a:r>
            <a:r>
              <a:t> ne reprend pas non plus à la ligne suivante. L'exception traverse chaque méthode de la pile, de la plus récente à la plus ancienne, et chacune est abandonnée à son tour, jusqu'à ce qu'un </a:t>
            </a:r>
            <a:r>
              <a:rPr>
                <a:latin typeface="Consolas"/>
              </a:rPr>
              <a:t>catch</a:t>
            </a:r>
            <a:r>
              <a:t> l'arrête.</a:t>
            </a:r>
          </a:p>
          <a:p>
            <a:r>
              <a:t>Si aucune ne le fait, l'exception sort du </a:t>
            </a:r>
            <a:r>
              <a:rPr>
                <a:latin typeface="Consolas"/>
              </a:rPr>
              <a:t>main</a:t>
            </a:r>
            <a:r>
              <a:t>, et la JVM affiche la trace. La trace est exactement la pile des appels décrite en TEC-EXE.1, figée au moment de la création de l'exception. C'est ce que la démonstration a lu.</a:t>
            </a:r>
          </a:p>
          <a:p>
            <a:r>
              <a:t>L'exception </a:t>
            </a:r>
            <a:r>
              <a:rPr>
                <a:latin typeface="Consolas"/>
              </a:rPr>
              <a:t>IllegalArgumentException</a:t>
            </a:r>
            <a:r>
              <a:t> vient du JDK. On y revient à la section 4.</a:t>
            </a:r>
          </a:p>
          <a:p>
            <a:r>
              <a:rPr lang="fr-BE" dirty="0"/>
              <a:t>Le code complet, à exécuter : demos, classe demo.exc.slides.ElleRemonteLaPile.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schéma se lit de deux façons. De bas en haut, ce sont les appels : main appelle monter, qui appelle verifier. Chaque appel empile une méthode, et la plus récente est en haut. C'est la pile d'appels du mémento technique, TEC-EXE.1.</a:t>
            </a:r>
          </a:p>
          <a:p>
            <a:r>
              <a:t>De haut en bas, c'est le trajet de l'exception. verifier la lève avec throw et s'arrête net. L'exception descend dans monter, qui ne la traite pas : monter est abandonnée à son tour, et deplacer n'est jamais exécutée. Elle arrive enfin dans main, où l'appel était entouré d'un try. Le catch correspond au type de l'exception, il la reçoit, et le programme continue après le catch.</a:t>
            </a:r>
          </a:p>
          <a:p>
            <a:r>
              <a:t>Sans ce try, l'exception sortirait aussi du main, et la JVM afficherait la trace : la même pile, figée au moment du throw. La section 3 montre comment écrire ce try et ce catch, et surtout où les placer.</a:t>
            </a:r>
          </a:p>
          <a:p>
            <a:r>
              <a:rPr lang="fr-BE" dirty="0"/>
              <a:t>Le code complet, à exécuter : demos, classe demo.exc.slides.DuThrowAuCatch.</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exception à soi tient en ces quelques lignes. Tout le travail est déjà fait par </a:t>
            </a:r>
            <a:r>
              <a:rPr>
                <a:latin typeface="Consolas"/>
              </a:rPr>
              <a:t>Exception</a:t>
            </a:r>
            <a:r>
              <a:t> : mémoriser le message, capturer la pile, se laisser attraper. La méthode </a:t>
            </a:r>
            <a:r>
              <a:rPr>
                <a:latin typeface="Consolas"/>
              </a:rPr>
              <a:t>getMessage()</a:t>
            </a:r>
            <a:r>
              <a:t> retourne le message transmis à </a:t>
            </a:r>
            <a:r>
              <a:rPr>
                <a:latin typeface="Consolas"/>
              </a:rPr>
              <a:t>super</a:t>
            </a:r>
            <a:r>
              <a:t>.</a:t>
            </a:r>
          </a:p>
          <a:p>
            <a:r>
              <a:t>Inutile d'y ajouter des champs : un message qui dit ce qui était attendu et ce qui a été reçu suffit presque toujours. C'est la règle CC-ERR.4.</a:t>
            </a:r>
          </a:p>
          <a:p>
            <a:r>
              <a:t>Le nom se termine par </a:t>
            </a:r>
            <a:r>
              <a:rPr>
                <a:latin typeface="Consolas"/>
              </a:rPr>
              <a:t>Exception</a:t>
            </a:r>
            <a:r>
              <a:t>, par convention. Le choix de la classe mère, </a:t>
            </a:r>
            <a:r>
              <a:rPr>
                <a:latin typeface="Consolas"/>
              </a:rPr>
              <a:t>Exception</a:t>
            </a:r>
            <a:r>
              <a:t> ou </a:t>
            </a:r>
            <a:r>
              <a:rPr>
                <a:latin typeface="Consolas"/>
              </a:rPr>
              <a:t>RuntimeException</a:t>
            </a:r>
            <a:r>
              <a:t>, a une conséquence que la slide 2.4 montre. Le critère est dans le tableau du fascicule.</a:t>
            </a:r>
          </a:p>
          <a:p>
            <a:r>
              <a:t>À l'examen, la première question de chaque session demande d'écrire une classe de ce genre.</a:t>
            </a:r>
          </a:p>
          <a:p>
            <a:r>
              <a:rPr lang="fr-BE" dirty="0"/>
              <a:t>Le code complet : demos, classe demo.exc.slides.EtageInaccessibleException.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deux mots se ressemblent et ne font pas la même chose. Le mot </a:t>
            </a:r>
            <a:r>
              <a:rPr>
                <a:latin typeface="Consolas"/>
              </a:rPr>
              <a:t>throw</a:t>
            </a:r>
            <a:r>
              <a:t> est une instruction : il crée l'objet et l'envoie. Le mot </a:t>
            </a:r>
            <a:r>
              <a:rPr>
                <a:latin typeface="Consolas"/>
              </a:rPr>
              <a:t>throws</a:t>
            </a:r>
            <a:r>
              <a:t> fait partie de la signature : il prévient l'appelant que cette méthode peut échouer de cette façon.</a:t>
            </a:r>
          </a:p>
          <a:p>
            <a:r>
              <a:t>Une méthode peut déclarer plusieurs exceptions, séparées par des virgules. Un constructeur s'écrit de la même manière : </a:t>
            </a:r>
            <a:r>
              <a:rPr>
                <a:latin typeface="Consolas"/>
              </a:rPr>
              <a:t>throws</a:t>
            </a:r>
            <a:r>
              <a:t> après la parenthèse.</a:t>
            </a:r>
          </a:p>
          <a:p>
            <a:r>
              <a:t>Remarquez le message : il nomme l'étage demandé et l'intervalle permis. Quelqu'un qui lira la trace sans le code saura quoi corriger.</a:t>
            </a:r>
          </a:p>
          <a:p>
            <a:r>
              <a:rPr lang="fr-BE" dirty="0"/>
              <a:t>Le code complet, à exécuter : demos, classe demo.exc.slides.LeverEtDeclarer.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Dès qu'une méthode appelle </a:t>
            </a:r>
            <a:r>
              <a:rPr>
                <a:latin typeface="Consolas"/>
              </a:rPr>
              <a:t>appeler</a:t>
            </a:r>
            <a:r>
              <a:t>, le compilateur refuse de compiler tant qu'elle n'a pas choisi. Ce n'est pas une politesse : c'est la seule chose que le compilateur sait vérifier à propos des erreurs, et il le fait pour les exceptions contrôlées seulement.</a:t>
            </a:r>
          </a:p>
          <a:p>
            <a:r>
              <a:t>Aucun des deux choix n'est le bon dans l'absolu. On attrape quand on peut faire quelque chose d'utile. Sinon, on déclare, et la question remonte d'un cran. Déclarer jusqu'au </a:t>
            </a:r>
            <a:r>
              <a:rPr>
                <a:latin typeface="Consolas"/>
              </a:rPr>
              <a:t>main</a:t>
            </a:r>
            <a:r>
              <a:t> revient à laisser le programme s'arrêter sur une trace.</a:t>
            </a:r>
          </a:p>
          <a:p>
            <a:r>
              <a:t>Pour une exception non contrôlée, le compilateur n'exige rien. C'est la section 4.</a:t>
            </a:r>
          </a:p>
          <a:p>
            <a:r>
              <a:t>Vous retrouverez ce </a:t>
            </a:r>
            <a:r>
              <a:rPr>
                <a:latin typeface="Consolas"/>
              </a:rPr>
              <a:t>throws</a:t>
            </a:r>
            <a:r>
              <a:t> dans les tests du module JUN : une méthode de test qui appelle une méthode capable d'échouer doit, elle aussi, choisir.</a:t>
            </a:r>
          </a:p>
          <a:p>
            <a:r>
              <a:rPr lang="fr-BE" dirty="0"/>
              <a:t>Le code complet, à exécuter : demos, classe demo.exc.slides.AttraperOuDeclarer.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EXC.1</a:t>
            </a:r>
            <a:r>
              <a:t> met en pratique les trois slides précédentes : une classe d'exception, une méthode qui la lève, un programme qui l'attrape. Lisez l'encadré sur le vrai piège avant d'écrire la moindre ligne : le test vérifie ce que devient le point quand le déplacement est refusé.</a:t>
            </a:r>
          </a:p>
          <a:p>
            <a:r>
              <a:t>Les deux questions de fin portent sur le choix de la classe mère. Elles valent la peine d'être posées à voix haute.</a:t>
            </a:r>
          </a:p>
          <a:p>
            <a:r>
              <a:rPr>
                <a:latin typeface="Consolas"/>
              </a:rPr>
              <a:t>EXC.2</a:t>
            </a:r>
            <a:r>
              <a:t> fait exprès l'inverse : un compte, sans aucune exception. Gardez la réponse à sa question finale, elle sert à l'exercice suivant.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programme ne retourne jamais dans le </a:t>
            </a:r>
            <a:r>
              <a:rPr>
                <a:latin typeface="Consolas"/>
              </a:rPr>
              <a:t>try</a:t>
            </a:r>
            <a:r>
              <a:t> après un </a:t>
            </a:r>
            <a:r>
              <a:rPr>
                <a:latin typeface="Consolas"/>
              </a:rPr>
              <a:t>catch</a:t>
            </a:r>
            <a:r>
              <a:t>. Ce qui suivait l'instruction fautive est perdu, et l'exécution reprend après le dernier </a:t>
            </a:r>
            <a:r>
              <a:rPr>
                <a:latin typeface="Consolas"/>
              </a:rPr>
              <a:t>catch</a:t>
            </a:r>
            <a:r>
              <a:t>.</a:t>
            </a:r>
          </a:p>
          <a:p>
            <a:r>
              <a:t>Le premier appel a réussi : l'ascenseur est bien au deuxième étage. Le second a échoué avant de modifier quoi que ce soit, si </a:t>
            </a:r>
            <a:r>
              <a:rPr>
                <a:latin typeface="Consolas"/>
              </a:rPr>
              <a:t>appeler</a:t>
            </a:r>
            <a:r>
              <a:t> est bien écrite. C'est tout l'enjeu de l'encadré d'</a:t>
            </a:r>
            <a:r>
              <a:rPr>
                <a:latin typeface="Consolas"/>
              </a:rPr>
              <a:t>EXC.1</a:t>
            </a:r>
            <a:r>
              <a:t>.</a:t>
            </a:r>
          </a:p>
          <a:p>
            <a:r>
              <a:t>Une variable déclarée dans le </a:t>
            </a:r>
            <a:r>
              <a:rPr>
                <a:latin typeface="Consolas"/>
              </a:rPr>
              <a:t>try</a:t>
            </a:r>
            <a:r>
              <a:t> n'existe pas dans le </a:t>
            </a:r>
            <a:r>
              <a:rPr>
                <a:latin typeface="Consolas"/>
              </a:rPr>
              <a:t>catch</a:t>
            </a:r>
            <a:r>
              <a:t>, ni après : déclarez-la avant si vous en avez besoin des deux côtés.</a:t>
            </a:r>
          </a:p>
          <a:p>
            <a:r>
              <a:rPr lang="fr-BE" dirty="0"/>
              <a:t>Le code complet, à exécuter : demos, classe demo.exc.slides.CeQueLeTrySaute.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Quand une exception sort du </a:t>
            </a:r>
            <a:r>
              <a:rPr>
                <a:latin typeface="Consolas"/>
              </a:rPr>
              <a:t>try</a:t>
            </a:r>
            <a:r>
              <a:t>, Java essaie les </a:t>
            </a:r>
            <a:r>
              <a:rPr>
                <a:latin typeface="Consolas"/>
              </a:rPr>
              <a:t>catch</a:t>
            </a:r>
            <a:r>
              <a:t> un par un, de haut en bas, et exécute le premier dont le type convient. Les suivants sont ignorés.</a:t>
            </a:r>
          </a:p>
          <a:p>
            <a:r>
              <a:t>Convenir veut dire la même chose qu'au module ABS : une </a:t>
            </a:r>
            <a:r>
              <a:rPr>
                <a:latin typeface="Consolas"/>
              </a:rPr>
              <a:t>EtageInaccessibleException</a:t>
            </a:r>
            <a:r>
              <a:t> est aussi une </a:t>
            </a:r>
            <a:r>
              <a:rPr>
                <a:latin typeface="Consolas"/>
              </a:rPr>
              <a:t>Exception</a:t>
            </a:r>
            <a:r>
              <a:t>. Un </a:t>
            </a:r>
            <a:r>
              <a:rPr>
                <a:latin typeface="Consolas"/>
              </a:rPr>
              <a:t>catch</a:t>
            </a:r>
            <a:r>
              <a:t> écrit pour une classe mère attrape donc toutes ses filles. C'est ce qui permet, dans </a:t>
            </a:r>
            <a:r>
              <a:rPr>
                <a:latin typeface="Consolas"/>
              </a:rPr>
              <a:t>EXC.3</a:t>
            </a:r>
            <a:r>
              <a:t>, de traiter trois erreurs par un seul bloc.</a:t>
            </a:r>
          </a:p>
          <a:p>
            <a:r>
              <a:t>La barre verticale réunit des types qui n'ont pas de lien d'héritage entre eux, quand le traitement est le même.</a:t>
            </a:r>
          </a:p>
          <a:p>
            <a:r>
              <a:t>Faut-il un </a:t>
            </a:r>
            <a:r>
              <a:rPr>
                <a:latin typeface="Consolas"/>
              </a:rPr>
              <a:t>catch</a:t>
            </a:r>
            <a:r>
              <a:t> par exception, ou un seul pour toute la famille ? Le fascicule pose la question à </a:t>
            </a:r>
            <a:r>
              <a:rPr>
                <a:latin typeface="Consolas"/>
              </a:rPr>
              <a:t>EXC.3</a:t>
            </a:r>
            <a:r>
              <a:t>, et la règle CC-ERR.5 y répond.</a:t>
            </a:r>
          </a:p>
          <a:p>
            <a:r>
              <a:rPr lang="fr-BE" dirty="0"/>
              <a:t>Le code complet, à exécuter : demos, classe demo.exc.slides.PlusieursCatch.</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a montré le </a:t>
            </a:r>
            <a:r>
              <a:rPr>
                <a:latin typeface="Consolas"/>
              </a:rPr>
              <a:t>catch</a:t>
            </a:r>
            <a:r>
              <a:t> vide : le programme ne dit plus rien, et tout semble aller bien. Le plantage était bruyant mais honnête, ce silence ment. L'erreur ressurgira plus loin, à un endroit qui n'a plus rien à voir avec sa cause.</a:t>
            </a:r>
          </a:p>
          <a:p>
            <a:r>
              <a:t>Trois réactions sont honnêtes. Traiter : redemander, proposer autre chose, prendre une valeur de repli que l'on assume. Informer : dire ce qui a échoué. Ou ne pas attraper du tout, et laisser l'exception remonter jusqu'à quelqu'un qui saura quoi en faire.</a:t>
            </a:r>
          </a:p>
          <a:p>
            <a:r>
              <a:t>Une nuance, que vous croiserez dans GameHub. Attraper une exception pour redemander une saisie est un vrai traitement, même quand l'objet exception ne sert plus. On nomme alors la variable </a:t>
            </a:r>
            <a:r>
              <a:rPr>
                <a:latin typeface="Consolas"/>
              </a:rPr>
              <a:t>ignoree</a:t>
            </a:r>
            <a:r>
              <a:t> : le nom dit que c'est voulu.</a:t>
            </a:r>
          </a:p>
          <a:p>
            <a:r>
              <a:rPr lang="fr-BE" dirty="0"/>
              <a:t>Le code complet, à exécuter : demos, classe demo.exc.slides.UnCatchFaitQuelqueChose.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Cette méthode n'attrape rien : elle déclare l'exception et la laisse passer. Mais la porte doit être déverrouillée, que l'appel réussisse ou non. Écrire </a:t>
            </a:r>
            <a:r>
              <a:rPr>
                <a:latin typeface="Consolas"/>
              </a:rPr>
              <a:t>deverrouiller</a:t>
            </a:r>
            <a:r>
              <a:t> après le </a:t>
            </a:r>
            <a:r>
              <a:rPr>
                <a:latin typeface="Consolas"/>
              </a:rPr>
              <a:t>try</a:t>
            </a:r>
            <a:r>
              <a:t> ne suffirait pas : en cas d'exception, la ligne ne serait jamais atteinte.</a:t>
            </a:r>
          </a:p>
          <a:p>
            <a:r>
              <a:t>Le bloc </a:t>
            </a:r>
            <a:r>
              <a:rPr>
                <a:latin typeface="Consolas"/>
              </a:rPr>
              <a:t>finally</a:t>
            </a:r>
            <a:r>
              <a:t> s'exécute à la sortie du </a:t>
            </a:r>
            <a:r>
              <a:rPr>
                <a:latin typeface="Consolas"/>
              </a:rPr>
              <a:t>try</a:t>
            </a:r>
            <a:r>
              <a:t>, que celui-ci se termine normalement ou par une exception, attrapée ou non. Il peut suivre un </a:t>
            </a:r>
            <a:r>
              <a:rPr>
                <a:latin typeface="Consolas"/>
              </a:rPr>
              <a:t>catch</a:t>
            </a:r>
            <a:r>
              <a:t>, ou se passer de </a:t>
            </a:r>
            <a:r>
              <a:rPr>
                <a:latin typeface="Consolas"/>
              </a:rPr>
              <a:t>catch</a:t>
            </a:r>
            <a:r>
              <a:t> comme ici.</a:t>
            </a:r>
          </a:p>
          <a:p>
            <a:r>
              <a:t>On s'en sert pour libérer ce qu'on a pris : un verrou, une connexion, un fichier ouvert. Le module FIC montrera une écriture plus courte pour les fichiers, qui fait ce travail toute seule.</a:t>
            </a:r>
          </a:p>
          <a:p>
            <a:r>
              <a:rPr lang="fr-BE" dirty="0"/>
              <a:t>Le code complet, à exécuter : demos, classe demo.exc.slides.CeQueFinallyGarantit.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EXC.3</a:t>
            </a:r>
            <a:r>
              <a:t> reprend le compte de l'exercice précédent et lui ajoute un numéro vérifié. Les messages sont imposés au caractère près : chacun dit ce qui était attendu et ce qui a été reçu.</a:t>
            </a:r>
          </a:p>
          <a:p>
            <a:r>
              <a:t>L'encadré du fascicule pose la question qui fait l'exercice : trois exceptions ou une seule. Essayez les quatre numéros fournis avant de décider combien de </a:t>
            </a:r>
            <a:r>
              <a:rPr>
                <a:latin typeface="Consolas"/>
              </a:rPr>
              <a:t>catch</a:t>
            </a:r>
            <a:r>
              <a:t> écrire. Et faites l'expérience de la seconde question : le compilateur a quelque chose à dire.</a:t>
            </a:r>
          </a:p>
          <a:p>
            <a:r>
              <a:rPr>
                <a:latin typeface="Consolas"/>
              </a:rPr>
              <a:t>EXC.6</a:t>
            </a:r>
            <a:r>
              <a:t> fait constater ce que la slide 3.5 affirme. La première version ouvre la caisse, encaisse, puis la referme, trois gestes à la suite : un seul test échoue, et son nom dit pourquoi. La seconde version déplace la fermeture dans un </a:t>
            </a:r>
            <a:r>
              <a:rPr>
                <a:latin typeface="Consolas"/>
              </a:rPr>
              <a:t>finally</a:t>
            </a:r>
            <a:r>
              <a:t>, sans ajouter de </a:t>
            </a:r>
            <a:r>
              <a:rPr>
                <a:latin typeface="Consolas"/>
              </a:rPr>
              <a:t>catch</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méthode </a:t>
            </a:r>
            <a:r>
              <a:rPr>
                <a:latin typeface="Consolas"/>
              </a:rPr>
              <a:t>Integer.parseInt</a:t>
            </a:r>
            <a:r>
              <a:t> peut échouer, et sa signature n'en dit rien : </a:t>
            </a:r>
            <a:r>
              <a:rPr>
                <a:latin typeface="Consolas"/>
              </a:rPr>
              <a:t>NumberFormatException</a:t>
            </a:r>
            <a:r>
              <a:t> hérite de </a:t>
            </a:r>
            <a:r>
              <a:rPr>
                <a:latin typeface="Consolas"/>
              </a:rPr>
              <a:t>RuntimeException</a:t>
            </a:r>
            <a:r>
              <a:t>. Le compilateur ne demande donc ni </a:t>
            </a:r>
            <a:r>
              <a:rPr>
                <a:latin typeface="Consolas"/>
              </a:rPr>
              <a:t>try</a:t>
            </a:r>
            <a:r>
              <a:t> ni </a:t>
            </a:r>
            <a:r>
              <a:rPr>
                <a:latin typeface="Consolas"/>
              </a:rPr>
              <a:t>throws</a:t>
            </a:r>
            <a:r>
              <a:t>, et le programme plante à la première saisie qui n'est pas un nombre.</a:t>
            </a:r>
          </a:p>
          <a:p>
            <a:r>
              <a:t>La JVM lève elle-même plusieurs exceptions de cette famille. Vous avez déjà rencontré </a:t>
            </a:r>
            <a:r>
              <a:rPr>
                <a:latin typeface="Consolas"/>
              </a:rPr>
              <a:t>ArithmeticException</a:t>
            </a:r>
            <a:r>
              <a:t> pendant la démonstration, et </a:t>
            </a:r>
            <a:r>
              <a:rPr>
                <a:latin typeface="Consolas"/>
              </a:rPr>
              <a:t>NullPointerException</a:t>
            </a:r>
            <a:r>
              <a:t> sans doute plus d'une fois. Elles peuvent survenir presque partout, et le compilateur ne vous prévient d'aucune.</a:t>
            </a:r>
          </a:p>
          <a:p>
            <a:r>
              <a:t>C'est tout le piège de l'exercice suivant.</a:t>
            </a:r>
          </a:p>
          <a:p>
            <a:r>
              <a:rPr lang="fr-BE" dirty="0"/>
              <a:t>Le code complet, à exécuter : demos, classe demo.exc.slides.UneExceptionQuePersonneNAnnonce.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l'exception que vous rencontrerez le plus souvent. titre.equals("Nana") appelle une méthode sur l'objet désigné par titre. Si titre vaut null, il n'y a pas d'objet à qui demander, et la JVM lève une NullPointerException, une exception non contrôlée comme celle de la slide précédente.</a:t>
            </a:r>
          </a:p>
          <a:p>
            <a:r>
              <a:t>La protection classique teste d'abord la non-nullité : titre != null &amp;&amp; titre.equals("Nana"). L'ordre est essentiel. L'opérateur &amp;&amp; s'arrête dès que la première condition est fausse, et la seconde n'est alors jamais évaluée ; inverser les deux tests remet le plantage.</a:t>
            </a:r>
          </a:p>
          <a:p>
            <a:r>
              <a:t>Deux écritures plus courtes font la même chose. La constante d'abord, "Nana".equals(titre) : une constante n'est jamais null, et l'appel retourne simplement false. Et Objects.equals(titre, "Nana"), de java.util, qui gère le null des deux côtés.</a:t>
            </a:r>
          </a:p>
          <a:p>
            <a:r>
              <a:t>Tester partout la non-nullité reste un filet de sécurité. La vraie protection est en amont : ne pas produire de null, ni en retour ni en paramètre (CC-ERR.2 et CC-ERR.3), et préférer une valeur vide. La règle CC-ERR.7 du mémento Clean Code résume le cas de la comparaison.</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EXC.4</a:t>
            </a:r>
            <a:r>
              <a:t> se fait dans un ordre précis, et cet ordre est l'exercice.</a:t>
            </a:r>
          </a:p>
          <a:p>
            <a:r>
              <a:t>Écrivez d'abord le programme sans aucun </a:t>
            </a:r>
            <a:r>
              <a:rPr>
                <a:latin typeface="Consolas"/>
              </a:rPr>
              <a:t>try</a:t>
            </a:r>
            <a:r>
              <a:t>. Lancez-le avec une taille négative, puis avec une position hors du tableau. Lisez les deux messages : ils vous disent quelles exceptions attraper. Constatez surtout deux choses : le code a compilé sans rien dire, et le programme s'arrête net, la boucle ne repart pas.</a:t>
            </a:r>
          </a:p>
          <a:p>
            <a:r>
              <a:t>Seulement ensuite, écrivez </a:t>
            </a:r>
            <a:r>
              <a:rPr>
                <a:latin typeface="Consolas"/>
              </a:rPr>
              <a:t>placerDouze</a:t>
            </a:r>
            <a:r>
              <a:t>, qui traite les deux cas. Relancez le même programme, avec les mêmes saisies : la boucle survit, et vous pouvez réessayer. C'est la différence que l'exercice veut faire voir.</a:t>
            </a:r>
          </a:p>
          <a:p>
            <a:r>
              <a:t>Ne sautez pas la première partie. Sans elle, vous saurez écrire le </a:t>
            </a:r>
            <a:r>
              <a:rPr>
                <a:latin typeface="Consolas"/>
              </a:rPr>
              <a:t>try</a:t>
            </a:r>
            <a:r>
              <a:t>, mais vous ne saurez pas pourquoi il est là.</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JDK contient déjà des exceptions pour les cas les plus courants. Toutes trois sont non contrôlées, et vivent dans </a:t>
            </a:r>
            <a:r>
              <a:rPr>
                <a:latin typeface="Consolas"/>
              </a:rPr>
              <a:t>java.lang</a:t>
            </a:r>
            <a:r>
              <a:t> : aucun import n'est nécessaire.</a:t>
            </a:r>
          </a:p>
          <a:p>
            <a:r>
              <a:t>La première dit que l'appelant a passé une valeur qui n'a pas de sens, comme un dernier étage négatif. La deuxième dit que la demande était peut-être correcte, mais pas à ce moment-là, parce que l'objet n'est pas dans le bon état : appeler un ascenseur en panne. La troisième dit qu'une opération n'existe pas, ou pas encore : c'est celle de vos squelettes.</a:t>
            </a:r>
          </a:p>
          <a:p>
            <a:r>
              <a:t>Quand l'une d'elles dit exactement ce qui se passe, servez-vous-en. On crée sa propre exception quand l'appelant doit pouvoir la distinguer des autres, ou quand il doit être obligé de s'en soucier.</a:t>
            </a:r>
          </a:p>
          <a:p>
            <a:r>
              <a:t>À l'examen, l'énoncé précise souvent « il ne faut pas la créer » : c'est l'une de celles-ci.</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Rien ne change par rapport à vos propres exceptions, sinon qu'il n'y a rien à écrire ni à déclarer. Le constructeur ci-dessus n'a pas de clause </a:t>
            </a:r>
            <a:r>
              <a:rPr>
                <a:latin typeface="Consolas"/>
              </a:rPr>
              <a:t>throws</a:t>
            </a:r>
            <a:r>
              <a:t> : l'exception n'est pas contrôlée.</a:t>
            </a:r>
          </a:p>
          <a:p>
            <a:r>
              <a:t>Le message reste votre responsabilité. </a:t>
            </a:r>
            <a:r>
              <a:rPr>
                <a:latin typeface="Consolas"/>
              </a:rPr>
              <a:t>new IllegalArgumentException()</a:t>
            </a:r>
            <a:r>
              <a:t> sans message ne dit rien à celui qui lira la trace : nommez ce qui était attendu, et la valeur reçue.</a:t>
            </a:r>
          </a:p>
          <a:p>
            <a:r>
              <a:t>Le module JUN vous demandera d'écrire une méthode qui lève une </a:t>
            </a:r>
            <a:r>
              <a:rPr>
                <a:latin typeface="Consolas"/>
              </a:rPr>
              <a:t>IllegalArgumentException</a:t>
            </a:r>
            <a:r>
              <a:t>, et de le vérifier.</a:t>
            </a:r>
          </a:p>
          <a:p>
            <a:r>
              <a:t>C'est aussi la réponse promise au module ENU. Rien n'empêchait de construire un </a:t>
            </a:r>
            <a:r>
              <a:rPr>
                <a:latin typeface="Consolas"/>
              </a:rPr>
              <a:t>Student</a:t>
            </a:r>
            <a:r>
              <a:t> avec une cote de 47 : un </a:t>
            </a:r>
            <a:r>
              <a:rPr>
                <a:latin typeface="Consolas"/>
              </a:rPr>
              <a:t>record</a:t>
            </a:r>
            <a:r>
              <a:t> accepte un constructeur compact, où l'on place exactement cette vérification. Si la cote sort de 0 à 20, il lève une </a:t>
            </a:r>
            <a:r>
              <a:rPr>
                <a:latin typeface="Consolas"/>
              </a:rPr>
              <a:t>IllegalArgumentException</a:t>
            </a:r>
            <a:r>
              <a:t>, et l'objet n'est jamais créé.</a:t>
            </a:r>
          </a:p>
          <a:p>
            <a:r>
              <a:rPr lang="fr-BE" dirty="0"/>
              <a:t>Le code complet, à exécuter : demos, classe demo.exc.slides.LeverUneExceptionDuJdk.</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EXC.5</a:t>
            </a:r>
            <a:r>
              <a:t> refait seul ce que la démonstration a fait avec vous : lancer un programme qui plante, et lire la trace avant de toucher au code.</a:t>
            </a:r>
          </a:p>
          <a:p>
            <a:r>
              <a:t>Recopiez exactement ce que dit la trace, ponctuation comprise. L'une des réponses ne ressemble à aucun nom que vous avez écrit, et c'est elle qui apprend quelque chose.</a:t>
            </a:r>
          </a:p>
          <a:p>
            <a:r>
              <a:t>La correction demandée ensuite se fait sans modifier la classe fautive. Les deux questions de fin méritent d'être discutées à plusieurs.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GameHub n'a pas d'incrément consacré aux exceptions, mais il en lève depuis longtemps. Relisez deux passages avec ce que vous savez maintenant.</a:t>
            </a:r>
          </a:p>
          <a:p>
            <a:r>
              <a:rPr>
                <a:latin typeface="Consolas"/>
              </a:rPr>
              <a:t>G.15</a:t>
            </a:r>
            <a:r>
              <a:t> demandait de lever une exception explicite pour les jeux pas encore écrits. C'est une </a:t>
            </a:r>
            <a:r>
              <a:rPr>
                <a:latin typeface="Consolas"/>
              </a:rPr>
              <a:t>UnsupportedOperationException</a:t>
            </a:r>
            <a:r>
              <a:t>, slide 4.4 : non contrôlée, donc la fabrique n'a rien eu à déclarer. Son message nomme-t-il le type de jeu refusé ?</a:t>
            </a:r>
          </a:p>
          <a:p>
            <a:r>
              <a:rPr>
                <a:latin typeface="Consolas"/>
              </a:rPr>
              <a:t>G.24</a:t>
            </a:r>
            <a:r>
              <a:t> demandait de lever une </a:t>
            </a:r>
            <a:r>
              <a:rPr>
                <a:latin typeface="Consolas"/>
              </a:rPr>
              <a:t>IllegalArgumentException</a:t>
            </a:r>
            <a:r>
              <a:t> si l'un des deux joueurs est </a:t>
            </a:r>
            <a:r>
              <a:rPr>
                <a:latin typeface="Consolas"/>
              </a:rPr>
              <a:t>null</a:t>
            </a:r>
            <a:r>
              <a:t>. Vous savez maintenant pourquoi celle-là : c'est un paramètre refusé, slide 4.4. Votre message dit-il lequel manque ?</a:t>
            </a:r>
          </a:p>
          <a:p>
            <a:r>
              <a:t>Enfin, si votre GameHub lit des nombres au clavier, regardez ce que fait votre </a:t>
            </a:r>
            <a:r>
              <a:rPr>
                <a:latin typeface="Consolas"/>
              </a:rPr>
              <a:t>catch</a:t>
            </a:r>
            <a:r>
              <a:t>. Redemander est un traitement, rester muet ne l'est pas : CC-ERR.6.</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EXC</a:t>
            </a:r>
          </a:p>
          <a:p>
            <a:r>
              <a:t>Exceptions</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Au </a:t>
            </a:r>
            <a:r>
              <a:rPr sz="4000" dirty="0" err="1"/>
              <a:t>programme</a:t>
            </a:r>
            <a:endParaRPr sz="4000" dirty="0"/>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grpSp>
        <p:nvGrpSpPr>
          <p:cNvPr id="11" name="Section 1"/>
          <p:cNvGrpSpPr/>
          <p:nvPr/>
        </p:nvGrpSpPr>
        <p:grpSpPr>
          <a:xfrm>
            <a:off x="640080" y="1463040"/>
            <a:ext cx="5455920" cy="914400"/>
            <a:chOff x="640080" y="1463040"/>
            <a:chExt cx="5455920" cy="914400"/>
          </a:xfrm>
        </p:grpSpPr>
        <p:sp>
          <p:nvSpPr>
            <p:cNvPr id="15" name="Sommaire du module"/>
            <p:cNvSpPr/>
            <p:nvPr/>
          </p:nvSpPr>
          <p:spPr>
            <a:xfrm>
              <a:off x="640080" y="146304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ommaire du module, texte"/>
            <p:cNvSpPr txBox="1"/>
            <p:nvPr/>
          </p:nvSpPr>
          <p:spPr>
            <a:xfrm>
              <a:off x="822959" y="1643241"/>
              <a:ext cx="4693914" cy="553998"/>
            </a:xfrm>
            <a:prstGeom prst="rect">
              <a:avLst/>
            </a:prstGeom>
            <a:noFill/>
          </p:spPr>
          <p:txBody>
            <a:bodyPr wrap="none" anchor="ctr">
              <a:spAutoFit/>
            </a:bodyPr>
            <a:lstStyle/>
            <a:p>
              <a:r>
                <a:rPr sz="3000" b="1" dirty="0">
                  <a:solidFill>
                    <a:schemeClr val="accent4"/>
                  </a:solidFill>
                </a:rPr>
                <a:t>1   </a:t>
              </a:r>
              <a:r>
                <a:rPr sz="2600" dirty="0">
                  <a:solidFill>
                    <a:srgbClr val="FFFFFF"/>
                  </a:solidFill>
                </a:rPr>
                <a:t>Le </a:t>
              </a:r>
              <a:r>
                <a:rPr sz="2600" dirty="0" err="1">
                  <a:solidFill>
                    <a:srgbClr val="FFFFFF"/>
                  </a:solidFill>
                </a:rPr>
                <a:t>mécanisme</a:t>
              </a:r>
              <a:r>
                <a:rPr lang="nl-BE" sz="2600" dirty="0">
                  <a:solidFill>
                    <a:srgbClr val="FFFFFF"/>
                  </a:solidFill>
                </a:rPr>
                <a:t> des exceptions</a:t>
              </a:r>
              <a:endParaRPr sz="2600" dirty="0">
                <a:solidFill>
                  <a:srgbClr val="FFFFFF"/>
                </a:solidFill>
              </a:endParaRPr>
            </a:p>
          </p:txBody>
        </p:sp>
      </p:grpSp>
      <p:grpSp>
        <p:nvGrpSpPr>
          <p:cNvPr id="12" name="Section 2"/>
          <p:cNvGrpSpPr/>
          <p:nvPr/>
        </p:nvGrpSpPr>
        <p:grpSpPr>
          <a:xfrm>
            <a:off x="640080" y="2560320"/>
            <a:ext cx="5455920" cy="914400"/>
            <a:chOff x="640080" y="2560320"/>
            <a:chExt cx="5455920" cy="914400"/>
          </a:xfrm>
        </p:grpSpPr>
        <p:sp>
          <p:nvSpPr>
            <p:cNvPr id="5" name="Sommaire du module"/>
            <p:cNvSpPr/>
            <p:nvPr/>
          </p:nvSpPr>
          <p:spPr>
            <a:xfrm>
              <a:off x="640080" y="256032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740521"/>
              <a:ext cx="4915128" cy="553998"/>
            </a:xfrm>
            <a:prstGeom prst="rect">
              <a:avLst/>
            </a:prstGeom>
            <a:noFill/>
          </p:spPr>
          <p:txBody>
            <a:bodyPr wrap="none" anchor="ctr">
              <a:spAutoFit/>
            </a:bodyPr>
            <a:lstStyle/>
            <a:p>
              <a:r>
                <a:rPr sz="3000" b="1" dirty="0">
                  <a:solidFill>
                    <a:schemeClr val="accent4"/>
                  </a:solidFill>
                </a:rPr>
                <a:t>2   </a:t>
              </a:r>
              <a:r>
                <a:rPr sz="2600" dirty="0">
                  <a:solidFill>
                    <a:srgbClr val="FFFFFF"/>
                  </a:solidFill>
                </a:rPr>
                <a:t>Lever et </a:t>
              </a:r>
              <a:r>
                <a:rPr sz="2600" dirty="0" err="1">
                  <a:solidFill>
                    <a:srgbClr val="FFFFFF"/>
                  </a:solidFill>
                </a:rPr>
                <a:t>déclarer</a:t>
              </a:r>
              <a:r>
                <a:rPr lang="nl-BE" sz="2600" dirty="0">
                  <a:solidFill>
                    <a:srgbClr val="FFFFFF"/>
                  </a:solidFill>
                </a:rPr>
                <a:t> une exception</a:t>
              </a:r>
              <a:endParaRPr sz="2600" dirty="0">
                <a:solidFill>
                  <a:srgbClr val="FFFFFF"/>
                </a:solidFill>
              </a:endParaRPr>
            </a:p>
          </p:txBody>
        </p:sp>
      </p:grpSp>
      <p:grpSp>
        <p:nvGrpSpPr>
          <p:cNvPr id="13" name="Section 3"/>
          <p:cNvGrpSpPr/>
          <p:nvPr/>
        </p:nvGrpSpPr>
        <p:grpSpPr>
          <a:xfrm>
            <a:off x="640080" y="3657600"/>
            <a:ext cx="5455920" cy="914400"/>
            <a:chOff x="640080" y="3657600"/>
            <a:chExt cx="5455920" cy="914400"/>
          </a:xfrm>
        </p:grpSpPr>
        <p:sp>
          <p:nvSpPr>
            <p:cNvPr id="7" name="Sommaire du module"/>
            <p:cNvSpPr/>
            <p:nvPr/>
          </p:nvSpPr>
          <p:spPr>
            <a:xfrm>
              <a:off x="640080" y="365760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837801"/>
              <a:ext cx="3776996" cy="553998"/>
            </a:xfrm>
            <a:prstGeom prst="rect">
              <a:avLst/>
            </a:prstGeom>
            <a:noFill/>
          </p:spPr>
          <p:txBody>
            <a:bodyPr wrap="none" anchor="ctr">
              <a:spAutoFit/>
            </a:bodyPr>
            <a:lstStyle/>
            <a:p>
              <a:r>
                <a:rPr sz="3000" b="1" dirty="0">
                  <a:solidFill>
                    <a:schemeClr val="accent4"/>
                  </a:solidFill>
                </a:rPr>
                <a:t>3   </a:t>
              </a:r>
              <a:r>
                <a:rPr sz="2600" dirty="0">
                  <a:solidFill>
                    <a:srgbClr val="FFFFFF"/>
                  </a:solidFill>
                </a:rPr>
                <a:t>A</a:t>
              </a:r>
              <a:r>
                <a:rPr lang="nl-BE" sz="2600" dirty="0">
                  <a:solidFill>
                    <a:srgbClr val="FFFFFF"/>
                  </a:solidFill>
                </a:rPr>
                <a:t>tt</a:t>
              </a:r>
              <a:r>
                <a:rPr sz="2600" dirty="0" err="1">
                  <a:solidFill>
                    <a:srgbClr val="FFFFFF"/>
                  </a:solidFill>
                </a:rPr>
                <a:t>ra</a:t>
              </a:r>
              <a:r>
                <a:rPr lang="nl-BE" sz="2600" dirty="0">
                  <a:solidFill>
                    <a:srgbClr val="FFFFFF"/>
                  </a:solidFill>
                </a:rPr>
                <a:t>p</a:t>
              </a:r>
              <a:r>
                <a:rPr sz="2600" dirty="0">
                  <a:solidFill>
                    <a:srgbClr val="FFFFFF"/>
                  </a:solidFill>
                </a:rPr>
                <a:t>er</a:t>
              </a:r>
              <a:r>
                <a:rPr lang="nl-BE" sz="2600" dirty="0">
                  <a:solidFill>
                    <a:srgbClr val="FFFFFF"/>
                  </a:solidFill>
                </a:rPr>
                <a:t> les exceptions</a:t>
              </a:r>
              <a:endParaRPr sz="2600" dirty="0">
                <a:solidFill>
                  <a:srgbClr val="FFFFFF"/>
                </a:solidFill>
              </a:endParaRPr>
            </a:p>
          </p:txBody>
        </p:sp>
      </p:grpSp>
      <p:grpSp>
        <p:nvGrpSpPr>
          <p:cNvPr id="14" name="Section 4"/>
          <p:cNvGrpSpPr/>
          <p:nvPr/>
        </p:nvGrpSpPr>
        <p:grpSpPr>
          <a:xfrm>
            <a:off x="640080" y="4754879"/>
            <a:ext cx="5455920" cy="914400"/>
            <a:chOff x="640080" y="4754879"/>
            <a:chExt cx="5455920" cy="914400"/>
          </a:xfrm>
        </p:grpSpPr>
        <p:sp>
          <p:nvSpPr>
            <p:cNvPr id="9" name="Sommaire du module"/>
            <p:cNvSpPr/>
            <p:nvPr/>
          </p:nvSpPr>
          <p:spPr>
            <a:xfrm>
              <a:off x="640080" y="4754879"/>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935080"/>
              <a:ext cx="4762842" cy="553998"/>
            </a:xfrm>
            <a:prstGeom prst="rect">
              <a:avLst/>
            </a:prstGeom>
            <a:noFill/>
          </p:spPr>
          <p:txBody>
            <a:bodyPr wrap="none" anchor="ctr">
              <a:spAutoFit/>
            </a:bodyPr>
            <a:lstStyle/>
            <a:p>
              <a:r>
                <a:rPr sz="3000" b="1" dirty="0">
                  <a:solidFill>
                    <a:schemeClr val="accent4"/>
                  </a:solidFill>
                </a:rPr>
                <a:t>4   </a:t>
              </a:r>
              <a:r>
                <a:rPr sz="2600" dirty="0">
                  <a:solidFill>
                    <a:srgbClr val="FFFFFF"/>
                  </a:solidFill>
                </a:rPr>
                <a:t>Les </a:t>
              </a:r>
              <a:r>
                <a:rPr lang="nl-BE" sz="2600" dirty="0">
                  <a:solidFill>
                    <a:srgbClr val="FFFFFF"/>
                  </a:solidFill>
                </a:rPr>
                <a:t>exceptions </a:t>
              </a:r>
              <a:r>
                <a:rPr sz="2600" dirty="0">
                  <a:solidFill>
                    <a:srgbClr val="FFFFFF"/>
                  </a:solidFill>
                </a:rPr>
                <a:t>non </a:t>
              </a:r>
              <a:r>
                <a:rPr sz="2600" dirty="0" err="1">
                  <a:solidFill>
                    <a:srgbClr val="FFFFFF"/>
                  </a:solidFill>
                </a:rPr>
                <a:t>contrôlées</a:t>
              </a:r>
              <a:endParaRPr sz="2600" dirty="0">
                <a:solidFill>
                  <a:srgbClr val="FFFFFF"/>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C7AF4058-1453-BF9E-1EF7-17933D302284}"/>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C39A88CC-5ABE-A7FF-9C13-70784A30BB2E}"/>
              </a:ext>
            </a:extLst>
          </p:cNvPr>
          <p:cNvSpPr txBox="1"/>
          <p:nvPr/>
        </p:nvSpPr>
        <p:spPr>
          <a:xfrm>
            <a:off x="838200" y="946800"/>
            <a:ext cx="9410293"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1. Un objet qui interrompt</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Faire planter, lire la trace, corriger</a:t>
            </a:r>
          </a:p>
          <a:p>
            <a:pPr>
              <a:spcBef>
                <a:spcPts val="1200"/>
              </a:spcBef>
            </a:pPr>
            <a:r>
              <a:rPr sz="1400">
                <a:solidFill>
                  <a:srgbClr val="BCBEC4"/>
                </a:solidFill>
              </a:rPr>
              <a:t>Déroulé : Demo_EXC</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1. Le mécanisme des exceptions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Vous </a:t>
            </a:r>
            <a:r>
              <a:rPr sz="4000" dirty="0" err="1"/>
              <a:t>levez</a:t>
            </a:r>
            <a:r>
              <a:rPr sz="4000" dirty="0"/>
              <a:t> déjà</a:t>
            </a:r>
            <a:r>
              <a:rPr lang="nl-BE" sz="4000" dirty="0"/>
              <a:t> des exceptions</a:t>
            </a:r>
            <a:endParaRPr sz="4000" dirty="0"/>
          </a:p>
        </p:txBody>
      </p:sp>
      <p:sp>
        <p:nvSpPr>
          <p:cNvPr id="3" name="Content Placeholder 2"/>
          <p:cNvSpPr>
            <a:spLocks noGrp="1"/>
          </p:cNvSpPr>
          <p:nvPr>
            <p:ph idx="1"/>
          </p:nvPr>
        </p:nvSpPr>
        <p:spPr>
          <a:xfrm>
            <a:off x="640080" y="1371600"/>
            <a:ext cx="10881360" cy="1798320"/>
          </a:xfrm>
        </p:spPr>
        <p:txBody>
          <a:bodyPr>
            <a:normAutofit fontScale="92500"/>
          </a:bodyPr>
          <a:lstStyle/>
          <a:p>
            <a:pPr marL="0" indent="0">
              <a:spcAft>
                <a:spcPts val="1000"/>
              </a:spcAft>
              <a:buNone/>
            </a:pPr>
            <a:r>
              <a:rPr sz="2800" dirty="0" err="1"/>
              <a:t>Chaque</a:t>
            </a:r>
            <a:r>
              <a:rPr sz="2800" dirty="0"/>
              <a:t> </a:t>
            </a:r>
            <a:r>
              <a:rPr sz="2800" dirty="0" err="1"/>
              <a:t>squelette</a:t>
            </a:r>
            <a:r>
              <a:rPr sz="2800" dirty="0"/>
              <a:t> du </a:t>
            </a:r>
            <a:r>
              <a:rPr sz="2800" dirty="0" err="1"/>
              <a:t>cours</a:t>
            </a:r>
            <a:r>
              <a:rPr sz="2800" dirty="0"/>
              <a:t> </a:t>
            </a:r>
            <a:r>
              <a:rPr sz="2800" dirty="0" err="1"/>
              <a:t>contient</a:t>
            </a:r>
            <a:r>
              <a:rPr sz="2800" dirty="0"/>
              <a:t> déjà </a:t>
            </a:r>
            <a:r>
              <a:rPr sz="2800" dirty="0" err="1"/>
              <a:t>cette</a:t>
            </a:r>
            <a:r>
              <a:rPr sz="2800" dirty="0"/>
              <a:t> </a:t>
            </a:r>
            <a:r>
              <a:rPr sz="2800" dirty="0" err="1"/>
              <a:t>ligne</a:t>
            </a:r>
            <a:endParaRPr sz="2800" dirty="0"/>
          </a:p>
          <a:p>
            <a:pPr marL="0" indent="0">
              <a:spcAft>
                <a:spcPts val="1000"/>
              </a:spcAft>
              <a:buNone/>
            </a:pPr>
            <a:r>
              <a:rPr sz="2800" dirty="0"/>
              <a:t>La </a:t>
            </a:r>
            <a:r>
              <a:rPr sz="2800" dirty="0" err="1"/>
              <a:t>fabrique</a:t>
            </a:r>
            <a:r>
              <a:rPr sz="2800" dirty="0"/>
              <a:t> de G.15 </a:t>
            </a:r>
            <a:r>
              <a:rPr sz="2800" dirty="0" err="1"/>
              <a:t>aussi</a:t>
            </a:r>
            <a:endParaRPr sz="2800" dirty="0"/>
          </a:p>
          <a:p>
            <a:pPr marL="0" indent="0">
              <a:spcAft>
                <a:spcPts val="1000"/>
              </a:spcAft>
              <a:buNone/>
            </a:pPr>
            <a:r>
              <a:rPr sz="2800" dirty="0"/>
              <a:t>Ce module </a:t>
            </a:r>
            <a:r>
              <a:rPr lang="nl-BE" sz="2800" dirty="0"/>
              <a:t>vous permettra d’en savoir plus sur les exceptions et leurs </a:t>
            </a:r>
            <a:r>
              <a:rPr sz="2800" dirty="0" err="1"/>
              <a:t>règles</a:t>
            </a:r>
            <a:endParaRPr sz="2800" dirty="0"/>
          </a:p>
        </p:txBody>
      </p:sp>
      <p:sp>
        <p:nvSpPr>
          <p:cNvPr id="4" name="Code"/>
          <p:cNvSpPr txBox="1"/>
          <p:nvPr/>
        </p:nvSpPr>
        <p:spPr>
          <a:xfrm>
            <a:off x="1962150" y="3307080"/>
            <a:ext cx="82677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a:t>
            </a:r>
            <a:r>
              <a:rPr sz="1800">
                <a:solidFill>
                  <a:srgbClr val="56A8F5"/>
                </a:solidFill>
                <a:latin typeface="Consolas"/>
              </a:rPr>
              <a:t>etageCourant</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throw</a:t>
            </a: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UnsupportedOperationException</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6AAB73"/>
                </a:solidFill>
                <a:latin typeface="Consolas"/>
              </a:rPr>
              <a:t>"etageCourant n'est pas encore implementee"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1. Le mécanisme des exceptions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exception est un objet</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dirty="0"/>
              <a:t>Un </a:t>
            </a:r>
            <a:r>
              <a:rPr sz="2800" dirty="0" err="1"/>
              <a:t>objet</a:t>
            </a:r>
            <a:r>
              <a:rPr sz="2800" dirty="0"/>
              <a:t>, </a:t>
            </a:r>
            <a:r>
              <a:rPr sz="2800" dirty="0" err="1"/>
              <a:t>créé</a:t>
            </a:r>
            <a:r>
              <a:rPr sz="2800" dirty="0"/>
              <a:t> par </a:t>
            </a:r>
            <a:r>
              <a:rPr sz="2400" dirty="0">
                <a:solidFill>
                  <a:schemeClr val="accent4"/>
                </a:solidFill>
                <a:latin typeface="Consolas"/>
              </a:rPr>
              <a:t>new</a:t>
            </a:r>
            <a:r>
              <a:rPr sz="2800" dirty="0"/>
              <a:t>, </a:t>
            </a:r>
            <a:r>
              <a:rPr sz="2800" dirty="0" err="1"/>
              <a:t>d'une</a:t>
            </a:r>
            <a:r>
              <a:rPr sz="2800" dirty="0"/>
              <a:t> </a:t>
            </a:r>
            <a:r>
              <a:rPr sz="2800" dirty="0" err="1"/>
              <a:t>classe</a:t>
            </a:r>
            <a:r>
              <a:rPr sz="2800" dirty="0"/>
              <a:t> qui </a:t>
            </a:r>
            <a:r>
              <a:rPr sz="2800" dirty="0" err="1"/>
              <a:t>hérite</a:t>
            </a:r>
            <a:r>
              <a:rPr sz="2800" dirty="0"/>
              <a:t> de </a:t>
            </a:r>
            <a:r>
              <a:rPr sz="2400" dirty="0">
                <a:solidFill>
                  <a:schemeClr val="accent4"/>
                </a:solidFill>
                <a:latin typeface="Consolas"/>
              </a:rPr>
              <a:t>Throwable</a:t>
            </a:r>
          </a:p>
          <a:p>
            <a:pPr marL="0" indent="0">
              <a:spcAft>
                <a:spcPts val="1000"/>
              </a:spcAft>
              <a:buNone/>
            </a:pPr>
            <a:r>
              <a:rPr sz="2800" dirty="0"/>
              <a:t>Une </a:t>
            </a:r>
            <a:r>
              <a:rPr sz="2400" dirty="0">
                <a:solidFill>
                  <a:schemeClr val="accent4"/>
                </a:solidFill>
                <a:latin typeface="Consolas"/>
              </a:rPr>
              <a:t>Error</a:t>
            </a:r>
            <a:r>
              <a:rPr sz="2800" dirty="0"/>
              <a:t> </a:t>
            </a:r>
            <a:r>
              <a:rPr sz="2800" dirty="0" err="1"/>
              <a:t>signale</a:t>
            </a:r>
            <a:r>
              <a:rPr sz="2800" dirty="0"/>
              <a:t> </a:t>
            </a:r>
            <a:r>
              <a:rPr sz="2800" dirty="0" err="1"/>
              <a:t>que</a:t>
            </a:r>
            <a:r>
              <a:rPr sz="2800" dirty="0"/>
              <a:t> la machine </a:t>
            </a:r>
            <a:r>
              <a:rPr sz="2800" dirty="0" err="1"/>
              <a:t>elle-même</a:t>
            </a:r>
            <a:r>
              <a:rPr sz="2800" dirty="0"/>
              <a:t> est </a:t>
            </a:r>
            <a:r>
              <a:rPr sz="2800" dirty="0" err="1"/>
              <a:t>en</a:t>
            </a:r>
            <a:r>
              <a:rPr sz="2800" dirty="0"/>
              <a:t> </a:t>
            </a:r>
            <a:r>
              <a:rPr sz="2800" dirty="0" err="1"/>
              <a:t>difficulté</a:t>
            </a:r>
            <a:endParaRPr sz="2800" dirty="0"/>
          </a:p>
          <a:p>
            <a:pPr marL="0" indent="0">
              <a:spcAft>
                <a:spcPts val="1000"/>
              </a:spcAft>
              <a:buNone/>
            </a:pPr>
            <a:r>
              <a:rPr sz="2800" dirty="0"/>
              <a:t>Une </a:t>
            </a:r>
            <a:r>
              <a:rPr sz="2400" dirty="0">
                <a:solidFill>
                  <a:schemeClr val="accent4"/>
                </a:solidFill>
                <a:latin typeface="Consolas"/>
              </a:rPr>
              <a:t>Exception</a:t>
            </a:r>
            <a:r>
              <a:rPr sz="2800" dirty="0"/>
              <a:t> </a:t>
            </a:r>
            <a:r>
              <a:rPr sz="2800" dirty="0" err="1"/>
              <a:t>signale</a:t>
            </a:r>
            <a:r>
              <a:rPr sz="2800" dirty="0"/>
              <a:t> </a:t>
            </a:r>
            <a:r>
              <a:rPr sz="2800" dirty="0" err="1"/>
              <a:t>ce</a:t>
            </a:r>
            <a:r>
              <a:rPr sz="2800" dirty="0"/>
              <a:t> </a:t>
            </a:r>
            <a:r>
              <a:rPr sz="2800" dirty="0" err="1"/>
              <a:t>que</a:t>
            </a:r>
            <a:r>
              <a:rPr sz="2800" dirty="0"/>
              <a:t> le </a:t>
            </a:r>
            <a:r>
              <a:rPr sz="2800" dirty="0" err="1"/>
              <a:t>programme</a:t>
            </a:r>
            <a:r>
              <a:rPr sz="2800" dirty="0"/>
              <a:t> </a:t>
            </a:r>
            <a:r>
              <a:rPr sz="2800" dirty="0" err="1"/>
              <a:t>peut</a:t>
            </a:r>
            <a:r>
              <a:rPr sz="2800" dirty="0"/>
              <a:t> </a:t>
            </a:r>
            <a:r>
              <a:rPr sz="2800" dirty="0" err="1"/>
              <a:t>traiter</a:t>
            </a:r>
            <a:endParaRPr sz="2800" dirty="0"/>
          </a:p>
        </p:txBody>
      </p:sp>
      <p:sp>
        <p:nvSpPr>
          <p:cNvPr id="4" name="Code"/>
          <p:cNvSpPr txBox="1"/>
          <p:nvPr/>
        </p:nvSpPr>
        <p:spPr>
          <a:xfrm>
            <a:off x="2730500" y="3846460"/>
            <a:ext cx="67310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BCBEC4"/>
                </a:solidFill>
                <a:latin typeface="Consolas"/>
              </a:rPr>
              <a:t>Throwable</a:t>
            </a:r>
          </a:p>
          <a:p>
            <a:pPr>
              <a:lnSpc>
                <a:spcPct val="100000"/>
              </a:lnSpc>
              <a:spcBef>
                <a:spcPts val="0"/>
              </a:spcBef>
              <a:spcAft>
                <a:spcPts val="0"/>
              </a:spcAft>
            </a:pPr>
            <a:r>
              <a:rPr sz="1800" dirty="0">
                <a:solidFill>
                  <a:srgbClr val="BCBEC4"/>
                </a:solidFill>
                <a:latin typeface="Consolas"/>
              </a:rPr>
              <a:t> |-- Error                    </a:t>
            </a:r>
            <a:r>
              <a:rPr lang="nl-BE" dirty="0">
                <a:solidFill>
                  <a:srgbClr val="BCBEC4"/>
                </a:solidFill>
                <a:latin typeface="Consolas"/>
              </a:rPr>
              <a:t>&gt; </a:t>
            </a:r>
            <a:r>
              <a:rPr sz="1800" dirty="0">
                <a:solidFill>
                  <a:srgbClr val="BCBEC4"/>
                </a:solidFill>
                <a:latin typeface="Consolas"/>
              </a:rPr>
              <a:t>ne </a:t>
            </a:r>
            <a:r>
              <a:rPr sz="1800" dirty="0" err="1">
                <a:solidFill>
                  <a:srgbClr val="BCBEC4"/>
                </a:solidFill>
                <a:latin typeface="Consolas"/>
              </a:rPr>
              <a:t>s'attra</a:t>
            </a:r>
            <a:r>
              <a:rPr sz="1800" dirty="0">
                <a:solidFill>
                  <a:srgbClr val="BCBEC4"/>
                </a:solidFill>
                <a:latin typeface="Consolas"/>
              </a:rPr>
              <a:t>pe pas</a:t>
            </a:r>
          </a:p>
          <a:p>
            <a:pPr>
              <a:lnSpc>
                <a:spcPct val="100000"/>
              </a:lnSpc>
              <a:spcBef>
                <a:spcPts val="0"/>
              </a:spcBef>
              <a:spcAft>
                <a:spcPts val="0"/>
              </a:spcAft>
            </a:pPr>
            <a:r>
              <a:rPr sz="1800" dirty="0">
                <a:solidFill>
                  <a:srgbClr val="BCBEC4"/>
                </a:solidFill>
                <a:latin typeface="Consolas"/>
              </a:rPr>
              <a:t> |-- Exception                </a:t>
            </a:r>
            <a:r>
              <a:rPr lang="nl-BE" sz="1800" dirty="0">
                <a:solidFill>
                  <a:srgbClr val="BCBEC4"/>
                </a:solidFill>
                <a:latin typeface="Consolas"/>
              </a:rPr>
              <a:t>&gt; </a:t>
            </a:r>
            <a:r>
              <a:rPr sz="1800" dirty="0">
                <a:solidFill>
                  <a:srgbClr val="BCBEC4"/>
                </a:solidFill>
                <a:latin typeface="Consolas"/>
              </a:rPr>
              <a:t>controlee</a:t>
            </a:r>
          </a:p>
          <a:p>
            <a:pPr>
              <a:lnSpc>
                <a:spcPct val="100000"/>
              </a:lnSpc>
              <a:spcBef>
                <a:spcPts val="0"/>
              </a:spcBef>
              <a:spcAft>
                <a:spcPts val="0"/>
              </a:spcAft>
            </a:pPr>
            <a:r>
              <a:rPr sz="1800" dirty="0">
                <a:solidFill>
                  <a:srgbClr val="BCBEC4"/>
                </a:solidFill>
                <a:latin typeface="Consolas"/>
              </a:rPr>
              <a:t>      |-- </a:t>
            </a:r>
            <a:r>
              <a:rPr sz="1800" dirty="0" err="1">
                <a:solidFill>
                  <a:srgbClr val="BCBEC4"/>
                </a:solidFill>
                <a:latin typeface="Consolas"/>
              </a:rPr>
              <a:t>RuntimeException</a:t>
            </a:r>
            <a:r>
              <a:rPr sz="1800" dirty="0">
                <a:solidFill>
                  <a:srgbClr val="BCBEC4"/>
                </a:solidFill>
                <a:latin typeface="Consolas"/>
              </a:rPr>
              <a:t>    </a:t>
            </a:r>
            <a:r>
              <a:rPr lang="nl-BE" sz="1800" dirty="0">
                <a:solidFill>
                  <a:srgbClr val="BCBEC4"/>
                </a:solidFill>
                <a:latin typeface="Consolas"/>
              </a:rPr>
              <a:t>&gt; </a:t>
            </a:r>
            <a:r>
              <a:rPr sz="1800" dirty="0">
                <a:solidFill>
                  <a:srgbClr val="BCBEC4"/>
                </a:solidFill>
                <a:latin typeface="Consolas"/>
              </a:rPr>
              <a:t>non controlee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1. Le mécanisme des exceptions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nl-BE" sz="4000" dirty="0"/>
              <a:t>Les exceptions</a:t>
            </a:r>
            <a:r>
              <a:rPr sz="4000" dirty="0"/>
              <a:t> </a:t>
            </a:r>
            <a:r>
              <a:rPr sz="4000" dirty="0" err="1"/>
              <a:t>remonte</a:t>
            </a:r>
            <a:r>
              <a:rPr lang="nl-BE" sz="4000" dirty="0"/>
              <a:t>nt</a:t>
            </a:r>
            <a:r>
              <a:rPr sz="4000" dirty="0"/>
              <a:t> la pile</a:t>
            </a:r>
          </a:p>
        </p:txBody>
      </p:sp>
      <p:sp>
        <p:nvSpPr>
          <p:cNvPr id="3" name="Content Placeholder 2"/>
          <p:cNvSpPr>
            <a:spLocks noGrp="1"/>
          </p:cNvSpPr>
          <p:nvPr>
            <p:ph idx="1"/>
          </p:nvPr>
        </p:nvSpPr>
        <p:spPr>
          <a:xfrm>
            <a:off x="640080" y="1371600"/>
            <a:ext cx="10881360" cy="1615440"/>
          </a:xfrm>
        </p:spPr>
        <p:txBody>
          <a:bodyPr/>
          <a:lstStyle/>
          <a:p>
            <a:pPr marL="0" indent="0">
              <a:spcAft>
                <a:spcPts val="1000"/>
              </a:spcAft>
              <a:buNone/>
            </a:pPr>
            <a:r>
              <a:rPr sz="2400" dirty="0"/>
              <a:t>Le </a:t>
            </a:r>
            <a:r>
              <a:rPr sz="2100" dirty="0">
                <a:solidFill>
                  <a:schemeClr val="accent4"/>
                </a:solidFill>
                <a:latin typeface="Consolas"/>
              </a:rPr>
              <a:t>throw</a:t>
            </a:r>
            <a:r>
              <a:rPr sz="2400" dirty="0"/>
              <a:t> </a:t>
            </a:r>
            <a:r>
              <a:rPr sz="2400" dirty="0" err="1"/>
              <a:t>interrompt</a:t>
            </a:r>
            <a:r>
              <a:rPr sz="2400" dirty="0"/>
              <a:t> la </a:t>
            </a:r>
            <a:r>
              <a:rPr sz="2400" dirty="0" err="1"/>
              <a:t>méthode</a:t>
            </a:r>
            <a:r>
              <a:rPr sz="2400" dirty="0"/>
              <a:t> à </a:t>
            </a:r>
            <a:r>
              <a:rPr sz="2400" dirty="0" err="1"/>
              <a:t>l'instant</a:t>
            </a:r>
            <a:r>
              <a:rPr sz="2400" dirty="0"/>
              <a:t> </a:t>
            </a:r>
            <a:r>
              <a:rPr sz="2400" dirty="0" err="1"/>
              <a:t>même</a:t>
            </a:r>
            <a:r>
              <a:rPr lang="nl-BE" sz="2400" dirty="0"/>
              <a:t> où il est exécuté</a:t>
            </a:r>
            <a:endParaRPr sz="2400" dirty="0"/>
          </a:p>
          <a:p>
            <a:pPr marL="0" indent="0">
              <a:spcAft>
                <a:spcPts val="1000"/>
              </a:spcAft>
              <a:buNone/>
            </a:pPr>
            <a:r>
              <a:rPr sz="2400" dirty="0" err="1"/>
              <a:t>L'exception</a:t>
            </a:r>
            <a:r>
              <a:rPr sz="2400" dirty="0"/>
              <a:t> </a:t>
            </a:r>
            <a:r>
              <a:rPr sz="2400" dirty="0" err="1"/>
              <a:t>remonte</a:t>
            </a:r>
            <a:r>
              <a:rPr sz="2400" dirty="0"/>
              <a:t> </a:t>
            </a:r>
            <a:r>
              <a:rPr sz="2400" dirty="0" err="1"/>
              <a:t>d'appelant</a:t>
            </a:r>
            <a:r>
              <a:rPr sz="2400" dirty="0"/>
              <a:t> </a:t>
            </a:r>
            <a:r>
              <a:rPr sz="2400" dirty="0" err="1"/>
              <a:t>en</a:t>
            </a:r>
            <a:r>
              <a:rPr sz="2400" dirty="0"/>
              <a:t> </a:t>
            </a:r>
            <a:r>
              <a:rPr sz="2400" dirty="0" err="1"/>
              <a:t>appelant</a:t>
            </a:r>
            <a:r>
              <a:rPr sz="2400" dirty="0"/>
              <a:t>, </a:t>
            </a:r>
            <a:r>
              <a:rPr sz="2400" dirty="0" err="1"/>
              <a:t>jusqu'à</a:t>
            </a:r>
            <a:r>
              <a:rPr sz="2400" dirty="0"/>
              <a:t> un </a:t>
            </a:r>
            <a:r>
              <a:rPr sz="2100" dirty="0">
                <a:solidFill>
                  <a:schemeClr val="accent4"/>
                </a:solidFill>
                <a:latin typeface="Consolas"/>
              </a:rPr>
              <a:t>catch</a:t>
            </a:r>
          </a:p>
          <a:p>
            <a:pPr marL="0" indent="0">
              <a:spcAft>
                <a:spcPts val="1000"/>
              </a:spcAft>
              <a:buNone/>
            </a:pPr>
            <a:r>
              <a:rPr sz="2400" dirty="0"/>
              <a:t>Sans </a:t>
            </a:r>
            <a:r>
              <a:rPr sz="2100" dirty="0">
                <a:solidFill>
                  <a:schemeClr val="accent4"/>
                </a:solidFill>
                <a:latin typeface="Consolas"/>
              </a:rPr>
              <a:t>catch</a:t>
            </a:r>
            <a:r>
              <a:rPr sz="2400" dirty="0"/>
              <a:t>, le </a:t>
            </a:r>
            <a:r>
              <a:rPr sz="2400" dirty="0" err="1"/>
              <a:t>programme</a:t>
            </a:r>
            <a:r>
              <a:rPr sz="2400" dirty="0"/>
              <a:t> </a:t>
            </a:r>
            <a:r>
              <a:rPr sz="2400" dirty="0" err="1"/>
              <a:t>s'arrête</a:t>
            </a:r>
            <a:r>
              <a:rPr sz="2400" dirty="0"/>
              <a:t> et affiche la trace</a:t>
            </a:r>
          </a:p>
        </p:txBody>
      </p:sp>
      <p:sp>
        <p:nvSpPr>
          <p:cNvPr id="4" name="Code"/>
          <p:cNvSpPr txBox="1"/>
          <p:nvPr/>
        </p:nvSpPr>
        <p:spPr>
          <a:xfrm>
            <a:off x="2165879" y="3124200"/>
            <a:ext cx="7860241" cy="3040379"/>
          </a:xfrm>
          <a:prstGeom prst="roundRect">
            <a:avLst>
              <a:gd name="adj" fmla="val 3007"/>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50" dirty="0">
                <a:solidFill>
                  <a:srgbClr val="CF8E6D"/>
                </a:solidFill>
                <a:latin typeface="Consolas"/>
              </a:rPr>
              <a:t>void</a:t>
            </a:r>
            <a:r>
              <a:rPr sz="1650" dirty="0">
                <a:solidFill>
                  <a:srgbClr val="BCBEC4"/>
                </a:solidFill>
                <a:latin typeface="Consolas"/>
              </a:rPr>
              <a:t> </a:t>
            </a:r>
            <a:r>
              <a:rPr sz="1650" dirty="0" err="1">
                <a:solidFill>
                  <a:srgbClr val="56A8F5"/>
                </a:solidFill>
                <a:latin typeface="Consolas"/>
              </a:rPr>
              <a:t>monter</a:t>
            </a:r>
            <a:r>
              <a:rPr sz="1650" dirty="0">
                <a:solidFill>
                  <a:srgbClr val="BCBEC4"/>
                </a:solidFill>
                <a:latin typeface="Consolas"/>
              </a:rPr>
              <a:t>(</a:t>
            </a:r>
            <a:r>
              <a:rPr sz="1650" dirty="0">
                <a:solidFill>
                  <a:srgbClr val="CF8E6D"/>
                </a:solidFill>
                <a:latin typeface="Consolas"/>
              </a:rPr>
              <a:t>int</a:t>
            </a:r>
            <a:r>
              <a:rPr sz="1650" dirty="0">
                <a:solidFill>
                  <a:srgbClr val="BCBEC4"/>
                </a:solidFill>
                <a:latin typeface="Consolas"/>
              </a:rPr>
              <a:t> </a:t>
            </a:r>
            <a:r>
              <a:rPr sz="1650" dirty="0" err="1">
                <a:solidFill>
                  <a:srgbClr val="BCBEC4"/>
                </a:solidFill>
                <a:latin typeface="Consolas"/>
              </a:rPr>
              <a:t>etage</a:t>
            </a:r>
            <a:r>
              <a:rPr sz="1650" dirty="0">
                <a:solidFill>
                  <a:srgbClr val="BCBEC4"/>
                </a:solidFill>
                <a:latin typeface="Consolas"/>
              </a:rPr>
              <a:t>) {</a:t>
            </a:r>
          </a:p>
          <a:p>
            <a:pPr>
              <a:lnSpc>
                <a:spcPct val="100000"/>
              </a:lnSpc>
              <a:spcBef>
                <a:spcPts val="0"/>
              </a:spcBef>
              <a:spcAft>
                <a:spcPts val="0"/>
              </a:spcAft>
            </a:pPr>
            <a:r>
              <a:rPr sz="1650" dirty="0">
                <a:solidFill>
                  <a:srgbClr val="BCBEC4"/>
                </a:solidFill>
                <a:latin typeface="Consolas"/>
              </a:rPr>
              <a:t>    </a:t>
            </a:r>
            <a:r>
              <a:rPr sz="1650" dirty="0">
                <a:solidFill>
                  <a:srgbClr val="56A8F5"/>
                </a:solidFill>
                <a:latin typeface="Consolas"/>
              </a:rPr>
              <a:t>verifier</a:t>
            </a:r>
            <a:r>
              <a:rPr sz="1650" dirty="0">
                <a:solidFill>
                  <a:srgbClr val="BCBEC4"/>
                </a:solidFill>
                <a:latin typeface="Consolas"/>
              </a:rPr>
              <a:t>(</a:t>
            </a:r>
            <a:r>
              <a:rPr sz="1650" dirty="0" err="1">
                <a:solidFill>
                  <a:srgbClr val="BCBEC4"/>
                </a:solidFill>
                <a:latin typeface="Consolas"/>
              </a:rPr>
              <a:t>etage</a:t>
            </a:r>
            <a:r>
              <a:rPr sz="1650" dirty="0">
                <a:solidFill>
                  <a:srgbClr val="BCBEC4"/>
                </a:solidFill>
                <a:latin typeface="Consolas"/>
              </a:rPr>
              <a:t>);       </a:t>
            </a:r>
            <a:r>
              <a:rPr sz="1650" dirty="0">
                <a:solidFill>
                  <a:srgbClr val="7A7E85"/>
                </a:solidFill>
                <a:latin typeface="Consolas"/>
              </a:rPr>
              <a:t>// </a:t>
            </a:r>
            <a:r>
              <a:rPr sz="1650" dirty="0" err="1">
                <a:solidFill>
                  <a:srgbClr val="7A7E85"/>
                </a:solidFill>
                <a:latin typeface="Consolas"/>
              </a:rPr>
              <a:t>l'exception</a:t>
            </a:r>
            <a:r>
              <a:rPr sz="1650" dirty="0">
                <a:solidFill>
                  <a:srgbClr val="7A7E85"/>
                </a:solidFill>
                <a:latin typeface="Consolas"/>
              </a:rPr>
              <a:t> traverse </a:t>
            </a:r>
            <a:r>
              <a:rPr sz="1650" dirty="0" err="1">
                <a:solidFill>
                  <a:srgbClr val="7A7E85"/>
                </a:solidFill>
                <a:latin typeface="Consolas"/>
              </a:rPr>
              <a:t>monter</a:t>
            </a:r>
            <a:endParaRPr sz="1650" dirty="0">
              <a:solidFill>
                <a:srgbClr val="7A7E85"/>
              </a:solidFill>
              <a:latin typeface="Consolas"/>
            </a:endParaRPr>
          </a:p>
          <a:p>
            <a:pPr>
              <a:lnSpc>
                <a:spcPct val="100000"/>
              </a:lnSpc>
              <a:spcBef>
                <a:spcPts val="0"/>
              </a:spcBef>
              <a:spcAft>
                <a:spcPts val="0"/>
              </a:spcAft>
            </a:pPr>
            <a:r>
              <a:rPr sz="1650" dirty="0">
                <a:solidFill>
                  <a:srgbClr val="BCBEC4"/>
                </a:solidFill>
                <a:latin typeface="Consolas"/>
              </a:rPr>
              <a:t>    </a:t>
            </a:r>
            <a:r>
              <a:rPr sz="1650" dirty="0" err="1">
                <a:solidFill>
                  <a:srgbClr val="56A8F5"/>
                </a:solidFill>
                <a:latin typeface="Consolas"/>
              </a:rPr>
              <a:t>deplacer</a:t>
            </a:r>
            <a:r>
              <a:rPr sz="1650" dirty="0">
                <a:solidFill>
                  <a:srgbClr val="BCBEC4"/>
                </a:solidFill>
                <a:latin typeface="Consolas"/>
              </a:rPr>
              <a:t>(</a:t>
            </a:r>
            <a:r>
              <a:rPr sz="1650" dirty="0" err="1">
                <a:solidFill>
                  <a:srgbClr val="BCBEC4"/>
                </a:solidFill>
                <a:latin typeface="Consolas"/>
              </a:rPr>
              <a:t>etage</a:t>
            </a:r>
            <a:r>
              <a:rPr sz="1650" dirty="0">
                <a:solidFill>
                  <a:srgbClr val="BCBEC4"/>
                </a:solidFill>
                <a:latin typeface="Consolas"/>
              </a:rPr>
              <a:t>);       </a:t>
            </a:r>
            <a:r>
              <a:rPr sz="1650" dirty="0">
                <a:solidFill>
                  <a:srgbClr val="7A7E85"/>
                </a:solidFill>
                <a:latin typeface="Consolas"/>
              </a:rPr>
              <a:t>// jamais execute</a:t>
            </a:r>
          </a:p>
          <a:p>
            <a:pPr>
              <a:lnSpc>
                <a:spcPct val="100000"/>
              </a:lnSpc>
              <a:spcBef>
                <a:spcPts val="0"/>
              </a:spcBef>
              <a:spcAft>
                <a:spcPts val="0"/>
              </a:spcAft>
            </a:pPr>
            <a:r>
              <a:rPr sz="1650" dirty="0">
                <a:solidFill>
                  <a:srgbClr val="BCBEC4"/>
                </a:solidFill>
                <a:latin typeface="Consolas"/>
              </a:rPr>
              <a:t>}</a:t>
            </a:r>
          </a:p>
          <a:p>
            <a:pPr>
              <a:lnSpc>
                <a:spcPct val="100000"/>
              </a:lnSpc>
              <a:spcBef>
                <a:spcPts val="0"/>
              </a:spcBef>
              <a:spcAft>
                <a:spcPts val="0"/>
              </a:spcAft>
            </a:pPr>
            <a:r>
              <a:rPr sz="1650" dirty="0">
                <a:solidFill>
                  <a:srgbClr val="BCBEC4"/>
                </a:solidFill>
                <a:latin typeface="Consolas"/>
              </a:rPr>
              <a:t> </a:t>
            </a:r>
          </a:p>
          <a:p>
            <a:pPr>
              <a:lnSpc>
                <a:spcPct val="100000"/>
              </a:lnSpc>
              <a:spcBef>
                <a:spcPts val="0"/>
              </a:spcBef>
              <a:spcAft>
                <a:spcPts val="0"/>
              </a:spcAft>
            </a:pPr>
            <a:r>
              <a:rPr sz="1650" dirty="0">
                <a:solidFill>
                  <a:srgbClr val="CF8E6D"/>
                </a:solidFill>
                <a:latin typeface="Consolas"/>
              </a:rPr>
              <a:t>void</a:t>
            </a:r>
            <a:r>
              <a:rPr sz="1650" dirty="0">
                <a:solidFill>
                  <a:srgbClr val="BCBEC4"/>
                </a:solidFill>
                <a:latin typeface="Consolas"/>
              </a:rPr>
              <a:t> </a:t>
            </a:r>
            <a:r>
              <a:rPr sz="1650" dirty="0">
                <a:solidFill>
                  <a:srgbClr val="56A8F5"/>
                </a:solidFill>
                <a:latin typeface="Consolas"/>
              </a:rPr>
              <a:t>verifier</a:t>
            </a:r>
            <a:r>
              <a:rPr sz="1650" dirty="0">
                <a:solidFill>
                  <a:srgbClr val="BCBEC4"/>
                </a:solidFill>
                <a:latin typeface="Consolas"/>
              </a:rPr>
              <a:t>(</a:t>
            </a:r>
            <a:r>
              <a:rPr sz="1650" dirty="0">
                <a:solidFill>
                  <a:srgbClr val="CF8E6D"/>
                </a:solidFill>
                <a:latin typeface="Consolas"/>
              </a:rPr>
              <a:t>int</a:t>
            </a:r>
            <a:r>
              <a:rPr sz="1650" dirty="0">
                <a:solidFill>
                  <a:srgbClr val="BCBEC4"/>
                </a:solidFill>
                <a:latin typeface="Consolas"/>
              </a:rPr>
              <a:t> </a:t>
            </a:r>
            <a:r>
              <a:rPr sz="1650" dirty="0" err="1">
                <a:solidFill>
                  <a:srgbClr val="BCBEC4"/>
                </a:solidFill>
                <a:latin typeface="Consolas"/>
              </a:rPr>
              <a:t>etage</a:t>
            </a:r>
            <a:r>
              <a:rPr sz="1650" dirty="0">
                <a:solidFill>
                  <a:srgbClr val="BCBEC4"/>
                </a:solidFill>
                <a:latin typeface="Consolas"/>
              </a:rPr>
              <a:t>) {</a:t>
            </a:r>
          </a:p>
          <a:p>
            <a:pPr>
              <a:lnSpc>
                <a:spcPct val="100000"/>
              </a:lnSpc>
              <a:spcBef>
                <a:spcPts val="0"/>
              </a:spcBef>
              <a:spcAft>
                <a:spcPts val="0"/>
              </a:spcAft>
            </a:pPr>
            <a:r>
              <a:rPr sz="1650" dirty="0">
                <a:solidFill>
                  <a:srgbClr val="BCBEC4"/>
                </a:solidFill>
                <a:latin typeface="Consolas"/>
              </a:rPr>
              <a:t>    </a:t>
            </a:r>
            <a:r>
              <a:rPr sz="1650" dirty="0">
                <a:solidFill>
                  <a:srgbClr val="CF8E6D"/>
                </a:solidFill>
                <a:latin typeface="Consolas"/>
              </a:rPr>
              <a:t>if</a:t>
            </a:r>
            <a:r>
              <a:rPr sz="1650" dirty="0">
                <a:solidFill>
                  <a:srgbClr val="BCBEC4"/>
                </a:solidFill>
                <a:latin typeface="Consolas"/>
              </a:rPr>
              <a:t> (</a:t>
            </a:r>
            <a:r>
              <a:rPr sz="1650" dirty="0" err="1">
                <a:solidFill>
                  <a:srgbClr val="BCBEC4"/>
                </a:solidFill>
                <a:latin typeface="Consolas"/>
              </a:rPr>
              <a:t>etage</a:t>
            </a:r>
            <a:r>
              <a:rPr sz="1650" dirty="0">
                <a:solidFill>
                  <a:srgbClr val="BCBEC4"/>
                </a:solidFill>
                <a:latin typeface="Consolas"/>
              </a:rPr>
              <a:t> &gt; </a:t>
            </a:r>
            <a:r>
              <a:rPr sz="1650" dirty="0" err="1">
                <a:solidFill>
                  <a:srgbClr val="BCBEC4"/>
                </a:solidFill>
                <a:latin typeface="Consolas"/>
              </a:rPr>
              <a:t>dernierEtage</a:t>
            </a:r>
            <a:r>
              <a:rPr sz="1650" dirty="0">
                <a:solidFill>
                  <a:srgbClr val="BCBEC4"/>
                </a:solidFill>
                <a:latin typeface="Consolas"/>
              </a:rPr>
              <a:t>) {</a:t>
            </a:r>
          </a:p>
          <a:p>
            <a:pPr>
              <a:lnSpc>
                <a:spcPct val="100000"/>
              </a:lnSpc>
              <a:spcBef>
                <a:spcPts val="0"/>
              </a:spcBef>
              <a:spcAft>
                <a:spcPts val="0"/>
              </a:spcAft>
            </a:pPr>
            <a:r>
              <a:rPr sz="1650" dirty="0">
                <a:solidFill>
                  <a:srgbClr val="BCBEC4"/>
                </a:solidFill>
                <a:latin typeface="Consolas"/>
              </a:rPr>
              <a:t>        </a:t>
            </a:r>
            <a:r>
              <a:rPr sz="1650" dirty="0">
                <a:solidFill>
                  <a:srgbClr val="CF8E6D"/>
                </a:solidFill>
                <a:latin typeface="Consolas"/>
              </a:rPr>
              <a:t>throw</a:t>
            </a:r>
            <a:r>
              <a:rPr sz="1650" dirty="0">
                <a:solidFill>
                  <a:srgbClr val="BCBEC4"/>
                </a:solidFill>
                <a:latin typeface="Consolas"/>
              </a:rPr>
              <a:t> </a:t>
            </a:r>
            <a:r>
              <a:rPr sz="1650" dirty="0">
                <a:solidFill>
                  <a:srgbClr val="CF8E6D"/>
                </a:solidFill>
                <a:latin typeface="Consolas"/>
              </a:rPr>
              <a:t>new</a:t>
            </a:r>
            <a:r>
              <a:rPr sz="1650" dirty="0">
                <a:solidFill>
                  <a:srgbClr val="BCBEC4"/>
                </a:solidFill>
                <a:latin typeface="Consolas"/>
              </a:rPr>
              <a:t> </a:t>
            </a:r>
            <a:r>
              <a:rPr sz="1650" dirty="0" err="1">
                <a:solidFill>
                  <a:srgbClr val="56A8F5"/>
                </a:solidFill>
                <a:latin typeface="Consolas"/>
              </a:rPr>
              <a:t>IllegalArgumentException</a:t>
            </a:r>
            <a:r>
              <a:rPr sz="1650" dirty="0">
                <a:solidFill>
                  <a:srgbClr val="BCBEC4"/>
                </a:solidFill>
                <a:latin typeface="Consolas"/>
              </a:rPr>
              <a:t>(</a:t>
            </a:r>
            <a:r>
              <a:rPr sz="1650" dirty="0">
                <a:solidFill>
                  <a:srgbClr val="6AAB73"/>
                </a:solidFill>
                <a:latin typeface="Consolas"/>
              </a:rPr>
              <a:t>"</a:t>
            </a:r>
            <a:r>
              <a:rPr sz="1650" dirty="0" err="1">
                <a:solidFill>
                  <a:srgbClr val="6AAB73"/>
                </a:solidFill>
                <a:latin typeface="Consolas"/>
              </a:rPr>
              <a:t>Etage</a:t>
            </a:r>
            <a:r>
              <a:rPr sz="1650" dirty="0">
                <a:solidFill>
                  <a:srgbClr val="6AAB73"/>
                </a:solidFill>
                <a:latin typeface="Consolas"/>
              </a:rPr>
              <a:t> "</a:t>
            </a:r>
            <a:r>
              <a:rPr sz="1650" dirty="0">
                <a:solidFill>
                  <a:srgbClr val="BCBEC4"/>
                </a:solidFill>
                <a:latin typeface="Consolas"/>
              </a:rPr>
              <a:t> + </a:t>
            </a:r>
            <a:r>
              <a:rPr sz="1650" dirty="0" err="1">
                <a:solidFill>
                  <a:srgbClr val="BCBEC4"/>
                </a:solidFill>
                <a:latin typeface="Consolas"/>
              </a:rPr>
              <a:t>etage</a:t>
            </a:r>
            <a:endParaRPr sz="1650" dirty="0">
              <a:solidFill>
                <a:srgbClr val="BCBEC4"/>
              </a:solidFill>
              <a:latin typeface="Consolas"/>
            </a:endParaRPr>
          </a:p>
          <a:p>
            <a:pPr>
              <a:lnSpc>
                <a:spcPct val="100000"/>
              </a:lnSpc>
              <a:spcBef>
                <a:spcPts val="0"/>
              </a:spcBef>
              <a:spcAft>
                <a:spcPts val="0"/>
              </a:spcAft>
            </a:pPr>
            <a:r>
              <a:rPr sz="1650" dirty="0">
                <a:solidFill>
                  <a:srgbClr val="BCBEC4"/>
                </a:solidFill>
                <a:latin typeface="Consolas"/>
              </a:rPr>
              <a:t>                + </a:t>
            </a:r>
            <a:r>
              <a:rPr sz="1650" dirty="0">
                <a:solidFill>
                  <a:srgbClr val="6AAB73"/>
                </a:solidFill>
                <a:latin typeface="Consolas"/>
              </a:rPr>
              <a:t>" au-dela du dernier, "</a:t>
            </a:r>
            <a:r>
              <a:rPr sz="1650" dirty="0">
                <a:solidFill>
                  <a:srgbClr val="BCBEC4"/>
                </a:solidFill>
                <a:latin typeface="Consolas"/>
              </a:rPr>
              <a:t> + </a:t>
            </a:r>
            <a:r>
              <a:rPr sz="1650" dirty="0" err="1">
                <a:solidFill>
                  <a:srgbClr val="BCBEC4"/>
                </a:solidFill>
                <a:latin typeface="Consolas"/>
              </a:rPr>
              <a:t>dernierEtage</a:t>
            </a:r>
            <a:r>
              <a:rPr sz="1650" dirty="0">
                <a:solidFill>
                  <a:srgbClr val="BCBEC4"/>
                </a:solidFill>
                <a:latin typeface="Consolas"/>
              </a:rPr>
              <a:t>);</a:t>
            </a:r>
          </a:p>
          <a:p>
            <a:pPr>
              <a:lnSpc>
                <a:spcPct val="100000"/>
              </a:lnSpc>
              <a:spcBef>
                <a:spcPts val="0"/>
              </a:spcBef>
              <a:spcAft>
                <a:spcPts val="0"/>
              </a:spcAft>
            </a:pPr>
            <a:r>
              <a:rPr sz="1650" dirty="0">
                <a:solidFill>
                  <a:srgbClr val="BCBEC4"/>
                </a:solidFill>
                <a:latin typeface="Consolas"/>
              </a:rPr>
              <a:t>    }</a:t>
            </a:r>
          </a:p>
          <a:p>
            <a:pPr>
              <a:lnSpc>
                <a:spcPct val="100000"/>
              </a:lnSpc>
              <a:spcBef>
                <a:spcPts val="0"/>
              </a:spcBef>
              <a:spcAft>
                <a:spcPts val="0"/>
              </a:spcAft>
            </a:pPr>
            <a:r>
              <a:rPr sz="165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1. Le mécanisme des exceptions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Du </a:t>
            </a:r>
            <a:r>
              <a:rPr sz="3600">
                <a:solidFill>
                  <a:schemeClr val="accent4"/>
                </a:solidFill>
                <a:latin typeface="Consolas"/>
              </a:rPr>
              <a:t>throw</a:t>
            </a:r>
            <a:r>
              <a:rPr sz="4000"/>
              <a:t> au </a:t>
            </a:r>
            <a:r>
              <a:rPr sz="3600">
                <a:solidFill>
                  <a:schemeClr val="accent4"/>
                </a:solidFill>
                <a:latin typeface="Consolas"/>
              </a:rPr>
              <a:t>catch</a:t>
            </a:r>
          </a:p>
        </p:txBody>
      </p:sp>
      <p:sp>
        <p:nvSpPr>
          <p:cNvPr id="3" name="Content Placeholder 2"/>
          <p:cNvSpPr>
            <a:spLocks noGrp="1"/>
          </p:cNvSpPr>
          <p:nvPr>
            <p:ph idx="1"/>
          </p:nvPr>
        </p:nvSpPr>
        <p:spPr>
          <a:xfrm>
            <a:off x="640080" y="1371600"/>
            <a:ext cx="6524648" cy="1783080"/>
          </a:xfrm>
        </p:spPr>
        <p:txBody>
          <a:bodyPr>
            <a:normAutofit/>
          </a:bodyPr>
          <a:lstStyle/>
          <a:p>
            <a:pPr marL="0" indent="0">
              <a:spcAft>
                <a:spcPts val="1000"/>
              </a:spcAft>
              <a:buNone/>
            </a:pPr>
            <a:r>
              <a:rPr sz="2400" dirty="0" err="1"/>
              <a:t>Chaque</a:t>
            </a:r>
            <a:r>
              <a:rPr sz="2400" dirty="0"/>
              <a:t> </a:t>
            </a:r>
            <a:r>
              <a:rPr sz="2400" dirty="0" err="1"/>
              <a:t>appel</a:t>
            </a:r>
            <a:r>
              <a:rPr sz="2400" dirty="0"/>
              <a:t> </a:t>
            </a:r>
            <a:r>
              <a:rPr sz="2400" dirty="0" err="1"/>
              <a:t>empile</a:t>
            </a:r>
            <a:r>
              <a:rPr sz="2400" dirty="0"/>
              <a:t> </a:t>
            </a:r>
            <a:r>
              <a:rPr sz="2400" dirty="0" err="1"/>
              <a:t>une</a:t>
            </a:r>
            <a:r>
              <a:rPr sz="2400" dirty="0"/>
              <a:t> </a:t>
            </a:r>
            <a:r>
              <a:rPr sz="2400" dirty="0" err="1"/>
              <a:t>méthode</a:t>
            </a:r>
            <a:r>
              <a:rPr sz="2400" dirty="0"/>
              <a:t> : </a:t>
            </a:r>
            <a:r>
              <a:rPr sz="2000" dirty="0">
                <a:solidFill>
                  <a:schemeClr val="accent4"/>
                </a:solidFill>
                <a:latin typeface="Consolas"/>
              </a:rPr>
              <a:t>main</a:t>
            </a:r>
            <a:r>
              <a:rPr sz="2400" dirty="0"/>
              <a:t> </a:t>
            </a:r>
            <a:r>
              <a:rPr sz="2400" dirty="0" err="1"/>
              <a:t>appelle</a:t>
            </a:r>
            <a:r>
              <a:rPr sz="2400" dirty="0"/>
              <a:t> </a:t>
            </a:r>
            <a:r>
              <a:rPr sz="2000" dirty="0" err="1">
                <a:solidFill>
                  <a:schemeClr val="accent4"/>
                </a:solidFill>
                <a:latin typeface="Consolas"/>
              </a:rPr>
              <a:t>monter</a:t>
            </a:r>
            <a:r>
              <a:rPr sz="2400" dirty="0"/>
              <a:t>, qui </a:t>
            </a:r>
            <a:r>
              <a:rPr sz="2400" dirty="0" err="1"/>
              <a:t>appelle</a:t>
            </a:r>
            <a:r>
              <a:rPr sz="2400" dirty="0"/>
              <a:t> </a:t>
            </a:r>
            <a:r>
              <a:rPr sz="2000" dirty="0">
                <a:solidFill>
                  <a:schemeClr val="accent4"/>
                </a:solidFill>
                <a:latin typeface="Consolas"/>
              </a:rPr>
              <a:t>verifier</a:t>
            </a:r>
          </a:p>
          <a:p>
            <a:pPr marL="0" indent="0">
              <a:spcAft>
                <a:spcPts val="1000"/>
              </a:spcAft>
              <a:buNone/>
            </a:pPr>
            <a:r>
              <a:rPr sz="2400" dirty="0" err="1"/>
              <a:t>L'exception</a:t>
            </a:r>
            <a:r>
              <a:rPr sz="2400" dirty="0"/>
              <a:t> levée dans </a:t>
            </a:r>
            <a:r>
              <a:rPr sz="2000" dirty="0">
                <a:solidFill>
                  <a:schemeClr val="accent4"/>
                </a:solidFill>
                <a:latin typeface="Consolas"/>
              </a:rPr>
              <a:t>verifier</a:t>
            </a:r>
            <a:r>
              <a:rPr sz="2400" dirty="0"/>
              <a:t> remonte par </a:t>
            </a:r>
            <a:r>
              <a:rPr sz="2000" dirty="0" err="1">
                <a:solidFill>
                  <a:schemeClr val="accent4"/>
                </a:solidFill>
                <a:latin typeface="Consolas"/>
              </a:rPr>
              <a:t>monter</a:t>
            </a:r>
            <a:r>
              <a:rPr sz="2400" dirty="0"/>
              <a:t>, </a:t>
            </a:r>
            <a:r>
              <a:rPr lang="nl-BE" sz="2400" dirty="0"/>
              <a:t>abandonnée,</a:t>
            </a:r>
            <a:r>
              <a:rPr sz="2400" dirty="0"/>
              <a:t> </a:t>
            </a:r>
            <a:r>
              <a:rPr sz="2400" dirty="0" err="1"/>
              <a:t>jusqu'au</a:t>
            </a:r>
            <a:r>
              <a:rPr sz="2400" dirty="0"/>
              <a:t> </a:t>
            </a:r>
            <a:r>
              <a:rPr sz="2000" dirty="0">
                <a:solidFill>
                  <a:schemeClr val="accent4"/>
                </a:solidFill>
                <a:latin typeface="Consolas"/>
              </a:rPr>
              <a:t>catch</a:t>
            </a:r>
            <a:r>
              <a:rPr sz="2400" dirty="0"/>
              <a:t> de </a:t>
            </a:r>
            <a:r>
              <a:rPr sz="2000" dirty="0">
                <a:solidFill>
                  <a:schemeClr val="accent4"/>
                </a:solidFill>
                <a:latin typeface="Consolas"/>
              </a:rPr>
              <a:t>main</a:t>
            </a:r>
          </a:p>
        </p:txBody>
      </p:sp>
      <p:sp>
        <p:nvSpPr>
          <p:cNvPr id="4"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1. Le mécanisme des exceptions</a:t>
            </a:r>
          </a:p>
        </p:txBody>
      </p:sp>
      <p:sp>
        <p:nvSpPr>
          <p:cNvPr id="8" name="Rounded Rectangle 7"/>
          <p:cNvSpPr/>
          <p:nvPr/>
        </p:nvSpPr>
        <p:spPr>
          <a:xfrm>
            <a:off x="1828800" y="3154680"/>
            <a:ext cx="5852160" cy="777240"/>
          </a:xfrm>
          <a:prstGeom prst="roundRect">
            <a:avLst>
              <a:gd name="adj" fmla="val 10000"/>
            </a:avLst>
          </a:prstGeom>
          <a:solidFill>
            <a:srgbClr val="1D1F22"/>
          </a:solidFill>
          <a:ln w="19050">
            <a:solidFill>
              <a:srgbClr val="E06C6C"/>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500" b="1" dirty="0">
                <a:solidFill>
                  <a:srgbClr val="FFC000"/>
                </a:solidFill>
                <a:latin typeface="Consolas"/>
              </a:rPr>
              <a:t>verifier(12)</a:t>
            </a:r>
          </a:p>
          <a:p>
            <a:pPr algn="ctr"/>
            <a:r>
              <a:rPr lang="fr-BE" sz="1200" dirty="0">
                <a:solidFill>
                  <a:srgbClr val="E8E8E8"/>
                </a:solidFill>
                <a:latin typeface="Consolas"/>
              </a:rPr>
              <a:t>throw new IllegalArgumentException(...)</a:t>
            </a:r>
          </a:p>
        </p:txBody>
      </p:sp>
      <p:sp>
        <p:nvSpPr>
          <p:cNvPr id="9" name="Rounded Rectangle 8"/>
          <p:cNvSpPr/>
          <p:nvPr/>
        </p:nvSpPr>
        <p:spPr>
          <a:xfrm>
            <a:off x="1828800" y="4069080"/>
            <a:ext cx="5852160" cy="77724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500" b="1" dirty="0">
                <a:solidFill>
                  <a:srgbClr val="9DA0A8"/>
                </a:solidFill>
                <a:latin typeface="Consolas"/>
              </a:rPr>
              <a:t>monter(12)</a:t>
            </a:r>
          </a:p>
          <a:p>
            <a:pPr algn="ctr"/>
            <a:r>
              <a:rPr lang="fr-BE" sz="1200" dirty="0">
                <a:solidFill>
                  <a:srgbClr val="6F737A"/>
                </a:solidFill>
                <a:latin typeface="Consolas"/>
              </a:rPr>
              <a:t>deplacer(12);   // jamais execute</a:t>
            </a:r>
          </a:p>
        </p:txBody>
      </p:sp>
      <p:sp>
        <p:nvSpPr>
          <p:cNvPr id="10" name="Rounded Rectangle 9"/>
          <p:cNvSpPr/>
          <p:nvPr/>
        </p:nvSpPr>
        <p:spPr>
          <a:xfrm>
            <a:off x="1828800" y="4983480"/>
            <a:ext cx="5852160" cy="777240"/>
          </a:xfrm>
          <a:prstGeom prst="roundRect">
            <a:avLst>
              <a:gd name="adj" fmla="val 10000"/>
            </a:avLst>
          </a:prstGeom>
          <a:solidFill>
            <a:srgbClr val="1D1F22"/>
          </a:solidFill>
          <a:ln w="19050">
            <a:solidFill>
              <a:srgbClr val="FFC000"/>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500" b="1" dirty="0">
                <a:solidFill>
                  <a:srgbClr val="FFC000"/>
                </a:solidFill>
                <a:latin typeface="Consolas"/>
              </a:rPr>
              <a:t>main()</a:t>
            </a:r>
          </a:p>
          <a:p>
            <a:pPr algn="ctr"/>
            <a:r>
              <a:rPr lang="fr-BE" sz="1200" dirty="0">
                <a:solidFill>
                  <a:srgbClr val="E8E8E8"/>
                </a:solidFill>
                <a:latin typeface="Consolas"/>
              </a:rPr>
              <a:t>try { ... } catch (IllegalArgumentException e) { ... }</a:t>
            </a:r>
          </a:p>
        </p:txBody>
      </p:sp>
      <p:grpSp>
        <p:nvGrpSpPr>
          <p:cNvPr id="7" name="Groupe 6">
            <a:extLst>
              <a:ext uri="{FF2B5EF4-FFF2-40B4-BE49-F238E27FC236}">
                <a16:creationId xmlns:a16="http://schemas.microsoft.com/office/drawing/2014/main" id="{D66DD8E0-5195-3CAA-5634-83B8D358CF60}"/>
              </a:ext>
            </a:extLst>
          </p:cNvPr>
          <p:cNvGrpSpPr/>
          <p:nvPr/>
        </p:nvGrpSpPr>
        <p:grpSpPr>
          <a:xfrm>
            <a:off x="411480" y="3566160"/>
            <a:ext cx="1051560" cy="1783080"/>
            <a:chOff x="411480" y="3566160"/>
            <a:chExt cx="1051560" cy="1783080"/>
          </a:xfrm>
        </p:grpSpPr>
        <p:cxnSp>
          <p:nvCxnSpPr>
            <p:cNvPr id="11" name="Connector 10"/>
            <p:cNvCxnSpPr/>
            <p:nvPr/>
          </p:nvCxnSpPr>
          <p:spPr>
            <a:xfrm flipV="1">
              <a:off x="1463040" y="3566160"/>
              <a:ext cx="0" cy="178308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11480" y="4343400"/>
              <a:ext cx="960120" cy="274320"/>
            </a:xfrm>
            <a:prstGeom prst="rect">
              <a:avLst/>
            </a:prstGeom>
            <a:noFill/>
          </p:spPr>
          <p:txBody>
            <a:bodyPr wrap="none" lIns="0" tIns="0" rIns="0" bIns="0">
              <a:spAutoFit/>
            </a:bodyPr>
            <a:lstStyle/>
            <a:p>
              <a:pPr algn="ctr"/>
              <a:r>
                <a:rPr lang="fr-BE" sz="1200" dirty="0">
                  <a:solidFill>
                    <a:srgbClr val="BCBEC4"/>
                  </a:solidFill>
                </a:rPr>
                <a:t>appelle</a:t>
              </a:r>
            </a:p>
          </p:txBody>
        </p:sp>
      </p:grpSp>
      <p:grpSp>
        <p:nvGrpSpPr>
          <p:cNvPr id="18" name="Groupe 17">
            <a:extLst>
              <a:ext uri="{FF2B5EF4-FFF2-40B4-BE49-F238E27FC236}">
                <a16:creationId xmlns:a16="http://schemas.microsoft.com/office/drawing/2014/main" id="{059C26BB-9409-6944-484D-621DDCC21C0E}"/>
              </a:ext>
            </a:extLst>
          </p:cNvPr>
          <p:cNvGrpSpPr/>
          <p:nvPr/>
        </p:nvGrpSpPr>
        <p:grpSpPr>
          <a:xfrm>
            <a:off x="8046720" y="3566160"/>
            <a:ext cx="857356" cy="1783080"/>
            <a:chOff x="8046720" y="3566160"/>
            <a:chExt cx="857356" cy="1783080"/>
          </a:xfrm>
        </p:grpSpPr>
        <p:cxnSp>
          <p:nvCxnSpPr>
            <p:cNvPr id="13" name="Connector 12"/>
            <p:cNvCxnSpPr/>
            <p:nvPr/>
          </p:nvCxnSpPr>
          <p:spPr>
            <a:xfrm>
              <a:off x="8046720" y="3566160"/>
              <a:ext cx="0" cy="1783080"/>
            </a:xfrm>
            <a:prstGeom prst="line">
              <a:avLst/>
            </a:prstGeom>
            <a:ln w="38100">
              <a:solidFill>
                <a:srgbClr val="E06C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183879" y="4343400"/>
              <a:ext cx="720197" cy="369332"/>
            </a:xfrm>
            <a:prstGeom prst="rect">
              <a:avLst/>
            </a:prstGeom>
            <a:noFill/>
          </p:spPr>
          <p:txBody>
            <a:bodyPr wrap="none" lIns="0" tIns="0" rIns="0" bIns="0">
              <a:spAutoFit/>
            </a:bodyPr>
            <a:lstStyle/>
            <a:p>
              <a:pPr algn="l"/>
              <a:r>
                <a:rPr lang="fr-BE" sz="1200" dirty="0">
                  <a:solidFill>
                    <a:srgbClr val="E06C6C"/>
                  </a:solidFill>
                </a:rPr>
                <a:t>L’exception</a:t>
              </a:r>
            </a:p>
            <a:p>
              <a:pPr algn="l"/>
              <a:r>
                <a:rPr lang="fr-BE" sz="1200" dirty="0">
                  <a:solidFill>
                    <a:srgbClr val="E06C6C"/>
                  </a:solidFill>
                </a:rPr>
                <a:t>remonte</a:t>
              </a:r>
            </a:p>
          </p:txBody>
        </p:sp>
      </p:grpSp>
      <p:sp>
        <p:nvSpPr>
          <p:cNvPr id="15" name="TextBox 14"/>
          <p:cNvSpPr txBox="1"/>
          <p:nvPr/>
        </p:nvSpPr>
        <p:spPr>
          <a:xfrm>
            <a:off x="9418320" y="3401568"/>
            <a:ext cx="2560320" cy="274320"/>
          </a:xfrm>
          <a:prstGeom prst="rect">
            <a:avLst/>
          </a:prstGeom>
          <a:noFill/>
        </p:spPr>
        <p:txBody>
          <a:bodyPr wrap="none" lIns="0" tIns="0" rIns="0" bIns="0">
            <a:spAutoFit/>
          </a:bodyPr>
          <a:lstStyle/>
          <a:p>
            <a:pPr algn="l"/>
            <a:r>
              <a:rPr lang="fr-BE" sz="1200" dirty="0">
                <a:solidFill>
                  <a:srgbClr val="BCBEC4"/>
                </a:solidFill>
              </a:rPr>
              <a:t>s'arrête net</a:t>
            </a:r>
          </a:p>
        </p:txBody>
      </p:sp>
      <p:sp>
        <p:nvSpPr>
          <p:cNvPr id="16" name="TextBox 15"/>
          <p:cNvSpPr txBox="1"/>
          <p:nvPr/>
        </p:nvSpPr>
        <p:spPr>
          <a:xfrm>
            <a:off x="9418320" y="4315968"/>
            <a:ext cx="2560320" cy="274320"/>
          </a:xfrm>
          <a:prstGeom prst="rect">
            <a:avLst/>
          </a:prstGeom>
          <a:noFill/>
        </p:spPr>
        <p:txBody>
          <a:bodyPr wrap="none" lIns="0" tIns="0" rIns="0" bIns="0">
            <a:spAutoFit/>
          </a:bodyPr>
          <a:lstStyle/>
          <a:p>
            <a:pPr algn="l"/>
            <a:r>
              <a:rPr lang="fr-BE" sz="1200" dirty="0">
                <a:solidFill>
                  <a:srgbClr val="BCBEC4"/>
                </a:solidFill>
              </a:rPr>
              <a:t>abandonnée à son tour</a:t>
            </a:r>
          </a:p>
        </p:txBody>
      </p:sp>
      <p:sp>
        <p:nvSpPr>
          <p:cNvPr id="17" name="TextBox 16"/>
          <p:cNvSpPr txBox="1"/>
          <p:nvPr/>
        </p:nvSpPr>
        <p:spPr>
          <a:xfrm>
            <a:off x="9418320" y="5230368"/>
            <a:ext cx="2560320" cy="274320"/>
          </a:xfrm>
          <a:prstGeom prst="rect">
            <a:avLst/>
          </a:prstGeom>
          <a:noFill/>
        </p:spPr>
        <p:txBody>
          <a:bodyPr wrap="none" lIns="0" tIns="0" rIns="0" bIns="0">
            <a:spAutoFit/>
          </a:bodyPr>
          <a:lstStyle/>
          <a:p>
            <a:pPr algn="l"/>
            <a:r>
              <a:rPr lang="fr-BE" sz="1200" dirty="0">
                <a:solidFill>
                  <a:srgbClr val="FFC000"/>
                </a:solidFill>
              </a:rPr>
              <a:t>le </a:t>
            </a:r>
            <a:r>
              <a:rPr lang="fr-BE" sz="1100" dirty="0">
                <a:solidFill>
                  <a:schemeClr val="accent4"/>
                </a:solidFill>
                <a:latin typeface="Consolas"/>
              </a:rPr>
              <a:t>catch</a:t>
            </a:r>
            <a:r>
              <a:rPr lang="fr-BE" sz="1200" dirty="0">
                <a:solidFill>
                  <a:srgbClr val="FFC000"/>
                </a:solidFill>
              </a:rPr>
              <a:t> la traite ici</a:t>
            </a:r>
          </a:p>
        </p:txBody>
      </p:sp>
      <p:sp>
        <p:nvSpPr>
          <p:cNvPr id="6" name="Code">
            <a:extLst>
              <a:ext uri="{FF2B5EF4-FFF2-40B4-BE49-F238E27FC236}">
                <a16:creationId xmlns:a16="http://schemas.microsoft.com/office/drawing/2014/main" id="{7F93FD3D-6D07-DF46-4866-1DD082599BCD}"/>
              </a:ext>
            </a:extLst>
          </p:cNvPr>
          <p:cNvSpPr txBox="1"/>
          <p:nvPr/>
        </p:nvSpPr>
        <p:spPr>
          <a:xfrm>
            <a:off x="7436742" y="389187"/>
            <a:ext cx="4663184" cy="2353791"/>
          </a:xfrm>
          <a:prstGeom prst="roundRect">
            <a:avLst>
              <a:gd name="adj" fmla="val 3007"/>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400" dirty="0">
                <a:solidFill>
                  <a:srgbClr val="CF8E6D"/>
                </a:solidFill>
                <a:latin typeface="Consolas"/>
              </a:rPr>
              <a:t>void</a:t>
            </a:r>
            <a:r>
              <a:rPr sz="1400" dirty="0">
                <a:solidFill>
                  <a:srgbClr val="BCBEC4"/>
                </a:solidFill>
                <a:latin typeface="Consolas"/>
              </a:rPr>
              <a:t> </a:t>
            </a:r>
            <a:r>
              <a:rPr sz="1400" dirty="0" err="1">
                <a:solidFill>
                  <a:srgbClr val="56A8F5"/>
                </a:solidFill>
                <a:latin typeface="Consolas"/>
              </a:rPr>
              <a:t>monter</a:t>
            </a:r>
            <a:r>
              <a:rPr sz="1400" dirty="0">
                <a:solidFill>
                  <a:srgbClr val="BCBEC4"/>
                </a:solidFill>
                <a:latin typeface="Consolas"/>
              </a:rPr>
              <a:t>(</a:t>
            </a:r>
            <a:r>
              <a:rPr sz="1400" dirty="0">
                <a:solidFill>
                  <a:srgbClr val="CF8E6D"/>
                </a:solidFill>
                <a:latin typeface="Consolas"/>
              </a:rPr>
              <a:t>int</a:t>
            </a:r>
            <a:r>
              <a:rPr sz="1400" dirty="0">
                <a:solidFill>
                  <a:srgbClr val="BCBEC4"/>
                </a:solidFill>
                <a:latin typeface="Consolas"/>
              </a:rPr>
              <a:t> </a:t>
            </a:r>
            <a:r>
              <a:rPr sz="1400" dirty="0" err="1">
                <a:solidFill>
                  <a:srgbClr val="BCBEC4"/>
                </a:solidFill>
                <a:latin typeface="Consolas"/>
              </a:rPr>
              <a:t>etage</a:t>
            </a:r>
            <a:r>
              <a:rPr sz="1400" dirty="0">
                <a:solidFill>
                  <a:srgbClr val="BCBEC4"/>
                </a:solidFill>
                <a:latin typeface="Consolas"/>
              </a:rPr>
              <a:t>) {</a:t>
            </a:r>
          </a:p>
          <a:p>
            <a:pPr>
              <a:lnSpc>
                <a:spcPct val="100000"/>
              </a:lnSpc>
              <a:spcBef>
                <a:spcPts val="0"/>
              </a:spcBef>
              <a:spcAft>
                <a:spcPts val="0"/>
              </a:spcAft>
            </a:pPr>
            <a:r>
              <a:rPr sz="1400" dirty="0">
                <a:solidFill>
                  <a:srgbClr val="BCBEC4"/>
                </a:solidFill>
                <a:latin typeface="Consolas"/>
              </a:rPr>
              <a:t>  </a:t>
            </a:r>
            <a:r>
              <a:rPr sz="1400" dirty="0">
                <a:solidFill>
                  <a:srgbClr val="56A8F5"/>
                </a:solidFill>
                <a:latin typeface="Consolas"/>
              </a:rPr>
              <a:t>verifier</a:t>
            </a:r>
            <a:r>
              <a:rPr sz="1400" dirty="0">
                <a:solidFill>
                  <a:srgbClr val="BCBEC4"/>
                </a:solidFill>
                <a:latin typeface="Consolas"/>
              </a:rPr>
              <a:t>(</a:t>
            </a:r>
            <a:r>
              <a:rPr sz="1400" dirty="0" err="1">
                <a:solidFill>
                  <a:srgbClr val="BCBEC4"/>
                </a:solidFill>
                <a:latin typeface="Consolas"/>
              </a:rPr>
              <a:t>etage</a:t>
            </a:r>
            <a:r>
              <a:rPr lang="nl-BE" sz="1400" dirty="0">
                <a:solidFill>
                  <a:srgbClr val="BCBEC4"/>
                </a:solidFill>
                <a:latin typeface="Consolas"/>
              </a:rPr>
              <a:t>);</a:t>
            </a:r>
            <a:r>
              <a:rPr sz="1400" dirty="0">
                <a:solidFill>
                  <a:srgbClr val="BCBEC4"/>
                </a:solidFill>
                <a:latin typeface="Consolas"/>
              </a:rPr>
              <a:t>      </a:t>
            </a:r>
            <a:endParaRPr lang="nl-BE" sz="1400" dirty="0">
              <a:solidFill>
                <a:srgbClr val="7A7E85"/>
              </a:solidFill>
              <a:latin typeface="Consolas"/>
            </a:endParaRPr>
          </a:p>
          <a:p>
            <a:pPr>
              <a:lnSpc>
                <a:spcPct val="100000"/>
              </a:lnSpc>
              <a:spcBef>
                <a:spcPts val="0"/>
              </a:spcBef>
              <a:spcAft>
                <a:spcPts val="0"/>
              </a:spcAft>
            </a:pPr>
            <a:r>
              <a:rPr sz="1400" dirty="0">
                <a:solidFill>
                  <a:srgbClr val="BCBEC4"/>
                </a:solidFill>
                <a:latin typeface="Consolas"/>
              </a:rPr>
              <a:t>  </a:t>
            </a:r>
            <a:r>
              <a:rPr sz="1400" dirty="0" err="1">
                <a:solidFill>
                  <a:srgbClr val="56A8F5"/>
                </a:solidFill>
                <a:latin typeface="Consolas"/>
              </a:rPr>
              <a:t>deplacer</a:t>
            </a:r>
            <a:r>
              <a:rPr sz="1400" dirty="0">
                <a:solidFill>
                  <a:srgbClr val="BCBEC4"/>
                </a:solidFill>
                <a:latin typeface="Consolas"/>
              </a:rPr>
              <a:t>(</a:t>
            </a:r>
            <a:r>
              <a:rPr sz="1400" dirty="0" err="1">
                <a:solidFill>
                  <a:srgbClr val="BCBEC4"/>
                </a:solidFill>
                <a:latin typeface="Consolas"/>
              </a:rPr>
              <a:t>etage</a:t>
            </a:r>
            <a:r>
              <a:rPr lang="nl-BE" sz="1400" dirty="0">
                <a:solidFill>
                  <a:srgbClr val="BCBEC4"/>
                </a:solidFill>
                <a:latin typeface="Consolas"/>
              </a:rPr>
              <a:t>);</a:t>
            </a:r>
            <a:endParaRPr sz="1400" dirty="0">
              <a:solidFill>
                <a:srgbClr val="7A7E85"/>
              </a:solidFill>
              <a:latin typeface="Consolas"/>
            </a:endParaRPr>
          </a:p>
          <a:p>
            <a:pPr>
              <a:lnSpc>
                <a:spcPct val="100000"/>
              </a:lnSpc>
              <a:spcBef>
                <a:spcPts val="0"/>
              </a:spcBef>
              <a:spcAft>
                <a:spcPts val="0"/>
              </a:spcAft>
            </a:pPr>
            <a:r>
              <a:rPr sz="1400" dirty="0">
                <a:solidFill>
                  <a:srgbClr val="BCBEC4"/>
                </a:solidFill>
                <a:latin typeface="Consolas"/>
              </a:rPr>
              <a:t>}</a:t>
            </a:r>
          </a:p>
          <a:p>
            <a:pPr>
              <a:lnSpc>
                <a:spcPct val="100000"/>
              </a:lnSpc>
              <a:spcBef>
                <a:spcPts val="0"/>
              </a:spcBef>
              <a:spcAft>
                <a:spcPts val="0"/>
              </a:spcAft>
            </a:pPr>
            <a:r>
              <a:rPr sz="1400" dirty="0">
                <a:solidFill>
                  <a:srgbClr val="BCBEC4"/>
                </a:solidFill>
                <a:latin typeface="Consolas"/>
              </a:rPr>
              <a:t> </a:t>
            </a:r>
          </a:p>
          <a:p>
            <a:pPr>
              <a:lnSpc>
                <a:spcPct val="100000"/>
              </a:lnSpc>
              <a:spcBef>
                <a:spcPts val="0"/>
              </a:spcBef>
              <a:spcAft>
                <a:spcPts val="0"/>
              </a:spcAft>
            </a:pPr>
            <a:r>
              <a:rPr sz="1400" dirty="0">
                <a:solidFill>
                  <a:srgbClr val="CF8E6D"/>
                </a:solidFill>
                <a:latin typeface="Consolas"/>
              </a:rPr>
              <a:t>void</a:t>
            </a:r>
            <a:r>
              <a:rPr sz="1400" dirty="0">
                <a:solidFill>
                  <a:srgbClr val="BCBEC4"/>
                </a:solidFill>
                <a:latin typeface="Consolas"/>
              </a:rPr>
              <a:t> </a:t>
            </a:r>
            <a:r>
              <a:rPr sz="1400" dirty="0">
                <a:solidFill>
                  <a:srgbClr val="56A8F5"/>
                </a:solidFill>
                <a:latin typeface="Consolas"/>
              </a:rPr>
              <a:t>verifier</a:t>
            </a:r>
            <a:r>
              <a:rPr sz="1400" dirty="0">
                <a:solidFill>
                  <a:srgbClr val="BCBEC4"/>
                </a:solidFill>
                <a:latin typeface="Consolas"/>
              </a:rPr>
              <a:t>(</a:t>
            </a:r>
            <a:r>
              <a:rPr sz="1400" dirty="0">
                <a:solidFill>
                  <a:srgbClr val="CF8E6D"/>
                </a:solidFill>
                <a:latin typeface="Consolas"/>
              </a:rPr>
              <a:t>int</a:t>
            </a:r>
            <a:r>
              <a:rPr sz="1400" dirty="0">
                <a:solidFill>
                  <a:srgbClr val="BCBEC4"/>
                </a:solidFill>
                <a:latin typeface="Consolas"/>
              </a:rPr>
              <a:t> </a:t>
            </a:r>
            <a:r>
              <a:rPr sz="1400" dirty="0" err="1">
                <a:solidFill>
                  <a:srgbClr val="BCBEC4"/>
                </a:solidFill>
                <a:latin typeface="Consolas"/>
              </a:rPr>
              <a:t>etage</a:t>
            </a:r>
            <a:r>
              <a:rPr sz="1400" dirty="0">
                <a:solidFill>
                  <a:srgbClr val="BCBEC4"/>
                </a:solidFill>
                <a:latin typeface="Consolas"/>
              </a:rPr>
              <a:t>) {</a:t>
            </a:r>
          </a:p>
          <a:p>
            <a:pPr>
              <a:lnSpc>
                <a:spcPct val="100000"/>
              </a:lnSpc>
              <a:spcBef>
                <a:spcPts val="0"/>
              </a:spcBef>
              <a:spcAft>
                <a:spcPts val="0"/>
              </a:spcAft>
            </a:pPr>
            <a:r>
              <a:rPr sz="1400" dirty="0">
                <a:solidFill>
                  <a:srgbClr val="BCBEC4"/>
                </a:solidFill>
                <a:latin typeface="Consolas"/>
              </a:rPr>
              <a:t>  </a:t>
            </a:r>
            <a:r>
              <a:rPr sz="1400" dirty="0">
                <a:solidFill>
                  <a:srgbClr val="CF8E6D"/>
                </a:solidFill>
                <a:latin typeface="Consolas"/>
              </a:rPr>
              <a:t>if</a:t>
            </a:r>
            <a:r>
              <a:rPr sz="1400" dirty="0">
                <a:solidFill>
                  <a:srgbClr val="BCBEC4"/>
                </a:solidFill>
                <a:latin typeface="Consolas"/>
              </a:rPr>
              <a:t> (</a:t>
            </a:r>
            <a:r>
              <a:rPr sz="1400" dirty="0" err="1">
                <a:solidFill>
                  <a:srgbClr val="BCBEC4"/>
                </a:solidFill>
                <a:latin typeface="Consolas"/>
              </a:rPr>
              <a:t>etage</a:t>
            </a:r>
            <a:r>
              <a:rPr sz="1400" dirty="0">
                <a:solidFill>
                  <a:srgbClr val="BCBEC4"/>
                </a:solidFill>
                <a:latin typeface="Consolas"/>
              </a:rPr>
              <a:t> &gt; </a:t>
            </a:r>
            <a:r>
              <a:rPr sz="1400" dirty="0" err="1">
                <a:solidFill>
                  <a:srgbClr val="BCBEC4"/>
                </a:solidFill>
                <a:latin typeface="Consolas"/>
              </a:rPr>
              <a:t>dernierEtage</a:t>
            </a:r>
            <a:r>
              <a:rPr sz="1400" dirty="0">
                <a:solidFill>
                  <a:srgbClr val="BCBEC4"/>
                </a:solidFill>
                <a:latin typeface="Consolas"/>
              </a:rPr>
              <a:t>) {</a:t>
            </a:r>
          </a:p>
          <a:p>
            <a:pPr>
              <a:lnSpc>
                <a:spcPct val="100000"/>
              </a:lnSpc>
              <a:spcBef>
                <a:spcPts val="0"/>
              </a:spcBef>
              <a:spcAft>
                <a:spcPts val="0"/>
              </a:spcAft>
            </a:pPr>
            <a:r>
              <a:rPr sz="1400" dirty="0">
                <a:solidFill>
                  <a:srgbClr val="BCBEC4"/>
                </a:solidFill>
                <a:latin typeface="Consolas"/>
              </a:rPr>
              <a:t>    </a:t>
            </a:r>
            <a:r>
              <a:rPr sz="1400" dirty="0">
                <a:solidFill>
                  <a:srgbClr val="CF8E6D"/>
                </a:solidFill>
                <a:latin typeface="Consolas"/>
              </a:rPr>
              <a:t>throw</a:t>
            </a:r>
            <a:r>
              <a:rPr sz="1400" dirty="0">
                <a:solidFill>
                  <a:srgbClr val="BCBEC4"/>
                </a:solidFill>
                <a:latin typeface="Consolas"/>
              </a:rPr>
              <a:t> </a:t>
            </a:r>
            <a:r>
              <a:rPr sz="1400" dirty="0">
                <a:solidFill>
                  <a:srgbClr val="CF8E6D"/>
                </a:solidFill>
                <a:latin typeface="Consolas"/>
              </a:rPr>
              <a:t>new</a:t>
            </a:r>
            <a:r>
              <a:rPr sz="1400" dirty="0">
                <a:solidFill>
                  <a:srgbClr val="BCBEC4"/>
                </a:solidFill>
                <a:latin typeface="Consolas"/>
              </a:rPr>
              <a:t> </a:t>
            </a:r>
            <a:r>
              <a:rPr sz="1400" dirty="0" err="1">
                <a:solidFill>
                  <a:srgbClr val="56A8F5"/>
                </a:solidFill>
                <a:latin typeface="Consolas"/>
              </a:rPr>
              <a:t>IllegalArgumentException</a:t>
            </a:r>
            <a:r>
              <a:rPr sz="1400" dirty="0">
                <a:solidFill>
                  <a:srgbClr val="BCBEC4"/>
                </a:solidFill>
                <a:latin typeface="Consolas"/>
              </a:rPr>
              <a:t>(</a:t>
            </a:r>
            <a:r>
              <a:rPr lang="nl-BE" sz="1400" dirty="0">
                <a:solidFill>
                  <a:srgbClr val="6AAB73"/>
                </a:solidFill>
                <a:latin typeface="Consolas"/>
              </a:rPr>
              <a:t>...</a:t>
            </a:r>
            <a:r>
              <a:rPr sz="1400" dirty="0">
                <a:solidFill>
                  <a:srgbClr val="BCBEC4"/>
                </a:solidFill>
                <a:latin typeface="Consolas"/>
              </a:rPr>
              <a:t>);</a:t>
            </a:r>
            <a:endParaRPr lang="nl-BE" sz="1400" dirty="0">
              <a:solidFill>
                <a:srgbClr val="BCBEC4"/>
              </a:solidFill>
              <a:latin typeface="Consolas"/>
            </a:endParaRPr>
          </a:p>
          <a:p>
            <a:pPr>
              <a:lnSpc>
                <a:spcPct val="100000"/>
              </a:lnSpc>
              <a:spcBef>
                <a:spcPts val="0"/>
              </a:spcBef>
              <a:spcAft>
                <a:spcPts val="0"/>
              </a:spcAft>
            </a:pPr>
            <a:r>
              <a:rPr sz="1400" dirty="0">
                <a:solidFill>
                  <a:srgbClr val="BCBEC4"/>
                </a:solidFill>
                <a:latin typeface="Consolas"/>
              </a:rPr>
              <a:t>  }</a:t>
            </a:r>
          </a:p>
          <a:p>
            <a:pPr>
              <a:lnSpc>
                <a:spcPct val="100000"/>
              </a:lnSpc>
              <a:spcBef>
                <a:spcPts val="0"/>
              </a:spcBef>
              <a:spcAft>
                <a:spcPts val="0"/>
              </a:spcAft>
            </a:pPr>
            <a:r>
              <a:rPr sz="1400" dirty="0">
                <a:solidFill>
                  <a:srgbClr val="BCBEC4"/>
                </a:solidFill>
                <a:latin typeface="Consola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43"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100"/>
                                        <p:tgtEl>
                                          <p:spTgt spid="15"/>
                                        </p:tgtEl>
                                      </p:cBhvr>
                                    </p:animEffect>
                                    <p:anim calcmode="lin" valueType="num">
                                      <p:cBhvr>
                                        <p:cTn id="32" dur="400" fill="hold"/>
                                        <p:tgtEl>
                                          <p:spTgt spid="15"/>
                                        </p:tgtEl>
                                        <p:attrNameLst>
                                          <p:attrName>ppt_x</p:attrName>
                                        </p:attrNameLst>
                                      </p:cBhvr>
                                      <p:tavLst>
                                        <p:tav tm="0">
                                          <p:val>
                                            <p:strVal val="#ppt_x"/>
                                          </p:val>
                                        </p:tav>
                                        <p:tav tm="100000">
                                          <p:val>
                                            <p:strVal val="#ppt_x"/>
                                          </p:val>
                                        </p:tav>
                                      </p:tavLst>
                                    </p:anim>
                                    <p:anim calcmode="lin" valueType="num">
                                      <p:cBhvr>
                                        <p:cTn id="33" dur="400" fill="hold"/>
                                        <p:tgtEl>
                                          <p:spTgt spid="15"/>
                                        </p:tgtEl>
                                        <p:attrNameLst>
                                          <p:attrName>ppt_y</p:attrName>
                                        </p:attrNameLst>
                                      </p:cBhvr>
                                      <p:tavLst>
                                        <p:tav tm="0">
                                          <p:val>
                                            <p:strVal val="#ppt_y+0.31"/>
                                          </p:val>
                                        </p:tav>
                                        <p:tav tm="100000">
                                          <p:val>
                                            <p:strVal val="#ppt_y+0.31"/>
                                          </p:val>
                                        </p:tav>
                                      </p:tavLst>
                                    </p:anim>
                                    <p:anim calcmode="lin" valueType="num">
                                      <p:cBhvr>
                                        <p:cTn id="34" dur="600" decel="50000" fill="hold">
                                          <p:stCondLst>
                                            <p:cond delay="400"/>
                                          </p:stCondLst>
                                        </p:cTn>
                                        <p:tgtEl>
                                          <p:spTgt spid="15"/>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35" dur="600" decel="50000" fill="hold">
                                          <p:stCondLst>
                                            <p:cond delay="400"/>
                                          </p:stCondLst>
                                        </p:cTn>
                                        <p:tgtEl>
                                          <p:spTgt spid="15"/>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wipe(up)">
                                      <p:cBhvr>
                                        <p:cTn id="40" dur="500"/>
                                        <p:tgtEl>
                                          <p:spTgt spid="18"/>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5" grpId="0"/>
      <p:bldP spid="16" grpId="0"/>
      <p:bldP spid="17" grpId="0"/>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A5FD33A4-506A-73E2-E678-0031BD527AAC}"/>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C39A88CC-5ABE-A7FF-9C13-70784A30BB2E}"/>
              </a:ext>
            </a:extLst>
          </p:cNvPr>
          <p:cNvSpPr txBox="1"/>
          <p:nvPr/>
        </p:nvSpPr>
        <p:spPr>
          <a:xfrm>
            <a:off x="838200" y="946800"/>
            <a:ext cx="7084760"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2. Lever, et déclarer</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Écrire sa classe d'exception</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dirty="0"/>
              <a:t>Une </a:t>
            </a:r>
            <a:r>
              <a:rPr lang="nl-BE" sz="2800" dirty="0"/>
              <a:t>exception est juste une </a:t>
            </a:r>
            <a:r>
              <a:rPr sz="2800" dirty="0" err="1"/>
              <a:t>classe</a:t>
            </a:r>
            <a:r>
              <a:rPr sz="2800" dirty="0"/>
              <a:t> qui </a:t>
            </a:r>
            <a:r>
              <a:rPr sz="2800" dirty="0" err="1"/>
              <a:t>hérite</a:t>
            </a:r>
            <a:r>
              <a:rPr sz="2800" dirty="0"/>
              <a:t> </a:t>
            </a:r>
            <a:r>
              <a:rPr sz="2800" dirty="0" err="1"/>
              <a:t>d'</a:t>
            </a:r>
            <a:r>
              <a:rPr sz="2400" dirty="0" err="1">
                <a:solidFill>
                  <a:schemeClr val="accent4"/>
                </a:solidFill>
                <a:latin typeface="Consolas"/>
              </a:rPr>
              <a:t>Exception</a:t>
            </a:r>
            <a:endParaRPr sz="2400" dirty="0">
              <a:solidFill>
                <a:schemeClr val="accent4"/>
              </a:solidFill>
              <a:latin typeface="Consolas"/>
            </a:endParaRPr>
          </a:p>
          <a:p>
            <a:pPr marL="0" indent="0">
              <a:spcAft>
                <a:spcPts val="1000"/>
              </a:spcAft>
              <a:buNone/>
            </a:pPr>
            <a:r>
              <a:rPr lang="nl-BE" dirty="0"/>
              <a:t>Elle présente u</a:t>
            </a:r>
            <a:r>
              <a:rPr sz="2800" dirty="0"/>
              <a:t>n </a:t>
            </a:r>
            <a:r>
              <a:rPr sz="2800" dirty="0" err="1"/>
              <a:t>constructeur</a:t>
            </a:r>
            <a:r>
              <a:rPr sz="2800" dirty="0"/>
              <a:t> qui </a:t>
            </a:r>
            <a:r>
              <a:rPr sz="2800" dirty="0" err="1"/>
              <a:t>reçoit</a:t>
            </a:r>
            <a:r>
              <a:rPr sz="2800" dirty="0"/>
              <a:t> le message</a:t>
            </a:r>
          </a:p>
          <a:p>
            <a:pPr marL="0" indent="0">
              <a:spcAft>
                <a:spcPts val="1000"/>
              </a:spcAft>
              <a:buNone/>
            </a:pPr>
            <a:r>
              <a:rPr lang="nl-BE" dirty="0"/>
              <a:t>…e</a:t>
            </a:r>
            <a:r>
              <a:rPr sz="2800" dirty="0"/>
              <a:t>t qui le </a:t>
            </a:r>
            <a:r>
              <a:rPr sz="2800" dirty="0" err="1"/>
              <a:t>transmet</a:t>
            </a:r>
            <a:r>
              <a:rPr sz="2800" dirty="0"/>
              <a:t> à la </a:t>
            </a:r>
            <a:r>
              <a:rPr sz="2800" dirty="0" err="1"/>
              <a:t>classe</a:t>
            </a:r>
            <a:r>
              <a:rPr sz="2800" dirty="0"/>
              <a:t> mère par </a:t>
            </a:r>
            <a:r>
              <a:rPr sz="2400" dirty="0">
                <a:solidFill>
                  <a:schemeClr val="accent4"/>
                </a:solidFill>
                <a:latin typeface="Consolas"/>
              </a:rPr>
              <a:t>super</a:t>
            </a:r>
          </a:p>
        </p:txBody>
      </p:sp>
      <p:sp>
        <p:nvSpPr>
          <p:cNvPr id="4" name="Code"/>
          <p:cNvSpPr txBox="1"/>
          <p:nvPr/>
        </p:nvSpPr>
        <p:spPr>
          <a:xfrm>
            <a:off x="1822450" y="3307080"/>
            <a:ext cx="85471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EtageInaccessibleException </a:t>
            </a:r>
            <a:r>
              <a:rPr sz="1800">
                <a:solidFill>
                  <a:srgbClr val="CF8E6D"/>
                </a:solidFill>
                <a:latin typeface="Consolas"/>
              </a:rPr>
              <a:t>extends</a:t>
            </a:r>
            <a:r>
              <a:rPr sz="1800">
                <a:solidFill>
                  <a:srgbClr val="BCBEC4"/>
                </a:solidFill>
                <a:latin typeface="Consolas"/>
              </a:rPr>
              <a:t> Exception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a:t>
            </a:r>
            <a:r>
              <a:rPr sz="1800">
                <a:solidFill>
                  <a:srgbClr val="56A8F5"/>
                </a:solidFill>
                <a:latin typeface="Consolas"/>
              </a:rPr>
              <a:t>EtageInaccessibleException</a:t>
            </a:r>
            <a:r>
              <a:rPr sz="1800">
                <a:solidFill>
                  <a:srgbClr val="BCBEC4"/>
                </a:solidFill>
                <a:latin typeface="Consolas"/>
              </a:rPr>
              <a:t>(String message)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super</a:t>
            </a:r>
            <a:r>
              <a:rPr sz="1800">
                <a:solidFill>
                  <a:srgbClr val="BCBEC4"/>
                </a:solidFill>
                <a:latin typeface="Consolas"/>
              </a:rPr>
              <a:t>(message);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2. Lever et déclarer une exception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Lever avec </a:t>
            </a:r>
            <a:r>
              <a:rPr sz="3400" dirty="0">
                <a:solidFill>
                  <a:schemeClr val="accent4"/>
                </a:solidFill>
                <a:latin typeface="Consolas"/>
              </a:rPr>
              <a:t>throw</a:t>
            </a:r>
            <a:r>
              <a:rPr sz="4000" dirty="0"/>
              <a:t>, </a:t>
            </a:r>
            <a:r>
              <a:rPr sz="4000" dirty="0" err="1"/>
              <a:t>déclarer</a:t>
            </a:r>
            <a:r>
              <a:rPr sz="4000" dirty="0"/>
              <a:t> avec </a:t>
            </a:r>
            <a:r>
              <a:rPr sz="3400" dirty="0">
                <a:solidFill>
                  <a:schemeClr val="accent4"/>
                </a:solidFill>
                <a:latin typeface="Consolas"/>
              </a:rPr>
              <a:t>throws</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dirty="0"/>
              <a:t>Le mot </a:t>
            </a:r>
            <a:r>
              <a:rPr sz="2400" dirty="0">
                <a:solidFill>
                  <a:schemeClr val="accent4"/>
                </a:solidFill>
                <a:latin typeface="Consolas"/>
              </a:rPr>
              <a:t>throw</a:t>
            </a:r>
            <a:r>
              <a:rPr sz="2800" dirty="0"/>
              <a:t> </a:t>
            </a:r>
            <a:r>
              <a:rPr sz="2800" dirty="0" err="1"/>
              <a:t>lève</a:t>
            </a:r>
            <a:r>
              <a:rPr sz="2800" dirty="0"/>
              <a:t> </a:t>
            </a:r>
            <a:r>
              <a:rPr sz="2800" dirty="0" err="1"/>
              <a:t>l'exception</a:t>
            </a:r>
            <a:r>
              <a:rPr sz="2800" dirty="0"/>
              <a:t>, dans le corps</a:t>
            </a:r>
            <a:r>
              <a:rPr lang="nl-BE" sz="2800" dirty="0"/>
              <a:t> de la méthode</a:t>
            </a:r>
            <a:endParaRPr sz="2800" dirty="0"/>
          </a:p>
          <a:p>
            <a:pPr marL="0" indent="0">
              <a:spcAft>
                <a:spcPts val="1000"/>
              </a:spcAft>
              <a:buNone/>
            </a:pPr>
            <a:r>
              <a:rPr sz="2800" dirty="0"/>
              <a:t>Le mot </a:t>
            </a:r>
            <a:r>
              <a:rPr sz="2400" dirty="0">
                <a:solidFill>
                  <a:schemeClr val="accent4"/>
                </a:solidFill>
                <a:latin typeface="Consolas"/>
              </a:rPr>
              <a:t>throws</a:t>
            </a:r>
            <a:r>
              <a:rPr sz="2800" dirty="0"/>
              <a:t> </a:t>
            </a:r>
            <a:r>
              <a:rPr sz="2800" dirty="0" err="1"/>
              <a:t>l'annonce</a:t>
            </a:r>
            <a:r>
              <a:rPr sz="2800" dirty="0"/>
              <a:t>, dans la signature</a:t>
            </a:r>
            <a:r>
              <a:rPr lang="nl-BE" sz="2800" dirty="0"/>
              <a:t> de la méthode</a:t>
            </a:r>
            <a:endParaRPr sz="2800" dirty="0"/>
          </a:p>
          <a:p>
            <a:pPr marL="0" indent="0">
              <a:spcAft>
                <a:spcPts val="1000"/>
              </a:spcAft>
              <a:buNone/>
            </a:pPr>
            <a:r>
              <a:rPr sz="2800" dirty="0"/>
              <a:t>Un </a:t>
            </a:r>
            <a:r>
              <a:rPr sz="2800" dirty="0" err="1"/>
              <a:t>constructeur</a:t>
            </a:r>
            <a:r>
              <a:rPr sz="2800" dirty="0"/>
              <a:t> </a:t>
            </a:r>
            <a:r>
              <a:rPr lang="nl-BE" sz="2800" dirty="0"/>
              <a:t>annonce une exception exactement </a:t>
            </a:r>
            <a:r>
              <a:rPr sz="2800" dirty="0"/>
              <a:t>de la </a:t>
            </a:r>
            <a:r>
              <a:rPr sz="2800" dirty="0" err="1"/>
              <a:t>même</a:t>
            </a:r>
            <a:r>
              <a:rPr sz="2800" dirty="0"/>
              <a:t> façon</a:t>
            </a:r>
          </a:p>
        </p:txBody>
      </p:sp>
      <p:sp>
        <p:nvSpPr>
          <p:cNvPr id="4" name="Code"/>
          <p:cNvSpPr txBox="1"/>
          <p:nvPr/>
        </p:nvSpPr>
        <p:spPr>
          <a:xfrm>
            <a:off x="1333500" y="3307080"/>
            <a:ext cx="95250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appeler</a:t>
            </a:r>
            <a:r>
              <a:rPr sz="1800">
                <a:solidFill>
                  <a:srgbClr val="BCBEC4"/>
                </a:solidFill>
                <a:latin typeface="Consolas"/>
              </a:rPr>
              <a:t>(</a:t>
            </a:r>
            <a:r>
              <a:rPr sz="1800">
                <a:solidFill>
                  <a:srgbClr val="CF8E6D"/>
                </a:solidFill>
                <a:latin typeface="Consolas"/>
              </a:rPr>
              <a:t>int</a:t>
            </a:r>
            <a:r>
              <a:rPr sz="1800">
                <a:solidFill>
                  <a:srgbClr val="BCBEC4"/>
                </a:solidFill>
                <a:latin typeface="Consolas"/>
              </a:rPr>
              <a:t> etage) </a:t>
            </a:r>
            <a:r>
              <a:rPr sz="1800">
                <a:solidFill>
                  <a:srgbClr val="CF8E6D"/>
                </a:solidFill>
                <a:latin typeface="Consolas"/>
              </a:rPr>
              <a:t>throws</a:t>
            </a:r>
            <a:r>
              <a:rPr sz="1800">
                <a:solidFill>
                  <a:srgbClr val="BCBEC4"/>
                </a:solidFill>
                <a:latin typeface="Consolas"/>
              </a:rPr>
              <a:t> EtageInaccessibleException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if</a:t>
            </a:r>
            <a:r>
              <a:rPr sz="1800">
                <a:solidFill>
                  <a:srgbClr val="BCBEC4"/>
                </a:solidFill>
                <a:latin typeface="Consolas"/>
              </a:rPr>
              <a:t> (etage &lt; </a:t>
            </a:r>
            <a:r>
              <a:rPr sz="1800">
                <a:solidFill>
                  <a:srgbClr val="2AACB8"/>
                </a:solidFill>
                <a:latin typeface="Consolas"/>
              </a:rPr>
              <a:t>0</a:t>
            </a:r>
            <a:r>
              <a:rPr sz="1800">
                <a:solidFill>
                  <a:srgbClr val="BCBEC4"/>
                </a:solidFill>
                <a:latin typeface="Consolas"/>
              </a:rPr>
              <a:t> || etage &gt; dernierEtage)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throw</a:t>
            </a: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EtageInaccessibleException</a:t>
            </a:r>
            <a:r>
              <a:rPr sz="1800">
                <a:solidFill>
                  <a:srgbClr val="BCBEC4"/>
                </a:solidFill>
                <a:latin typeface="Consolas"/>
              </a:rPr>
              <a:t>(</a:t>
            </a:r>
            <a:r>
              <a:rPr sz="1800">
                <a:solidFill>
                  <a:srgbClr val="6AAB73"/>
                </a:solidFill>
                <a:latin typeface="Consolas"/>
              </a:rPr>
              <a:t>"Etage "</a:t>
            </a:r>
            <a:r>
              <a:rPr sz="1800">
                <a:solidFill>
                  <a:srgbClr val="BCBEC4"/>
                </a:solidFill>
                <a:latin typeface="Consolas"/>
              </a:rPr>
              <a:t> + etage</a:t>
            </a:r>
          </a:p>
          <a:p>
            <a:pPr>
              <a:lnSpc>
                <a:spcPct val="100000"/>
              </a:lnSpc>
              <a:spcBef>
                <a:spcPts val="0"/>
              </a:spcBef>
              <a:spcAft>
                <a:spcPts val="0"/>
              </a:spcAft>
            </a:pPr>
            <a:r>
              <a:rPr sz="1800">
                <a:solidFill>
                  <a:srgbClr val="BCBEC4"/>
                </a:solidFill>
                <a:latin typeface="Consolas"/>
              </a:rPr>
              <a:t>                + </a:t>
            </a:r>
            <a:r>
              <a:rPr sz="1800">
                <a:solidFill>
                  <a:srgbClr val="6AAB73"/>
                </a:solidFill>
                <a:latin typeface="Consolas"/>
              </a:rPr>
              <a:t>" hors de l'intervalle 0 a "</a:t>
            </a:r>
            <a:r>
              <a:rPr sz="1800">
                <a:solidFill>
                  <a:srgbClr val="BCBEC4"/>
                </a:solidFill>
                <a:latin typeface="Consolas"/>
              </a:rPr>
              <a:t> + dernierEtage);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etageCourant = etage;</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2. Lever et déclarer une exception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Attraper ou déclarer</a:t>
            </a:r>
          </a:p>
        </p:txBody>
      </p:sp>
      <p:sp>
        <p:nvSpPr>
          <p:cNvPr id="3" name="Content Placeholder 2"/>
          <p:cNvSpPr>
            <a:spLocks noGrp="1"/>
          </p:cNvSpPr>
          <p:nvPr>
            <p:ph idx="1"/>
          </p:nvPr>
        </p:nvSpPr>
        <p:spPr>
          <a:xfrm>
            <a:off x="640080" y="1371600"/>
            <a:ext cx="10881360" cy="1981199"/>
          </a:xfrm>
        </p:spPr>
        <p:txBody>
          <a:bodyPr/>
          <a:lstStyle/>
          <a:p>
            <a:pPr marL="0" indent="0">
              <a:spcAft>
                <a:spcPts val="1000"/>
              </a:spcAft>
              <a:buNone/>
            </a:pPr>
            <a:r>
              <a:rPr sz="2400" dirty="0"/>
              <a:t>Pour </a:t>
            </a:r>
            <a:r>
              <a:rPr sz="2400" dirty="0" err="1"/>
              <a:t>une</a:t>
            </a:r>
            <a:r>
              <a:rPr sz="2400" dirty="0"/>
              <a:t> exception contrôlée, le </a:t>
            </a:r>
            <a:r>
              <a:rPr sz="2400" dirty="0" err="1"/>
              <a:t>compilateur</a:t>
            </a:r>
            <a:r>
              <a:rPr sz="2400" dirty="0"/>
              <a:t> </a:t>
            </a:r>
            <a:r>
              <a:rPr sz="2400" dirty="0" err="1"/>
              <a:t>exige</a:t>
            </a:r>
            <a:r>
              <a:rPr sz="2400" dirty="0"/>
              <a:t> un choix</a:t>
            </a:r>
          </a:p>
          <a:p>
            <a:pPr>
              <a:spcAft>
                <a:spcPts val="1000"/>
              </a:spcAft>
            </a:pPr>
            <a:r>
              <a:rPr sz="2400" dirty="0" err="1"/>
              <a:t>Attraper</a:t>
            </a:r>
            <a:r>
              <a:rPr sz="2400" dirty="0"/>
              <a:t> : la </a:t>
            </a:r>
            <a:r>
              <a:rPr sz="2400" dirty="0" err="1"/>
              <a:t>traiter</a:t>
            </a:r>
            <a:r>
              <a:rPr sz="2400" dirty="0"/>
              <a:t> </a:t>
            </a:r>
            <a:r>
              <a:rPr sz="2400" dirty="0" err="1"/>
              <a:t>ici</a:t>
            </a:r>
            <a:r>
              <a:rPr sz="2400" dirty="0"/>
              <a:t>, avec </a:t>
            </a:r>
            <a:r>
              <a:rPr sz="2100" dirty="0">
                <a:solidFill>
                  <a:schemeClr val="accent4"/>
                </a:solidFill>
                <a:latin typeface="Consolas"/>
              </a:rPr>
              <a:t>try</a:t>
            </a:r>
            <a:r>
              <a:rPr sz="2400" dirty="0"/>
              <a:t> et </a:t>
            </a:r>
            <a:r>
              <a:rPr sz="2100" dirty="0">
                <a:solidFill>
                  <a:schemeClr val="accent4"/>
                </a:solidFill>
                <a:latin typeface="Consolas"/>
              </a:rPr>
              <a:t>catch</a:t>
            </a:r>
          </a:p>
          <a:p>
            <a:pPr>
              <a:spcAft>
                <a:spcPts val="1000"/>
              </a:spcAft>
            </a:pPr>
            <a:r>
              <a:rPr sz="2400" dirty="0" err="1"/>
              <a:t>Déclarer</a:t>
            </a:r>
            <a:r>
              <a:rPr sz="2400" dirty="0"/>
              <a:t> : la </a:t>
            </a:r>
            <a:r>
              <a:rPr sz="2400" dirty="0" err="1"/>
              <a:t>laisser</a:t>
            </a:r>
            <a:r>
              <a:rPr sz="2400" dirty="0"/>
              <a:t> passer à </a:t>
            </a:r>
            <a:r>
              <a:rPr sz="2400" dirty="0" err="1"/>
              <a:t>l'appelant</a:t>
            </a:r>
            <a:r>
              <a:rPr sz="2400" dirty="0"/>
              <a:t>, qui aura le </a:t>
            </a:r>
            <a:r>
              <a:rPr sz="2400" dirty="0" err="1"/>
              <a:t>même</a:t>
            </a:r>
            <a:r>
              <a:rPr sz="2400" dirty="0"/>
              <a:t> choix</a:t>
            </a:r>
          </a:p>
        </p:txBody>
      </p:sp>
      <p:sp>
        <p:nvSpPr>
          <p:cNvPr id="4" name="Code"/>
          <p:cNvSpPr txBox="1"/>
          <p:nvPr/>
        </p:nvSpPr>
        <p:spPr>
          <a:xfrm>
            <a:off x="2286177" y="3489960"/>
            <a:ext cx="7619646" cy="2682240"/>
          </a:xfrm>
          <a:prstGeom prst="roundRect">
            <a:avLst>
              <a:gd name="adj" fmla="val 340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450" dirty="0">
                <a:solidFill>
                  <a:srgbClr val="CF8E6D"/>
                </a:solidFill>
                <a:latin typeface="Consolas"/>
              </a:rPr>
              <a:t>void</a:t>
            </a:r>
            <a:r>
              <a:rPr sz="1450" dirty="0">
                <a:solidFill>
                  <a:srgbClr val="BCBEC4"/>
                </a:solidFill>
                <a:latin typeface="Consolas"/>
              </a:rPr>
              <a:t> </a:t>
            </a:r>
            <a:r>
              <a:rPr sz="1450" dirty="0" err="1">
                <a:solidFill>
                  <a:srgbClr val="56A8F5"/>
                </a:solidFill>
                <a:latin typeface="Consolas"/>
              </a:rPr>
              <a:t>depuisLeBouton</a:t>
            </a:r>
            <a:r>
              <a:rPr sz="1450" dirty="0">
                <a:solidFill>
                  <a:srgbClr val="BCBEC4"/>
                </a:solidFill>
                <a:latin typeface="Consolas"/>
              </a:rPr>
              <a:t>(</a:t>
            </a:r>
            <a:r>
              <a:rPr sz="1450" dirty="0">
                <a:solidFill>
                  <a:srgbClr val="CF8E6D"/>
                </a:solidFill>
                <a:latin typeface="Consolas"/>
              </a:rPr>
              <a:t>int</a:t>
            </a:r>
            <a:r>
              <a:rPr sz="1450" dirty="0">
                <a:solidFill>
                  <a:srgbClr val="BCBEC4"/>
                </a:solidFill>
                <a:latin typeface="Consolas"/>
              </a:rPr>
              <a:t> </a:t>
            </a:r>
            <a:r>
              <a:rPr sz="1450" dirty="0" err="1">
                <a:solidFill>
                  <a:srgbClr val="BCBEC4"/>
                </a:solidFill>
                <a:latin typeface="Consolas"/>
              </a:rPr>
              <a:t>etage</a:t>
            </a:r>
            <a:r>
              <a:rPr sz="1450" dirty="0">
                <a:solidFill>
                  <a:srgbClr val="BCBEC4"/>
                </a:solidFill>
                <a:latin typeface="Consolas"/>
              </a:rPr>
              <a:t>) {</a:t>
            </a:r>
          </a:p>
          <a:p>
            <a:pPr>
              <a:lnSpc>
                <a:spcPct val="100000"/>
              </a:lnSpc>
              <a:spcBef>
                <a:spcPts val="0"/>
              </a:spcBef>
              <a:spcAft>
                <a:spcPts val="0"/>
              </a:spcAft>
            </a:pPr>
            <a:r>
              <a:rPr sz="1450" dirty="0">
                <a:solidFill>
                  <a:srgbClr val="BCBEC4"/>
                </a:solidFill>
                <a:latin typeface="Consolas"/>
              </a:rPr>
              <a:t>    </a:t>
            </a:r>
            <a:r>
              <a:rPr sz="1450" dirty="0">
                <a:solidFill>
                  <a:srgbClr val="CF8E6D"/>
                </a:solidFill>
                <a:latin typeface="Consolas"/>
              </a:rPr>
              <a:t>try</a:t>
            </a:r>
            <a:r>
              <a:rPr sz="1450" dirty="0">
                <a:solidFill>
                  <a:srgbClr val="BCBEC4"/>
                </a:solidFill>
                <a:latin typeface="Consolas"/>
              </a:rPr>
              <a:t> {</a:t>
            </a:r>
          </a:p>
          <a:p>
            <a:pPr>
              <a:lnSpc>
                <a:spcPct val="100000"/>
              </a:lnSpc>
              <a:spcBef>
                <a:spcPts val="0"/>
              </a:spcBef>
              <a:spcAft>
                <a:spcPts val="0"/>
              </a:spcAft>
            </a:pPr>
            <a:r>
              <a:rPr sz="1450" dirty="0">
                <a:solidFill>
                  <a:srgbClr val="BCBEC4"/>
                </a:solidFill>
                <a:latin typeface="Consolas"/>
              </a:rPr>
              <a:t>        </a:t>
            </a:r>
            <a:r>
              <a:rPr sz="1450" dirty="0" err="1">
                <a:solidFill>
                  <a:srgbClr val="BCBEC4"/>
                </a:solidFill>
                <a:latin typeface="Consolas"/>
              </a:rPr>
              <a:t>ascenseur.</a:t>
            </a:r>
            <a:r>
              <a:rPr sz="1450" dirty="0" err="1">
                <a:solidFill>
                  <a:srgbClr val="56A8F5"/>
                </a:solidFill>
                <a:latin typeface="Consolas"/>
              </a:rPr>
              <a:t>appeler</a:t>
            </a:r>
            <a:r>
              <a:rPr sz="1450" dirty="0">
                <a:solidFill>
                  <a:srgbClr val="BCBEC4"/>
                </a:solidFill>
                <a:latin typeface="Consolas"/>
              </a:rPr>
              <a:t>(</a:t>
            </a:r>
            <a:r>
              <a:rPr sz="1450" dirty="0" err="1">
                <a:solidFill>
                  <a:srgbClr val="BCBEC4"/>
                </a:solidFill>
                <a:latin typeface="Consolas"/>
              </a:rPr>
              <a:t>etage</a:t>
            </a:r>
            <a:r>
              <a:rPr sz="1450" dirty="0">
                <a:solidFill>
                  <a:srgbClr val="BCBEC4"/>
                </a:solidFill>
                <a:latin typeface="Consolas"/>
              </a:rPr>
              <a:t>);</a:t>
            </a:r>
          </a:p>
          <a:p>
            <a:pPr>
              <a:lnSpc>
                <a:spcPct val="100000"/>
              </a:lnSpc>
              <a:spcBef>
                <a:spcPts val="0"/>
              </a:spcBef>
              <a:spcAft>
                <a:spcPts val="0"/>
              </a:spcAft>
            </a:pPr>
            <a:r>
              <a:rPr sz="1450" dirty="0">
                <a:solidFill>
                  <a:srgbClr val="BCBEC4"/>
                </a:solidFill>
                <a:latin typeface="Consolas"/>
              </a:rPr>
              <a:t>    } </a:t>
            </a:r>
            <a:r>
              <a:rPr sz="1450" dirty="0">
                <a:solidFill>
                  <a:srgbClr val="CF8E6D"/>
                </a:solidFill>
                <a:latin typeface="Consolas"/>
              </a:rPr>
              <a:t>catch</a:t>
            </a:r>
            <a:r>
              <a:rPr sz="1450" dirty="0">
                <a:solidFill>
                  <a:srgbClr val="BCBEC4"/>
                </a:solidFill>
                <a:latin typeface="Consolas"/>
              </a:rPr>
              <a:t> (</a:t>
            </a:r>
            <a:r>
              <a:rPr sz="1450" dirty="0" err="1">
                <a:solidFill>
                  <a:srgbClr val="BCBEC4"/>
                </a:solidFill>
                <a:latin typeface="Consolas"/>
              </a:rPr>
              <a:t>EtageInaccessibleException</a:t>
            </a:r>
            <a:r>
              <a:rPr sz="1450" dirty="0">
                <a:solidFill>
                  <a:srgbClr val="BCBEC4"/>
                </a:solidFill>
                <a:latin typeface="Consolas"/>
              </a:rPr>
              <a:t> e) {</a:t>
            </a:r>
          </a:p>
          <a:p>
            <a:pPr>
              <a:lnSpc>
                <a:spcPct val="100000"/>
              </a:lnSpc>
              <a:spcBef>
                <a:spcPts val="0"/>
              </a:spcBef>
              <a:spcAft>
                <a:spcPts val="0"/>
              </a:spcAft>
            </a:pPr>
            <a:r>
              <a:rPr sz="1450" dirty="0">
                <a:solidFill>
                  <a:srgbClr val="BCBEC4"/>
                </a:solidFill>
                <a:latin typeface="Consolas"/>
              </a:rPr>
              <a:t>        </a:t>
            </a:r>
            <a:r>
              <a:rPr sz="1450" dirty="0" err="1">
                <a:solidFill>
                  <a:srgbClr val="BCBEC4"/>
                </a:solidFill>
                <a:latin typeface="Consolas"/>
              </a:rPr>
              <a:t>System.out.</a:t>
            </a:r>
            <a:r>
              <a:rPr sz="1450" dirty="0" err="1">
                <a:solidFill>
                  <a:srgbClr val="56A8F5"/>
                </a:solidFill>
                <a:latin typeface="Consolas"/>
              </a:rPr>
              <a:t>println</a:t>
            </a:r>
            <a:r>
              <a:rPr sz="1450" dirty="0">
                <a:solidFill>
                  <a:srgbClr val="BCBEC4"/>
                </a:solidFill>
                <a:latin typeface="Consolas"/>
              </a:rPr>
              <a:t>(</a:t>
            </a:r>
            <a:r>
              <a:rPr sz="1450" dirty="0">
                <a:solidFill>
                  <a:srgbClr val="6AAB73"/>
                </a:solidFill>
                <a:latin typeface="Consolas"/>
              </a:rPr>
              <a:t>"</a:t>
            </a:r>
            <a:r>
              <a:rPr sz="1450" dirty="0" err="1">
                <a:solidFill>
                  <a:srgbClr val="6AAB73"/>
                </a:solidFill>
                <a:latin typeface="Consolas"/>
              </a:rPr>
              <a:t>Refus</a:t>
            </a:r>
            <a:r>
              <a:rPr sz="1450" dirty="0">
                <a:solidFill>
                  <a:srgbClr val="6AAB73"/>
                </a:solidFill>
                <a:latin typeface="Consolas"/>
              </a:rPr>
              <a:t> : "</a:t>
            </a:r>
            <a:r>
              <a:rPr sz="1450" dirty="0">
                <a:solidFill>
                  <a:srgbClr val="BCBEC4"/>
                </a:solidFill>
                <a:latin typeface="Consolas"/>
              </a:rPr>
              <a:t> + </a:t>
            </a:r>
            <a:r>
              <a:rPr sz="1450" dirty="0" err="1">
                <a:solidFill>
                  <a:srgbClr val="BCBEC4"/>
                </a:solidFill>
                <a:latin typeface="Consolas"/>
              </a:rPr>
              <a:t>e.</a:t>
            </a:r>
            <a:r>
              <a:rPr sz="1450" dirty="0" err="1">
                <a:solidFill>
                  <a:srgbClr val="56A8F5"/>
                </a:solidFill>
                <a:latin typeface="Consolas"/>
              </a:rPr>
              <a:t>getMessage</a:t>
            </a:r>
            <a:r>
              <a:rPr sz="1450" dirty="0">
                <a:solidFill>
                  <a:srgbClr val="BCBEC4"/>
                </a:solidFill>
                <a:latin typeface="Consolas"/>
              </a:rPr>
              <a:t>());</a:t>
            </a:r>
          </a:p>
          <a:p>
            <a:pPr>
              <a:lnSpc>
                <a:spcPct val="100000"/>
              </a:lnSpc>
              <a:spcBef>
                <a:spcPts val="0"/>
              </a:spcBef>
              <a:spcAft>
                <a:spcPts val="0"/>
              </a:spcAft>
            </a:pPr>
            <a:r>
              <a:rPr sz="1450" dirty="0">
                <a:solidFill>
                  <a:srgbClr val="BCBEC4"/>
                </a:solidFill>
                <a:latin typeface="Consolas"/>
              </a:rPr>
              <a:t>    }</a:t>
            </a:r>
          </a:p>
          <a:p>
            <a:pPr>
              <a:lnSpc>
                <a:spcPct val="100000"/>
              </a:lnSpc>
              <a:spcBef>
                <a:spcPts val="0"/>
              </a:spcBef>
              <a:spcAft>
                <a:spcPts val="0"/>
              </a:spcAft>
            </a:pPr>
            <a:r>
              <a:rPr sz="1450" dirty="0">
                <a:solidFill>
                  <a:srgbClr val="BCBEC4"/>
                </a:solidFill>
                <a:latin typeface="Consolas"/>
              </a:rPr>
              <a:t>}</a:t>
            </a:r>
          </a:p>
          <a:p>
            <a:pPr>
              <a:lnSpc>
                <a:spcPct val="100000"/>
              </a:lnSpc>
              <a:spcBef>
                <a:spcPts val="0"/>
              </a:spcBef>
              <a:spcAft>
                <a:spcPts val="0"/>
              </a:spcAft>
            </a:pPr>
            <a:r>
              <a:rPr sz="1450" dirty="0">
                <a:solidFill>
                  <a:srgbClr val="BCBEC4"/>
                </a:solidFill>
                <a:latin typeface="Consolas"/>
              </a:rPr>
              <a:t> </a:t>
            </a:r>
          </a:p>
          <a:p>
            <a:pPr>
              <a:lnSpc>
                <a:spcPct val="100000"/>
              </a:lnSpc>
              <a:spcBef>
                <a:spcPts val="0"/>
              </a:spcBef>
              <a:spcAft>
                <a:spcPts val="0"/>
              </a:spcAft>
            </a:pPr>
            <a:r>
              <a:rPr sz="1450" dirty="0">
                <a:solidFill>
                  <a:srgbClr val="CF8E6D"/>
                </a:solidFill>
                <a:latin typeface="Consolas"/>
              </a:rPr>
              <a:t>void</a:t>
            </a:r>
            <a:r>
              <a:rPr sz="1450" dirty="0">
                <a:solidFill>
                  <a:srgbClr val="BCBEC4"/>
                </a:solidFill>
                <a:latin typeface="Consolas"/>
              </a:rPr>
              <a:t> </a:t>
            </a:r>
            <a:r>
              <a:rPr sz="1450" dirty="0" err="1">
                <a:solidFill>
                  <a:srgbClr val="56A8F5"/>
                </a:solidFill>
                <a:latin typeface="Consolas"/>
              </a:rPr>
              <a:t>depuisLeBadge</a:t>
            </a:r>
            <a:r>
              <a:rPr sz="1450" dirty="0">
                <a:solidFill>
                  <a:srgbClr val="BCBEC4"/>
                </a:solidFill>
                <a:latin typeface="Consolas"/>
              </a:rPr>
              <a:t>(</a:t>
            </a:r>
            <a:r>
              <a:rPr sz="1450" dirty="0">
                <a:solidFill>
                  <a:srgbClr val="CF8E6D"/>
                </a:solidFill>
                <a:latin typeface="Consolas"/>
              </a:rPr>
              <a:t>int</a:t>
            </a:r>
            <a:r>
              <a:rPr sz="1450" dirty="0">
                <a:solidFill>
                  <a:srgbClr val="BCBEC4"/>
                </a:solidFill>
                <a:latin typeface="Consolas"/>
              </a:rPr>
              <a:t> </a:t>
            </a:r>
            <a:r>
              <a:rPr sz="1450" dirty="0" err="1">
                <a:solidFill>
                  <a:srgbClr val="BCBEC4"/>
                </a:solidFill>
                <a:latin typeface="Consolas"/>
              </a:rPr>
              <a:t>etage</a:t>
            </a:r>
            <a:r>
              <a:rPr sz="1450" dirty="0">
                <a:solidFill>
                  <a:srgbClr val="BCBEC4"/>
                </a:solidFill>
                <a:latin typeface="Consolas"/>
              </a:rPr>
              <a:t>) </a:t>
            </a:r>
            <a:r>
              <a:rPr sz="1450" dirty="0">
                <a:solidFill>
                  <a:srgbClr val="CF8E6D"/>
                </a:solidFill>
                <a:latin typeface="Consolas"/>
              </a:rPr>
              <a:t>throws</a:t>
            </a:r>
            <a:r>
              <a:rPr sz="1450" dirty="0">
                <a:solidFill>
                  <a:srgbClr val="BCBEC4"/>
                </a:solidFill>
                <a:latin typeface="Consolas"/>
              </a:rPr>
              <a:t> </a:t>
            </a:r>
            <a:r>
              <a:rPr sz="1450" dirty="0" err="1">
                <a:solidFill>
                  <a:srgbClr val="BCBEC4"/>
                </a:solidFill>
                <a:latin typeface="Consolas"/>
              </a:rPr>
              <a:t>EtageInaccessibleException</a:t>
            </a:r>
            <a:r>
              <a:rPr sz="1450" dirty="0">
                <a:solidFill>
                  <a:srgbClr val="BCBEC4"/>
                </a:solidFill>
                <a:latin typeface="Consolas"/>
              </a:rPr>
              <a:t> {</a:t>
            </a:r>
          </a:p>
          <a:p>
            <a:pPr>
              <a:lnSpc>
                <a:spcPct val="100000"/>
              </a:lnSpc>
              <a:spcBef>
                <a:spcPts val="0"/>
              </a:spcBef>
              <a:spcAft>
                <a:spcPts val="0"/>
              </a:spcAft>
            </a:pPr>
            <a:r>
              <a:rPr sz="1450" dirty="0">
                <a:solidFill>
                  <a:srgbClr val="BCBEC4"/>
                </a:solidFill>
                <a:latin typeface="Consolas"/>
              </a:rPr>
              <a:t>    </a:t>
            </a:r>
            <a:r>
              <a:rPr sz="1450" dirty="0" err="1">
                <a:solidFill>
                  <a:srgbClr val="BCBEC4"/>
                </a:solidFill>
                <a:latin typeface="Consolas"/>
              </a:rPr>
              <a:t>ascenseur.</a:t>
            </a:r>
            <a:r>
              <a:rPr sz="1450" dirty="0" err="1">
                <a:solidFill>
                  <a:srgbClr val="56A8F5"/>
                </a:solidFill>
                <a:latin typeface="Consolas"/>
              </a:rPr>
              <a:t>appeler</a:t>
            </a:r>
            <a:r>
              <a:rPr sz="1450" dirty="0">
                <a:solidFill>
                  <a:srgbClr val="BCBEC4"/>
                </a:solidFill>
                <a:latin typeface="Consolas"/>
              </a:rPr>
              <a:t>(</a:t>
            </a:r>
            <a:r>
              <a:rPr sz="1450" dirty="0" err="1">
                <a:solidFill>
                  <a:srgbClr val="BCBEC4"/>
                </a:solidFill>
                <a:latin typeface="Consolas"/>
              </a:rPr>
              <a:t>etage</a:t>
            </a:r>
            <a:r>
              <a:rPr sz="1450" dirty="0">
                <a:solidFill>
                  <a:srgbClr val="BCBEC4"/>
                </a:solidFill>
                <a:latin typeface="Consolas"/>
              </a:rPr>
              <a:t>);</a:t>
            </a:r>
          </a:p>
          <a:p>
            <a:pPr>
              <a:lnSpc>
                <a:spcPct val="100000"/>
              </a:lnSpc>
              <a:spcBef>
                <a:spcPts val="0"/>
              </a:spcBef>
              <a:spcAft>
                <a:spcPts val="0"/>
              </a:spcAft>
            </a:pPr>
            <a:r>
              <a:rPr sz="145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2. Lever et déclarer une exception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pic>
        <p:nvPicPr>
          <p:cNvPr id="10" name="Picture 9"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13</a:t>
            </a:fld>
            <a:endParaRPr lang="fr-FR"/>
          </a:p>
        </p:txBody>
      </p:sp>
      <p:sp>
        <p:nvSpPr>
          <p:cNvPr id="11"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2. Lever et déclarer une exception</a:t>
            </a:r>
          </a:p>
        </p:txBody>
      </p:sp>
      <p:grpSp>
        <p:nvGrpSpPr>
          <p:cNvPr id="13" name="Exercice 1"/>
          <p:cNvGrpSpPr/>
          <p:nvPr/>
        </p:nvGrpSpPr>
        <p:grpSpPr>
          <a:xfrm>
            <a:off x="640080" y="1417320"/>
            <a:ext cx="9326880" cy="960120"/>
            <a:chOff x="640080" y="1417320"/>
            <a:chExt cx="9326880" cy="960120"/>
          </a:xfrm>
        </p:grpSpPr>
        <p:sp>
          <p:nvSpPr>
            <p:cNvPr id="12"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EXC.1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Lever sa propre exception</a:t>
              </a:r>
            </a:p>
            <a:p>
              <a:r>
                <a:rPr sz="1400">
                  <a:solidFill>
                    <a:srgbClr val="BCBEC4"/>
                  </a:solidFill>
                </a:rPr>
                <a:t>fascicule EXC</a:t>
              </a:r>
            </a:p>
          </p:txBody>
        </p:sp>
      </p:grpSp>
      <p:grpSp>
        <p:nvGrpSpPr>
          <p:cNvPr id="14" name="Exercice 2"/>
          <p:cNvGrpSpPr/>
          <p:nvPr/>
        </p:nvGrpSpPr>
        <p:grpSpPr>
          <a:xfrm>
            <a:off x="640080" y="2560320"/>
            <a:ext cx="9326880" cy="2057399"/>
            <a:chOff x="640080" y="2560320"/>
            <a:chExt cx="9326880" cy="2057399"/>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EXC.2</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800">
                  <a:solidFill>
                    <a:srgbClr val="FFFFFF"/>
                  </a:solidFill>
                </a:rPr>
                <a:t>Un compte, sans exception</a:t>
              </a:r>
            </a:p>
            <a:p>
              <a:r>
                <a:rPr sz="1400">
                  <a:solidFill>
                    <a:srgbClr val="BCBEC4"/>
                  </a:solidFill>
                </a:rPr>
                <a:t>fascicule EXC</a:t>
              </a:r>
            </a:p>
          </p:txBody>
        </p:sp>
        <p:sp>
          <p:nvSpPr>
            <p:cNvPr id="9" name="TextBox 8"/>
            <p:cNvSpPr txBox="1"/>
            <p:nvPr/>
          </p:nvSpPr>
          <p:spPr>
            <a:xfrm>
              <a:off x="640080" y="3794759"/>
              <a:ext cx="9326880" cy="822960"/>
            </a:xfrm>
            <a:prstGeom prst="rect">
              <a:avLst/>
            </a:prstGeom>
            <a:noFill/>
          </p:spPr>
          <p:txBody>
            <a:bodyPr wrap="square">
              <a:spAutoFit/>
            </a:bodyPr>
            <a:lstStyle/>
            <a:p>
              <a:r>
                <a:rPr sz="2400"/>
                <a:t>Messages : </a:t>
              </a:r>
              <a:r>
                <a:rPr sz="2400">
                  <a:solidFill>
                    <a:schemeClr val="accent4"/>
                  </a:solidFill>
                  <a:latin typeface="Consolas"/>
                </a:rPr>
                <a:t>CC-ERR.4</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ED87C419-8F18-B87C-2614-011B3609B71E}"/>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C39A88CC-5ABE-A7FF-9C13-70784A30BB2E}"/>
              </a:ext>
            </a:extLst>
          </p:cNvPr>
          <p:cNvSpPr txBox="1"/>
          <p:nvPr/>
        </p:nvSpPr>
        <p:spPr>
          <a:xfrm>
            <a:off x="838200" y="946800"/>
            <a:ext cx="10671274"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3. Attraper là où l'on peut agir</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Ce </a:t>
            </a:r>
            <a:r>
              <a:rPr sz="4000" dirty="0" err="1"/>
              <a:t>que</a:t>
            </a:r>
            <a:r>
              <a:rPr sz="4000" dirty="0"/>
              <a:t> le </a:t>
            </a:r>
            <a:r>
              <a:rPr sz="3400" dirty="0">
                <a:solidFill>
                  <a:schemeClr val="accent4"/>
                </a:solidFill>
                <a:latin typeface="Consolas"/>
              </a:rPr>
              <a:t>try</a:t>
            </a:r>
            <a:r>
              <a:rPr sz="4000" dirty="0"/>
              <a:t> </a:t>
            </a:r>
            <a:r>
              <a:rPr sz="4000" dirty="0" err="1"/>
              <a:t>saute</a:t>
            </a:r>
            <a:endParaRPr sz="4000" dirty="0"/>
          </a:p>
        </p:txBody>
      </p:sp>
      <p:sp>
        <p:nvSpPr>
          <p:cNvPr id="3" name="Content Placeholder 2"/>
          <p:cNvSpPr>
            <a:spLocks noGrp="1"/>
          </p:cNvSpPr>
          <p:nvPr>
            <p:ph idx="1"/>
          </p:nvPr>
        </p:nvSpPr>
        <p:spPr>
          <a:xfrm>
            <a:off x="640080" y="1371599"/>
            <a:ext cx="5708894" cy="2461101"/>
          </a:xfrm>
        </p:spPr>
        <p:txBody>
          <a:bodyPr>
            <a:normAutofit fontScale="92500" lnSpcReduction="20000"/>
          </a:bodyPr>
          <a:lstStyle/>
          <a:p>
            <a:pPr marL="0" indent="0">
              <a:spcAft>
                <a:spcPts val="1000"/>
              </a:spcAft>
              <a:buNone/>
            </a:pPr>
            <a:r>
              <a:rPr sz="2800" dirty="0"/>
              <a:t>Au premier </a:t>
            </a:r>
            <a:r>
              <a:rPr sz="2400" dirty="0">
                <a:solidFill>
                  <a:schemeClr val="accent4"/>
                </a:solidFill>
                <a:latin typeface="Consolas"/>
              </a:rPr>
              <a:t>throw</a:t>
            </a:r>
            <a:r>
              <a:rPr sz="2800" dirty="0"/>
              <a:t>, le </a:t>
            </a:r>
            <a:r>
              <a:rPr sz="2800" dirty="0" err="1"/>
              <a:t>reste</a:t>
            </a:r>
            <a:r>
              <a:rPr sz="2800" dirty="0"/>
              <a:t> du </a:t>
            </a:r>
            <a:r>
              <a:rPr sz="2400" dirty="0">
                <a:solidFill>
                  <a:schemeClr val="accent4"/>
                </a:solidFill>
                <a:latin typeface="Consolas"/>
              </a:rPr>
              <a:t>try</a:t>
            </a:r>
            <a:r>
              <a:rPr sz="2800" dirty="0"/>
              <a:t> est </a:t>
            </a:r>
            <a:r>
              <a:rPr sz="2800" dirty="0" err="1"/>
              <a:t>abandonné</a:t>
            </a:r>
            <a:endParaRPr sz="2800" dirty="0"/>
          </a:p>
          <a:p>
            <a:pPr marL="0" indent="0">
              <a:spcAft>
                <a:spcPts val="1000"/>
              </a:spcAft>
              <a:buNone/>
            </a:pPr>
            <a:r>
              <a:rPr sz="2800" dirty="0"/>
              <a:t>Le </a:t>
            </a:r>
            <a:r>
              <a:rPr sz="2400" dirty="0">
                <a:solidFill>
                  <a:schemeClr val="accent4"/>
                </a:solidFill>
                <a:latin typeface="Consolas"/>
              </a:rPr>
              <a:t>catch</a:t>
            </a:r>
            <a:r>
              <a:rPr sz="2800" dirty="0"/>
              <a:t> </a:t>
            </a:r>
            <a:r>
              <a:rPr sz="2800" dirty="0" err="1"/>
              <a:t>s'exécute</a:t>
            </a:r>
            <a:r>
              <a:rPr sz="2800" dirty="0"/>
              <a:t>, </a:t>
            </a:r>
            <a:r>
              <a:rPr sz="2800" dirty="0" err="1"/>
              <a:t>puis</a:t>
            </a:r>
            <a:r>
              <a:rPr sz="2800" dirty="0"/>
              <a:t> tout </a:t>
            </a:r>
            <a:r>
              <a:rPr sz="2800" dirty="0" err="1"/>
              <a:t>ce</a:t>
            </a:r>
            <a:r>
              <a:rPr sz="2800" dirty="0"/>
              <a:t> qui le suit</a:t>
            </a:r>
          </a:p>
          <a:p>
            <a:pPr marL="0" indent="0">
              <a:spcAft>
                <a:spcPts val="1000"/>
              </a:spcAft>
              <a:buNone/>
            </a:pPr>
            <a:r>
              <a:rPr sz="2800" dirty="0"/>
              <a:t>Sans exception, le </a:t>
            </a:r>
            <a:r>
              <a:rPr sz="2400" dirty="0">
                <a:solidFill>
                  <a:schemeClr val="accent4"/>
                </a:solidFill>
                <a:latin typeface="Consolas"/>
              </a:rPr>
              <a:t>catch</a:t>
            </a:r>
            <a:r>
              <a:rPr sz="2800" dirty="0"/>
              <a:t> est </a:t>
            </a:r>
            <a:r>
              <a:rPr sz="2800" dirty="0" err="1"/>
              <a:t>simplement</a:t>
            </a:r>
            <a:r>
              <a:rPr sz="2800" dirty="0"/>
              <a:t> </a:t>
            </a:r>
            <a:r>
              <a:rPr sz="2800" dirty="0" err="1"/>
              <a:t>ignoré</a:t>
            </a:r>
            <a:endParaRPr sz="2800" dirty="0"/>
          </a:p>
        </p:txBody>
      </p:sp>
      <p:sp>
        <p:nvSpPr>
          <p:cNvPr id="4" name="Code"/>
          <p:cNvSpPr txBox="1"/>
          <p:nvPr/>
        </p:nvSpPr>
        <p:spPr>
          <a:xfrm>
            <a:off x="3096726" y="3999671"/>
            <a:ext cx="6973908" cy="234695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dirty="0">
                <a:solidFill>
                  <a:srgbClr val="CF8E6D"/>
                </a:solidFill>
                <a:latin typeface="Consolas"/>
              </a:rPr>
              <a:t>try</a:t>
            </a: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err="1">
                <a:solidFill>
                  <a:srgbClr val="BCBEC4"/>
                </a:solidFill>
                <a:latin typeface="Consolas"/>
              </a:rPr>
              <a:t>ascenseur.</a:t>
            </a:r>
            <a:r>
              <a:rPr sz="1600" dirty="0" err="1">
                <a:solidFill>
                  <a:srgbClr val="56A8F5"/>
                </a:solidFill>
                <a:latin typeface="Consolas"/>
              </a:rPr>
              <a:t>appeler</a:t>
            </a:r>
            <a:r>
              <a:rPr sz="1600" dirty="0">
                <a:solidFill>
                  <a:srgbClr val="BCBEC4"/>
                </a:solidFill>
                <a:latin typeface="Consolas"/>
              </a:rPr>
              <a:t>(</a:t>
            </a:r>
            <a:r>
              <a:rPr sz="1600" dirty="0">
                <a:solidFill>
                  <a:srgbClr val="2AACB8"/>
                </a:solidFill>
                <a:latin typeface="Consolas"/>
              </a:rPr>
              <a:t>2</a:t>
            </a:r>
            <a:r>
              <a:rPr sz="1600" dirty="0">
                <a:solidFill>
                  <a:srgbClr val="BCBEC4"/>
                </a:solidFill>
                <a:latin typeface="Consolas"/>
              </a:rPr>
              <a:t>);</a:t>
            </a:r>
          </a:p>
          <a:p>
            <a:pPr>
              <a:lnSpc>
                <a:spcPct val="100000"/>
              </a:lnSpc>
              <a:spcBef>
                <a:spcPts val="0"/>
              </a:spcBef>
              <a:spcAft>
                <a:spcPts val="0"/>
              </a:spcAft>
            </a:pPr>
            <a:r>
              <a:rPr sz="1600" dirty="0">
                <a:solidFill>
                  <a:srgbClr val="BCBEC4"/>
                </a:solidFill>
                <a:latin typeface="Consolas"/>
              </a:rPr>
              <a:t>    </a:t>
            </a:r>
            <a:r>
              <a:rPr sz="1600" dirty="0" err="1">
                <a:solidFill>
                  <a:srgbClr val="BCBEC4"/>
                </a:solidFill>
                <a:latin typeface="Consolas"/>
              </a:rPr>
              <a:t>ascenseur.</a:t>
            </a:r>
            <a:r>
              <a:rPr sz="1600" dirty="0" err="1">
                <a:solidFill>
                  <a:srgbClr val="56A8F5"/>
                </a:solidFill>
                <a:latin typeface="Consolas"/>
              </a:rPr>
              <a:t>appeler</a:t>
            </a:r>
            <a:r>
              <a:rPr sz="1600" dirty="0">
                <a:solidFill>
                  <a:srgbClr val="BCBEC4"/>
                </a:solidFill>
                <a:latin typeface="Consolas"/>
              </a:rPr>
              <a:t>(</a:t>
            </a:r>
            <a:r>
              <a:rPr sz="1600" dirty="0">
                <a:solidFill>
                  <a:srgbClr val="2AACB8"/>
                </a:solidFill>
                <a:latin typeface="Consolas"/>
              </a:rPr>
              <a:t>9</a:t>
            </a:r>
            <a:r>
              <a:rPr sz="1600" dirty="0">
                <a:solidFill>
                  <a:srgbClr val="BCBEC4"/>
                </a:solidFill>
                <a:latin typeface="Consolas"/>
              </a:rPr>
              <a:t>);              </a:t>
            </a:r>
            <a:r>
              <a:rPr sz="1600" dirty="0">
                <a:solidFill>
                  <a:srgbClr val="7A7E85"/>
                </a:solidFill>
                <a:latin typeface="Consolas"/>
              </a:rPr>
              <a:t>// </a:t>
            </a:r>
            <a:r>
              <a:rPr sz="1600" dirty="0" err="1">
                <a:solidFill>
                  <a:srgbClr val="7A7E85"/>
                </a:solidFill>
                <a:latin typeface="Consolas"/>
              </a:rPr>
              <a:t>leve</a:t>
            </a:r>
            <a:r>
              <a:rPr sz="1600" dirty="0">
                <a:solidFill>
                  <a:srgbClr val="7A7E85"/>
                </a:solidFill>
                <a:latin typeface="Consolas"/>
              </a:rPr>
              <a:t> </a:t>
            </a:r>
            <a:r>
              <a:rPr sz="1600" dirty="0" err="1">
                <a:solidFill>
                  <a:srgbClr val="7A7E85"/>
                </a:solidFill>
                <a:latin typeface="Consolas"/>
              </a:rPr>
              <a:t>l'exception</a:t>
            </a:r>
            <a:endParaRPr sz="1600" dirty="0">
              <a:solidFill>
                <a:srgbClr val="7A7E85"/>
              </a:solidFill>
              <a:latin typeface="Consolas"/>
            </a:endParaRPr>
          </a:p>
          <a:p>
            <a:pPr>
              <a:lnSpc>
                <a:spcPct val="100000"/>
              </a:lnSpc>
              <a:spcBef>
                <a:spcPts val="0"/>
              </a:spcBef>
              <a:spcAft>
                <a:spcPts val="0"/>
              </a:spcAft>
            </a:pPr>
            <a:r>
              <a:rPr sz="1600" dirty="0">
                <a:solidFill>
                  <a:srgbClr val="BCBEC4"/>
                </a:solidFill>
                <a:latin typeface="Consolas"/>
              </a:rPr>
              <a:t>    </a:t>
            </a:r>
            <a:r>
              <a:rPr sz="1600" dirty="0" err="1">
                <a:solidFill>
                  <a:srgbClr val="BCBEC4"/>
                </a:solidFill>
                <a:latin typeface="Consolas"/>
              </a:rPr>
              <a:t>System.out.</a:t>
            </a:r>
            <a:r>
              <a:rPr sz="1600" dirty="0" err="1">
                <a:solidFill>
                  <a:srgbClr val="56A8F5"/>
                </a:solidFill>
                <a:latin typeface="Consolas"/>
              </a:rPr>
              <a:t>println</a:t>
            </a:r>
            <a:r>
              <a:rPr sz="1600" dirty="0">
                <a:solidFill>
                  <a:srgbClr val="BCBEC4"/>
                </a:solidFill>
                <a:latin typeface="Consolas"/>
              </a:rPr>
              <a:t>(</a:t>
            </a:r>
            <a:r>
              <a:rPr sz="1600" dirty="0">
                <a:solidFill>
                  <a:srgbClr val="6AAB73"/>
                </a:solidFill>
                <a:latin typeface="Consolas"/>
              </a:rPr>
              <a:t>"Arrive"</a:t>
            </a:r>
            <a:r>
              <a:rPr sz="1600" dirty="0">
                <a:solidFill>
                  <a:srgbClr val="BCBEC4"/>
                </a:solidFill>
                <a:latin typeface="Consolas"/>
              </a:rPr>
              <a:t>);      </a:t>
            </a:r>
            <a:r>
              <a:rPr sz="1600" dirty="0">
                <a:solidFill>
                  <a:srgbClr val="7A7E85"/>
                </a:solidFill>
                <a:latin typeface="Consolas"/>
              </a:rPr>
              <a:t>// jamais affiche</a:t>
            </a: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catch</a:t>
            </a:r>
            <a:r>
              <a:rPr sz="1600" dirty="0">
                <a:solidFill>
                  <a:srgbClr val="BCBEC4"/>
                </a:solidFill>
                <a:latin typeface="Consolas"/>
              </a:rPr>
              <a:t> (</a:t>
            </a:r>
            <a:r>
              <a:rPr sz="1600" dirty="0" err="1">
                <a:solidFill>
                  <a:srgbClr val="BCBEC4"/>
                </a:solidFill>
                <a:latin typeface="Consolas"/>
              </a:rPr>
              <a:t>EtageInaccessibleException</a:t>
            </a:r>
            <a:r>
              <a:rPr sz="1600" dirty="0">
                <a:solidFill>
                  <a:srgbClr val="BCBEC4"/>
                </a:solidFill>
                <a:latin typeface="Consolas"/>
              </a:rPr>
              <a:t> e) {</a:t>
            </a:r>
          </a:p>
          <a:p>
            <a:pPr>
              <a:lnSpc>
                <a:spcPct val="100000"/>
              </a:lnSpc>
              <a:spcBef>
                <a:spcPts val="0"/>
              </a:spcBef>
              <a:spcAft>
                <a:spcPts val="0"/>
              </a:spcAft>
            </a:pPr>
            <a:r>
              <a:rPr sz="1600" dirty="0">
                <a:solidFill>
                  <a:srgbClr val="BCBEC4"/>
                </a:solidFill>
                <a:latin typeface="Consolas"/>
              </a:rPr>
              <a:t>    </a:t>
            </a:r>
            <a:r>
              <a:rPr sz="1600" dirty="0" err="1">
                <a:solidFill>
                  <a:srgbClr val="BCBEC4"/>
                </a:solidFill>
                <a:latin typeface="Consolas"/>
              </a:rPr>
              <a:t>System.out.</a:t>
            </a:r>
            <a:r>
              <a:rPr sz="1600" dirty="0" err="1">
                <a:solidFill>
                  <a:srgbClr val="56A8F5"/>
                </a:solidFill>
                <a:latin typeface="Consolas"/>
              </a:rPr>
              <a:t>println</a:t>
            </a:r>
            <a:r>
              <a:rPr sz="1600" dirty="0">
                <a:solidFill>
                  <a:srgbClr val="BCBEC4"/>
                </a:solidFill>
                <a:latin typeface="Consolas"/>
              </a:rPr>
              <a:t>(</a:t>
            </a:r>
            <a:r>
              <a:rPr sz="1600" dirty="0">
                <a:solidFill>
                  <a:srgbClr val="6AAB73"/>
                </a:solidFill>
                <a:latin typeface="Consolas"/>
              </a:rPr>
              <a:t>"</a:t>
            </a:r>
            <a:r>
              <a:rPr sz="1600" dirty="0" err="1">
                <a:solidFill>
                  <a:srgbClr val="6AAB73"/>
                </a:solidFill>
                <a:latin typeface="Consolas"/>
              </a:rPr>
              <a:t>Refus</a:t>
            </a:r>
            <a:r>
              <a:rPr sz="1600" dirty="0">
                <a:solidFill>
                  <a:srgbClr val="6AAB73"/>
                </a:solidFill>
                <a:latin typeface="Consolas"/>
              </a:rPr>
              <a:t> : "</a:t>
            </a:r>
            <a:r>
              <a:rPr sz="1600" dirty="0">
                <a:solidFill>
                  <a:srgbClr val="BCBEC4"/>
                </a:solidFill>
                <a:latin typeface="Consolas"/>
              </a:rPr>
              <a:t> + </a:t>
            </a:r>
            <a:r>
              <a:rPr sz="1600" dirty="0" err="1">
                <a:solidFill>
                  <a:srgbClr val="BCBEC4"/>
                </a:solidFill>
                <a:latin typeface="Consolas"/>
              </a:rPr>
              <a:t>e.</a:t>
            </a:r>
            <a:r>
              <a:rPr sz="1600" dirty="0" err="1">
                <a:solidFill>
                  <a:srgbClr val="56A8F5"/>
                </a:solidFill>
                <a:latin typeface="Consolas"/>
              </a:rPr>
              <a:t>getMessage</a:t>
            </a:r>
            <a:r>
              <a:rPr sz="1600" dirty="0">
                <a:solidFill>
                  <a:srgbClr val="BCBEC4"/>
                </a:solidFill>
                <a:latin typeface="Consolas"/>
              </a:rPr>
              <a:t>());</a:t>
            </a:r>
          </a:p>
          <a:p>
            <a:pPr>
              <a:lnSpc>
                <a:spcPct val="100000"/>
              </a:lnSpc>
              <a:spcBef>
                <a:spcPts val="0"/>
              </a:spcBef>
              <a:spcAft>
                <a:spcPts val="0"/>
              </a:spcAft>
            </a:pPr>
            <a:r>
              <a:rPr sz="1600" dirty="0">
                <a:solidFill>
                  <a:srgbClr val="BCBEC4"/>
                </a:solidFill>
                <a:latin typeface="Consolas"/>
              </a:rPr>
              <a:t>}</a:t>
            </a:r>
          </a:p>
          <a:p>
            <a:pPr>
              <a:lnSpc>
                <a:spcPct val="100000"/>
              </a:lnSpc>
              <a:spcBef>
                <a:spcPts val="0"/>
              </a:spcBef>
              <a:spcAft>
                <a:spcPts val="0"/>
              </a:spcAft>
            </a:pPr>
            <a:r>
              <a:rPr sz="1600" dirty="0" err="1">
                <a:solidFill>
                  <a:srgbClr val="BCBEC4"/>
                </a:solidFill>
                <a:latin typeface="Consolas"/>
              </a:rPr>
              <a:t>System.out.</a:t>
            </a:r>
            <a:r>
              <a:rPr sz="1600" dirty="0" err="1">
                <a:solidFill>
                  <a:srgbClr val="56A8F5"/>
                </a:solidFill>
                <a:latin typeface="Consolas"/>
              </a:rPr>
              <a:t>println</a:t>
            </a:r>
            <a:r>
              <a:rPr sz="1600" dirty="0">
                <a:solidFill>
                  <a:srgbClr val="BCBEC4"/>
                </a:solidFill>
                <a:latin typeface="Consolas"/>
              </a:rPr>
              <a:t>(</a:t>
            </a:r>
            <a:r>
              <a:rPr sz="1600" dirty="0">
                <a:solidFill>
                  <a:srgbClr val="6AAB73"/>
                </a:solidFill>
                <a:latin typeface="Consolas"/>
              </a:rPr>
              <a:t>"Fin"</a:t>
            </a:r>
            <a:r>
              <a:rPr sz="1600" dirty="0">
                <a:solidFill>
                  <a:srgbClr val="BCBEC4"/>
                </a:solidFill>
                <a:latin typeface="Consolas"/>
              </a:rPr>
              <a:t>);             </a:t>
            </a:r>
            <a:r>
              <a:rPr sz="1600" dirty="0">
                <a:solidFill>
                  <a:srgbClr val="7A7E85"/>
                </a:solidFill>
                <a:latin typeface="Consolas"/>
              </a:rPr>
              <a:t>// </a:t>
            </a:r>
            <a:r>
              <a:rPr sz="1600" dirty="0" err="1">
                <a:solidFill>
                  <a:srgbClr val="7A7E85"/>
                </a:solidFill>
                <a:latin typeface="Consolas"/>
              </a:rPr>
              <a:t>toujours</a:t>
            </a:r>
            <a:r>
              <a:rPr sz="1600" dirty="0">
                <a:solidFill>
                  <a:srgbClr val="7A7E85"/>
                </a:solidFill>
                <a:latin typeface="Consolas"/>
              </a:rPr>
              <a:t> affiche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3. Attraper les exceptions</a:t>
            </a:r>
          </a:p>
        </p:txBody>
      </p:sp>
      <p:sp>
        <p:nvSpPr>
          <p:cNvPr id="8" name="Code">
            <a:extLst>
              <a:ext uri="{FF2B5EF4-FFF2-40B4-BE49-F238E27FC236}">
                <a16:creationId xmlns:a16="http://schemas.microsoft.com/office/drawing/2014/main" id="{3011065F-80F8-56E2-C45F-6F6DBB6BCC4E}"/>
              </a:ext>
            </a:extLst>
          </p:cNvPr>
          <p:cNvSpPr txBox="1"/>
          <p:nvPr/>
        </p:nvSpPr>
        <p:spPr>
          <a:xfrm>
            <a:off x="6348974" y="1027908"/>
            <a:ext cx="5519462" cy="2142012"/>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400" dirty="0">
                <a:solidFill>
                  <a:srgbClr val="CF8E6D"/>
                </a:solidFill>
                <a:latin typeface="Consolas"/>
              </a:rPr>
              <a:t>public</a:t>
            </a:r>
            <a:r>
              <a:rPr sz="1400" dirty="0">
                <a:solidFill>
                  <a:srgbClr val="BCBEC4"/>
                </a:solidFill>
                <a:latin typeface="Consolas"/>
              </a:rPr>
              <a:t> </a:t>
            </a:r>
            <a:r>
              <a:rPr sz="1400" dirty="0">
                <a:solidFill>
                  <a:srgbClr val="CF8E6D"/>
                </a:solidFill>
                <a:latin typeface="Consolas"/>
              </a:rPr>
              <a:t>void</a:t>
            </a:r>
            <a:r>
              <a:rPr sz="1400" dirty="0">
                <a:solidFill>
                  <a:srgbClr val="BCBEC4"/>
                </a:solidFill>
                <a:latin typeface="Consolas"/>
              </a:rPr>
              <a:t> </a:t>
            </a:r>
            <a:r>
              <a:rPr sz="1400" dirty="0" err="1">
                <a:solidFill>
                  <a:srgbClr val="56A8F5"/>
                </a:solidFill>
                <a:latin typeface="Consolas"/>
              </a:rPr>
              <a:t>appeler</a:t>
            </a:r>
            <a:r>
              <a:rPr sz="1400" dirty="0">
                <a:solidFill>
                  <a:srgbClr val="BCBEC4"/>
                </a:solidFill>
                <a:latin typeface="Consolas"/>
              </a:rPr>
              <a:t>(</a:t>
            </a:r>
            <a:r>
              <a:rPr sz="1400" dirty="0">
                <a:solidFill>
                  <a:srgbClr val="CF8E6D"/>
                </a:solidFill>
                <a:latin typeface="Consolas"/>
              </a:rPr>
              <a:t>int</a:t>
            </a:r>
            <a:r>
              <a:rPr sz="1400" dirty="0">
                <a:solidFill>
                  <a:srgbClr val="BCBEC4"/>
                </a:solidFill>
                <a:latin typeface="Consolas"/>
              </a:rPr>
              <a:t> </a:t>
            </a:r>
            <a:r>
              <a:rPr sz="1400" dirty="0" err="1">
                <a:solidFill>
                  <a:srgbClr val="BCBEC4"/>
                </a:solidFill>
                <a:latin typeface="Consolas"/>
              </a:rPr>
              <a:t>etage</a:t>
            </a:r>
            <a:r>
              <a:rPr sz="1400" dirty="0">
                <a:solidFill>
                  <a:srgbClr val="BCBEC4"/>
                </a:solidFill>
                <a:latin typeface="Consolas"/>
              </a:rPr>
              <a:t>) </a:t>
            </a:r>
            <a:br>
              <a:rPr lang="nl-BE" sz="1400" dirty="0">
                <a:solidFill>
                  <a:srgbClr val="BCBEC4"/>
                </a:solidFill>
                <a:latin typeface="Consolas"/>
              </a:rPr>
            </a:br>
            <a:r>
              <a:rPr lang="nl-BE" sz="1400" dirty="0">
                <a:solidFill>
                  <a:srgbClr val="BCBEC4"/>
                </a:solidFill>
                <a:latin typeface="Consolas"/>
              </a:rPr>
              <a:t>                </a:t>
            </a:r>
            <a:r>
              <a:rPr sz="1400" dirty="0">
                <a:solidFill>
                  <a:srgbClr val="CF8E6D"/>
                </a:solidFill>
                <a:latin typeface="Consolas"/>
              </a:rPr>
              <a:t>throws</a:t>
            </a:r>
            <a:r>
              <a:rPr sz="1400" dirty="0">
                <a:solidFill>
                  <a:srgbClr val="BCBEC4"/>
                </a:solidFill>
                <a:latin typeface="Consolas"/>
              </a:rPr>
              <a:t> </a:t>
            </a:r>
            <a:r>
              <a:rPr sz="1400" dirty="0" err="1">
                <a:solidFill>
                  <a:srgbClr val="BCBEC4"/>
                </a:solidFill>
                <a:latin typeface="Consolas"/>
              </a:rPr>
              <a:t>EtageInaccessibleException</a:t>
            </a:r>
            <a:r>
              <a:rPr sz="1400" dirty="0">
                <a:solidFill>
                  <a:srgbClr val="BCBEC4"/>
                </a:solidFill>
                <a:latin typeface="Consolas"/>
              </a:rPr>
              <a:t> {</a:t>
            </a:r>
          </a:p>
          <a:p>
            <a:pPr>
              <a:lnSpc>
                <a:spcPct val="100000"/>
              </a:lnSpc>
              <a:spcBef>
                <a:spcPts val="0"/>
              </a:spcBef>
              <a:spcAft>
                <a:spcPts val="0"/>
              </a:spcAft>
            </a:pPr>
            <a:r>
              <a:rPr sz="1400" dirty="0">
                <a:solidFill>
                  <a:srgbClr val="BCBEC4"/>
                </a:solidFill>
                <a:latin typeface="Consolas"/>
              </a:rPr>
              <a:t>    </a:t>
            </a:r>
            <a:r>
              <a:rPr sz="1400" dirty="0">
                <a:solidFill>
                  <a:srgbClr val="CF8E6D"/>
                </a:solidFill>
                <a:latin typeface="Consolas"/>
              </a:rPr>
              <a:t>if</a:t>
            </a:r>
            <a:r>
              <a:rPr sz="1400" dirty="0">
                <a:solidFill>
                  <a:srgbClr val="BCBEC4"/>
                </a:solidFill>
                <a:latin typeface="Consolas"/>
              </a:rPr>
              <a:t> (</a:t>
            </a:r>
            <a:r>
              <a:rPr sz="1400" dirty="0" err="1">
                <a:solidFill>
                  <a:srgbClr val="BCBEC4"/>
                </a:solidFill>
                <a:latin typeface="Consolas"/>
              </a:rPr>
              <a:t>etage</a:t>
            </a:r>
            <a:r>
              <a:rPr sz="1400" dirty="0">
                <a:solidFill>
                  <a:srgbClr val="BCBEC4"/>
                </a:solidFill>
                <a:latin typeface="Consolas"/>
              </a:rPr>
              <a:t> &lt; </a:t>
            </a:r>
            <a:r>
              <a:rPr sz="1400" dirty="0">
                <a:solidFill>
                  <a:srgbClr val="2AACB8"/>
                </a:solidFill>
                <a:latin typeface="Consolas"/>
              </a:rPr>
              <a:t>0</a:t>
            </a:r>
            <a:r>
              <a:rPr sz="1400" dirty="0">
                <a:solidFill>
                  <a:srgbClr val="BCBEC4"/>
                </a:solidFill>
                <a:latin typeface="Consolas"/>
              </a:rPr>
              <a:t> || </a:t>
            </a:r>
            <a:r>
              <a:rPr sz="1400" dirty="0" err="1">
                <a:solidFill>
                  <a:srgbClr val="BCBEC4"/>
                </a:solidFill>
                <a:latin typeface="Consolas"/>
              </a:rPr>
              <a:t>etage</a:t>
            </a:r>
            <a:r>
              <a:rPr sz="1400" dirty="0">
                <a:solidFill>
                  <a:srgbClr val="BCBEC4"/>
                </a:solidFill>
                <a:latin typeface="Consolas"/>
              </a:rPr>
              <a:t> &gt; </a:t>
            </a:r>
            <a:r>
              <a:rPr sz="1400" dirty="0" err="1">
                <a:solidFill>
                  <a:srgbClr val="BCBEC4"/>
                </a:solidFill>
                <a:latin typeface="Consolas"/>
              </a:rPr>
              <a:t>dernierEtage</a:t>
            </a:r>
            <a:r>
              <a:rPr sz="1400" dirty="0">
                <a:solidFill>
                  <a:srgbClr val="BCBEC4"/>
                </a:solidFill>
                <a:latin typeface="Consolas"/>
              </a:rPr>
              <a:t>) {</a:t>
            </a:r>
          </a:p>
          <a:p>
            <a:pPr>
              <a:lnSpc>
                <a:spcPct val="100000"/>
              </a:lnSpc>
              <a:spcBef>
                <a:spcPts val="0"/>
              </a:spcBef>
              <a:spcAft>
                <a:spcPts val="0"/>
              </a:spcAft>
            </a:pPr>
            <a:r>
              <a:rPr sz="1400" dirty="0">
                <a:solidFill>
                  <a:srgbClr val="BCBEC4"/>
                </a:solidFill>
                <a:latin typeface="Consolas"/>
              </a:rPr>
              <a:t>        </a:t>
            </a:r>
            <a:r>
              <a:rPr sz="1400" dirty="0">
                <a:solidFill>
                  <a:srgbClr val="CF8E6D"/>
                </a:solidFill>
                <a:latin typeface="Consolas"/>
              </a:rPr>
              <a:t>throw</a:t>
            </a:r>
            <a:r>
              <a:rPr sz="1400" dirty="0">
                <a:solidFill>
                  <a:srgbClr val="BCBEC4"/>
                </a:solidFill>
                <a:latin typeface="Consolas"/>
              </a:rPr>
              <a:t> </a:t>
            </a:r>
            <a:r>
              <a:rPr sz="1400" dirty="0">
                <a:solidFill>
                  <a:srgbClr val="CF8E6D"/>
                </a:solidFill>
                <a:latin typeface="Consolas"/>
              </a:rPr>
              <a:t>new</a:t>
            </a:r>
            <a:r>
              <a:rPr sz="1400" dirty="0">
                <a:solidFill>
                  <a:srgbClr val="BCBEC4"/>
                </a:solidFill>
                <a:latin typeface="Consolas"/>
              </a:rPr>
              <a:t> </a:t>
            </a:r>
            <a:r>
              <a:rPr sz="1400" dirty="0" err="1">
                <a:solidFill>
                  <a:srgbClr val="56A8F5"/>
                </a:solidFill>
                <a:latin typeface="Consolas"/>
              </a:rPr>
              <a:t>EtageInaccessibleException</a:t>
            </a:r>
            <a:r>
              <a:rPr sz="1400" dirty="0">
                <a:solidFill>
                  <a:srgbClr val="BCBEC4"/>
                </a:solidFill>
                <a:latin typeface="Consolas"/>
              </a:rPr>
              <a:t>(</a:t>
            </a:r>
            <a:r>
              <a:rPr sz="1400" dirty="0">
                <a:solidFill>
                  <a:srgbClr val="6AAB73"/>
                </a:solidFill>
                <a:latin typeface="Consolas"/>
              </a:rPr>
              <a:t>"</a:t>
            </a:r>
            <a:r>
              <a:rPr sz="1400" dirty="0" err="1">
                <a:solidFill>
                  <a:srgbClr val="6AAB73"/>
                </a:solidFill>
                <a:latin typeface="Consolas"/>
              </a:rPr>
              <a:t>Etage</a:t>
            </a:r>
            <a:r>
              <a:rPr sz="1400" dirty="0">
                <a:solidFill>
                  <a:srgbClr val="6AAB73"/>
                </a:solidFill>
                <a:latin typeface="Consolas"/>
              </a:rPr>
              <a:t> "</a:t>
            </a:r>
            <a:r>
              <a:rPr sz="1400" dirty="0">
                <a:solidFill>
                  <a:srgbClr val="BCBEC4"/>
                </a:solidFill>
                <a:latin typeface="Consolas"/>
              </a:rPr>
              <a:t> </a:t>
            </a:r>
            <a:br>
              <a:rPr lang="nl-BE" sz="1400" dirty="0">
                <a:solidFill>
                  <a:srgbClr val="BCBEC4"/>
                </a:solidFill>
                <a:latin typeface="Consolas"/>
              </a:rPr>
            </a:br>
            <a:r>
              <a:rPr lang="nl-BE" sz="1400" dirty="0">
                <a:solidFill>
                  <a:srgbClr val="BCBEC4"/>
                </a:solidFill>
                <a:latin typeface="Consolas"/>
              </a:rPr>
              <a:t>            </a:t>
            </a:r>
            <a:r>
              <a:rPr sz="1400" dirty="0">
                <a:solidFill>
                  <a:srgbClr val="BCBEC4"/>
                </a:solidFill>
                <a:latin typeface="Consolas"/>
              </a:rPr>
              <a:t>+ </a:t>
            </a:r>
            <a:r>
              <a:rPr sz="1400" dirty="0" err="1">
                <a:solidFill>
                  <a:srgbClr val="BCBEC4"/>
                </a:solidFill>
                <a:latin typeface="Consolas"/>
              </a:rPr>
              <a:t>etage</a:t>
            </a:r>
            <a:r>
              <a:rPr lang="nl-BE" sz="1400" dirty="0">
                <a:solidFill>
                  <a:srgbClr val="BCBEC4"/>
                </a:solidFill>
                <a:latin typeface="Consolas"/>
              </a:rPr>
              <a:t> </a:t>
            </a:r>
            <a:r>
              <a:rPr sz="1400" dirty="0">
                <a:solidFill>
                  <a:srgbClr val="BCBEC4"/>
                </a:solidFill>
                <a:latin typeface="Consolas"/>
              </a:rPr>
              <a:t>+ </a:t>
            </a:r>
            <a:r>
              <a:rPr sz="1400" dirty="0">
                <a:solidFill>
                  <a:srgbClr val="6AAB73"/>
                </a:solidFill>
                <a:latin typeface="Consolas"/>
              </a:rPr>
              <a:t>" hors de </a:t>
            </a:r>
            <a:r>
              <a:rPr sz="1400" dirty="0" err="1">
                <a:solidFill>
                  <a:srgbClr val="6AAB73"/>
                </a:solidFill>
                <a:latin typeface="Consolas"/>
              </a:rPr>
              <a:t>l'intervalle</a:t>
            </a:r>
            <a:r>
              <a:rPr sz="1400" dirty="0">
                <a:solidFill>
                  <a:srgbClr val="6AAB73"/>
                </a:solidFill>
                <a:latin typeface="Consolas"/>
              </a:rPr>
              <a:t> 0 a "</a:t>
            </a:r>
            <a:r>
              <a:rPr sz="1400" dirty="0">
                <a:solidFill>
                  <a:srgbClr val="BCBEC4"/>
                </a:solidFill>
                <a:latin typeface="Consolas"/>
              </a:rPr>
              <a:t> </a:t>
            </a:r>
            <a:br>
              <a:rPr lang="nl-BE" sz="1400" dirty="0">
                <a:solidFill>
                  <a:srgbClr val="BCBEC4"/>
                </a:solidFill>
                <a:latin typeface="Consolas"/>
              </a:rPr>
            </a:br>
            <a:r>
              <a:rPr lang="nl-BE" sz="1400" dirty="0">
                <a:solidFill>
                  <a:srgbClr val="BCBEC4"/>
                </a:solidFill>
                <a:latin typeface="Consolas"/>
              </a:rPr>
              <a:t>            </a:t>
            </a:r>
            <a:r>
              <a:rPr sz="1400" dirty="0">
                <a:solidFill>
                  <a:srgbClr val="BCBEC4"/>
                </a:solidFill>
                <a:latin typeface="Consolas"/>
              </a:rPr>
              <a:t>+ </a:t>
            </a:r>
            <a:r>
              <a:rPr sz="1400" dirty="0" err="1">
                <a:solidFill>
                  <a:srgbClr val="BCBEC4"/>
                </a:solidFill>
                <a:latin typeface="Consolas"/>
              </a:rPr>
              <a:t>dernierEtage</a:t>
            </a:r>
            <a:r>
              <a:rPr sz="1400" dirty="0">
                <a:solidFill>
                  <a:srgbClr val="BCBEC4"/>
                </a:solidFill>
                <a:latin typeface="Consolas"/>
              </a:rPr>
              <a:t>);</a:t>
            </a:r>
          </a:p>
          <a:p>
            <a:pPr>
              <a:lnSpc>
                <a:spcPct val="100000"/>
              </a:lnSpc>
              <a:spcBef>
                <a:spcPts val="0"/>
              </a:spcBef>
              <a:spcAft>
                <a:spcPts val="0"/>
              </a:spcAft>
            </a:pPr>
            <a:r>
              <a:rPr sz="1400" dirty="0">
                <a:solidFill>
                  <a:srgbClr val="BCBEC4"/>
                </a:solidFill>
                <a:latin typeface="Consolas"/>
              </a:rPr>
              <a:t>    }</a:t>
            </a:r>
          </a:p>
          <a:p>
            <a:pPr>
              <a:lnSpc>
                <a:spcPct val="100000"/>
              </a:lnSpc>
              <a:spcBef>
                <a:spcPts val="0"/>
              </a:spcBef>
              <a:spcAft>
                <a:spcPts val="0"/>
              </a:spcAft>
            </a:pPr>
            <a:r>
              <a:rPr sz="1400" dirty="0">
                <a:solidFill>
                  <a:srgbClr val="BCBEC4"/>
                </a:solidFill>
                <a:latin typeface="Consolas"/>
              </a:rPr>
              <a:t>    </a:t>
            </a:r>
            <a:r>
              <a:rPr sz="1400" dirty="0" err="1">
                <a:solidFill>
                  <a:srgbClr val="BCBEC4"/>
                </a:solidFill>
                <a:latin typeface="Consolas"/>
              </a:rPr>
              <a:t>etageCourant</a:t>
            </a:r>
            <a:r>
              <a:rPr sz="1400" dirty="0">
                <a:solidFill>
                  <a:srgbClr val="BCBEC4"/>
                </a:solidFill>
                <a:latin typeface="Consolas"/>
              </a:rPr>
              <a:t> = </a:t>
            </a:r>
            <a:r>
              <a:rPr sz="1400" dirty="0" err="1">
                <a:solidFill>
                  <a:srgbClr val="BCBEC4"/>
                </a:solidFill>
                <a:latin typeface="Consolas"/>
              </a:rPr>
              <a:t>etage</a:t>
            </a:r>
            <a:r>
              <a:rPr sz="1400" dirty="0">
                <a:solidFill>
                  <a:srgbClr val="BCBEC4"/>
                </a:solidFill>
                <a:latin typeface="Consolas"/>
              </a:rPr>
              <a:t>;</a:t>
            </a:r>
          </a:p>
          <a:p>
            <a:pPr>
              <a:lnSpc>
                <a:spcPct val="100000"/>
              </a:lnSpc>
              <a:spcBef>
                <a:spcPts val="0"/>
              </a:spcBef>
              <a:spcAft>
                <a:spcPts val="0"/>
              </a:spcAft>
            </a:pPr>
            <a:r>
              <a:rPr sz="1400" dirty="0">
                <a:solidFill>
                  <a:srgbClr val="BCBEC4"/>
                </a:solidFill>
                <a:latin typeface="Consola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Plusieurs </a:t>
            </a:r>
            <a:r>
              <a:rPr sz="3400">
                <a:solidFill>
                  <a:schemeClr val="accent4"/>
                </a:solidFill>
                <a:latin typeface="Consolas"/>
              </a:rPr>
              <a:t>catch</a:t>
            </a:r>
            <a:r>
              <a:rPr sz="4000"/>
              <a:t>, ou un seul</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Un </a:t>
            </a:r>
            <a:r>
              <a:rPr sz="2400">
                <a:solidFill>
                  <a:schemeClr val="accent4"/>
                </a:solidFill>
                <a:latin typeface="Consolas"/>
              </a:rPr>
              <a:t>try</a:t>
            </a:r>
            <a:r>
              <a:rPr sz="2800"/>
              <a:t> peut être suivi de plusieurs </a:t>
            </a:r>
            <a:r>
              <a:rPr sz="2400">
                <a:solidFill>
                  <a:schemeClr val="accent4"/>
                </a:solidFill>
                <a:latin typeface="Consolas"/>
              </a:rPr>
              <a:t>catch</a:t>
            </a:r>
          </a:p>
          <a:p>
            <a:pPr marL="0" indent="0">
              <a:spcAft>
                <a:spcPts val="1000"/>
              </a:spcAft>
              <a:buNone/>
            </a:pPr>
            <a:r>
              <a:rPr sz="2800"/>
              <a:t>Un </a:t>
            </a:r>
            <a:r>
              <a:rPr sz="2400">
                <a:solidFill>
                  <a:schemeClr val="accent4"/>
                </a:solidFill>
                <a:latin typeface="Consolas"/>
              </a:rPr>
              <a:t>catch</a:t>
            </a:r>
            <a:r>
              <a:rPr sz="2800"/>
              <a:t> attrape aussi les sous-classes de son type</a:t>
            </a:r>
          </a:p>
          <a:p>
            <a:pPr marL="0" indent="0">
              <a:spcAft>
                <a:spcPts val="1000"/>
              </a:spcAft>
              <a:buNone/>
            </a:pPr>
            <a:r>
              <a:rPr sz="2800"/>
              <a:t>Une barre verticale réunit deux types dans le même </a:t>
            </a:r>
            <a:r>
              <a:rPr sz="2400">
                <a:solidFill>
                  <a:schemeClr val="accent4"/>
                </a:solidFill>
                <a:latin typeface="Consolas"/>
              </a:rPr>
              <a:t>catch</a:t>
            </a:r>
          </a:p>
        </p:txBody>
      </p:sp>
      <p:sp>
        <p:nvSpPr>
          <p:cNvPr id="4" name="Code"/>
          <p:cNvSpPr txBox="1"/>
          <p:nvPr/>
        </p:nvSpPr>
        <p:spPr>
          <a:xfrm>
            <a:off x="2171700" y="3733799"/>
            <a:ext cx="7848600" cy="2438400"/>
          </a:xfrm>
          <a:prstGeom prst="roundRect">
            <a:avLst>
              <a:gd name="adj" fmla="val 3750"/>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try</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ascenseur.</a:t>
            </a:r>
            <a:r>
              <a:rPr sz="1800">
                <a:solidFill>
                  <a:srgbClr val="56A8F5"/>
                </a:solidFill>
                <a:latin typeface="Consolas"/>
              </a:rPr>
              <a:t>appeler</a:t>
            </a:r>
            <a:r>
              <a:rPr sz="1800">
                <a:solidFill>
                  <a:srgbClr val="BCBEC4"/>
                </a:solidFill>
                <a:latin typeface="Consolas"/>
              </a:rPr>
              <a:t>(etage);</a:t>
            </a:r>
          </a:p>
          <a:p>
            <a:pPr>
              <a:lnSpc>
                <a:spcPct val="100000"/>
              </a:lnSpc>
              <a:spcBef>
                <a:spcPts val="0"/>
              </a:spcBef>
              <a:spcAft>
                <a:spcPts val="0"/>
              </a:spcAft>
            </a:pPr>
            <a:r>
              <a:rPr sz="1800">
                <a:solidFill>
                  <a:srgbClr val="BCBEC4"/>
                </a:solidFill>
                <a:latin typeface="Consolas"/>
              </a:rPr>
              <a:t>    porte.</a:t>
            </a:r>
            <a:r>
              <a:rPr sz="1800">
                <a:solidFill>
                  <a:srgbClr val="56A8F5"/>
                </a:solidFill>
                <a:latin typeface="Consolas"/>
              </a:rPr>
              <a:t>ouvrir</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catch</a:t>
            </a:r>
            <a:r>
              <a:rPr sz="1800">
                <a:solidFill>
                  <a:srgbClr val="BCBEC4"/>
                </a:solidFill>
                <a:latin typeface="Consolas"/>
              </a:rPr>
              <a:t> (EtageInaccessibleException e) {</a:t>
            </a:r>
          </a:p>
          <a:p>
            <a:pPr>
              <a:lnSpc>
                <a:spcPct val="100000"/>
              </a:lnSpc>
              <a:spcBef>
                <a:spcPts val="0"/>
              </a:spcBef>
              <a:spcAft>
                <a:spcPts val="0"/>
              </a:spcAft>
            </a:pPr>
            <a:r>
              <a:rPr sz="1800">
                <a:solidFill>
                  <a:srgbClr val="BCBEC4"/>
                </a:solidFill>
                <a:latin typeface="Consolas"/>
              </a:rPr>
              <a:t>    </a:t>
            </a:r>
            <a:r>
              <a:rPr sz="1800">
                <a:solidFill>
                  <a:srgbClr val="56A8F5"/>
                </a:solidFill>
                <a:latin typeface="Consolas"/>
              </a:rPr>
              <a:t>afficher</a:t>
            </a:r>
            <a:r>
              <a:rPr sz="1800">
                <a:solidFill>
                  <a:srgbClr val="BCBEC4"/>
                </a:solidFill>
                <a:latin typeface="Consolas"/>
              </a:rPr>
              <a:t>(</a:t>
            </a:r>
            <a:r>
              <a:rPr sz="1800">
                <a:solidFill>
                  <a:srgbClr val="6AAB73"/>
                </a:solidFill>
                <a:latin typeface="Consolas"/>
              </a:rPr>
              <a:t>"Etage refuse : "</a:t>
            </a:r>
            <a:r>
              <a:rPr sz="1800">
                <a:solidFill>
                  <a:srgbClr val="BCBEC4"/>
                </a:solidFill>
                <a:latin typeface="Consolas"/>
              </a:rPr>
              <a:t> + e.</a:t>
            </a:r>
            <a:r>
              <a:rPr sz="1800">
                <a:solidFill>
                  <a:srgbClr val="56A8F5"/>
                </a:solidFill>
                <a:latin typeface="Consolas"/>
              </a:rPr>
              <a:t>getMessage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catch</a:t>
            </a:r>
            <a:r>
              <a:rPr sz="1800">
                <a:solidFill>
                  <a:srgbClr val="BCBEC4"/>
                </a:solidFill>
                <a:latin typeface="Consolas"/>
              </a:rPr>
              <a:t> (PorteBloqueeException | CoupureException e) {</a:t>
            </a:r>
          </a:p>
          <a:p>
            <a:pPr>
              <a:lnSpc>
                <a:spcPct val="100000"/>
              </a:lnSpc>
              <a:spcBef>
                <a:spcPts val="0"/>
              </a:spcBef>
              <a:spcAft>
                <a:spcPts val="0"/>
              </a:spcAft>
            </a:pPr>
            <a:r>
              <a:rPr sz="1800">
                <a:solidFill>
                  <a:srgbClr val="BCBEC4"/>
                </a:solidFill>
                <a:latin typeface="Consolas"/>
              </a:rPr>
              <a:t>    </a:t>
            </a:r>
            <a:r>
              <a:rPr sz="1800">
                <a:solidFill>
                  <a:srgbClr val="56A8F5"/>
                </a:solidFill>
                <a:latin typeface="Consolas"/>
              </a:rPr>
              <a:t>signalerPanne</a:t>
            </a:r>
            <a:r>
              <a:rPr sz="1800">
                <a:solidFill>
                  <a:srgbClr val="BCBEC4"/>
                </a:solidFill>
                <a:latin typeface="Consolas"/>
              </a:rPr>
              <a:t>(e.</a:t>
            </a:r>
            <a:r>
              <a:rPr sz="1800">
                <a:solidFill>
                  <a:srgbClr val="56A8F5"/>
                </a:solidFill>
                <a:latin typeface="Consolas"/>
              </a:rPr>
              <a:t>getMessage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3. Attraper les exceptions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a:t>
            </a:r>
            <a:r>
              <a:rPr sz="3400">
                <a:solidFill>
                  <a:schemeClr val="accent4"/>
                </a:solidFill>
                <a:latin typeface="Consolas"/>
              </a:rPr>
              <a:t>catch</a:t>
            </a:r>
            <a:r>
              <a:rPr sz="4000"/>
              <a:t> fait quelque chose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Un </a:t>
            </a:r>
            <a:r>
              <a:rPr sz="2400">
                <a:solidFill>
                  <a:schemeClr val="accent4"/>
                </a:solidFill>
                <a:latin typeface="Consolas"/>
              </a:rPr>
              <a:t>catch</a:t>
            </a:r>
            <a:r>
              <a:rPr sz="2800"/>
              <a:t> vide cache l'erreur sans la résoudre</a:t>
            </a:r>
          </a:p>
          <a:p>
            <a:pPr marL="0" indent="0">
              <a:spcAft>
                <a:spcPts val="1000"/>
              </a:spcAft>
              <a:buNone/>
            </a:pPr>
            <a:r>
              <a:rPr sz="2800"/>
              <a:t>Traiter, informer, ou ne pas attraper du tout</a:t>
            </a:r>
          </a:p>
          <a:p>
            <a:pPr marL="0" indent="0">
              <a:spcAft>
                <a:spcPts val="1000"/>
              </a:spcAft>
              <a:buNone/>
            </a:pPr>
            <a:r>
              <a:rPr sz="2800"/>
              <a:t>Règle </a:t>
            </a:r>
            <a:r>
              <a:rPr sz="2800">
                <a:solidFill>
                  <a:schemeClr val="accent4"/>
                </a:solidFill>
                <a:latin typeface="Consolas"/>
              </a:rPr>
              <a:t>CC-ERR.6</a:t>
            </a:r>
          </a:p>
        </p:txBody>
      </p:sp>
      <p:sp>
        <p:nvSpPr>
          <p:cNvPr id="4" name="Code"/>
          <p:cNvSpPr txBox="1"/>
          <p:nvPr/>
        </p:nvSpPr>
        <p:spPr>
          <a:xfrm>
            <a:off x="2311400" y="3307080"/>
            <a:ext cx="75692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try</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ascenseur.</a:t>
            </a:r>
            <a:r>
              <a:rPr sz="1800">
                <a:solidFill>
                  <a:srgbClr val="56A8F5"/>
                </a:solidFill>
                <a:latin typeface="Consolas"/>
              </a:rPr>
              <a:t>appeler</a:t>
            </a:r>
            <a:r>
              <a:rPr sz="1800">
                <a:solidFill>
                  <a:srgbClr val="BCBEC4"/>
                </a:solidFill>
                <a:latin typeface="Consolas"/>
              </a:rPr>
              <a:t>(etage);</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catch</a:t>
            </a:r>
            <a:r>
              <a:rPr sz="1800">
                <a:solidFill>
                  <a:srgbClr val="BCBEC4"/>
                </a:solidFill>
                <a:latin typeface="Consolas"/>
              </a:rPr>
              <a:t> (EtageInaccessibleException e) {</a:t>
            </a:r>
          </a:p>
          <a:p>
            <a:pPr>
              <a:lnSpc>
                <a:spcPct val="100000"/>
              </a:lnSpc>
              <a:spcBef>
                <a:spcPts val="0"/>
              </a:spcBef>
              <a:spcAft>
                <a:spcPts val="0"/>
              </a:spcAft>
            </a:pPr>
            <a:r>
              <a:rPr sz="1800">
                <a:solidFill>
                  <a:srgbClr val="BCBEC4"/>
                </a:solidFill>
                <a:latin typeface="Consolas"/>
              </a:rPr>
              <a:t>    System.out.</a:t>
            </a:r>
            <a:r>
              <a:rPr sz="1800">
                <a:solidFill>
                  <a:srgbClr val="56A8F5"/>
                </a:solidFill>
                <a:latin typeface="Consolas"/>
              </a:rPr>
              <a:t>println</a:t>
            </a:r>
            <a:r>
              <a:rPr sz="1800">
                <a:solidFill>
                  <a:srgbClr val="BCBEC4"/>
                </a:solidFill>
                <a:latin typeface="Consolas"/>
              </a:rPr>
              <a:t>(</a:t>
            </a:r>
            <a:r>
              <a:rPr sz="1800">
                <a:solidFill>
                  <a:srgbClr val="6AAB73"/>
                </a:solidFill>
                <a:latin typeface="Consolas"/>
              </a:rPr>
              <a:t>"Refus : "</a:t>
            </a:r>
            <a:r>
              <a:rPr sz="1800">
                <a:solidFill>
                  <a:srgbClr val="BCBEC4"/>
                </a:solidFill>
                <a:latin typeface="Consolas"/>
              </a:rPr>
              <a:t> + e.</a:t>
            </a:r>
            <a:r>
              <a:rPr sz="1800">
                <a:solidFill>
                  <a:srgbClr val="56A8F5"/>
                </a:solidFill>
                <a:latin typeface="Consolas"/>
              </a:rPr>
              <a:t>getMessage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ecran.</a:t>
            </a:r>
            <a:r>
              <a:rPr sz="1800">
                <a:solidFill>
                  <a:srgbClr val="56A8F5"/>
                </a:solidFill>
                <a:latin typeface="Consolas"/>
              </a:rPr>
              <a:t>proposerEtagesValides</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3. Attraper les exceptions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a:t>
            </a:r>
            <a:r>
              <a:rPr sz="3400">
                <a:solidFill>
                  <a:schemeClr val="accent4"/>
                </a:solidFill>
                <a:latin typeface="Consolas"/>
              </a:rPr>
              <a:t>finally</a:t>
            </a:r>
            <a:r>
              <a:rPr sz="4000"/>
              <a:t> garantit</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Le bloc </a:t>
            </a:r>
            <a:r>
              <a:rPr sz="2400">
                <a:solidFill>
                  <a:schemeClr val="accent4"/>
                </a:solidFill>
                <a:latin typeface="Consolas"/>
              </a:rPr>
              <a:t>finally</a:t>
            </a:r>
            <a:r>
              <a:rPr sz="2800"/>
              <a:t> s'exécute toujours, exception ou non</a:t>
            </a:r>
          </a:p>
          <a:p>
            <a:pPr marL="0" indent="0">
              <a:spcAft>
                <a:spcPts val="1000"/>
              </a:spcAft>
              <a:buNone/>
            </a:pPr>
            <a:r>
              <a:rPr sz="2800"/>
              <a:t>Même quand l'exception n'est pas attrapée</a:t>
            </a:r>
          </a:p>
          <a:p>
            <a:pPr marL="0" indent="0">
              <a:spcAft>
                <a:spcPts val="1000"/>
              </a:spcAft>
              <a:buNone/>
            </a:pPr>
            <a:r>
              <a:rPr sz="2800"/>
              <a:t>Il sert à remettre les choses en place</a:t>
            </a:r>
          </a:p>
        </p:txBody>
      </p:sp>
      <p:sp>
        <p:nvSpPr>
          <p:cNvPr id="4" name="Code"/>
          <p:cNvSpPr txBox="1"/>
          <p:nvPr/>
        </p:nvSpPr>
        <p:spPr>
          <a:xfrm>
            <a:off x="1752600" y="3307080"/>
            <a:ext cx="8686800" cy="246887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deplacer</a:t>
            </a:r>
            <a:r>
              <a:rPr sz="1800">
                <a:solidFill>
                  <a:srgbClr val="BCBEC4"/>
                </a:solidFill>
                <a:latin typeface="Consolas"/>
              </a:rPr>
              <a:t>(</a:t>
            </a:r>
            <a:r>
              <a:rPr sz="1800">
                <a:solidFill>
                  <a:srgbClr val="CF8E6D"/>
                </a:solidFill>
                <a:latin typeface="Consolas"/>
              </a:rPr>
              <a:t>int</a:t>
            </a:r>
            <a:r>
              <a:rPr sz="1800">
                <a:solidFill>
                  <a:srgbClr val="BCBEC4"/>
                </a:solidFill>
                <a:latin typeface="Consolas"/>
              </a:rPr>
              <a:t> etage) </a:t>
            </a:r>
            <a:r>
              <a:rPr sz="1800">
                <a:solidFill>
                  <a:srgbClr val="CF8E6D"/>
                </a:solidFill>
                <a:latin typeface="Consolas"/>
              </a:rPr>
              <a:t>throws</a:t>
            </a:r>
            <a:r>
              <a:rPr sz="1800">
                <a:solidFill>
                  <a:srgbClr val="BCBEC4"/>
                </a:solidFill>
                <a:latin typeface="Consolas"/>
              </a:rPr>
              <a:t> EtageInaccessibleException {</a:t>
            </a:r>
          </a:p>
          <a:p>
            <a:pPr>
              <a:lnSpc>
                <a:spcPct val="100000"/>
              </a:lnSpc>
              <a:spcBef>
                <a:spcPts val="0"/>
              </a:spcBef>
              <a:spcAft>
                <a:spcPts val="0"/>
              </a:spcAft>
            </a:pPr>
            <a:r>
              <a:rPr sz="1800">
                <a:solidFill>
                  <a:srgbClr val="BCBEC4"/>
                </a:solidFill>
                <a:latin typeface="Consolas"/>
              </a:rPr>
              <a:t>    porte.</a:t>
            </a:r>
            <a:r>
              <a:rPr sz="1800">
                <a:solidFill>
                  <a:srgbClr val="56A8F5"/>
                </a:solidFill>
                <a:latin typeface="Consolas"/>
              </a:rPr>
              <a:t>verrouiller</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try</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ascenseur.</a:t>
            </a:r>
            <a:r>
              <a:rPr sz="1800">
                <a:solidFill>
                  <a:srgbClr val="56A8F5"/>
                </a:solidFill>
                <a:latin typeface="Consolas"/>
              </a:rPr>
              <a:t>appeler</a:t>
            </a:r>
            <a:r>
              <a:rPr sz="1800">
                <a:solidFill>
                  <a:srgbClr val="BCBEC4"/>
                </a:solidFill>
                <a:latin typeface="Consolas"/>
              </a:rPr>
              <a:t>(etage);</a:t>
            </a:r>
          </a:p>
          <a:p>
            <a:pPr>
              <a:lnSpc>
                <a:spcPct val="100000"/>
              </a:lnSpc>
              <a:spcBef>
                <a:spcPts val="0"/>
              </a:spcBef>
              <a:spcAft>
                <a:spcPts val="0"/>
              </a:spcAft>
            </a:pPr>
            <a:r>
              <a:rPr sz="1800">
                <a:solidFill>
                  <a:srgbClr val="BCBEC4"/>
                </a:solidFill>
                <a:latin typeface="Consolas"/>
              </a:rPr>
              <a:t>    } </a:t>
            </a:r>
            <a:r>
              <a:rPr sz="1800">
                <a:solidFill>
                  <a:srgbClr val="CF8E6D"/>
                </a:solidFill>
                <a:latin typeface="Consolas"/>
              </a:rPr>
              <a:t>finally</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porte.</a:t>
            </a:r>
            <a:r>
              <a:rPr sz="1800">
                <a:solidFill>
                  <a:srgbClr val="56A8F5"/>
                </a:solidFill>
                <a:latin typeface="Consolas"/>
              </a:rPr>
              <a:t>deverrouiller</a:t>
            </a:r>
            <a:r>
              <a:rPr sz="1800">
                <a:solidFill>
                  <a:srgbClr val="BCBEC4"/>
                </a:solidFill>
                <a:latin typeface="Consolas"/>
              </a:rPr>
              <a:t>();         </a:t>
            </a:r>
            <a:r>
              <a:rPr sz="1800">
                <a:solidFill>
                  <a:srgbClr val="7A7E85"/>
                </a:solidFill>
                <a:latin typeface="Consolas"/>
              </a:rPr>
              <a:t>// dans tous les cas</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3. Attraper les exceptions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pic>
        <p:nvPicPr>
          <p:cNvPr id="10" name="Picture 9"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19</a:t>
            </a:fld>
            <a:endParaRPr lang="fr-FR"/>
          </a:p>
        </p:txBody>
      </p:sp>
      <p:sp>
        <p:nvSpPr>
          <p:cNvPr id="11"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3. Attraper les exceptions</a:t>
            </a:r>
          </a:p>
        </p:txBody>
      </p:sp>
      <p:grpSp>
        <p:nvGrpSpPr>
          <p:cNvPr id="13" name="Exercice 1"/>
          <p:cNvGrpSpPr/>
          <p:nvPr/>
        </p:nvGrpSpPr>
        <p:grpSpPr>
          <a:xfrm>
            <a:off x="640080" y="1417320"/>
            <a:ext cx="9326880" cy="960120"/>
            <a:chOff x="640080" y="1417320"/>
            <a:chExt cx="9326880" cy="960120"/>
          </a:xfrm>
        </p:grpSpPr>
        <p:sp>
          <p:nvSpPr>
            <p:cNvPr id="12"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EXC.3</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 numéro de compte vérifié</a:t>
              </a:r>
            </a:p>
            <a:p>
              <a:r>
                <a:rPr sz="1400">
                  <a:solidFill>
                    <a:srgbClr val="BCBEC4"/>
                  </a:solidFill>
                </a:rPr>
                <a:t>fascicule EXC</a:t>
              </a:r>
            </a:p>
          </p:txBody>
        </p:sp>
      </p:grpSp>
      <p:grpSp>
        <p:nvGrpSpPr>
          <p:cNvPr id="14" name="Exercice 2"/>
          <p:cNvGrpSpPr/>
          <p:nvPr/>
        </p:nvGrpSpPr>
        <p:grpSpPr>
          <a:xfrm>
            <a:off x="640080" y="2560320"/>
            <a:ext cx="9326880" cy="2057399"/>
            <a:chOff x="640080" y="2560320"/>
            <a:chExt cx="9326880" cy="2057399"/>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EXC.6</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800">
                  <a:solidFill>
                    <a:srgbClr val="FFFFFF"/>
                  </a:solidFill>
                </a:rPr>
                <a:t>Ce que </a:t>
              </a:r>
              <a:r>
                <a:rPr sz="2400">
                  <a:solidFill>
                    <a:schemeClr val="accent4"/>
                  </a:solidFill>
                  <a:latin typeface="Consolas"/>
                </a:rPr>
                <a:t>finally</a:t>
              </a:r>
              <a:r>
                <a:rPr sz="2800">
                  <a:solidFill>
                    <a:srgbClr val="FFFFFF"/>
                  </a:solidFill>
                </a:rPr>
                <a:t> garantit</a:t>
              </a:r>
            </a:p>
            <a:p>
              <a:r>
                <a:rPr sz="1400">
                  <a:solidFill>
                    <a:srgbClr val="BCBEC4"/>
                  </a:solidFill>
                </a:rPr>
                <a:t>fascicule EXC</a:t>
              </a:r>
            </a:p>
          </p:txBody>
        </p:sp>
        <p:sp>
          <p:nvSpPr>
            <p:cNvPr id="9" name="TextBox 8"/>
            <p:cNvSpPr txBox="1"/>
            <p:nvPr/>
          </p:nvSpPr>
          <p:spPr>
            <a:xfrm>
              <a:off x="640080" y="3794759"/>
              <a:ext cx="9326880" cy="822960"/>
            </a:xfrm>
            <a:prstGeom prst="rect">
              <a:avLst/>
            </a:prstGeom>
            <a:noFill/>
          </p:spPr>
          <p:txBody>
            <a:bodyPr wrap="square">
              <a:spAutoFit/>
            </a:bodyPr>
            <a:lstStyle/>
            <a:p>
              <a:r>
                <a:rPr sz="2400"/>
                <a:t>Exceptions : </a:t>
              </a:r>
              <a:r>
                <a:rPr sz="2400">
                  <a:solidFill>
                    <a:schemeClr val="accent4"/>
                  </a:solidFill>
                  <a:latin typeface="Consolas"/>
                </a:rPr>
                <a:t>CC-ERR.4</a:t>
              </a:r>
              <a:r>
                <a:rPr sz="2400"/>
                <a:t>, </a:t>
              </a:r>
              <a:r>
                <a:rPr sz="2400">
                  <a:solidFill>
                    <a:schemeClr val="accent4"/>
                  </a:solidFill>
                  <a:latin typeface="Consolas"/>
                </a:rPr>
                <a:t>CC-ERR.5</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44F4FECE-952B-C623-FF8C-0552E50E0BB3}"/>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C39A88CC-5ABE-A7FF-9C13-70784A30BB2E}"/>
              </a:ext>
            </a:extLst>
          </p:cNvPr>
          <p:cNvSpPr txBox="1"/>
          <p:nvPr/>
        </p:nvSpPr>
        <p:spPr>
          <a:xfrm>
            <a:off x="838200" y="946800"/>
            <a:ext cx="10136638" cy="82872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4800" b="1" dirty="0">
                <a:ln w="0"/>
                <a:effectLst>
                  <a:outerShdw blurRad="38100" dist="19050" dir="2700000" algn="tl" rotWithShape="0">
                    <a:schemeClr val="dk1">
                      <a:alpha val="40000"/>
                    </a:schemeClr>
                  </a:outerShdw>
                </a:effectLst>
                <a:latin typeface="Calibri"/>
                <a:cs typeface="Calibri"/>
              </a:rPr>
              <a:t>4. Celles que le compilateur ne voit pas</a:t>
            </a:r>
            <a:endParaRPr lang="fr-FR" sz="14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exception que personne n'annonce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Une </a:t>
            </a:r>
            <a:r>
              <a:rPr sz="2400">
                <a:solidFill>
                  <a:schemeClr val="accent4"/>
                </a:solidFill>
                <a:latin typeface="Consolas"/>
              </a:rPr>
              <a:t>RuntimeException</a:t>
            </a:r>
            <a:r>
              <a:rPr sz="2800"/>
              <a:t> n'exige ni </a:t>
            </a:r>
            <a:r>
              <a:rPr sz="2400">
                <a:solidFill>
                  <a:schemeClr val="accent4"/>
                </a:solidFill>
                <a:latin typeface="Consolas"/>
              </a:rPr>
              <a:t>try</a:t>
            </a:r>
            <a:r>
              <a:rPr sz="2800"/>
              <a:t> ni </a:t>
            </a:r>
            <a:r>
              <a:rPr sz="2400">
                <a:solidFill>
                  <a:schemeClr val="accent4"/>
                </a:solidFill>
                <a:latin typeface="Consolas"/>
              </a:rPr>
              <a:t>throws</a:t>
            </a:r>
          </a:p>
          <a:p>
            <a:pPr marL="0" indent="0">
              <a:spcAft>
                <a:spcPts val="1000"/>
              </a:spcAft>
              <a:buNone/>
            </a:pPr>
            <a:r>
              <a:rPr sz="2800"/>
              <a:t>Le code compile donc sans un mot</a:t>
            </a:r>
          </a:p>
          <a:p>
            <a:pPr marL="0" indent="0">
              <a:spcAft>
                <a:spcPts val="1000"/>
              </a:spcAft>
              <a:buNone/>
            </a:pPr>
            <a:r>
              <a:rPr sz="2800"/>
              <a:t>Et le programme s'arrête à l'exécution</a:t>
            </a:r>
          </a:p>
        </p:txBody>
      </p:sp>
      <p:sp>
        <p:nvSpPr>
          <p:cNvPr id="4" name="Code"/>
          <p:cNvSpPr txBox="1"/>
          <p:nvPr/>
        </p:nvSpPr>
        <p:spPr>
          <a:xfrm>
            <a:off x="1403350" y="3460445"/>
            <a:ext cx="93853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String saisie = </a:t>
            </a:r>
            <a:r>
              <a:rPr sz="1800">
                <a:solidFill>
                  <a:srgbClr val="6AAB73"/>
                </a:solidFill>
                <a:latin typeface="Consolas"/>
              </a:rPr>
              <a:t>"douze"</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etage = Integer.</a:t>
            </a:r>
            <a:r>
              <a:rPr sz="1800">
                <a:solidFill>
                  <a:srgbClr val="56A8F5"/>
                </a:solidFill>
                <a:latin typeface="Consolas"/>
              </a:rPr>
              <a:t>parseInt</a:t>
            </a:r>
            <a:r>
              <a:rPr sz="1800">
                <a:solidFill>
                  <a:srgbClr val="BCBEC4"/>
                </a:solidFill>
                <a:latin typeface="Consolas"/>
              </a:rPr>
              <a:t>(saisie);   </a:t>
            </a:r>
            <a:r>
              <a:rPr sz="1800">
                <a:solidFill>
                  <a:srgbClr val="7A7E85"/>
                </a:solidFill>
                <a:latin typeface="Consolas"/>
              </a:rPr>
              <a:t>// compile sans rien dire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7A7E85"/>
                </a:solidFill>
                <a:latin typeface="Consolas"/>
              </a:rPr>
              <a:t>// Exception in thread "main" java.lang.NumberFormatException:</a:t>
            </a:r>
          </a:p>
          <a:p>
            <a:pPr>
              <a:lnSpc>
                <a:spcPct val="100000"/>
              </a:lnSpc>
              <a:spcBef>
                <a:spcPts val="0"/>
              </a:spcBef>
              <a:spcAft>
                <a:spcPts val="0"/>
              </a:spcAft>
            </a:pPr>
            <a:r>
              <a:rPr sz="1800">
                <a:solidFill>
                  <a:srgbClr val="7A7E85"/>
                </a:solidFill>
                <a:latin typeface="Consolas"/>
              </a:rPr>
              <a:t>//     For input string: "douze"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4. Les exceptions non contrôlées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solidFill>
                  <a:schemeClr val="accent4"/>
                </a:solidFill>
                <a:latin typeface="Consolas"/>
              </a:rPr>
              <a:t>NullPointerException</a:t>
            </a:r>
            <a:r>
              <a:rPr sz="4000"/>
              <a:t> : la plus fréquente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Une méthode appelée sur </a:t>
            </a:r>
            <a:r>
              <a:rPr sz="2800">
                <a:solidFill>
                  <a:schemeClr val="accent4"/>
                </a:solidFill>
                <a:latin typeface="Consolas"/>
              </a:rPr>
              <a:t>null</a:t>
            </a:r>
            <a:r>
              <a:rPr sz="2800"/>
              <a:t> : pas d'objet à qui demander</a:t>
            </a:r>
          </a:p>
          <a:p>
            <a:pPr marL="0" indent="0">
              <a:spcAft>
                <a:spcPts val="1000"/>
              </a:spcAft>
              <a:buNone/>
            </a:pPr>
            <a:r>
              <a:rPr sz="2800"/>
              <a:t>Avec </a:t>
            </a:r>
            <a:r>
              <a:rPr sz="2800">
                <a:solidFill>
                  <a:schemeClr val="accent4"/>
                </a:solidFill>
                <a:latin typeface="Consolas"/>
              </a:rPr>
              <a:t>&amp;&amp;</a:t>
            </a:r>
            <a:r>
              <a:rPr sz="2800"/>
              <a:t>, l'ordre des tests compte</a:t>
            </a:r>
          </a:p>
          <a:p>
            <a:pPr marL="0" indent="0">
              <a:spcAft>
                <a:spcPts val="1000"/>
              </a:spcAft>
              <a:buNone/>
            </a:pPr>
            <a:r>
              <a:rPr sz="2800"/>
              <a:t>Mieux : ne pas produire de </a:t>
            </a:r>
            <a:r>
              <a:rPr sz="2800">
                <a:solidFill>
                  <a:schemeClr val="accent4"/>
                </a:solidFill>
                <a:latin typeface="Consolas"/>
              </a:rPr>
              <a:t>null</a:t>
            </a:r>
            <a:r>
              <a:rPr sz="2800"/>
              <a:t> (</a:t>
            </a:r>
            <a:r>
              <a:rPr sz="2800">
                <a:solidFill>
                  <a:schemeClr val="accent4"/>
                </a:solidFill>
                <a:latin typeface="Consolas"/>
              </a:rPr>
              <a:t>CC-ERR.7</a:t>
            </a:r>
            <a:r>
              <a:rPr sz="2800"/>
              <a:t>)</a:t>
            </a:r>
          </a:p>
        </p:txBody>
      </p:sp>
      <p:sp>
        <p:nvSpPr>
          <p:cNvPr id="4" name="Code"/>
          <p:cNvSpPr txBox="1"/>
          <p:nvPr/>
        </p:nvSpPr>
        <p:spPr>
          <a:xfrm>
            <a:off x="1403350" y="3650000"/>
            <a:ext cx="9385300" cy="235000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String titre = </a:t>
            </a:r>
            <a:r>
              <a:rPr sz="1800">
                <a:solidFill>
                  <a:srgbClr val="CF8E6D"/>
                </a:solidFill>
                <a:latin typeface="Consolas"/>
              </a:rPr>
              <a:t>null</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titre.equals(</a:t>
            </a:r>
            <a:r>
              <a:rPr sz="1800">
                <a:solidFill>
                  <a:srgbClr val="6AAB73"/>
                </a:solidFill>
                <a:latin typeface="Consolas"/>
              </a:rPr>
              <a:t>"Nana"</a:t>
            </a:r>
            <a:r>
              <a:rPr sz="1800">
                <a:solidFill>
                  <a:srgbClr val="BCBEC4"/>
                </a:solidFill>
                <a:latin typeface="Consolas"/>
              </a:rPr>
              <a:t>)                   </a:t>
            </a:r>
            <a:r>
              <a:rPr sz="1800">
                <a:solidFill>
                  <a:srgbClr val="7A7E85"/>
                </a:solidFill>
                <a:latin typeface="Consolas"/>
              </a:rPr>
              <a:t>// plantage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titre != </a:t>
            </a:r>
            <a:r>
              <a:rPr sz="1800">
                <a:solidFill>
                  <a:srgbClr val="CF8E6D"/>
                </a:solidFill>
                <a:latin typeface="Consolas"/>
              </a:rPr>
              <a:t>null</a:t>
            </a:r>
            <a:r>
              <a:rPr sz="1800">
                <a:solidFill>
                  <a:srgbClr val="BCBEC4"/>
                </a:solidFill>
                <a:latin typeface="Consolas"/>
              </a:rPr>
              <a:t> &amp;&amp; titre.equals(</a:t>
            </a:r>
            <a:r>
              <a:rPr sz="1800">
                <a:solidFill>
                  <a:srgbClr val="6AAB73"/>
                </a:solidFill>
                <a:latin typeface="Consolas"/>
              </a:rPr>
              <a:t>"Nana"</a:t>
            </a:r>
            <a:r>
              <a:rPr sz="1800">
                <a:solidFill>
                  <a:srgbClr val="BCBEC4"/>
                </a:solidFill>
                <a:latin typeface="Consolas"/>
              </a:rPr>
              <a:t>)  </a:t>
            </a:r>
            <a:r>
              <a:rPr sz="1800">
                <a:solidFill>
                  <a:srgbClr val="7A7E85"/>
                </a:solidFill>
                <a:latin typeface="Consolas"/>
              </a:rPr>
              <a:t>// false</a:t>
            </a:r>
          </a:p>
          <a:p>
            <a:pPr>
              <a:lnSpc>
                <a:spcPct val="100000"/>
              </a:lnSpc>
              <a:spcBef>
                <a:spcPts val="0"/>
              </a:spcBef>
              <a:spcAft>
                <a:spcPts val="0"/>
              </a:spcAft>
            </a:pPr>
            <a:r>
              <a:rPr sz="1800">
                <a:solidFill>
                  <a:srgbClr val="6AAB73"/>
                </a:solidFill>
                <a:latin typeface="Consolas"/>
              </a:rPr>
              <a:t>"Nana"</a:t>
            </a:r>
            <a:r>
              <a:rPr sz="1800">
                <a:solidFill>
                  <a:srgbClr val="BCBEC4"/>
                </a:solidFill>
                <a:latin typeface="Consolas"/>
              </a:rPr>
              <a:t>.equals(titre)                   </a:t>
            </a:r>
            <a:r>
              <a:rPr sz="1800">
                <a:solidFill>
                  <a:srgbClr val="7A7E85"/>
                </a:solidFill>
                <a:latin typeface="Consolas"/>
              </a:rPr>
              <a:t>// false</a:t>
            </a:r>
          </a:p>
          <a:p>
            <a:pPr>
              <a:lnSpc>
                <a:spcPct val="100000"/>
              </a:lnSpc>
              <a:spcBef>
                <a:spcPts val="0"/>
              </a:spcBef>
              <a:spcAft>
                <a:spcPts val="0"/>
              </a:spcAft>
            </a:pPr>
            <a:r>
              <a:rPr sz="1800">
                <a:solidFill>
                  <a:srgbClr val="BCBEC4"/>
                </a:solidFill>
                <a:latin typeface="Consolas"/>
              </a:rPr>
              <a:t>Objects.equals(titre, </a:t>
            </a:r>
            <a:r>
              <a:rPr sz="1800">
                <a:solidFill>
                  <a:srgbClr val="6AAB73"/>
                </a:solidFill>
                <a:latin typeface="Consolas"/>
              </a:rPr>
              <a:t>"Nana"</a:t>
            </a:r>
            <a:r>
              <a:rPr sz="1800">
                <a:solidFill>
                  <a:srgbClr val="BCBEC4"/>
                </a:solidFill>
                <a:latin typeface="Consolas"/>
              </a:rPr>
              <a:t>)          </a:t>
            </a:r>
            <a:r>
              <a:rPr sz="1800">
                <a:solidFill>
                  <a:srgbClr val="7A7E85"/>
                </a:solidFill>
                <a:latin typeface="Consolas"/>
              </a:rPr>
              <a:t>// false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4. Les exceptions non contrôlées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EXC.4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Provoquer, puis traiter</a:t>
            </a:r>
          </a:p>
          <a:p>
            <a:r>
              <a:rPr sz="1400">
                <a:solidFill>
                  <a:srgbClr val="BCBEC4"/>
                </a:solidFill>
              </a:rPr>
              <a:t>fascicule EXC</a:t>
            </a:r>
          </a:p>
        </p:txBody>
      </p:sp>
      <p:sp>
        <p:nvSpPr>
          <p:cNvPr id="6" name="TextBox 5"/>
          <p:cNvSpPr txBox="1"/>
          <p:nvPr/>
        </p:nvSpPr>
        <p:spPr>
          <a:xfrm>
            <a:off x="640080" y="2651760"/>
            <a:ext cx="9326880" cy="822960"/>
          </a:xfrm>
          <a:prstGeom prst="rect">
            <a:avLst/>
          </a:prstGeom>
          <a:noFill/>
        </p:spPr>
        <p:txBody>
          <a:bodyPr wrap="square">
            <a:spAutoFit/>
          </a:bodyPr>
          <a:lstStyle/>
          <a:p>
            <a:r>
              <a:rPr sz="1800"/>
              <a:t>D'abord sans aucun </a:t>
            </a:r>
            <a:r>
              <a:rPr sz="1500">
                <a:solidFill>
                  <a:schemeClr val="accent4"/>
                </a:solidFill>
                <a:latin typeface="Consolas"/>
              </a:rPr>
              <a:t>try</a:t>
            </a:r>
          </a:p>
        </p:txBody>
      </p:sp>
      <p:pic>
        <p:nvPicPr>
          <p:cNvPr id="7" name="Picture 6"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4. Les exceptions non contrôlées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Réutiliser plutôt que créer</a:t>
            </a:r>
          </a:p>
        </p:txBody>
      </p:sp>
      <p:sp>
        <p:nvSpPr>
          <p:cNvPr id="3" name="TextBox 2"/>
          <p:cNvSpPr txBox="1"/>
          <p:nvPr/>
        </p:nvSpPr>
        <p:spPr>
          <a:xfrm>
            <a:off x="777240" y="1371600"/>
            <a:ext cx="5166359" cy="585216"/>
          </a:xfrm>
          <a:prstGeom prst="rect">
            <a:avLst/>
          </a:prstGeom>
          <a:noFill/>
        </p:spPr>
        <p:txBody>
          <a:bodyPr wrap="square" anchor="ctr">
            <a:spAutoFit/>
          </a:bodyPr>
          <a:lstStyle/>
          <a:p>
            <a:r>
              <a:rPr sz="1800" b="1">
                <a:solidFill>
                  <a:schemeClr val="accent4"/>
                </a:solidFill>
                <a:latin typeface="Consolas"/>
              </a:rPr>
              <a:t>Exception</a:t>
            </a:r>
          </a:p>
        </p:txBody>
      </p:sp>
      <p:sp>
        <p:nvSpPr>
          <p:cNvPr id="4" name="TextBox 3"/>
          <p:cNvSpPr txBox="1"/>
          <p:nvPr/>
        </p:nvSpPr>
        <p:spPr>
          <a:xfrm>
            <a:off x="6217920" y="1371600"/>
            <a:ext cx="5166359" cy="585216"/>
          </a:xfrm>
          <a:prstGeom prst="rect">
            <a:avLst/>
          </a:prstGeom>
          <a:noFill/>
        </p:spPr>
        <p:txBody>
          <a:bodyPr wrap="square" anchor="ctr">
            <a:spAutoFit/>
          </a:bodyPr>
          <a:lstStyle/>
          <a:p>
            <a:r>
              <a:rPr sz="2000" b="1">
                <a:solidFill>
                  <a:schemeClr val="accent4"/>
                </a:solidFill>
              </a:rPr>
              <a:t>Elle signale</a:t>
            </a:r>
          </a:p>
        </p:txBody>
      </p:sp>
      <p:grpSp>
        <p:nvGrpSpPr>
          <p:cNvPr id="16" name="Groupe 15">
            <a:extLst>
              <a:ext uri="{FF2B5EF4-FFF2-40B4-BE49-F238E27FC236}">
                <a16:creationId xmlns:a16="http://schemas.microsoft.com/office/drawing/2014/main" id="{3CD11CFF-2731-BB14-A437-F8522F42889A}"/>
              </a:ext>
            </a:extLst>
          </p:cNvPr>
          <p:cNvGrpSpPr/>
          <p:nvPr/>
        </p:nvGrpSpPr>
        <p:grpSpPr>
          <a:xfrm>
            <a:off x="640080" y="2029967"/>
            <a:ext cx="10881360" cy="585216"/>
            <a:chOff x="640080" y="2029967"/>
            <a:chExt cx="10881360" cy="585216"/>
          </a:xfrm>
        </p:grpSpPr>
        <p:sp>
          <p:nvSpPr>
            <p:cNvPr id="5" name="Rounded Rectangle 4"/>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29967"/>
              <a:ext cx="5166359" cy="585216"/>
            </a:xfrm>
            <a:prstGeom prst="rect">
              <a:avLst/>
            </a:prstGeom>
            <a:noFill/>
          </p:spPr>
          <p:txBody>
            <a:bodyPr wrap="square" anchor="ctr">
              <a:spAutoFit/>
            </a:bodyPr>
            <a:lstStyle/>
            <a:p>
              <a:r>
                <a:rPr sz="1900">
                  <a:solidFill>
                    <a:schemeClr val="accent4"/>
                  </a:solidFill>
                  <a:latin typeface="Consolas"/>
                </a:rPr>
                <a:t>IllegalArgumentException</a:t>
              </a:r>
            </a:p>
          </p:txBody>
        </p:sp>
        <p:sp>
          <p:nvSpPr>
            <p:cNvPr id="7" name="TextBox 6"/>
            <p:cNvSpPr txBox="1"/>
            <p:nvPr/>
          </p:nvSpPr>
          <p:spPr>
            <a:xfrm>
              <a:off x="6217920" y="2029967"/>
              <a:ext cx="5166359" cy="585216"/>
            </a:xfrm>
            <a:prstGeom prst="rect">
              <a:avLst/>
            </a:prstGeom>
            <a:noFill/>
          </p:spPr>
          <p:txBody>
            <a:bodyPr wrap="square" anchor="ctr">
              <a:spAutoFit/>
            </a:bodyPr>
            <a:lstStyle/>
            <a:p>
              <a:r>
                <a:rPr sz="2200" dirty="0">
                  <a:solidFill>
                    <a:srgbClr val="FFFFFF"/>
                  </a:solidFill>
                </a:rPr>
                <a:t>un </a:t>
              </a:r>
              <a:r>
                <a:rPr sz="2200" dirty="0" err="1">
                  <a:solidFill>
                    <a:srgbClr val="FFFFFF"/>
                  </a:solidFill>
                </a:rPr>
                <a:t>paramètre</a:t>
              </a:r>
              <a:r>
                <a:rPr sz="2200" dirty="0">
                  <a:solidFill>
                    <a:srgbClr val="FFFFFF"/>
                  </a:solidFill>
                </a:rPr>
                <a:t> </a:t>
              </a:r>
              <a:r>
                <a:rPr sz="2200" dirty="0" err="1">
                  <a:solidFill>
                    <a:srgbClr val="FFFFFF"/>
                  </a:solidFill>
                </a:rPr>
                <a:t>refusé</a:t>
              </a:r>
              <a:endParaRPr sz="2200" dirty="0">
                <a:solidFill>
                  <a:srgbClr val="FFFFFF"/>
                </a:solidFill>
              </a:endParaRPr>
            </a:p>
          </p:txBody>
        </p:sp>
      </p:grpSp>
      <p:grpSp>
        <p:nvGrpSpPr>
          <p:cNvPr id="17" name="Groupe 16">
            <a:extLst>
              <a:ext uri="{FF2B5EF4-FFF2-40B4-BE49-F238E27FC236}">
                <a16:creationId xmlns:a16="http://schemas.microsoft.com/office/drawing/2014/main" id="{26B8244D-4CCF-3601-E5CA-AEB535C51826}"/>
              </a:ext>
            </a:extLst>
          </p:cNvPr>
          <p:cNvGrpSpPr/>
          <p:nvPr/>
        </p:nvGrpSpPr>
        <p:grpSpPr>
          <a:xfrm>
            <a:off x="640080" y="2688335"/>
            <a:ext cx="10881360" cy="585216"/>
            <a:chOff x="640080" y="2688335"/>
            <a:chExt cx="10881360" cy="585216"/>
          </a:xfrm>
        </p:grpSpPr>
        <p:sp>
          <p:nvSpPr>
            <p:cNvPr id="8" name="Rounded Rectangle 7"/>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688335"/>
              <a:ext cx="5166359" cy="585216"/>
            </a:xfrm>
            <a:prstGeom prst="rect">
              <a:avLst/>
            </a:prstGeom>
            <a:noFill/>
          </p:spPr>
          <p:txBody>
            <a:bodyPr wrap="square" anchor="ctr">
              <a:spAutoFit/>
            </a:bodyPr>
            <a:lstStyle/>
            <a:p>
              <a:r>
                <a:rPr sz="1900">
                  <a:solidFill>
                    <a:schemeClr val="accent4"/>
                  </a:solidFill>
                  <a:latin typeface="Consolas"/>
                </a:rPr>
                <a:t>IllegalStateException</a:t>
              </a:r>
            </a:p>
          </p:txBody>
        </p:sp>
        <p:sp>
          <p:nvSpPr>
            <p:cNvPr id="10" name="TextBox 9"/>
            <p:cNvSpPr txBox="1"/>
            <p:nvPr/>
          </p:nvSpPr>
          <p:spPr>
            <a:xfrm>
              <a:off x="6217920" y="2688335"/>
              <a:ext cx="5166359" cy="585216"/>
            </a:xfrm>
            <a:prstGeom prst="rect">
              <a:avLst/>
            </a:prstGeom>
            <a:noFill/>
          </p:spPr>
          <p:txBody>
            <a:bodyPr wrap="square" anchor="ctr">
              <a:spAutoFit/>
            </a:bodyPr>
            <a:lstStyle/>
            <a:p>
              <a:r>
                <a:rPr sz="2200">
                  <a:solidFill>
                    <a:srgbClr val="FFFFFF"/>
                  </a:solidFill>
                </a:rPr>
                <a:t>un objet dans le mauvais état</a:t>
              </a:r>
            </a:p>
          </p:txBody>
        </p:sp>
      </p:grpSp>
      <p:grpSp>
        <p:nvGrpSpPr>
          <p:cNvPr id="18" name="Groupe 17">
            <a:extLst>
              <a:ext uri="{FF2B5EF4-FFF2-40B4-BE49-F238E27FC236}">
                <a16:creationId xmlns:a16="http://schemas.microsoft.com/office/drawing/2014/main" id="{AD0BBB5D-B07A-C2E4-2676-1935040E9415}"/>
              </a:ext>
            </a:extLst>
          </p:cNvPr>
          <p:cNvGrpSpPr/>
          <p:nvPr/>
        </p:nvGrpSpPr>
        <p:grpSpPr>
          <a:xfrm>
            <a:off x="640080" y="3346703"/>
            <a:ext cx="10881360" cy="585216"/>
            <a:chOff x="640080" y="3346703"/>
            <a:chExt cx="10881360" cy="585216"/>
          </a:xfrm>
        </p:grpSpPr>
        <p:sp>
          <p:nvSpPr>
            <p:cNvPr id="11" name="Rounded Rectangle 10"/>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3346703"/>
              <a:ext cx="5166359" cy="585216"/>
            </a:xfrm>
            <a:prstGeom prst="rect">
              <a:avLst/>
            </a:prstGeom>
            <a:noFill/>
          </p:spPr>
          <p:txBody>
            <a:bodyPr wrap="square" anchor="ctr">
              <a:spAutoFit/>
            </a:bodyPr>
            <a:lstStyle/>
            <a:p>
              <a:r>
                <a:rPr sz="1900">
                  <a:solidFill>
                    <a:schemeClr val="accent4"/>
                  </a:solidFill>
                  <a:latin typeface="Consolas"/>
                </a:rPr>
                <a:t>UnsupportedOperationException</a:t>
              </a:r>
            </a:p>
          </p:txBody>
        </p:sp>
        <p:sp>
          <p:nvSpPr>
            <p:cNvPr id="13" name="TextBox 12"/>
            <p:cNvSpPr txBox="1"/>
            <p:nvPr/>
          </p:nvSpPr>
          <p:spPr>
            <a:xfrm>
              <a:off x="6217920" y="3346703"/>
              <a:ext cx="5166359" cy="585216"/>
            </a:xfrm>
            <a:prstGeom prst="rect">
              <a:avLst/>
            </a:prstGeom>
            <a:noFill/>
          </p:spPr>
          <p:txBody>
            <a:bodyPr wrap="square" anchor="ctr">
              <a:spAutoFit/>
            </a:bodyPr>
            <a:lstStyle/>
            <a:p>
              <a:r>
                <a:rPr sz="2200">
                  <a:solidFill>
                    <a:srgbClr val="FFFFFF"/>
                  </a:solidFill>
                </a:rPr>
                <a:t>une opération absente</a:t>
              </a:r>
            </a:p>
          </p:txBody>
        </p:sp>
      </p:grpSp>
      <p:sp>
        <p:nvSpPr>
          <p:cNvPr id="1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24</a:t>
            </a:fld>
            <a:endParaRPr lang="fr-FR"/>
          </a:p>
        </p:txBody>
      </p:sp>
      <p:sp>
        <p:nvSpPr>
          <p:cNvPr id="1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4. Les exceptions non contrôlées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Lever une exception du JDK</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Elle se lève comme les autres, sans </a:t>
            </a:r>
            <a:r>
              <a:rPr sz="2400">
                <a:solidFill>
                  <a:schemeClr val="accent4"/>
                </a:solidFill>
                <a:latin typeface="Consolas"/>
              </a:rPr>
              <a:t>throws</a:t>
            </a:r>
            <a:r>
              <a:rPr sz="2800"/>
              <a:t> à déclarer</a:t>
            </a:r>
          </a:p>
          <a:p>
            <a:pPr marL="0" indent="0">
              <a:spcAft>
                <a:spcPts val="1000"/>
              </a:spcAft>
              <a:buNone/>
            </a:pPr>
            <a:r>
              <a:rPr sz="2800"/>
              <a:t>Le message dit ce qui était attendu et ce qui a été reçu</a:t>
            </a:r>
          </a:p>
          <a:p>
            <a:pPr marL="0" indent="0">
              <a:spcAft>
                <a:spcPts val="1000"/>
              </a:spcAft>
              <a:buNone/>
            </a:pPr>
            <a:r>
              <a:rPr sz="2800"/>
              <a:t>Règle </a:t>
            </a:r>
            <a:r>
              <a:rPr sz="2800">
                <a:solidFill>
                  <a:schemeClr val="accent4"/>
                </a:solidFill>
                <a:latin typeface="Consolas"/>
              </a:rPr>
              <a:t>CC-ERR.4</a:t>
            </a:r>
          </a:p>
        </p:txBody>
      </p:sp>
      <p:sp>
        <p:nvSpPr>
          <p:cNvPr id="4" name="Code"/>
          <p:cNvSpPr txBox="1"/>
          <p:nvPr/>
        </p:nvSpPr>
        <p:spPr>
          <a:xfrm>
            <a:off x="640080" y="3733799"/>
            <a:ext cx="10881360" cy="1981199"/>
          </a:xfrm>
          <a:prstGeom prst="roundRect">
            <a:avLst>
              <a:gd name="adj" fmla="val 461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a:solidFill>
                  <a:srgbClr val="CF8E6D"/>
                </a:solidFill>
                <a:latin typeface="Consolas"/>
              </a:rPr>
              <a:t>public</a:t>
            </a:r>
            <a:r>
              <a:rPr sz="1600">
                <a:solidFill>
                  <a:srgbClr val="BCBEC4"/>
                </a:solidFill>
                <a:latin typeface="Consolas"/>
              </a:rPr>
              <a:t> </a:t>
            </a:r>
            <a:r>
              <a:rPr sz="1600">
                <a:solidFill>
                  <a:srgbClr val="56A8F5"/>
                </a:solidFill>
                <a:latin typeface="Consolas"/>
              </a:rPr>
              <a:t>Ascenseur</a:t>
            </a:r>
            <a:r>
              <a:rPr sz="1600">
                <a:solidFill>
                  <a:srgbClr val="BCBEC4"/>
                </a:solidFill>
                <a:latin typeface="Consolas"/>
              </a:rPr>
              <a:t>(</a:t>
            </a:r>
            <a:r>
              <a:rPr sz="1600">
                <a:solidFill>
                  <a:srgbClr val="CF8E6D"/>
                </a:solidFill>
                <a:latin typeface="Consolas"/>
              </a:rPr>
              <a:t>int</a:t>
            </a:r>
            <a:r>
              <a:rPr sz="1600">
                <a:solidFill>
                  <a:srgbClr val="BCBEC4"/>
                </a:solidFill>
                <a:latin typeface="Consolas"/>
              </a:rPr>
              <a:t> dernierEtage) {</a:t>
            </a:r>
          </a:p>
          <a:p>
            <a:pPr>
              <a:lnSpc>
                <a:spcPct val="100000"/>
              </a:lnSpc>
              <a:spcBef>
                <a:spcPts val="0"/>
              </a:spcBef>
              <a:spcAft>
                <a:spcPts val="0"/>
              </a:spcAft>
            </a:pPr>
            <a:r>
              <a:rPr sz="1600">
                <a:solidFill>
                  <a:srgbClr val="BCBEC4"/>
                </a:solidFill>
                <a:latin typeface="Consolas"/>
              </a:rPr>
              <a:t>    </a:t>
            </a:r>
            <a:r>
              <a:rPr sz="1600">
                <a:solidFill>
                  <a:srgbClr val="CF8E6D"/>
                </a:solidFill>
                <a:latin typeface="Consolas"/>
              </a:rPr>
              <a:t>if</a:t>
            </a:r>
            <a:r>
              <a:rPr sz="1600">
                <a:solidFill>
                  <a:srgbClr val="BCBEC4"/>
                </a:solidFill>
                <a:latin typeface="Consolas"/>
              </a:rPr>
              <a:t> (dernierEtage &lt; </a:t>
            </a:r>
            <a:r>
              <a:rPr sz="1600">
                <a:solidFill>
                  <a:srgbClr val="2AACB8"/>
                </a:solidFill>
                <a:latin typeface="Consolas"/>
              </a:rPr>
              <a:t>0</a:t>
            </a: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        </a:t>
            </a:r>
            <a:r>
              <a:rPr sz="1600">
                <a:solidFill>
                  <a:srgbClr val="CF8E6D"/>
                </a:solidFill>
                <a:latin typeface="Consolas"/>
              </a:rPr>
              <a:t>throw</a:t>
            </a:r>
            <a:r>
              <a:rPr sz="1600">
                <a:solidFill>
                  <a:srgbClr val="BCBEC4"/>
                </a:solidFill>
                <a:latin typeface="Consolas"/>
              </a:rPr>
              <a:t> </a:t>
            </a:r>
            <a:r>
              <a:rPr sz="1600">
                <a:solidFill>
                  <a:srgbClr val="CF8E6D"/>
                </a:solidFill>
                <a:latin typeface="Consolas"/>
              </a:rPr>
              <a:t>new</a:t>
            </a:r>
            <a:r>
              <a:rPr sz="1600">
                <a:solidFill>
                  <a:srgbClr val="BCBEC4"/>
                </a:solidFill>
                <a:latin typeface="Consolas"/>
              </a:rPr>
              <a:t> </a:t>
            </a:r>
            <a:r>
              <a:rPr sz="1600">
                <a:solidFill>
                  <a:srgbClr val="56A8F5"/>
                </a:solidFill>
                <a:latin typeface="Consolas"/>
              </a:rPr>
              <a:t>IllegalArgumentException</a:t>
            </a:r>
            <a:r>
              <a:rPr sz="1600">
                <a:solidFill>
                  <a:srgbClr val="BCBEC4"/>
                </a:solidFill>
                <a:latin typeface="Consolas"/>
              </a:rPr>
              <a:t>(</a:t>
            </a:r>
          </a:p>
          <a:p>
            <a:pPr>
              <a:lnSpc>
                <a:spcPct val="100000"/>
              </a:lnSpc>
              <a:spcBef>
                <a:spcPts val="0"/>
              </a:spcBef>
              <a:spcAft>
                <a:spcPts val="0"/>
              </a:spcAft>
            </a:pPr>
            <a:r>
              <a:rPr sz="1600">
                <a:solidFill>
                  <a:srgbClr val="BCBEC4"/>
                </a:solidFill>
                <a:latin typeface="Consolas"/>
              </a:rPr>
              <a:t>                </a:t>
            </a:r>
            <a:r>
              <a:rPr sz="1600">
                <a:solidFill>
                  <a:srgbClr val="6AAB73"/>
                </a:solidFill>
                <a:latin typeface="Consolas"/>
              </a:rPr>
              <a:t>"Le dernier etage doit etre positif ou nul, pas "</a:t>
            </a:r>
            <a:r>
              <a:rPr sz="1600">
                <a:solidFill>
                  <a:srgbClr val="BCBEC4"/>
                </a:solidFill>
                <a:latin typeface="Consolas"/>
              </a:rPr>
              <a:t> + dernierEtage);</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    </a:t>
            </a:r>
            <a:r>
              <a:rPr sz="1600">
                <a:solidFill>
                  <a:srgbClr val="CF8E6D"/>
                </a:solidFill>
                <a:latin typeface="Consolas"/>
              </a:rPr>
              <a:t>this</a:t>
            </a:r>
            <a:r>
              <a:rPr sz="1600">
                <a:solidFill>
                  <a:srgbClr val="BCBEC4"/>
                </a:solidFill>
                <a:latin typeface="Consolas"/>
              </a:rPr>
              <a:t>.dernierEtage = dernierEtage;</a:t>
            </a:r>
          </a:p>
          <a:p>
            <a:pPr>
              <a:lnSpc>
                <a:spcPct val="100000"/>
              </a:lnSpc>
              <a:spcBef>
                <a:spcPts val="0"/>
              </a:spcBef>
              <a:spcAft>
                <a:spcPts val="0"/>
              </a:spcAft>
            </a:pPr>
            <a:r>
              <a:rPr sz="16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4. Les exceptions non contrôlées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EXC.5</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Lire une trace</a:t>
            </a:r>
          </a:p>
          <a:p>
            <a:r>
              <a:rPr sz="1400">
                <a:solidFill>
                  <a:srgbClr val="BCBEC4"/>
                </a:solidFill>
              </a:rPr>
              <a:t>fascicule EXC</a:t>
            </a:r>
          </a:p>
        </p:txBody>
      </p:sp>
      <p:sp>
        <p:nvSpPr>
          <p:cNvPr id="6" name="TextBox 5"/>
          <p:cNvSpPr txBox="1"/>
          <p:nvPr/>
        </p:nvSpPr>
        <p:spPr>
          <a:xfrm>
            <a:off x="640080" y="2651760"/>
            <a:ext cx="9326880" cy="822960"/>
          </a:xfrm>
          <a:prstGeom prst="rect">
            <a:avLst/>
          </a:prstGeom>
          <a:noFill/>
        </p:spPr>
        <p:txBody>
          <a:bodyPr wrap="square">
            <a:spAutoFit/>
          </a:bodyPr>
          <a:lstStyle/>
          <a:p>
            <a:r>
              <a:rPr sz="2400"/>
              <a:t>Pile d'appels : </a:t>
            </a:r>
            <a:r>
              <a:rPr sz="2400">
                <a:solidFill>
                  <a:schemeClr val="accent4"/>
                </a:solidFill>
                <a:latin typeface="Consolas"/>
              </a:rPr>
              <a:t>TEC-EXE.1</a:t>
            </a:r>
          </a:p>
        </p:txBody>
      </p:sp>
      <p:pic>
        <p:nvPicPr>
          <p:cNvPr id="7" name="Picture 6"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4. Les exceptions non contrôlées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fil rouge, relu</a:t>
            </a:r>
          </a:p>
        </p:txBody>
      </p:sp>
      <p:sp>
        <p:nvSpPr>
          <p:cNvPr id="9" name="TextBox 8"/>
          <p:cNvSpPr txBox="1"/>
          <p:nvPr/>
        </p:nvSpPr>
        <p:spPr>
          <a:xfrm>
            <a:off x="640080" y="3794759"/>
            <a:ext cx="9326880" cy="822960"/>
          </a:xfrm>
          <a:prstGeom prst="rect">
            <a:avLst/>
          </a:prstGeom>
          <a:noFill/>
        </p:spPr>
        <p:txBody>
          <a:bodyPr wrap="square">
            <a:spAutoFit/>
          </a:bodyPr>
          <a:lstStyle/>
          <a:p>
            <a:r>
              <a:rPr sz="1800"/>
              <a:t>Relire son code avec le vocabulaire du module</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27</a:t>
            </a:fld>
            <a:endParaRPr lang="fr-FR"/>
          </a:p>
        </p:txBody>
      </p:sp>
      <p:sp>
        <p:nvSpPr>
          <p:cNvPr id="11"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4. Les exceptions non contrôlées</a:t>
            </a:r>
          </a:p>
        </p:txBody>
      </p:sp>
      <p:pic>
        <p:nvPicPr>
          <p:cNvPr id="12" name="iconGameHub" descr="gamehub.jp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rot="420000">
            <a:off x="10479024" y="521207"/>
            <a:ext cx="1216152" cy="1216152"/>
          </a:xfrm>
          <a:prstGeom prst="rect">
            <a:avLst/>
          </a:prstGeom>
        </p:spPr>
      </p:pic>
      <p:grpSp>
        <p:nvGrpSpPr>
          <p:cNvPr id="13" name="Exercice 1"/>
          <p:cNvGrpSpPr/>
          <p:nvPr/>
        </p:nvGrpSpPr>
        <p:grpSpPr>
          <a:xfrm>
            <a:off x="640080" y="1417320"/>
            <a:ext cx="9326880" cy="960120"/>
            <a:chOff x="640080" y="1417320"/>
            <a:chExt cx="9326880" cy="960120"/>
          </a:xfrm>
        </p:grpSpPr>
        <p:sp>
          <p:nvSpPr>
            <p:cNvPr id="10"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G.15</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200">
                  <a:solidFill>
                    <a:srgbClr val="FFFFFF"/>
                  </a:solidFill>
                </a:rPr>
                <a:t>La fabrique</a:t>
              </a:r>
            </a:p>
            <a:p>
              <a:r>
                <a:rPr sz="1400">
                  <a:solidFill>
                    <a:srgbClr val="BCBEC4"/>
                  </a:solidFill>
                </a:rPr>
                <a:t>fil rouge GameHub</a:t>
              </a:r>
            </a:p>
          </p:txBody>
        </p:sp>
      </p:grpSp>
      <p:grpSp>
        <p:nvGrpSpPr>
          <p:cNvPr id="14" name="Exercice 2"/>
          <p:cNvGrpSpPr/>
          <p:nvPr/>
        </p:nvGrpSpPr>
        <p:grpSpPr>
          <a:xfrm>
            <a:off x="640080" y="2560320"/>
            <a:ext cx="9326880" cy="960120"/>
            <a:chOff x="640080" y="2560320"/>
            <a:chExt cx="9326880" cy="960120"/>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G.24</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200">
                  <a:solidFill>
                    <a:srgbClr val="FFFFFF"/>
                  </a:solidFill>
                </a:rPr>
                <a:t>La méthode jouer, mise en place</a:t>
              </a:r>
            </a:p>
            <a:p>
              <a:r>
                <a:rPr sz="1400">
                  <a:solidFill>
                    <a:srgbClr val="BCBEC4"/>
                  </a:solidFill>
                </a:rPr>
                <a:t>fil rouge GameHub</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115381</TotalTime>
  <Words>4677</Words>
  <Application>Microsoft Macintosh PowerPoint</Application>
  <PresentationFormat>Grand écran</PresentationFormat>
  <Paragraphs>365</Paragraphs>
  <Slides>27</Slides>
  <Notes>27</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27</vt:i4>
      </vt:variant>
    </vt:vector>
  </HeadingPairs>
  <TitlesOfParts>
    <vt:vector size="33" baseType="lpstr">
      <vt:lpstr>Aptos</vt:lpstr>
      <vt:lpstr>Arial</vt:lpstr>
      <vt:lpstr>Calibri</vt:lpstr>
      <vt:lpstr>Consolas</vt:lpstr>
      <vt:lpstr>Corbel</vt:lpstr>
      <vt:lpstr>ThemeEphec2022</vt:lpstr>
      <vt:lpstr>JAVA 2</vt:lpstr>
      <vt:lpstr>Au programme</vt:lpstr>
      <vt:lpstr>Présentation PowerPoint</vt:lpstr>
      <vt:lpstr>Démonstration</vt:lpstr>
      <vt:lpstr>Vous levez déjà des exceptions</vt:lpstr>
      <vt:lpstr>Une exception est un objet</vt:lpstr>
      <vt:lpstr>Les exceptions remontent la pile</vt:lpstr>
      <vt:lpstr>Du throw au catch</vt:lpstr>
      <vt:lpstr>Présentation PowerPoint</vt:lpstr>
      <vt:lpstr>Écrire sa classe d'exception</vt:lpstr>
      <vt:lpstr>Lever avec throw, déclarer avec throws</vt:lpstr>
      <vt:lpstr>Attraper ou déclarer</vt:lpstr>
      <vt:lpstr>Exercices</vt:lpstr>
      <vt:lpstr>Présentation PowerPoint</vt:lpstr>
      <vt:lpstr>Ce que le try saute</vt:lpstr>
      <vt:lpstr>Plusieurs catch, ou un seul</vt:lpstr>
      <vt:lpstr>Un catch fait quelque chose</vt:lpstr>
      <vt:lpstr>Ce que finally garantit</vt:lpstr>
      <vt:lpstr>Exercices</vt:lpstr>
      <vt:lpstr>Présentation PowerPoint</vt:lpstr>
      <vt:lpstr>Une exception que personne n'annonce</vt:lpstr>
      <vt:lpstr>NullPointerException : la plus fréquente</vt:lpstr>
      <vt:lpstr>Exercices</vt:lpstr>
      <vt:lpstr>Réutiliser plutôt que créer</vt:lpstr>
      <vt:lpstr>Lever une exception du JDK</vt:lpstr>
      <vt:lpstr>Exercices</vt:lpstr>
      <vt:lpstr>Le fil rouge, relu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40</cp:revision>
  <dcterms:created xsi:type="dcterms:W3CDTF">2023-01-04T13:50:20Z</dcterms:created>
  <dcterms:modified xsi:type="dcterms:W3CDTF">2026-10-22T21:57:08Z</dcterms:modified>
</cp:coreProperties>
</file>