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1"/>
  </p:notesMasterIdLst>
  <p:handoutMasterIdLst>
    <p:handoutMasterId r:id="rId32"/>
  </p:handoutMasterIdLst>
  <p:sldIdLst>
    <p:sldId id="568" r:id="rId2"/>
    <p:sldId id="594" r:id="rId3"/>
    <p:sldId id="569" r:id="rId4"/>
    <p:sldId id="570" r:id="rId5"/>
    <p:sldId id="571" r:id="rId6"/>
    <p:sldId id="572" r:id="rId7"/>
    <p:sldId id="573" r:id="rId8"/>
    <p:sldId id="574" r:id="rId9"/>
    <p:sldId id="575" r:id="rId10"/>
    <p:sldId id="576" r:id="rId11"/>
    <p:sldId id="577" r:id="rId12"/>
    <p:sldId id="578" r:id="rId13"/>
    <p:sldId id="579" r:id="rId14"/>
    <p:sldId id="580" r:id="rId15"/>
    <p:sldId id="595" r:id="rId16"/>
    <p:sldId id="581" r:id="rId17"/>
    <p:sldId id="582" r:id="rId18"/>
    <p:sldId id="583" r:id="rId19"/>
    <p:sldId id="584" r:id="rId20"/>
    <p:sldId id="585" r:id="rId21"/>
    <p:sldId id="596" r:id="rId22"/>
    <p:sldId id="586" r:id="rId23"/>
    <p:sldId id="587" r:id="rId24"/>
    <p:sldId id="588" r:id="rId25"/>
    <p:sldId id="589" r:id="rId26"/>
    <p:sldId id="590" r:id="rId27"/>
    <p:sldId id="591" r:id="rId28"/>
    <p:sldId id="592" r:id="rId29"/>
    <p:sldId id="59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7DD554BF-3972-53A2-8631-6A3B94ACE454}">
          <p14:sldIdLst>
            <p14:sldId id="568"/>
            <p14:sldId id="594"/>
          </p14:sldIdLst>
        </p14:section>
        <p14:section name="1. Un tableau, une taille fixe" id="{439ECDCF-3EAA-5335-B87C-7AC9B25A4815}">
          <p14:sldIdLst>
            <p14:sldId id="569"/>
            <p14:sldId id="570"/>
            <p14:sldId id="571"/>
            <p14:sldId id="572"/>
            <p14:sldId id="573"/>
          </p14:sldIdLst>
        </p14:section>
        <p14:section name="2. Parcourir un tableau" id="{D113D26B-A3DB-5C1D-B923-468B6BEF6F04}">
          <p14:sldIdLst>
            <p14:sldId id="574"/>
            <p14:sldId id="575"/>
            <p14:sldId id="576"/>
            <p14:sldId id="577"/>
            <p14:sldId id="578"/>
            <p14:sldId id="579"/>
          </p14:sldIdLst>
        </p14:section>
        <p14:section name="3. Des lignes inégales" id="{D3AE7821-B339-5593-ABD8-ABC11AB3C564}">
          <p14:sldIdLst>
            <p14:sldId id="580"/>
            <p14:sldId id="595"/>
            <p14:sldId id="581"/>
            <p14:sldId id="582"/>
          </p14:sldIdLst>
        </p14:section>
        <p14:section name="4. L'opérateur ternaire" id="{DE842761-560A-5E23-A331-4BF5D5D97CED}">
          <p14:sldIdLst>
            <p14:sldId id="583"/>
            <p14:sldId id="584"/>
            <p14:sldId id="585"/>
            <p14:sldId id="596"/>
            <p14:sldId id="586"/>
            <p14:sldId id="587"/>
          </p14:sldIdLst>
        </p14:section>
        <p14:section name="5. Des objets qui se connaissent" id="{DF6B63E5-AE96-5BCF-9F75-9D96736658E0}">
          <p14:sldIdLst>
            <p14:sldId id="588"/>
            <p14:sldId id="589"/>
            <p14:sldId id="590"/>
            <p14:sldId id="591"/>
            <p14:sldId id="592"/>
            <p14:sldId id="5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85068"/>
  </p:normalViewPr>
  <p:slideViewPr>
    <p:cSldViewPr snapToGrid="0">
      <p:cViewPr varScale="1">
        <p:scale>
          <a:sx n="107" d="100"/>
          <a:sy n="107" d="100"/>
        </p:scale>
        <p:origin x="1936"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cinq sections : 1. Un tableau, une taille fixe ; 2. Parcourir un tableau ; 3. Des lignes inégales ; 4. L'opérateur ternaire ; 5. Des objets qui se connaissent.</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déjà manipulé des tableaux, en C# et au cours d'introduction à la programmation. Cette section ne les réapprend pas : elle s'arrête sur ce qui surprend encore, et que la démonstration va montrer en direct.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ouvre le module, avant toute théorie. Elle ne présente pas les tableaux : elle tombe dans leurs pièges, un par un, et regarde ce que le langage répond. Cinq pièges en vingt minutes, presque tout tapé en direct.</a:t>
            </a:r>
          </a:p>
          <a:p>
            <a:r>
              <a:t>Le point à faire passer tient en une phrase : un tableau n'est pas une valeur, c'est une </a:t>
            </a:r>
            <a:r>
              <a:rPr b="1"/>
              <a:t>référence</a:t>
            </a:r>
            <a:r>
              <a:t>. Quatre des cinq pièges en découlent.</a:t>
            </a:r>
          </a:p>
          <a:p>
            <a:r>
              <a:t>Renvois </a:t>
            </a:r>
            <a:r>
              <a:rPr>
                <a:latin typeface="Consolas"/>
              </a:rPr>
              <a:t>TEC-EXE.3</a:t>
            </a:r>
            <a:r>
              <a:t>, </a:t>
            </a:r>
            <a:r>
              <a:rPr>
                <a:latin typeface="Consolas"/>
              </a:rPr>
              <a:t>TEC-EXE.2</a:t>
            </a:r>
            <a:r>
              <a:t> et </a:t>
            </a:r>
            <a:r>
              <a:rPr>
                <a:latin typeface="Consolas"/>
              </a:rPr>
              <a:t>CC-NOM.5</a:t>
            </a:r>
            <a:r>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formes de déclaration : avec </a:t>
            </a:r>
            <a:r>
              <a:rPr>
                <a:latin typeface="Consolas"/>
              </a:rPr>
              <a:t>new</a:t>
            </a:r>
            <a:r>
              <a:t> et une taille, ou avec une liste de valeurs entre accolades. Dans le premier cas le tableau naît rempli — de zéros pour des </a:t>
            </a:r>
            <a:r>
              <a:rPr>
                <a:latin typeface="Consolas"/>
              </a:rPr>
              <a:t>int</a:t>
            </a:r>
            <a:r>
              <a:t>, de </a:t>
            </a:r>
            <a:r>
              <a:rPr>
                <a:latin typeface="Consolas"/>
              </a:rPr>
              <a:t>null</a:t>
            </a:r>
            <a:r>
              <a:t> pour des objets.</a:t>
            </a:r>
          </a:p>
          <a:p>
            <a:r>
              <a:t>La taille, elle, est fixée une fois pour toutes. C'est la limite du tableau, et c'est aussi ce qui le rend simple et rapide. Quand cette limite devient gênante, il faut une collection, et c'est le module COL.</a:t>
            </a:r>
          </a:p>
          <a:p>
            <a:r>
              <a:rPr lang="fr-BE" dirty="0"/>
              <a:t>Le code complet, à exécuter : demos, classe demo.tab.slides.DeclarerUnTableau.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slide ne remplace pas la démonstration, elle en garde la trace. Une démonstration ne laisse rien derrière elle, et ces cinq lignes sont celles que vous rechercherez dans vos notes dans trois semaines.</a:t>
            </a:r>
          </a:p>
          <a:p>
            <a:r>
              <a:t>La dernière est la plus importante. Une méthode qui reçoit un tableau ne reçoit pas une copie : elle reçoit l'adresse du vôtre. Elle peut donc le modifier sans rien retourner, et c'est ce qui surprend la moitié d'une classe. Pour travailler sur une vraie copie, il faut la demander, avec </a:t>
            </a:r>
            <a:r>
              <a:rPr>
                <a:latin typeface="Consolas"/>
              </a:rPr>
              <a:t>Arrays.copyOf</a:t>
            </a:r>
            <a:r>
              <a:t>.</a:t>
            </a:r>
          </a:p>
          <a:p>
            <a:r>
              <a:t>Sur </a:t>
            </a:r>
            <a:r>
              <a:rPr>
                <a:latin typeface="Consolas"/>
              </a:rPr>
              <a:t>length</a:t>
            </a:r>
            <a:r>
              <a:t>, il n'y a rien à comprendre : c'est une incohérence du langage, pas une règle. Autant le savoir plutôt que de chercher une justification.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Retenez la distinction entre les deux dernières lignes. </a:t>
            </a:r>
            <a:r>
              <a:rPr>
                <a:latin typeface="Consolas"/>
              </a:rPr>
              <a:t>matrice[1]</a:t>
            </a:r>
            <a:r>
              <a:t> n'est pas un nombre : c'est un tableau, qu'on peut passer à une méthode, mesurer avec </a:t>
            </a:r>
            <a:r>
              <a:rPr>
                <a:latin typeface="Consolas"/>
              </a:rPr>
              <a:t>length</a:t>
            </a:r>
            <a:r>
              <a:t>, parcourir. </a:t>
            </a:r>
            <a:r>
              <a:rPr>
                <a:latin typeface="Consolas"/>
              </a:rPr>
              <a:t>matrice[1][2]</a:t>
            </a:r>
            <a:r>
              <a:t> est un nombre.</a:t>
            </a:r>
          </a:p>
          <a:p>
            <a:r>
              <a:t>Cette lecture explique les deux </a:t>
            </a:r>
            <a:r>
              <a:rPr>
                <a:latin typeface="Consolas"/>
              </a:rPr>
              <a:t>length</a:t>
            </a:r>
            <a:r>
              <a:t> différents vus en démonstration, et elle a une conséquence que la section 3 exploitera : rien n'oblige les lignes à faire toutes la même longueur.</a:t>
            </a:r>
          </a:p>
          <a:p>
            <a:r>
              <a:rPr lang="fr-BE" dirty="0"/>
              <a:t>Le code complet, à exécuter : demos, classe demo.tab.slides.DeclarerUnTableau.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formes de boucle, et un choix à faire entre les deux à chaque fois.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boucle </a:t>
            </a:r>
            <a:r>
              <a:rPr>
                <a:latin typeface="Consolas"/>
              </a:rPr>
              <a:t>for</a:t>
            </a:r>
            <a:r>
              <a:t> classique fait avancer un compteur, qui sert d'indice. Vous la connaissez. Notez la condition : </a:t>
            </a:r>
            <a:r>
              <a:rPr>
                <a:latin typeface="Consolas"/>
              </a:rPr>
              <a:t>i &lt; tab.length</a:t>
            </a:r>
            <a:r>
              <a:t>, avec un inférieur strict, parce que les indices vont de zéro à </a:t>
            </a:r>
            <a:r>
              <a:rPr>
                <a:latin typeface="Consolas"/>
              </a:rPr>
              <a:t>length - 1</a:t>
            </a:r>
            <a:r>
              <a:t>. Un inférieur ou égal produit une </a:t>
            </a:r>
            <a:r>
              <a:rPr>
                <a:latin typeface="Consolas"/>
              </a:rPr>
              <a:t>ArrayIndexOutOfBoundsException</a:t>
            </a:r>
            <a:r>
              <a:t>, et c'est probablement l'erreur la plus fréquente de toute la programmation.</a:t>
            </a:r>
          </a:p>
          <a:p>
            <a:r>
              <a:rPr lang="fr-BE" dirty="0"/>
              <a:t>Le code complet, à exécuter : demos, classe demo.tab.slides.DeclarerUnTableau.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boucle for-each se lit « pour chaque entier </a:t>
            </a:r>
            <a:r>
              <a:rPr>
                <a:latin typeface="Consolas"/>
              </a:rPr>
              <a:t>v</a:t>
            </a:r>
            <a:r>
              <a:t> contenu dans </a:t>
            </a:r>
            <a:r>
              <a:rPr>
                <a:latin typeface="Consolas"/>
              </a:rPr>
              <a:t>tab</a:t>
            </a:r>
            <a:r>
              <a:t> ». Elle n'expose pas l'indice, ce qui la rend plus courte et supprime d'un coup le risque de sortir du tableau.</a:t>
            </a:r>
          </a:p>
          <a:p>
            <a:r>
              <a:t>En contrepartie, </a:t>
            </a:r>
            <a:r>
              <a:rPr>
                <a:latin typeface="Consolas"/>
              </a:rPr>
              <a:t>v</a:t>
            </a:r>
            <a:r>
              <a:t> est une copie de la valeur : lui affecter quelque chose ne touche pas au tableau. C'est une restriction, pas un défaut — et c'est exactement ce que </a:t>
            </a:r>
            <a:r>
              <a:rPr>
                <a:latin typeface="Consolas"/>
              </a:rPr>
              <a:t>TAB.2</a:t>
            </a:r>
            <a:r>
              <a:t> vous demandera d'essayer pour le constater.</a:t>
            </a:r>
          </a:p>
          <a:p>
            <a:r>
              <a:rPr lang="fr-BE" dirty="0"/>
              <a:t>Le code complet, à exécuter : demos, classe demo.tab.slides.DeclarerUnTableau.</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se pose à chaque parcours, et la réponse tient en une ligne : prenez la boucle qui montre le moins de choses. Si l'indice ne sert à rien, ne l'écrivez pas.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boucles imbriquées, et un compteur qui doit survivre au passage d'une ligne à l'autre. Où le déclarer est la vraie question : à l'intérieur d'une boucle, il serait remis à sa valeur initiale à chaque tour.</a:t>
            </a:r>
          </a:p>
          <a:p>
            <a:r>
              <a:t>C'est exactement ce que demande l'exercice qui suit. Regardez la portée de chaque variable avant d'écrire quoi que ce soit.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méthodes statiques, et un </a:t>
            </a:r>
            <a:r>
              <a:rPr>
                <a:latin typeface="Consolas"/>
              </a:rPr>
              <a:t>Programme</a:t>
            </a:r>
            <a:r>
              <a:t> auquel il ne devrait rester qu'une seule instruction d'affichage. C'est la séparation entre le calcul et le dialogue, posée au module POO.</a:t>
            </a:r>
          </a:p>
          <a:p>
            <a:r>
              <a:t>Le format d'</a:t>
            </a:r>
            <a:r>
              <a:rPr>
                <a:latin typeface="Consolas"/>
              </a:rPr>
              <a:t>enTexte</a:t>
            </a:r>
            <a:r>
              <a:t> est imposé au caractère près, parce que le test le vérifie. Et la troisième question du fascicule mérite qu'on s'y arrête : si </a:t>
            </a:r>
            <a:r>
              <a:rPr>
                <a:latin typeface="Consolas"/>
              </a:rPr>
              <a:t>enTexte</a:t>
            </a:r>
            <a:r>
              <a:t> affichait au lieu de retourner une chaîne, le test serait-il encore possible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courte, qui tire la conséquence de la section 1 : un tableau de tableaux n'a aucune raison d'être rectangulaire.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schéma montre ce que la slide « Un tableau de tableaux » annonçait en code. La colonne de gauche est le tableau tab : ses cases ne contiennent pas des nombres, mais chacune une référence vers un autre tableau, représentée par la flèche.</a:t>
            </a:r>
          </a:p>
          <a:p>
            <a:r>
              <a:t>Chaque ligne est donc un int[] complet, avec sa propre longueur : tab[0].length vaut 3, tab[2].length vaut 6. Rien n'oblige ces longueurs à être égales. Un tableau « rectangulaire » n'est que le cas particulier où elles le sont.</a:t>
            </a:r>
          </a:p>
          <a:p>
            <a:r>
              <a:t>Pour lire tab[2][4] : on suit d'abord la flèche de la case [2], puis on prend la case [4] du tableau d'arrivée.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seconde paire de crochets reste vide : on annonce le nombre de lignes, pas leur longueur. Chaque ligne est ensuite créée à sa taille.</a:t>
            </a:r>
          </a:p>
          <a:p>
            <a:r>
              <a:t>Une conséquence à connaître avant de s'y cogner : entre la déclaration et la création d'une ligne, cette ligne vaut </a:t>
            </a:r>
            <a:r>
              <a:rPr>
                <a:latin typeface="Consolas"/>
              </a:rPr>
              <a:t>null</a:t>
            </a:r>
            <a:r>
              <a:t>. Y accéder donne une </a:t>
            </a:r>
            <a:r>
              <a:rPr>
                <a:latin typeface="Consolas"/>
              </a:rPr>
              <a:t>NullPointerException</a:t>
            </a:r>
            <a:r>
              <a:t>, et non un tableau vide.</a:t>
            </a:r>
          </a:p>
          <a:p>
            <a:r>
              <a:t>Le parcours d'un tel tableau ne peut plus supposer une largeur constante. Une boucle for-each imbriquée s'en sort naturellement, puisque la première parcourt des </a:t>
            </a:r>
            <a:r>
              <a:rPr>
                <a:latin typeface="Consolas"/>
              </a:rPr>
              <a:t>int[]</a:t>
            </a:r>
            <a:r>
              <a:t> et la seconde des </a:t>
            </a:r>
            <a:r>
              <a:rPr>
                <a:latin typeface="Consolas"/>
              </a:rPr>
              <a:t>int</a:t>
            </a:r>
            <a:r>
              <a:t> — chaque ligne annonce sa propre longueur.</a:t>
            </a:r>
          </a:p>
          <a:p>
            <a:r>
              <a:rPr lang="fr-BE" dirty="0"/>
              <a:t>Le code complet, à exécuter : demos, classe demo.tab.slides.DesLignesDeTaillesDifferentes.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nombre est la somme des deux qui le surplombent, les bords valent 1, et la ligne d'indice </a:t>
            </a:r>
            <a:r>
              <a:rPr>
                <a:latin typeface="Consolas"/>
              </a:rPr>
              <a:t>i</a:t>
            </a:r>
            <a:r>
              <a:t> contient </a:t>
            </a:r>
            <a:r>
              <a:rPr>
                <a:latin typeface="Consolas"/>
              </a:rPr>
              <a:t>i + 1</a:t>
            </a:r>
            <a:r>
              <a:t> nombres.</a:t>
            </a:r>
          </a:p>
          <a:p>
            <a:r>
              <a:t>Deux des questions du fascicule sont plus intéressantes qu'elles n'en ont l'air. Pour la première ligne, les deux instructions qui posent les bords écrivent dans la même case — est-ce un problème ? Et la boucle qui remplit l'intérieur ne tourne pas du tout pour les deux premières lignes — pourquoi, et est-ce voulu ?</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opérateur qui fait en une instruction ce qu'un </a:t>
            </a:r>
            <a:r>
              <a:rPr>
                <a:latin typeface="Consolas"/>
              </a:rPr>
              <a:t>if</a:t>
            </a:r>
            <a:r>
              <a:t> demande en cinq lignes. La section montre où il aide, et où il commence à nuire.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 d'interrogation sépare la condition des deux valeurs, les deux points séparent les valeurs entre elles. Lisez-le comme une question : « a est-il plus grand que b ? si oui </a:t>
            </a:r>
            <a:r>
              <a:rPr>
                <a:latin typeface="Consolas"/>
              </a:rPr>
              <a:t>a</a:t>
            </a:r>
            <a:r>
              <a:t>, sinon </a:t>
            </a:r>
            <a:r>
              <a:rPr>
                <a:latin typeface="Consolas"/>
              </a:rPr>
              <a:t>b</a:t>
            </a:r>
            <a:r>
              <a:t> ».</a:t>
            </a:r>
          </a:p>
          <a:p>
            <a:r>
              <a:t>Ternaire signifie simplement « à trois opérandes ». C'est le seul de Java dans ce cas, d'où son nom.</a:t>
            </a:r>
          </a:p>
          <a:p>
            <a:r>
              <a:rPr lang="fr-BE" dirty="0"/>
              <a:t>Le code complet, à exécuter : demos, classe demo.tab.slides.LOperateurTernaire.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différence essentielle, et la seule bonne raison d'employer le ternaire. Un </a:t>
            </a:r>
            <a:r>
              <a:rPr>
                <a:latin typeface="Consolas"/>
              </a:rPr>
              <a:t>if</a:t>
            </a:r>
            <a:r>
              <a:t> est une instruction : il fait quelque chose. Le ternaire est une expression : il vaut quelque chose. On peut donc l'écrire partout où une valeur est attendue, ce qu'un </a:t>
            </a:r>
            <a:r>
              <a:rPr>
                <a:latin typeface="Consolas"/>
              </a:rPr>
              <a:t>if</a:t>
            </a:r>
            <a:r>
              <a:t> ne permet pas.</a:t>
            </a:r>
          </a:p>
          <a:p>
            <a:r>
              <a:t>Employer un ternaire uniquement pour raccourcir un </a:t>
            </a:r>
            <a:r>
              <a:rPr>
                <a:latin typeface="Consolas"/>
              </a:rPr>
              <a:t>if</a:t>
            </a:r>
            <a:r>
              <a:t> qui ne retourne rien, c'est en revanche le détourner de son usage.</a:t>
            </a:r>
          </a:p>
          <a:p>
            <a:r>
              <a:rPr lang="fr-BE" dirty="0"/>
              <a:t>Le code complet, à exécuter : demos, classe demo.tab.slides.LOperateurTernaire.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erreur fréquente aux examens. Une comparaison comme a &gt; b vaut déjà true ou false : c'est un booléen, au même titre qu'une variable boolean. Le if qui retourne true dans un cas et false dans l'autre ne fait que recopier ce booléen, en cinq lignes.</a:t>
            </a:r>
          </a:p>
          <a:p>
            <a:r>
              <a:t>Le ternaire n'arrange rien : return a &gt; b ? true : false; est la même redondance, en une ligne. Dans les deux cas, return a &gt; b; dit la même chose, plus directement.</a:t>
            </a:r>
          </a:p>
          <a:p>
            <a:r>
              <a:t>Le correcteur le relève comme une faute de style : le code fonctionne, mais il montre qu'on n'a pas vu qu'une comparaison est une valeur. Voir CC-MET.9 du mémento Clean Code.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n'interdit d'imbriquer les ternaires, et le compilateur ne protestera jamais. La question n'est pas ce que le langage autorise, mais ce qu'un collègue pourra relire dans six mois.</a:t>
            </a:r>
          </a:p>
          <a:p>
            <a:r>
              <a:t>L'exercice vous demande d'en écrire un à trois niveaux. Faites-le vraiment, relisez-le, et décidez vous-même si vous le garderiez. C'est une décision d'écriture, pas une règle, et le mémento Clean Code se contente de demander des méthodes courtes et lisibles.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petit jeu de dés, fourni et fonctionnel à deux méthodes près. Chacune tient en une seule instruction avec un ternaire.</a:t>
            </a:r>
          </a:p>
          <a:p>
            <a:r>
              <a:t>Attention au sens de la comparaison : selon la façon dont vous l'écrivez, l'égalité tombe du côté du premier ou du second joueur, et le test le vérifie.</a:t>
            </a:r>
          </a:p>
          <a:p>
            <a:r>
              <a:t>Remarquez que ces deux méthodes ne lancent aucun dé : elles reçoivent les résultats en paramètres. C'est ce qui les rend prévisibles, et donc testables, alors qu'une méthode qui tire au hasard ne le serait pas. Vous retrouverez cette idée au module JUN.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les exercices manipulaient une classe à la fois. Le dernier en fait collaborer quatre, et range des objets dans un tableau.</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Rien de nouveau </a:t>
            </a:r>
            <a:r>
              <a:rPr dirty="0" err="1"/>
              <a:t>techniquement</a:t>
            </a:r>
            <a:r>
              <a:rPr dirty="0"/>
              <a:t> : un champ </a:t>
            </a:r>
            <a:r>
              <a:rPr dirty="0" err="1"/>
              <a:t>dont</a:t>
            </a:r>
            <a:r>
              <a:rPr dirty="0"/>
              <a:t> le type est </a:t>
            </a:r>
            <a:r>
              <a:rPr dirty="0" err="1"/>
              <a:t>une</a:t>
            </a:r>
            <a:r>
              <a:rPr dirty="0"/>
              <a:t> </a:t>
            </a:r>
            <a:r>
              <a:rPr dirty="0" err="1"/>
              <a:t>classe</a:t>
            </a:r>
            <a:r>
              <a:rPr dirty="0"/>
              <a:t>, vous </a:t>
            </a:r>
            <a:r>
              <a:rPr dirty="0" err="1"/>
              <a:t>en</a:t>
            </a:r>
            <a:r>
              <a:rPr dirty="0"/>
              <a:t> </a:t>
            </a:r>
            <a:r>
              <a:rPr dirty="0" err="1"/>
              <a:t>écrivez</a:t>
            </a:r>
            <a:r>
              <a:rPr dirty="0"/>
              <a:t> </a:t>
            </a:r>
            <a:r>
              <a:rPr dirty="0" err="1"/>
              <a:t>depuis</a:t>
            </a:r>
            <a:r>
              <a:rPr dirty="0"/>
              <a:t> le module POO. Ce qui change, </a:t>
            </a:r>
            <a:r>
              <a:rPr dirty="0" err="1"/>
              <a:t>c'est</a:t>
            </a:r>
            <a:r>
              <a:rPr dirty="0"/>
              <a:t> le </a:t>
            </a:r>
            <a:r>
              <a:rPr dirty="0" err="1"/>
              <a:t>nombre</a:t>
            </a:r>
            <a:r>
              <a:rPr dirty="0"/>
              <a:t> de classes qui </a:t>
            </a:r>
            <a:r>
              <a:rPr dirty="0" err="1"/>
              <a:t>collaborent</a:t>
            </a:r>
            <a:r>
              <a:rPr dirty="0"/>
              <a:t>.</a:t>
            </a:r>
          </a:p>
          <a:p>
            <a:r>
              <a:rPr lang="fr-BE" dirty="0"/>
              <a:t>Le vendeur est modélisé ici comme un rôle que joue une personne : un Vendor possède une Person, sous la forme d'un champ. On aurait pu, tout aussi légitimement, écrire qu'un vendeur est une personne, ce qui se traduit par de l'héritage, que vous connaissez par le C#. Ce n'est pas faux : c'est un autre modèle. Celui de l'exercice a un avantage : la même personne pourrait jouer d'autres rôles, être cliente par exemple, sans changer de classe. Le module ABS compare les deux approches sur cet exemple.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Prix catalogue et réduction suffisent à retrouver le prix réel. En faire un troisième champ créerait une donnée redondante : le jour où la réduction change, plus rien ne garantit que le prix réel suive.</a:t>
            </a:r>
          </a:p>
          <a:p>
            <a:r>
              <a:t>C'est exactement le problème du champ </a:t>
            </a:r>
            <a:r>
              <a:rPr>
                <a:latin typeface="Consolas"/>
              </a:rPr>
              <a:t>age</a:t>
            </a:r>
            <a:r>
              <a:t> rencontré en POO.3, et la règle vaut bien au-delà des voitures : ce qui se déduit ne se stocke pas.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ici que la taille fixe, annoncée en ouverture du module, devient une contrainte concrète. Le tableau est dimensionné à la construction, donc il faut un maximum, et un compteur de cases occupées.</a:t>
            </a:r>
          </a:p>
          <a:p>
            <a:r>
              <a:t>La dernière ligne est une question du fascicule, et elle mérite d'être essayée plutôt que lue : parcourir jusqu'à </a:t>
            </a:r>
            <a:r>
              <a:rPr>
                <a:latin typeface="Consolas"/>
              </a:rPr>
              <a:t>ventes.length</a:t>
            </a:r>
            <a:r>
              <a:t> additionne les cases vides. Écrivez cette version-là d'abord, et regardez ce qui se passe.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classes, dont trois à écrire entièrement. Le format d'</a:t>
            </a:r>
            <a:r>
              <a:rPr>
                <a:latin typeface="Consolas"/>
              </a:rPr>
              <a:t>enTexte</a:t>
            </a:r>
            <a:r>
              <a:t> est vérifié au caractère près.</a:t>
            </a:r>
          </a:p>
          <a:p>
            <a:r>
              <a:t>Deux questions du fascicule touchent au mémento Clean Code. </a:t>
            </a:r>
            <a:r>
              <a:rPr>
                <a:latin typeface="Consolas"/>
              </a:rPr>
              <a:t>Sale</a:t>
            </a:r>
            <a:r>
              <a:t> a besoin de la marque et du modèle : vaut-il mieux qu'elle lise les champs de la voiture, ou qu'elle les lui demande — </a:t>
            </a:r>
            <a:r>
              <a:rPr>
                <a:latin typeface="Consolas"/>
              </a:rPr>
              <a:t>CC-OBJ.1</a:t>
            </a:r>
            <a:r>
              <a:t> ? Et faut-il un accesseur qui retourne le tableau de ventes, sachant ce que l'appelant pourrait alors en faire — </a:t>
            </a:r>
            <a:r>
              <a:rPr>
                <a:latin typeface="Consolas"/>
              </a:rPr>
              <a:t>CC-OBJ.2</a:t>
            </a:r>
            <a:r>
              <a:t> ?</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lignes pour quatre exercices. La deuxième est celle qui coûte le plus cher quand on l'oublie, et c'est celle que la démonstration a passé six minutes à faire voter.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TAB</a:t>
            </a:r>
          </a:p>
          <a:p>
            <a:r>
              <a:t>Tableaux, boucles et opérateur ternaire</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14" name="Groupe 13">
            <a:extLst>
              <a:ext uri="{FF2B5EF4-FFF2-40B4-BE49-F238E27FC236}">
                <a16:creationId xmlns:a16="http://schemas.microsoft.com/office/drawing/2014/main" id="{B7F3BF5B-DCB7-7510-A784-A7FD9D84FF83}"/>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Un tableau, </a:t>
              </a:r>
              <a:r>
                <a:rPr sz="2600" dirty="0" err="1">
                  <a:solidFill>
                    <a:srgbClr val="FFFFFF"/>
                  </a:solidFill>
                </a:rPr>
                <a:t>une</a:t>
              </a:r>
              <a:r>
                <a:rPr sz="2600" dirty="0">
                  <a:solidFill>
                    <a:srgbClr val="FFFFFF"/>
                  </a:solidFill>
                </a:rPr>
                <a:t> taille fixe</a:t>
              </a:r>
            </a:p>
          </p:txBody>
        </p:sp>
      </p:grpSp>
      <p:grpSp>
        <p:nvGrpSpPr>
          <p:cNvPr id="15" name="Groupe 14">
            <a:extLst>
              <a:ext uri="{FF2B5EF4-FFF2-40B4-BE49-F238E27FC236}">
                <a16:creationId xmlns:a16="http://schemas.microsoft.com/office/drawing/2014/main" id="{143A6704-D46E-9CCD-01D7-7E7F79BF00B8}"/>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Parcourir un tableau</a:t>
              </a:r>
            </a:p>
          </p:txBody>
        </p:sp>
      </p:grpSp>
      <p:grpSp>
        <p:nvGrpSpPr>
          <p:cNvPr id="16" name="Groupe 15">
            <a:extLst>
              <a:ext uri="{FF2B5EF4-FFF2-40B4-BE49-F238E27FC236}">
                <a16:creationId xmlns:a16="http://schemas.microsoft.com/office/drawing/2014/main" id="{0E1828FF-27F5-CC91-6498-E75CAB9EC4BF}"/>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Des lignes inégales</a:t>
              </a:r>
            </a:p>
          </p:txBody>
        </p:sp>
      </p:grpSp>
      <p:grpSp>
        <p:nvGrpSpPr>
          <p:cNvPr id="17" name="Groupe 16">
            <a:extLst>
              <a:ext uri="{FF2B5EF4-FFF2-40B4-BE49-F238E27FC236}">
                <a16:creationId xmlns:a16="http://schemas.microsoft.com/office/drawing/2014/main" id="{5F841F56-354D-D522-527F-23FAA3F0B07B}"/>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L'opérateur ternaire</a:t>
              </a:r>
            </a:p>
          </p:txBody>
        </p:sp>
      </p:grpSp>
      <p:grpSp>
        <p:nvGrpSpPr>
          <p:cNvPr id="18" name="Groupe 17">
            <a:extLst>
              <a:ext uri="{FF2B5EF4-FFF2-40B4-BE49-F238E27FC236}">
                <a16:creationId xmlns:a16="http://schemas.microsoft.com/office/drawing/2014/main" id="{EED08D4E-BD2A-CF7A-62D6-DBA0E22A1673}"/>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Des objets qui se connaissent</a:t>
              </a:r>
            </a:p>
          </p:txBody>
        </p:sp>
      </p:grpSp>
      <p:sp>
        <p:nvSpPr>
          <p:cNvPr id="13"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1.jpg"/>
          <p:cNvPicPr>
            <a:picLocks noChangeAspect="1"/>
          </p:cNvPicPr>
          <p:nvPr/>
        </p:nvPicPr>
        <p:blipFill>
          <a:blip r:embed="rId3"/>
          <a:stretch>
            <a:fillRect/>
          </a:stretch>
        </p:blipFill>
        <p:spPr>
          <a:xfrm>
            <a:off x="1" y="0"/>
            <a:ext cx="1231946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755260"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1. Un tableau, c'est une taille fixe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Cinq pièges, et pourquoi ils existent</a:t>
            </a:r>
          </a:p>
          <a:p>
            <a:pPr>
              <a:spcBef>
                <a:spcPts val="1200"/>
              </a:spcBef>
            </a:pPr>
            <a:r>
              <a:rPr sz="1400">
                <a:solidFill>
                  <a:srgbClr val="BCBEC4"/>
                </a:solidFill>
              </a:rPr>
              <a:t>Déroulé : Demo_TAB</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1. Un tableau, une taille fixe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 tableau</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dirty="0"/>
              <a:t>La taille est </a:t>
            </a:r>
            <a:r>
              <a:rPr sz="2800" dirty="0" err="1"/>
              <a:t>décidée</a:t>
            </a:r>
            <a:r>
              <a:rPr sz="2800" dirty="0"/>
              <a:t> au </a:t>
            </a:r>
            <a:r>
              <a:rPr sz="2400" dirty="0">
                <a:solidFill>
                  <a:schemeClr val="accent4"/>
                </a:solidFill>
                <a:latin typeface="Consolas"/>
              </a:rPr>
              <a:t>new</a:t>
            </a:r>
            <a:r>
              <a:rPr sz="2800" dirty="0"/>
              <a:t>, et ne change plus</a:t>
            </a:r>
          </a:p>
          <a:p>
            <a:pPr marL="0" indent="0">
              <a:spcAft>
                <a:spcPts val="1000"/>
              </a:spcAft>
              <a:buNone/>
            </a:pPr>
            <a:r>
              <a:rPr sz="2800" dirty="0"/>
              <a:t>Les collections, qui </a:t>
            </a:r>
            <a:r>
              <a:rPr sz="2800" dirty="0" err="1"/>
              <a:t>grandissent</a:t>
            </a:r>
            <a:r>
              <a:rPr sz="2800" dirty="0"/>
              <a:t>, </a:t>
            </a:r>
            <a:r>
              <a:rPr sz="2800" dirty="0" err="1"/>
              <a:t>viendront</a:t>
            </a:r>
            <a:r>
              <a:rPr sz="2800" dirty="0"/>
              <a:t> au module </a:t>
            </a:r>
            <a:r>
              <a:rPr sz="2400" dirty="0">
                <a:solidFill>
                  <a:schemeClr val="accent4"/>
                </a:solidFill>
                <a:latin typeface="Consolas"/>
              </a:rPr>
              <a:t>COL</a:t>
            </a:r>
          </a:p>
        </p:txBody>
      </p:sp>
      <p:sp>
        <p:nvSpPr>
          <p:cNvPr id="4" name="Code"/>
          <p:cNvSpPr txBox="1"/>
          <p:nvPr/>
        </p:nvSpPr>
        <p:spPr>
          <a:xfrm>
            <a:off x="1263650" y="3180079"/>
            <a:ext cx="96647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nombres = </a:t>
            </a:r>
            <a:r>
              <a:rPr sz="1800">
                <a:solidFill>
                  <a:srgbClr val="CF8E6D"/>
                </a:solidFill>
                <a:latin typeface="Consolas"/>
              </a:rPr>
              <a:t>new</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a:t>
            </a:r>
            <a:r>
              <a:rPr sz="1800">
                <a:solidFill>
                  <a:srgbClr val="2AACB8"/>
                </a:solidFill>
                <a:latin typeface="Consolas"/>
              </a:rPr>
              <a:t>5</a:t>
            </a:r>
            <a:r>
              <a:rPr sz="1800">
                <a:solidFill>
                  <a:srgbClr val="BCBEC4"/>
                </a:solidFill>
                <a:latin typeface="Consolas"/>
              </a:rPr>
              <a:t>];            </a:t>
            </a:r>
            <a:r>
              <a:rPr sz="1800">
                <a:solidFill>
                  <a:srgbClr val="7A7E85"/>
                </a:solidFill>
                <a:latin typeface="Consolas"/>
              </a:rPr>
              <a:t>// 5 cases, toutes a 0</a:t>
            </a:r>
          </a:p>
          <a:p>
            <a:pPr>
              <a:lnSpc>
                <a:spcPct val="100000"/>
              </a:lnSpc>
              <a:spcBef>
                <a:spcPts val="0"/>
              </a:spcBef>
              <a:spcAft>
                <a:spcPts val="0"/>
              </a:spcAft>
            </a:pPr>
            <a:r>
              <a:rPr sz="1800">
                <a:solidFill>
                  <a:srgbClr val="BCBEC4"/>
                </a:solidFill>
                <a:latin typeface="Consolas"/>
              </a:rPr>
              <a:t>String[] mots    = { </a:t>
            </a:r>
            <a:r>
              <a:rPr sz="1800">
                <a:solidFill>
                  <a:srgbClr val="6AAB73"/>
                </a:solidFill>
                <a:latin typeface="Consolas"/>
              </a:rPr>
              <a:t>"Hello"</a:t>
            </a:r>
            <a:r>
              <a:rPr sz="1800">
                <a:solidFill>
                  <a:srgbClr val="BCBEC4"/>
                </a:solidFill>
                <a:latin typeface="Consolas"/>
              </a:rPr>
              <a:t>, </a:t>
            </a:r>
            <a:r>
              <a:rPr sz="1800">
                <a:solidFill>
                  <a:srgbClr val="6AAB73"/>
                </a:solidFill>
                <a:latin typeface="Consolas"/>
              </a:rPr>
              <a:t>"world"</a:t>
            </a:r>
            <a:r>
              <a:rPr sz="1800">
                <a:solidFill>
                  <a:srgbClr val="BCBEC4"/>
                </a:solidFill>
                <a:latin typeface="Consolas"/>
              </a:rPr>
              <a:t> };  </a:t>
            </a:r>
            <a:r>
              <a:rPr sz="1800">
                <a:solidFill>
                  <a:srgbClr val="7A7E85"/>
                </a:solidFill>
                <a:latin typeface="Consolas"/>
              </a:rPr>
              <a:t>// 2 cases, deja remplies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1. Un tableau, une taille fixe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 démonstration a montré</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tableau de </a:t>
            </a:r>
            <a:r>
              <a:rPr sz="2400">
                <a:solidFill>
                  <a:schemeClr val="accent4"/>
                </a:solidFill>
                <a:latin typeface="Consolas"/>
              </a:rPr>
              <a:t>int</a:t>
            </a:r>
            <a:r>
              <a:rPr sz="2800"/>
              <a:t> naît à zéro, un tableau d'objets à </a:t>
            </a:r>
            <a:r>
              <a:rPr sz="2400">
                <a:solidFill>
                  <a:schemeClr val="accent4"/>
                </a:solidFill>
                <a:latin typeface="Consolas"/>
              </a:rPr>
              <a:t>null</a:t>
            </a:r>
          </a:p>
          <a:p>
            <a:pPr marL="0" indent="0">
              <a:spcAft>
                <a:spcPts val="1000"/>
              </a:spcAft>
              <a:buNone/>
            </a:pPr>
            <a:r>
              <a:rPr sz="2400">
                <a:solidFill>
                  <a:schemeClr val="accent4"/>
                </a:solidFill>
                <a:latin typeface="Consolas"/>
              </a:rPr>
              <a:t>System.out.println(tableau)</a:t>
            </a:r>
            <a:r>
              <a:rPr sz="2800"/>
              <a:t> affiche une adresse, pas des valeurs</a:t>
            </a:r>
          </a:p>
          <a:p>
            <a:pPr marL="0" indent="0">
              <a:spcAft>
                <a:spcPts val="1000"/>
              </a:spcAft>
              <a:buNone/>
            </a:pPr>
            <a:r>
              <a:rPr sz="2800"/>
              <a:t>Il faut </a:t>
            </a:r>
            <a:r>
              <a:rPr sz="2400">
                <a:solidFill>
                  <a:schemeClr val="accent4"/>
                </a:solidFill>
                <a:latin typeface="Consolas"/>
              </a:rPr>
              <a:t>Arrays.toString(tableau)</a:t>
            </a:r>
          </a:p>
          <a:p>
            <a:pPr marL="0" indent="0">
              <a:spcAft>
                <a:spcPts val="1000"/>
              </a:spcAft>
              <a:buNone/>
            </a:pPr>
            <a:r>
              <a:rPr sz="2400">
                <a:solidFill>
                  <a:schemeClr val="accent4"/>
                </a:solidFill>
                <a:latin typeface="Consolas"/>
              </a:rPr>
              <a:t>tableau.length</a:t>
            </a:r>
            <a:r>
              <a:rPr sz="2800"/>
              <a:t> est un </a:t>
            </a:r>
            <a:r>
              <a:rPr sz="2800" b="1"/>
              <a:t>champ</a:t>
            </a:r>
            <a:r>
              <a:rPr sz="2800"/>
              <a:t>, </a:t>
            </a:r>
            <a:r>
              <a:rPr sz="2400">
                <a:solidFill>
                  <a:schemeClr val="accent4"/>
                </a:solidFill>
                <a:latin typeface="Consolas"/>
              </a:rPr>
              <a:t>texte.length()</a:t>
            </a:r>
            <a:r>
              <a:rPr sz="2800"/>
              <a:t> une </a:t>
            </a:r>
            <a:r>
              <a:rPr sz="2800" b="1"/>
              <a:t>méthode</a:t>
            </a:r>
          </a:p>
          <a:p>
            <a:pPr marL="0" indent="0">
              <a:spcAft>
                <a:spcPts val="1000"/>
              </a:spcAft>
              <a:buNone/>
            </a:pPr>
            <a:r>
              <a:rPr sz="2800"/>
              <a:t>Passer un tableau à une méthode, c'est passer son adresse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1. Un tableau, une taille fixe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tableau de tableaux</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Un tableau à deux dimensions n'existe pas vraiment en Java</a:t>
            </a:r>
          </a:p>
          <a:p>
            <a:pPr marL="0" indent="0">
              <a:spcAft>
                <a:spcPts val="1000"/>
              </a:spcAft>
              <a:buNone/>
            </a:pPr>
            <a:r>
              <a:rPr sz="2800"/>
              <a:t>C'est un tableau dont chaque case contient un autre tableau</a:t>
            </a:r>
          </a:p>
        </p:txBody>
      </p:sp>
      <p:sp>
        <p:nvSpPr>
          <p:cNvPr id="4" name="Code"/>
          <p:cNvSpPr txBox="1"/>
          <p:nvPr/>
        </p:nvSpPr>
        <p:spPr>
          <a:xfrm>
            <a:off x="640080" y="3606800"/>
            <a:ext cx="1088136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matrice = </a:t>
            </a:r>
            <a:r>
              <a:rPr sz="1800">
                <a:solidFill>
                  <a:srgbClr val="CF8E6D"/>
                </a:solidFill>
                <a:latin typeface="Consolas"/>
              </a:rPr>
              <a:t>new</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a:t>
            </a:r>
            <a:r>
              <a:rPr sz="1800">
                <a:solidFill>
                  <a:srgbClr val="2AACB8"/>
                </a:solidFill>
                <a:latin typeface="Consolas"/>
              </a:rPr>
              <a:t>3</a:t>
            </a:r>
            <a:r>
              <a:rPr sz="1800">
                <a:solidFill>
                  <a:srgbClr val="BCBEC4"/>
                </a:solidFill>
                <a:latin typeface="Consolas"/>
              </a:rPr>
              <a:t>][</a:t>
            </a:r>
            <a:r>
              <a:rPr sz="1800">
                <a:solidFill>
                  <a:srgbClr val="2AACB8"/>
                </a:solidFill>
                <a:latin typeface="Consolas"/>
              </a:rPr>
              <a:t>3</a:t>
            </a:r>
            <a:r>
              <a:rPr sz="1800">
                <a:solidFill>
                  <a:srgbClr val="BCBEC4"/>
                </a:solidFill>
                <a:latin typeface="Consolas"/>
              </a:rPr>
              <a:t>];   </a:t>
            </a:r>
            <a:r>
              <a:rPr sz="1800">
                <a:solidFill>
                  <a:srgbClr val="7A7E85"/>
                </a:solidFill>
                <a:latin typeface="Consolas"/>
              </a:rPr>
              <a:t>// un tableau DE TABLEAUX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matrice[</a:t>
            </a:r>
            <a:r>
              <a:rPr sz="1800">
                <a:solidFill>
                  <a:srgbClr val="2AACB8"/>
                </a:solidFill>
                <a:latin typeface="Consolas"/>
              </a:rPr>
              <a:t>1</a:t>
            </a:r>
            <a:r>
              <a:rPr sz="1800">
                <a:solidFill>
                  <a:srgbClr val="BCBEC4"/>
                </a:solidFill>
                <a:latin typeface="Consolas"/>
              </a:rPr>
              <a:t>]                         </a:t>
            </a:r>
            <a:r>
              <a:rPr sz="1800">
                <a:solidFill>
                  <a:srgbClr val="7A7E85"/>
                </a:solidFill>
                <a:latin typeface="Consolas"/>
              </a:rPr>
              <a:t>// la deuxieme ligne, un int[]</a:t>
            </a:r>
          </a:p>
          <a:p>
            <a:pPr>
              <a:lnSpc>
                <a:spcPct val="100000"/>
              </a:lnSpc>
              <a:spcBef>
                <a:spcPts val="0"/>
              </a:spcBef>
              <a:spcAft>
                <a:spcPts val="0"/>
              </a:spcAft>
            </a:pPr>
            <a:r>
              <a:rPr sz="1800">
                <a:solidFill>
                  <a:srgbClr val="BCBEC4"/>
                </a:solidFill>
                <a:latin typeface="Consolas"/>
              </a:rPr>
              <a:t>matrice[</a:t>
            </a:r>
            <a:r>
              <a:rPr sz="1800">
                <a:solidFill>
                  <a:srgbClr val="2AACB8"/>
                </a:solidFill>
                <a:latin typeface="Consolas"/>
              </a:rPr>
              <a:t>1</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                      </a:t>
            </a:r>
            <a:r>
              <a:rPr sz="1800">
                <a:solidFill>
                  <a:srgbClr val="7A7E85"/>
                </a:solidFill>
                <a:latin typeface="Consolas"/>
              </a:rPr>
              <a:t>// la troisieme case de cette ligne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1. Un tableau, une taille fixe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2.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07005"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Parcourir un tableau</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8</a:t>
            </a:fld>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boucle indexée</a:t>
            </a:r>
          </a:p>
        </p:txBody>
      </p:sp>
      <p:sp>
        <p:nvSpPr>
          <p:cNvPr id="3" name="Content Placeholder 2"/>
          <p:cNvSpPr>
            <a:spLocks noGrp="1"/>
          </p:cNvSpPr>
          <p:nvPr>
            <p:ph idx="1"/>
          </p:nvPr>
        </p:nvSpPr>
        <p:spPr>
          <a:xfrm>
            <a:off x="640080" y="1371600"/>
            <a:ext cx="10881360" cy="1117600"/>
          </a:xfrm>
        </p:spPr>
        <p:txBody>
          <a:bodyPr/>
          <a:lstStyle/>
          <a:p>
            <a:pPr marL="0" indent="0">
              <a:spcAft>
                <a:spcPts val="1000"/>
              </a:spcAft>
              <a:buNone/>
            </a:pPr>
            <a:r>
              <a:rPr sz="2800"/>
              <a:t>On dispose de l'indice, donc on peut écrire dans le tableau</a:t>
            </a:r>
          </a:p>
        </p:txBody>
      </p:sp>
      <p:sp>
        <p:nvSpPr>
          <p:cNvPr id="4" name="Code"/>
          <p:cNvSpPr txBox="1"/>
          <p:nvPr/>
        </p:nvSpPr>
        <p:spPr>
          <a:xfrm>
            <a:off x="3289300" y="2626360"/>
            <a:ext cx="56134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2AACB8"/>
                </a:solidFill>
                <a:latin typeface="Consolas"/>
              </a:rPr>
              <a:t>0</a:t>
            </a:r>
            <a:r>
              <a:rPr sz="1800">
                <a:solidFill>
                  <a:srgbClr val="BCBEC4"/>
                </a:solidFill>
                <a:latin typeface="Consolas"/>
              </a:rPr>
              <a:t>; i &lt; tab.length; i++) {</a:t>
            </a:r>
          </a:p>
          <a:p>
            <a:pPr>
              <a:lnSpc>
                <a:spcPct val="100000"/>
              </a:lnSpc>
              <a:spcBef>
                <a:spcPts val="0"/>
              </a:spcBef>
              <a:spcAft>
                <a:spcPts val="0"/>
              </a:spcAft>
            </a:pPr>
            <a:r>
              <a:rPr sz="1800">
                <a:solidFill>
                  <a:srgbClr val="BCBEC4"/>
                </a:solidFill>
                <a:latin typeface="Consolas"/>
              </a:rPr>
              <a:t>    tab[i] = tab[i] *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boucle </a:t>
            </a:r>
            <a:r>
              <a:rPr sz="3600">
                <a:solidFill>
                  <a:schemeClr val="accent4"/>
                </a:solidFill>
                <a:latin typeface="Consolas"/>
              </a:rPr>
              <a:t>for-each</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Lecture seule : la variable est une copie de la case</a:t>
            </a:r>
          </a:p>
          <a:p>
            <a:pPr marL="0" indent="0">
              <a:spcAft>
                <a:spcPts val="1000"/>
              </a:spcAft>
              <a:buNone/>
            </a:pPr>
            <a:r>
              <a:rPr sz="2800"/>
              <a:t>Plus courte, plus lisible, et sans risque de déborder</a:t>
            </a:r>
          </a:p>
        </p:txBody>
      </p:sp>
      <p:sp>
        <p:nvSpPr>
          <p:cNvPr id="4" name="Code"/>
          <p:cNvSpPr txBox="1"/>
          <p:nvPr/>
        </p:nvSpPr>
        <p:spPr>
          <a:xfrm>
            <a:off x="4127500" y="2753360"/>
            <a:ext cx="39370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v : tab)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(v);</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Laquelle choisir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Vous lisez seulement → </a:t>
            </a:r>
            <a:r>
              <a:rPr sz="2400">
                <a:solidFill>
                  <a:schemeClr val="accent4"/>
                </a:solidFill>
                <a:latin typeface="Consolas"/>
              </a:rPr>
              <a:t>for-each</a:t>
            </a:r>
          </a:p>
          <a:p>
            <a:pPr marL="0" indent="0">
              <a:spcAft>
                <a:spcPts val="1000"/>
              </a:spcAft>
              <a:buNone/>
            </a:pPr>
            <a:r>
              <a:rPr sz="2800"/>
              <a:t>Vous écrivez dans le tableau → boucle indexée</a:t>
            </a:r>
          </a:p>
          <a:p>
            <a:pPr marL="0" indent="0">
              <a:spcAft>
                <a:spcPts val="1000"/>
              </a:spcAft>
              <a:buNone/>
            </a:pPr>
            <a:r>
              <a:rPr sz="2800"/>
              <a:t>Vous avez besoin de la position → boucle indexée</a:t>
            </a:r>
          </a:p>
          <a:p>
            <a:pPr marL="0" indent="0">
              <a:spcAft>
                <a:spcPts val="1000"/>
              </a:spcAft>
              <a:buNone/>
            </a:pPr>
            <a:r>
              <a:rPr sz="2800"/>
              <a:t>Dans le doute, </a:t>
            </a:r>
            <a:r>
              <a:rPr sz="2400">
                <a:solidFill>
                  <a:schemeClr val="accent4"/>
                </a:solidFill>
                <a:latin typeface="Consolas"/>
              </a:rPr>
              <a:t>for-each</a:t>
            </a:r>
            <a:r>
              <a:rPr sz="2800"/>
              <a:t> : c'est celle qui se relit le mieux</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boucles imbriquées</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La boucle extérieure parcourt les lignes, l'intérieure les cases</a:t>
            </a:r>
          </a:p>
          <a:p>
            <a:pPr marL="0" indent="0">
              <a:spcAft>
                <a:spcPts val="1000"/>
              </a:spcAft>
              <a:buNone/>
            </a:pPr>
            <a:r>
              <a:rPr sz="2800"/>
              <a:t>Un compteur qui traverse les deux se déclare </a:t>
            </a:r>
            <a:r>
              <a:rPr sz="2800" b="1"/>
              <a:t>avant</a:t>
            </a:r>
            <a:r>
              <a:rPr sz="2800"/>
              <a:t> la première</a:t>
            </a:r>
          </a:p>
        </p:txBody>
      </p:sp>
      <p:sp>
        <p:nvSpPr>
          <p:cNvPr id="4" name="Code"/>
          <p:cNvSpPr txBox="1"/>
          <p:nvPr/>
        </p:nvSpPr>
        <p:spPr>
          <a:xfrm>
            <a:off x="3079750" y="3606800"/>
            <a:ext cx="60325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valeur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ligne = </a:t>
            </a:r>
            <a:r>
              <a:rPr sz="1800">
                <a:solidFill>
                  <a:srgbClr val="2AACB8"/>
                </a:solidFill>
                <a:latin typeface="Consolas"/>
              </a:rPr>
              <a:t>0</a:t>
            </a:r>
            <a:r>
              <a:rPr sz="1800">
                <a:solidFill>
                  <a:srgbClr val="BCBEC4"/>
                </a:solidFill>
                <a:latin typeface="Consolas"/>
              </a:rPr>
              <a:t>; ligne &lt; n; ligne++)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col = </a:t>
            </a:r>
            <a:r>
              <a:rPr sz="1800">
                <a:solidFill>
                  <a:srgbClr val="2AACB8"/>
                </a:solidFill>
                <a:latin typeface="Consolas"/>
              </a:rPr>
              <a:t>0</a:t>
            </a:r>
            <a:r>
              <a:rPr sz="1800">
                <a:solidFill>
                  <a:srgbClr val="BCBEC4"/>
                </a:solidFill>
                <a:latin typeface="Consolas"/>
              </a:rPr>
              <a:t>; col &lt; n; col++) {</a:t>
            </a:r>
          </a:p>
          <a:p>
            <a:pPr>
              <a:lnSpc>
                <a:spcPct val="100000"/>
              </a:lnSpc>
              <a:spcBef>
                <a:spcPts val="0"/>
              </a:spcBef>
              <a:spcAft>
                <a:spcPts val="0"/>
              </a:spcAft>
            </a:pPr>
            <a:r>
              <a:rPr sz="1800">
                <a:solidFill>
                  <a:srgbClr val="BCBEC4"/>
                </a:solidFill>
                <a:latin typeface="Consolas"/>
              </a:rPr>
              <a:t>        matrice[ligne][col] = valeur;</a:t>
            </a:r>
          </a:p>
          <a:p>
            <a:pPr>
              <a:lnSpc>
                <a:spcPct val="100000"/>
              </a:lnSpc>
              <a:spcBef>
                <a:spcPts val="0"/>
              </a:spcBef>
              <a:spcAft>
                <a:spcPts val="0"/>
              </a:spcAft>
            </a:pPr>
            <a:r>
              <a:rPr sz="1800">
                <a:solidFill>
                  <a:srgbClr val="BCBEC4"/>
                </a:solidFill>
                <a:latin typeface="Consolas"/>
              </a:rPr>
              <a:t>        valeur = valeur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TAB.1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matrice carrée</a:t>
            </a:r>
          </a:p>
          <a:p>
            <a:r>
              <a:rPr sz="1400">
                <a:solidFill>
                  <a:srgbClr val="BCBEC4"/>
                </a:solidFill>
              </a:rPr>
              <a:t>fascicule TAB</a:t>
            </a:r>
          </a:p>
        </p:txBody>
      </p:sp>
      <p:sp>
        <p:nvSpPr>
          <p:cNvPr id="6" name="TextBox 5"/>
          <p:cNvSpPr txBox="1"/>
          <p:nvPr/>
        </p:nvSpPr>
        <p:spPr>
          <a:xfrm>
            <a:off x="640080" y="2651760"/>
            <a:ext cx="9326880" cy="822960"/>
          </a:xfrm>
          <a:prstGeom prst="rect">
            <a:avLst/>
          </a:prstGeom>
          <a:noFill/>
        </p:spPr>
        <p:txBody>
          <a:bodyPr wrap="square">
            <a:spAutoFit/>
          </a:bodyPr>
          <a:lstStyle/>
          <a:p>
            <a:r>
              <a:rPr sz="1500">
                <a:solidFill>
                  <a:schemeClr val="accent4"/>
                </a:solidFill>
                <a:latin typeface="Consolas"/>
              </a:rPr>
              <a:t>carree</a:t>
            </a:r>
            <a:r>
              <a:rPr sz="1800"/>
              <a:t> construit, </a:t>
            </a:r>
            <a:r>
              <a:rPr sz="1500">
                <a:solidFill>
                  <a:schemeClr val="accent4"/>
                </a:solidFill>
                <a:latin typeface="Consolas"/>
              </a:rPr>
              <a:t>enTexte</a:t>
            </a:r>
            <a:r>
              <a:rPr sz="1800"/>
              <a:t> met en forme, aucune des deux n'affiche</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3.jpg"/>
          <p:cNvPicPr>
            <a:picLocks noChangeAspect="1"/>
          </p:cNvPicPr>
          <p:nvPr/>
        </p:nvPicPr>
        <p:blipFill>
          <a:blip r:embed="rId3"/>
          <a:stretch>
            <a:fillRect/>
          </a:stretch>
        </p:blipFill>
        <p:spPr>
          <a:xfrm>
            <a:off x="1" y="0"/>
            <a:ext cx="1231946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542361"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Lignes de tailles différentes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14</a:t>
            </a:fld>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 tableau de tableaux, en image</a:t>
            </a:r>
          </a:p>
        </p:txBody>
      </p:sp>
      <p:sp>
        <p:nvSpPr>
          <p:cNvPr id="3" name="Content Placeholder 2"/>
          <p:cNvSpPr>
            <a:spLocks noGrp="1"/>
          </p:cNvSpPr>
          <p:nvPr>
            <p:ph idx="1"/>
          </p:nvPr>
        </p:nvSpPr>
        <p:spPr>
          <a:xfrm>
            <a:off x="640080" y="1371600"/>
            <a:ext cx="10881360" cy="576000"/>
          </a:xfrm>
        </p:spPr>
        <p:txBody>
          <a:bodyPr/>
          <a:lstStyle/>
          <a:p>
            <a:pPr marL="0" indent="0">
              <a:buNone/>
            </a:pPr>
            <a:r>
              <a:rPr sz="2400"/>
              <a:t>Chaque case contient un tableau, de la longueur qu'on veut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3. Des lignes inégales</a:t>
            </a:r>
          </a:p>
        </p:txBody>
      </p:sp>
      <p:sp>
        <p:nvSpPr>
          <p:cNvPr id="7" name="Rounded Rectangle 6"/>
          <p:cNvSpPr/>
          <p:nvPr/>
        </p:nvSpPr>
        <p:spPr>
          <a:xfrm>
            <a:off x="2722814" y="2000146"/>
            <a:ext cx="6746372" cy="3816000"/>
          </a:xfrm>
          <a:prstGeom prst="roundRect">
            <a:avLst>
              <a:gd name="adj" fmla="val 3000"/>
            </a:avLst>
          </a:prstGeom>
          <a:solidFill>
            <a:srgbClr val="1D1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98814" y="2072146"/>
            <a:ext cx="2160000" cy="360000"/>
          </a:xfrm>
          <a:prstGeom prst="rect">
            <a:avLst/>
          </a:prstGeom>
          <a:noFill/>
        </p:spPr>
        <p:txBody>
          <a:bodyPr wrap="none">
            <a:spAutoFit/>
          </a:bodyPr>
          <a:lstStyle/>
          <a:p>
            <a:r>
              <a:rPr sz="1600">
                <a:solidFill>
                  <a:srgbClr val="E8BA36"/>
                </a:solidFill>
                <a:latin typeface="Consolas"/>
              </a:rPr>
              <a:t>tab</a:t>
            </a:r>
          </a:p>
        </p:txBody>
      </p:sp>
      <p:sp>
        <p:nvSpPr>
          <p:cNvPr id="9" name="TextBox 8"/>
          <p:cNvSpPr txBox="1"/>
          <p:nvPr/>
        </p:nvSpPr>
        <p:spPr>
          <a:xfrm>
            <a:off x="4954814" y="2072146"/>
            <a:ext cx="4201061" cy="338554"/>
          </a:xfrm>
          <a:prstGeom prst="rect">
            <a:avLst/>
          </a:prstGeom>
          <a:noFill/>
        </p:spPr>
        <p:txBody>
          <a:bodyPr wrap="square">
            <a:spAutoFit/>
          </a:bodyPr>
          <a:lstStyle/>
          <a:p>
            <a:r>
              <a:rPr sz="1600">
                <a:solidFill>
                  <a:srgbClr val="E8BA36"/>
                </a:solidFill>
                <a:latin typeface="Consolas"/>
              </a:rPr>
              <a:t>tab[i] : un int[] à part entière</a:t>
            </a:r>
          </a:p>
        </p:txBody>
      </p:sp>
      <p:sp>
        <p:nvSpPr>
          <p:cNvPr id="10" name="Rectangle 9"/>
          <p:cNvSpPr/>
          <p:nvPr/>
        </p:nvSpPr>
        <p:spPr>
          <a:xfrm>
            <a:off x="3298814" y="2468146"/>
            <a:ext cx="792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[0]</a:t>
            </a:r>
          </a:p>
        </p:txBody>
      </p:sp>
      <p:cxnSp>
        <p:nvCxnSpPr>
          <p:cNvPr id="11" name="Connector 10"/>
          <p:cNvCxnSpPr/>
          <p:nvPr/>
        </p:nvCxnSpPr>
        <p:spPr>
          <a:xfrm>
            <a:off x="4198814" y="2693146"/>
            <a:ext cx="648000" cy="0"/>
          </a:xfrm>
          <a:prstGeom prst="line">
            <a:avLst/>
          </a:prstGeom>
          <a:ln w="25400">
            <a:solidFill>
              <a:srgbClr val="CF8E6D"/>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954814" y="24681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[0]</a:t>
            </a:r>
          </a:p>
        </p:txBody>
      </p:sp>
      <p:sp>
        <p:nvSpPr>
          <p:cNvPr id="13" name="Rectangle 12"/>
          <p:cNvSpPr/>
          <p:nvPr/>
        </p:nvSpPr>
        <p:spPr>
          <a:xfrm>
            <a:off x="5530814" y="24681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[1]</a:t>
            </a:r>
          </a:p>
        </p:txBody>
      </p:sp>
      <p:sp>
        <p:nvSpPr>
          <p:cNvPr id="14" name="Rectangle 13"/>
          <p:cNvSpPr/>
          <p:nvPr/>
        </p:nvSpPr>
        <p:spPr>
          <a:xfrm>
            <a:off x="6106814" y="24681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[2]</a:t>
            </a:r>
          </a:p>
        </p:txBody>
      </p:sp>
      <p:sp>
        <p:nvSpPr>
          <p:cNvPr id="15" name="Rectangle 14"/>
          <p:cNvSpPr/>
          <p:nvPr/>
        </p:nvSpPr>
        <p:spPr>
          <a:xfrm>
            <a:off x="3298814" y="2997346"/>
            <a:ext cx="792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[1]</a:t>
            </a:r>
          </a:p>
        </p:txBody>
      </p:sp>
      <p:cxnSp>
        <p:nvCxnSpPr>
          <p:cNvPr id="16" name="Connector 15"/>
          <p:cNvCxnSpPr/>
          <p:nvPr/>
        </p:nvCxnSpPr>
        <p:spPr>
          <a:xfrm>
            <a:off x="4198814" y="3222346"/>
            <a:ext cx="648000" cy="0"/>
          </a:xfrm>
          <a:prstGeom prst="line">
            <a:avLst/>
          </a:prstGeom>
          <a:ln w="25400">
            <a:solidFill>
              <a:srgbClr val="CF8E6D"/>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954814" y="29973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[0]</a:t>
            </a:r>
          </a:p>
        </p:txBody>
      </p:sp>
      <p:sp>
        <p:nvSpPr>
          <p:cNvPr id="18" name="Rectangle 17"/>
          <p:cNvSpPr/>
          <p:nvPr/>
        </p:nvSpPr>
        <p:spPr>
          <a:xfrm>
            <a:off x="5530814" y="29973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[1]</a:t>
            </a:r>
          </a:p>
        </p:txBody>
      </p:sp>
      <p:sp>
        <p:nvSpPr>
          <p:cNvPr id="19" name="Rectangle 18"/>
          <p:cNvSpPr/>
          <p:nvPr/>
        </p:nvSpPr>
        <p:spPr>
          <a:xfrm>
            <a:off x="6106814" y="29973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[2]</a:t>
            </a:r>
          </a:p>
        </p:txBody>
      </p:sp>
      <p:sp>
        <p:nvSpPr>
          <p:cNvPr id="20" name="Rectangle 19"/>
          <p:cNvSpPr/>
          <p:nvPr/>
        </p:nvSpPr>
        <p:spPr>
          <a:xfrm>
            <a:off x="6682814" y="29973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[3]</a:t>
            </a:r>
          </a:p>
        </p:txBody>
      </p:sp>
      <p:sp>
        <p:nvSpPr>
          <p:cNvPr id="21" name="Rectangle 20"/>
          <p:cNvSpPr/>
          <p:nvPr/>
        </p:nvSpPr>
        <p:spPr>
          <a:xfrm>
            <a:off x="7258814" y="29973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[4]</a:t>
            </a:r>
          </a:p>
        </p:txBody>
      </p:sp>
      <p:sp>
        <p:nvSpPr>
          <p:cNvPr id="22" name="Rectangle 21"/>
          <p:cNvSpPr/>
          <p:nvPr/>
        </p:nvSpPr>
        <p:spPr>
          <a:xfrm>
            <a:off x="3298814" y="3526546"/>
            <a:ext cx="792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[2]</a:t>
            </a:r>
          </a:p>
        </p:txBody>
      </p:sp>
      <p:cxnSp>
        <p:nvCxnSpPr>
          <p:cNvPr id="23" name="Connector 22"/>
          <p:cNvCxnSpPr/>
          <p:nvPr/>
        </p:nvCxnSpPr>
        <p:spPr>
          <a:xfrm>
            <a:off x="4198814" y="3751546"/>
            <a:ext cx="648000" cy="0"/>
          </a:xfrm>
          <a:prstGeom prst="line">
            <a:avLst/>
          </a:prstGeom>
          <a:ln w="25400">
            <a:solidFill>
              <a:srgbClr val="CF8E6D"/>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954814" y="35265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[0]</a:t>
            </a:r>
          </a:p>
        </p:txBody>
      </p:sp>
      <p:sp>
        <p:nvSpPr>
          <p:cNvPr id="25" name="Rectangle 24"/>
          <p:cNvSpPr/>
          <p:nvPr/>
        </p:nvSpPr>
        <p:spPr>
          <a:xfrm>
            <a:off x="5530814" y="35265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[1]</a:t>
            </a:r>
          </a:p>
        </p:txBody>
      </p:sp>
      <p:sp>
        <p:nvSpPr>
          <p:cNvPr id="26" name="Rectangle 25"/>
          <p:cNvSpPr/>
          <p:nvPr/>
        </p:nvSpPr>
        <p:spPr>
          <a:xfrm>
            <a:off x="6106814" y="35265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[2]</a:t>
            </a:r>
          </a:p>
        </p:txBody>
      </p:sp>
      <p:sp>
        <p:nvSpPr>
          <p:cNvPr id="27" name="Rectangle 26"/>
          <p:cNvSpPr/>
          <p:nvPr/>
        </p:nvSpPr>
        <p:spPr>
          <a:xfrm>
            <a:off x="6682814" y="35265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[3]</a:t>
            </a:r>
          </a:p>
        </p:txBody>
      </p:sp>
      <p:sp>
        <p:nvSpPr>
          <p:cNvPr id="28" name="Rectangle 27"/>
          <p:cNvSpPr/>
          <p:nvPr/>
        </p:nvSpPr>
        <p:spPr>
          <a:xfrm>
            <a:off x="7258814" y="35265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[4]</a:t>
            </a:r>
          </a:p>
        </p:txBody>
      </p:sp>
      <p:sp>
        <p:nvSpPr>
          <p:cNvPr id="29" name="Rectangle 28"/>
          <p:cNvSpPr/>
          <p:nvPr/>
        </p:nvSpPr>
        <p:spPr>
          <a:xfrm>
            <a:off x="7834814" y="35265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[5]</a:t>
            </a:r>
          </a:p>
        </p:txBody>
      </p:sp>
      <p:sp>
        <p:nvSpPr>
          <p:cNvPr id="30" name="Rectangle 29"/>
          <p:cNvSpPr/>
          <p:nvPr/>
        </p:nvSpPr>
        <p:spPr>
          <a:xfrm>
            <a:off x="3298814" y="4055746"/>
            <a:ext cx="792000" cy="450000"/>
          </a:xfrm>
          <a:prstGeom prst="rect">
            <a:avLst/>
          </a:prstGeom>
          <a:solidFill>
            <a:srgbClr val="1D1F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a:solidFill>
                  <a:srgbClr val="BCBEC4"/>
                </a:solidFill>
                <a:latin typeface="Consolas"/>
              </a:rPr>
              <a:t>⋮</a:t>
            </a:r>
          </a:p>
        </p:txBody>
      </p:sp>
      <p:sp>
        <p:nvSpPr>
          <p:cNvPr id="31" name="Rectangle 30"/>
          <p:cNvSpPr/>
          <p:nvPr/>
        </p:nvSpPr>
        <p:spPr>
          <a:xfrm>
            <a:off x="4954814" y="4055746"/>
            <a:ext cx="1728000" cy="450000"/>
          </a:xfrm>
          <a:prstGeom prst="rect">
            <a:avLst/>
          </a:prstGeom>
          <a:solidFill>
            <a:srgbClr val="1D1F2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a:solidFill>
                  <a:srgbClr val="BCBEC4"/>
                </a:solidFill>
                <a:latin typeface="Consolas"/>
              </a:rPr>
              <a:t>…</a:t>
            </a:r>
          </a:p>
        </p:txBody>
      </p:sp>
      <p:sp>
        <p:nvSpPr>
          <p:cNvPr id="32" name="Rectangle 31"/>
          <p:cNvSpPr/>
          <p:nvPr/>
        </p:nvSpPr>
        <p:spPr>
          <a:xfrm>
            <a:off x="3298814" y="4584946"/>
            <a:ext cx="792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[n-1]</a:t>
            </a:r>
          </a:p>
        </p:txBody>
      </p:sp>
      <p:cxnSp>
        <p:nvCxnSpPr>
          <p:cNvPr id="33" name="Connector 32"/>
          <p:cNvCxnSpPr/>
          <p:nvPr/>
        </p:nvCxnSpPr>
        <p:spPr>
          <a:xfrm>
            <a:off x="4198814" y="4809946"/>
            <a:ext cx="648000" cy="0"/>
          </a:xfrm>
          <a:prstGeom prst="line">
            <a:avLst/>
          </a:prstGeom>
          <a:ln w="25400">
            <a:solidFill>
              <a:srgbClr val="CF8E6D"/>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4954814" y="45849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[0]</a:t>
            </a:r>
          </a:p>
        </p:txBody>
      </p:sp>
      <p:sp>
        <p:nvSpPr>
          <p:cNvPr id="35" name="Rectangle 34"/>
          <p:cNvSpPr/>
          <p:nvPr/>
        </p:nvSpPr>
        <p:spPr>
          <a:xfrm>
            <a:off x="5530814" y="45849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[1]</a:t>
            </a:r>
          </a:p>
        </p:txBody>
      </p:sp>
      <p:sp>
        <p:nvSpPr>
          <p:cNvPr id="36" name="Rectangle 35"/>
          <p:cNvSpPr/>
          <p:nvPr/>
        </p:nvSpPr>
        <p:spPr>
          <a:xfrm>
            <a:off x="3298814" y="5114146"/>
            <a:ext cx="792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[n]</a:t>
            </a:r>
          </a:p>
        </p:txBody>
      </p:sp>
      <p:cxnSp>
        <p:nvCxnSpPr>
          <p:cNvPr id="37" name="Connector 36"/>
          <p:cNvCxnSpPr/>
          <p:nvPr/>
        </p:nvCxnSpPr>
        <p:spPr>
          <a:xfrm>
            <a:off x="4198814" y="5339146"/>
            <a:ext cx="648000" cy="0"/>
          </a:xfrm>
          <a:prstGeom prst="line">
            <a:avLst/>
          </a:prstGeom>
          <a:ln w="25400">
            <a:solidFill>
              <a:srgbClr val="CF8E6D"/>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4954814" y="51141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[0]</a:t>
            </a:r>
          </a:p>
        </p:txBody>
      </p:sp>
      <p:sp>
        <p:nvSpPr>
          <p:cNvPr id="39" name="Rectangle 38"/>
          <p:cNvSpPr/>
          <p:nvPr/>
        </p:nvSpPr>
        <p:spPr>
          <a:xfrm>
            <a:off x="5530814" y="51141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[1]</a:t>
            </a:r>
          </a:p>
        </p:txBody>
      </p:sp>
      <p:sp>
        <p:nvSpPr>
          <p:cNvPr id="40" name="Rectangle 39"/>
          <p:cNvSpPr/>
          <p:nvPr/>
        </p:nvSpPr>
        <p:spPr>
          <a:xfrm>
            <a:off x="6106814" y="51141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[2]</a:t>
            </a:r>
          </a:p>
        </p:txBody>
      </p:sp>
      <p:sp>
        <p:nvSpPr>
          <p:cNvPr id="41" name="Rectangle 40"/>
          <p:cNvSpPr/>
          <p:nvPr/>
        </p:nvSpPr>
        <p:spPr>
          <a:xfrm>
            <a:off x="6682814" y="51141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[3]</a:t>
            </a:r>
          </a:p>
        </p:txBody>
      </p:sp>
      <p:sp>
        <p:nvSpPr>
          <p:cNvPr id="42" name="Rectangle 41"/>
          <p:cNvSpPr/>
          <p:nvPr/>
        </p:nvSpPr>
        <p:spPr>
          <a:xfrm>
            <a:off x="7258814" y="5114146"/>
            <a:ext cx="576000" cy="450000"/>
          </a:xfrm>
          <a:prstGeom prst="rect">
            <a:avLst/>
          </a:prstGeom>
          <a:solidFill>
            <a:srgbClr val="2B2D30"/>
          </a:solidFill>
          <a:ln w="12700">
            <a:solidFill>
              <a:srgbClr val="6F737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solidFill>
                  <a:srgbClr val="BCBEC4"/>
                </a:solidFill>
                <a:latin typeface="Consolas"/>
              </a:rPr>
              <a:t>[4]</a:t>
            </a:r>
          </a:p>
        </p:txBody>
      </p:sp>
      <p:sp>
        <p:nvSpPr>
          <p:cNvPr id="43" name="Bulle rectangulaire à coins arrondis 42">
            <a:extLst>
              <a:ext uri="{FF2B5EF4-FFF2-40B4-BE49-F238E27FC236}">
                <a16:creationId xmlns:a16="http://schemas.microsoft.com/office/drawing/2014/main" id="{2E3D8E84-D5B6-4ACE-0051-15A64CD4DE68}"/>
              </a:ext>
            </a:extLst>
          </p:cNvPr>
          <p:cNvSpPr/>
          <p:nvPr/>
        </p:nvSpPr>
        <p:spPr>
          <a:xfrm>
            <a:off x="7445829" y="4322618"/>
            <a:ext cx="1282536" cy="450000"/>
          </a:xfrm>
          <a:prstGeom prst="wedgeRoundRectCallout">
            <a:avLst>
              <a:gd name="adj1" fmla="val -35298"/>
              <a:gd name="adj2" fmla="val -129763"/>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4"/>
                </a:solidFill>
              </a:rPr>
              <a:t>tab[2][4]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les lignes une par une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400">
                <a:solidFill>
                  <a:schemeClr val="accent4"/>
                </a:solidFill>
                <a:latin typeface="Consolas"/>
              </a:rPr>
              <a:t>new int[n][]</a:t>
            </a:r>
            <a:r>
              <a:rPr sz="2800"/>
              <a:t> : le nombre de lignes seulement</a:t>
            </a:r>
          </a:p>
          <a:p>
            <a:pPr marL="0" indent="0">
              <a:spcAft>
                <a:spcPts val="1000"/>
              </a:spcAft>
              <a:buNone/>
            </a:pPr>
            <a:r>
              <a:rPr sz="2800"/>
              <a:t>Chaque ligne reçoit ensuite sa propre taille</a:t>
            </a:r>
          </a:p>
          <a:p>
            <a:pPr marL="0" indent="0">
              <a:spcAft>
                <a:spcPts val="1000"/>
              </a:spcAft>
              <a:buNone/>
            </a:pPr>
            <a:r>
              <a:rPr sz="2800"/>
              <a:t>Tant qu'une ligne n'est pas créée, elle vaut </a:t>
            </a:r>
            <a:r>
              <a:rPr sz="2400">
                <a:solidFill>
                  <a:schemeClr val="accent4"/>
                </a:solidFill>
                <a:latin typeface="Consolas"/>
              </a:rPr>
              <a:t>null</a:t>
            </a:r>
          </a:p>
        </p:txBody>
      </p:sp>
      <p:sp>
        <p:nvSpPr>
          <p:cNvPr id="4" name="Code"/>
          <p:cNvSpPr txBox="1"/>
          <p:nvPr/>
        </p:nvSpPr>
        <p:spPr>
          <a:xfrm>
            <a:off x="3638550" y="3307080"/>
            <a:ext cx="49149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triangle = </a:t>
            </a:r>
            <a:r>
              <a:rPr sz="1800">
                <a:solidFill>
                  <a:srgbClr val="CF8E6D"/>
                </a:solidFill>
                <a:latin typeface="Consolas"/>
              </a:rPr>
              <a:t>new</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2AACB8"/>
                </a:solidFill>
                <a:latin typeface="Consolas"/>
              </a:rPr>
              <a:t>0</a:t>
            </a:r>
            <a:r>
              <a:rPr sz="1800">
                <a:solidFill>
                  <a:srgbClr val="BCBEC4"/>
                </a:solidFill>
                <a:latin typeface="Consolas"/>
              </a:rPr>
              <a:t>; i &lt; n; i++) {</a:t>
            </a:r>
          </a:p>
          <a:p>
            <a:pPr>
              <a:lnSpc>
                <a:spcPct val="100000"/>
              </a:lnSpc>
              <a:spcBef>
                <a:spcPts val="0"/>
              </a:spcBef>
              <a:spcAft>
                <a:spcPts val="0"/>
              </a:spcAft>
            </a:pPr>
            <a:r>
              <a:rPr sz="1800">
                <a:solidFill>
                  <a:srgbClr val="BCBEC4"/>
                </a:solidFill>
                <a:latin typeface="Consolas"/>
              </a:rPr>
              <a:t>    triangle[i] = </a:t>
            </a:r>
            <a:r>
              <a:rPr sz="1800">
                <a:solidFill>
                  <a:srgbClr val="CF8E6D"/>
                </a:solidFill>
                <a:latin typeface="Consolas"/>
              </a:rPr>
              <a:t>new</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[i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3. Des lignes inégales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TAB.2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 triangle de Pascal</a:t>
            </a:r>
          </a:p>
          <a:p>
            <a:r>
              <a:rPr sz="1400">
                <a:solidFill>
                  <a:srgbClr val="BCBEC4"/>
                </a:solidFill>
              </a:rPr>
              <a:t>fascicule TAB</a:t>
            </a:r>
          </a:p>
        </p:txBody>
      </p:sp>
      <p:sp>
        <p:nvSpPr>
          <p:cNvPr id="6" name="TextBox 5"/>
          <p:cNvSpPr txBox="1"/>
          <p:nvPr/>
        </p:nvSpPr>
        <p:spPr>
          <a:xfrm>
            <a:off x="640080" y="2651760"/>
            <a:ext cx="9326880" cy="822960"/>
          </a:xfrm>
          <a:prstGeom prst="rect">
            <a:avLst/>
          </a:prstGeom>
          <a:noFill/>
        </p:spPr>
        <p:txBody>
          <a:bodyPr wrap="square">
            <a:spAutoFit/>
          </a:bodyPr>
          <a:lstStyle/>
          <a:p>
            <a:r>
              <a:rPr sz="2400"/>
              <a:t>Deux boucles </a:t>
            </a:r>
            <a:r>
              <a:rPr sz="2000">
                <a:solidFill>
                  <a:schemeClr val="accent4"/>
                </a:solidFill>
                <a:latin typeface="Consolas"/>
              </a:rPr>
              <a:t>for-each</a:t>
            </a:r>
            <a:r>
              <a:rPr sz="2400"/>
              <a:t> imbriquées pour l'affichage</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3. Des lignes inégales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4.jpg"/>
          <p:cNvPicPr>
            <a:picLocks noChangeAspect="1"/>
          </p:cNvPicPr>
          <p:nvPr/>
        </p:nvPicPr>
        <p:blipFill>
          <a:blip r:embed="rId3"/>
          <a:stretch>
            <a:fillRect/>
          </a:stretch>
        </p:blipFill>
        <p:spPr>
          <a:xfrm>
            <a:off x="1" y="-1"/>
            <a:ext cx="12319460" cy="6858001"/>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964726"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L'opérateur ternaire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18</a:t>
            </a:fld>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syntaxe</a:t>
            </a:r>
          </a:p>
        </p:txBody>
      </p:sp>
      <p:sp>
        <p:nvSpPr>
          <p:cNvPr id="3" name="Content Placeholder 2"/>
          <p:cNvSpPr>
            <a:spLocks noGrp="1"/>
          </p:cNvSpPr>
          <p:nvPr>
            <p:ph idx="1"/>
          </p:nvPr>
        </p:nvSpPr>
        <p:spPr>
          <a:xfrm>
            <a:off x="640080" y="1371600"/>
            <a:ext cx="10881360" cy="690880"/>
          </a:xfrm>
        </p:spPr>
        <p:txBody>
          <a:bodyPr/>
          <a:lstStyle/>
          <a:p>
            <a:pPr marL="0" indent="0">
              <a:spcAft>
                <a:spcPts val="1000"/>
              </a:spcAft>
              <a:buNone/>
            </a:pPr>
            <a:r>
              <a:rPr sz="2800"/>
              <a:t>Une condition, deux valeurs</a:t>
            </a:r>
          </a:p>
        </p:txBody>
      </p:sp>
      <p:sp>
        <p:nvSpPr>
          <p:cNvPr id="4" name="Code"/>
          <p:cNvSpPr txBox="1"/>
          <p:nvPr/>
        </p:nvSpPr>
        <p:spPr>
          <a:xfrm>
            <a:off x="3219450" y="2199640"/>
            <a:ext cx="57531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condition ? valeurSiVrai : valeurSiFaux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max</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a, </a:t>
            </a:r>
            <a:r>
              <a:rPr sz="1800">
                <a:solidFill>
                  <a:srgbClr val="CF8E6D"/>
                </a:solidFill>
                <a:latin typeface="Consolas"/>
              </a:rPr>
              <a:t>int</a:t>
            </a:r>
            <a:r>
              <a:rPr sz="1800">
                <a:solidFill>
                  <a:srgbClr val="BCBEC4"/>
                </a:solidFill>
                <a:latin typeface="Consolas"/>
              </a:rPr>
              <a:t> b)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 &gt; b ? a : b;</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qu'un </a:t>
            </a:r>
            <a:r>
              <a:rPr sz="3600">
                <a:solidFill>
                  <a:schemeClr val="accent4"/>
                </a:solidFill>
                <a:latin typeface="Consolas"/>
              </a:rPr>
              <a:t>if</a:t>
            </a:r>
            <a:r>
              <a:rPr sz="4000"/>
              <a:t> ne permet pas</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dirty="0"/>
              <a:t>Le </a:t>
            </a:r>
            <a:r>
              <a:rPr sz="2800" dirty="0" err="1"/>
              <a:t>ternaire</a:t>
            </a:r>
            <a:r>
              <a:rPr sz="2800" dirty="0"/>
              <a:t> </a:t>
            </a:r>
            <a:r>
              <a:rPr sz="2800" b="1" dirty="0" err="1"/>
              <a:t>retourne</a:t>
            </a:r>
            <a:r>
              <a:rPr sz="2800" b="1" dirty="0"/>
              <a:t> </a:t>
            </a:r>
            <a:r>
              <a:rPr sz="2800" b="1" dirty="0" err="1"/>
              <a:t>une</a:t>
            </a:r>
            <a:r>
              <a:rPr sz="2800" b="1" dirty="0"/>
              <a:t> </a:t>
            </a:r>
            <a:r>
              <a:rPr sz="2800" b="1" dirty="0" err="1"/>
              <a:t>valeur</a:t>
            </a:r>
            <a:r>
              <a:rPr sz="2800" dirty="0"/>
              <a:t> ; le </a:t>
            </a:r>
            <a:r>
              <a:rPr sz="2400" dirty="0">
                <a:solidFill>
                  <a:schemeClr val="accent4"/>
                </a:solidFill>
                <a:latin typeface="Consolas"/>
              </a:rPr>
              <a:t>if</a:t>
            </a:r>
            <a:r>
              <a:rPr sz="2800" dirty="0"/>
              <a:t> ne </a:t>
            </a:r>
            <a:r>
              <a:rPr sz="2800" dirty="0" err="1"/>
              <a:t>retourne</a:t>
            </a:r>
            <a:r>
              <a:rPr sz="2800" dirty="0"/>
              <a:t> rien</a:t>
            </a:r>
          </a:p>
          <a:p>
            <a:pPr marL="0" indent="0">
              <a:spcAft>
                <a:spcPts val="1000"/>
              </a:spcAft>
              <a:buNone/>
            </a:pPr>
            <a:r>
              <a:rPr sz="2800" dirty="0"/>
              <a:t>Il se place </a:t>
            </a:r>
            <a:r>
              <a:rPr sz="2800" dirty="0" err="1"/>
              <a:t>donc</a:t>
            </a:r>
            <a:r>
              <a:rPr sz="2800" dirty="0"/>
              <a:t> à droite d'un </a:t>
            </a:r>
            <a:r>
              <a:rPr sz="2400" dirty="0">
                <a:solidFill>
                  <a:schemeClr val="accent4"/>
                </a:solidFill>
                <a:latin typeface="Consolas"/>
              </a:rPr>
              <a:t>return</a:t>
            </a:r>
            <a:r>
              <a:rPr sz="2800" dirty="0"/>
              <a:t> </a:t>
            </a:r>
            <a:r>
              <a:rPr sz="2800" dirty="0" err="1"/>
              <a:t>ou</a:t>
            </a:r>
            <a:r>
              <a:rPr sz="2800" dirty="0"/>
              <a:t> </a:t>
            </a:r>
            <a:r>
              <a:rPr sz="2800" dirty="0" err="1"/>
              <a:t>d'une</a:t>
            </a:r>
            <a:r>
              <a:rPr sz="2800" dirty="0"/>
              <a:t> affectation</a:t>
            </a:r>
          </a:p>
        </p:txBody>
      </p:sp>
      <p:sp>
        <p:nvSpPr>
          <p:cNvPr id="4" name="Code"/>
          <p:cNvSpPr txBox="1"/>
          <p:nvPr/>
        </p:nvSpPr>
        <p:spPr>
          <a:xfrm>
            <a:off x="2381250" y="3606800"/>
            <a:ext cx="74295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plusGrand = a &gt; b ? a : b;      </a:t>
            </a:r>
            <a:r>
              <a:rPr sz="1800">
                <a:solidFill>
                  <a:srgbClr val="7A7E85"/>
                </a:solidFill>
                <a:latin typeface="Consolas"/>
              </a:rPr>
              <a:t>// possible</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plusGrand = </a:t>
            </a:r>
            <a:r>
              <a:rPr sz="1800">
                <a:solidFill>
                  <a:srgbClr val="CF8E6D"/>
                </a:solidFill>
                <a:latin typeface="Consolas"/>
              </a:rPr>
              <a:t>if</a:t>
            </a:r>
            <a:r>
              <a:rPr sz="1800">
                <a:solidFill>
                  <a:srgbClr val="BCBEC4"/>
                </a:solidFill>
                <a:latin typeface="Consolas"/>
              </a:rPr>
              <a:t> (a &gt; b) a; ...   </a:t>
            </a:r>
            <a:r>
              <a:rPr sz="1800">
                <a:solidFill>
                  <a:srgbClr val="7A7E85"/>
                </a:solidFill>
                <a:latin typeface="Consolas"/>
              </a:rPr>
              <a:t>// n'existe pas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booléen se retourne tel quel</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400" dirty="0">
                <a:solidFill>
                  <a:schemeClr val="accent4"/>
                </a:solidFill>
                <a:latin typeface="Consolas"/>
              </a:rPr>
              <a:t>a &gt; b</a:t>
            </a:r>
            <a:r>
              <a:rPr sz="2800" dirty="0"/>
              <a:t> est déjà un </a:t>
            </a:r>
            <a:r>
              <a:rPr sz="2800" dirty="0" err="1"/>
              <a:t>booléen</a:t>
            </a:r>
            <a:r>
              <a:rPr sz="2800" dirty="0"/>
              <a:t> : il se </a:t>
            </a:r>
            <a:r>
              <a:rPr sz="2800" dirty="0" err="1"/>
              <a:t>retourne</a:t>
            </a:r>
            <a:r>
              <a:rPr sz="2800" dirty="0"/>
              <a:t> </a:t>
            </a:r>
            <a:r>
              <a:rPr sz="2800" dirty="0" err="1"/>
              <a:t>tel</a:t>
            </a:r>
            <a:r>
              <a:rPr sz="2800" dirty="0"/>
              <a:t> </a:t>
            </a:r>
            <a:r>
              <a:rPr sz="2800" dirty="0" err="1"/>
              <a:t>quel</a:t>
            </a:r>
            <a:endParaRPr sz="2800" dirty="0"/>
          </a:p>
          <a:p>
            <a:pPr marL="0" indent="0">
              <a:spcAft>
                <a:spcPts val="1000"/>
              </a:spcAft>
              <a:buNone/>
            </a:pPr>
            <a:r>
              <a:rPr sz="2800" dirty="0"/>
              <a:t>Le </a:t>
            </a:r>
            <a:r>
              <a:rPr sz="2400" dirty="0">
                <a:solidFill>
                  <a:schemeClr val="accent4"/>
                </a:solidFill>
                <a:latin typeface="Consolas"/>
              </a:rPr>
              <a:t>if</a:t>
            </a:r>
            <a:r>
              <a:rPr sz="2800" dirty="0"/>
              <a:t>, et </a:t>
            </a:r>
            <a:r>
              <a:rPr sz="2800" dirty="0" err="1"/>
              <a:t>même</a:t>
            </a:r>
            <a:r>
              <a:rPr sz="2800" dirty="0"/>
              <a:t> le </a:t>
            </a:r>
            <a:r>
              <a:rPr sz="2800" dirty="0" err="1"/>
              <a:t>ternaire</a:t>
            </a:r>
            <a:r>
              <a:rPr sz="2800" dirty="0"/>
              <a:t> </a:t>
            </a:r>
            <a:r>
              <a:rPr sz="2400" dirty="0">
                <a:solidFill>
                  <a:schemeClr val="accent4"/>
                </a:solidFill>
                <a:latin typeface="Consolas"/>
              </a:rPr>
              <a:t>? true : false</a:t>
            </a:r>
            <a:r>
              <a:rPr sz="2800" dirty="0"/>
              <a:t>, </a:t>
            </a:r>
            <a:r>
              <a:rPr sz="2800" dirty="0" err="1"/>
              <a:t>n'y</a:t>
            </a:r>
            <a:r>
              <a:rPr sz="2800" dirty="0"/>
              <a:t> </a:t>
            </a:r>
            <a:r>
              <a:rPr sz="2800" dirty="0" err="1"/>
              <a:t>ajoutent</a:t>
            </a:r>
            <a:r>
              <a:rPr sz="2800" dirty="0"/>
              <a:t> rien</a:t>
            </a:r>
          </a:p>
        </p:txBody>
      </p:sp>
      <p:sp>
        <p:nvSpPr>
          <p:cNvPr id="4" name="Code"/>
          <p:cNvSpPr txBox="1"/>
          <p:nvPr/>
        </p:nvSpPr>
        <p:spPr>
          <a:xfrm>
            <a:off x="900000" y="3300000"/>
            <a:ext cx="4900000" cy="2000000"/>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trop verbeux</a:t>
            </a:r>
          </a:p>
          <a:p>
            <a:pPr>
              <a:lnSpc>
                <a:spcPct val="100000"/>
              </a:lnSpc>
              <a:spcBef>
                <a:spcPts val="0"/>
              </a:spcBef>
              <a:spcAft>
                <a:spcPts val="0"/>
              </a:spcAft>
            </a:pPr>
            <a:r>
              <a:rPr sz="1800">
                <a:solidFill>
                  <a:srgbClr val="CF8E6D"/>
                </a:solidFill>
                <a:latin typeface="Consolas"/>
              </a:rPr>
              <a:t>if</a:t>
            </a:r>
            <a:r>
              <a:rPr sz="1800">
                <a:solidFill>
                  <a:srgbClr val="BCBEC4"/>
                </a:solidFill>
                <a:latin typeface="Consolas"/>
              </a:rPr>
              <a:t> (a &gt; b)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CF8E6D"/>
                </a:solidFill>
                <a:latin typeface="Consolas"/>
              </a:rPr>
              <a:t>true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else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CF8E6D"/>
                </a:solidFill>
                <a:latin typeface="Consolas"/>
              </a:rPr>
              <a:t>false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
        <p:nvSpPr>
          <p:cNvPr id="7" name="Code"/>
          <p:cNvSpPr txBox="1"/>
          <p:nvPr/>
        </p:nvSpPr>
        <p:spPr>
          <a:xfrm>
            <a:off x="6300000" y="3300000"/>
            <a:ext cx="4900000" cy="800000"/>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direct</a:t>
            </a:r>
          </a:p>
          <a:p>
            <a:pPr>
              <a:lnSpc>
                <a:spcPct val="100000"/>
              </a:lnSpc>
              <a:spcBef>
                <a:spcPts val="0"/>
              </a:spcBef>
              <a:spcAft>
                <a:spcPts val="0"/>
              </a:spcAft>
            </a:pPr>
            <a:r>
              <a:rPr sz="1800">
                <a:solidFill>
                  <a:srgbClr val="CF8E6D"/>
                </a:solidFill>
                <a:latin typeface="Consolas"/>
              </a:rPr>
              <a:t>return</a:t>
            </a:r>
            <a:r>
              <a:rPr sz="1800">
                <a:solidFill>
                  <a:srgbClr val="BCBEC4"/>
                </a:solidFill>
                <a:latin typeface="Consolas"/>
              </a:rPr>
              <a:t> a &gt; 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s'arrête l'intérêt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Le </a:t>
            </a:r>
            <a:r>
              <a:rPr sz="2800" dirty="0" err="1"/>
              <a:t>ternaire</a:t>
            </a:r>
            <a:r>
              <a:rPr sz="2800" dirty="0"/>
              <a:t> </a:t>
            </a:r>
            <a:r>
              <a:rPr sz="2800" dirty="0" err="1"/>
              <a:t>s'imbrique</a:t>
            </a:r>
            <a:r>
              <a:rPr sz="2800" dirty="0"/>
              <a:t> : </a:t>
            </a:r>
            <a:r>
              <a:rPr sz="2400" dirty="0">
                <a:solidFill>
                  <a:schemeClr val="accent4"/>
                </a:solidFill>
                <a:latin typeface="Consolas"/>
              </a:rPr>
              <a:t>a ? x : (b ? y : z)</a:t>
            </a:r>
          </a:p>
          <a:p>
            <a:pPr marL="0" indent="0">
              <a:spcAft>
                <a:spcPts val="1000"/>
              </a:spcAft>
              <a:buNone/>
            </a:pPr>
            <a:r>
              <a:rPr sz="2800" dirty="0" err="1"/>
              <a:t>Écrivez-en</a:t>
            </a:r>
            <a:r>
              <a:rPr sz="2800" dirty="0"/>
              <a:t> un à trois </a:t>
            </a:r>
            <a:r>
              <a:rPr sz="2800" dirty="0" err="1"/>
              <a:t>niveaux</a:t>
            </a:r>
            <a:r>
              <a:rPr sz="2800" dirty="0"/>
              <a:t>, </a:t>
            </a:r>
            <a:r>
              <a:rPr sz="2800" dirty="0" err="1"/>
              <a:t>relisez</a:t>
            </a:r>
            <a:r>
              <a:rPr sz="2800" dirty="0"/>
              <a:t>-le, </a:t>
            </a:r>
            <a:r>
              <a:rPr sz="2800" dirty="0" err="1"/>
              <a:t>puis</a:t>
            </a:r>
            <a:r>
              <a:rPr sz="2800" dirty="0"/>
              <a:t> </a:t>
            </a:r>
            <a:r>
              <a:rPr sz="2800" dirty="0" err="1"/>
              <a:t>décidez</a:t>
            </a:r>
            <a:endParaRPr sz="2800" dirty="0"/>
          </a:p>
          <a:p>
            <a:pPr marL="0" indent="0">
              <a:spcAft>
                <a:spcPts val="1000"/>
              </a:spcAft>
              <a:buNone/>
            </a:pPr>
            <a:r>
              <a:rPr sz="2800" dirty="0"/>
              <a:t>Des </a:t>
            </a:r>
            <a:r>
              <a:rPr sz="2800" dirty="0" err="1"/>
              <a:t>méthodes</a:t>
            </a:r>
            <a:r>
              <a:rPr sz="2800" dirty="0"/>
              <a:t> </a:t>
            </a:r>
            <a:r>
              <a:rPr sz="2800" dirty="0" err="1"/>
              <a:t>courtes</a:t>
            </a:r>
            <a:r>
              <a:rPr sz="2800" dirty="0"/>
              <a:t> et </a:t>
            </a:r>
            <a:r>
              <a:rPr sz="2800" dirty="0" err="1"/>
              <a:t>lisibles</a:t>
            </a:r>
            <a:r>
              <a:rPr sz="2800" dirty="0"/>
              <a:t> - </a:t>
            </a:r>
            <a:r>
              <a:rPr sz="2400" b="1" dirty="0">
                <a:solidFill>
                  <a:schemeClr val="accent4"/>
                </a:solidFill>
                <a:latin typeface="Consolas" panose="020B0609020204030204" pitchFamily="49" charset="0"/>
                <a:cs typeface="Consolas" panose="020B0609020204030204" pitchFamily="49" charset="0"/>
              </a:rPr>
              <a:t>CC-MET.2</a:t>
            </a:r>
            <a:endParaRPr sz="2800" b="1" dirty="0">
              <a:solidFill>
                <a:schemeClr val="accent4"/>
              </a:solidFill>
              <a:latin typeface="Consolas" panose="020B0609020204030204" pitchFamily="49" charset="0"/>
              <a:cs typeface="Consolas" panose="020B0609020204030204" pitchFamily="49" charset="0"/>
            </a:endParaRP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TAB.3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L'opérateur ternaire</a:t>
            </a:r>
          </a:p>
          <a:p>
            <a:r>
              <a:rPr sz="1400">
                <a:solidFill>
                  <a:srgbClr val="BCBEC4"/>
                </a:solidFill>
              </a:rPr>
              <a:t>fascicule TAB</a:t>
            </a:r>
          </a:p>
        </p:txBody>
      </p:sp>
      <p:sp>
        <p:nvSpPr>
          <p:cNvPr id="6" name="TextBox 5"/>
          <p:cNvSpPr txBox="1"/>
          <p:nvPr/>
        </p:nvSpPr>
        <p:spPr>
          <a:xfrm>
            <a:off x="640080" y="2651760"/>
            <a:ext cx="9326880" cy="822960"/>
          </a:xfrm>
          <a:prstGeom prst="rect">
            <a:avLst/>
          </a:prstGeom>
          <a:noFill/>
        </p:spPr>
        <p:txBody>
          <a:bodyPr wrap="square">
            <a:spAutoFit/>
          </a:bodyPr>
          <a:lstStyle/>
          <a:p>
            <a:r>
              <a:rPr sz="2400"/>
              <a:t>Deux méthodes, une instruction chacune</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5.jpg"/>
          <p:cNvPicPr>
            <a:picLocks noChangeAspect="1"/>
          </p:cNvPicPr>
          <p:nvPr/>
        </p:nvPicPr>
        <p:blipFill>
          <a:blip r:embed="rId3"/>
          <a:stretch>
            <a:fillRect/>
          </a:stretch>
        </p:blipFill>
        <p:spPr>
          <a:xfrm>
            <a:off x="1" y="0"/>
            <a:ext cx="12320832"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309121"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5. Des objets qui se connaissent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24</a:t>
            </a:fld>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objet peut en contenir un autre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 champ </a:t>
            </a:r>
            <a:r>
              <a:rPr sz="2800" dirty="0" err="1"/>
              <a:t>peut</a:t>
            </a:r>
            <a:r>
              <a:rPr sz="2800" dirty="0"/>
              <a:t> </a:t>
            </a:r>
            <a:r>
              <a:rPr sz="2800" dirty="0" err="1"/>
              <a:t>être</a:t>
            </a:r>
            <a:r>
              <a:rPr sz="2800" dirty="0"/>
              <a:t> un </a:t>
            </a:r>
            <a:r>
              <a:rPr sz="2800" dirty="0" err="1"/>
              <a:t>objet</a:t>
            </a:r>
            <a:r>
              <a:rPr sz="2800" dirty="0"/>
              <a:t>, </a:t>
            </a:r>
            <a:r>
              <a:rPr sz="2800" dirty="0" err="1"/>
              <a:t>comme</a:t>
            </a:r>
            <a:r>
              <a:rPr sz="2800" dirty="0"/>
              <a:t> il </a:t>
            </a:r>
            <a:r>
              <a:rPr sz="2800" dirty="0" err="1"/>
              <a:t>peut</a:t>
            </a:r>
            <a:r>
              <a:rPr sz="2800" dirty="0"/>
              <a:t> </a:t>
            </a:r>
            <a:r>
              <a:rPr sz="2800" dirty="0" err="1"/>
              <a:t>être</a:t>
            </a:r>
            <a:r>
              <a:rPr sz="2800" dirty="0"/>
              <a:t> un </a:t>
            </a:r>
            <a:r>
              <a:rPr sz="2400" dirty="0">
                <a:solidFill>
                  <a:schemeClr val="accent4"/>
                </a:solidFill>
                <a:latin typeface="Consolas"/>
              </a:rPr>
              <a:t>int</a:t>
            </a:r>
          </a:p>
          <a:p>
            <a:pPr marL="0" indent="0">
              <a:spcAft>
                <a:spcPts val="1000"/>
              </a:spcAft>
              <a:buNone/>
            </a:pPr>
            <a:r>
              <a:rPr lang="fr-BE" sz="2800" dirty="0"/>
              <a:t>Ici, le vendeur est un rôle que joue une personne : il </a:t>
            </a:r>
            <a:r>
              <a:rPr lang="fr-BE" sz="2800" b="1" dirty="0"/>
              <a:t>a une</a:t>
            </a:r>
            <a:r>
              <a:rPr lang="fr-BE" sz="2800" dirty="0"/>
              <a:t> </a:t>
            </a:r>
            <a:r>
              <a:rPr lang="fr-BE" sz="2400" dirty="0">
                <a:solidFill>
                  <a:schemeClr val="accent4"/>
                </a:solidFill>
                <a:latin typeface="Consolas"/>
              </a:rPr>
              <a:t>Person</a:t>
            </a:r>
          </a:p>
          <a:p>
            <a:pPr marL="0" indent="0">
              <a:spcAft>
                <a:spcPts val="1000"/>
              </a:spcAft>
              <a:buNone/>
            </a:pPr>
            <a:r>
              <a:rPr lang="fr-BE" sz="2800" dirty="0"/>
              <a:t>On aurait pu dire qu'il </a:t>
            </a:r>
            <a:r>
              <a:rPr lang="fr-BE" sz="2800" b="1" dirty="0"/>
              <a:t>est une</a:t>
            </a:r>
            <a:r>
              <a:rPr lang="fr-BE" sz="2800" dirty="0"/>
              <a:t> personne, par héritage, comme en C# : c'est un autre modèle, que le module </a:t>
            </a:r>
            <a:r>
              <a:rPr lang="fr-BE" sz="2400" dirty="0">
                <a:solidFill>
                  <a:schemeClr val="accent4"/>
                </a:solidFill>
                <a:latin typeface="Consolas"/>
              </a:rPr>
              <a:t>ABS</a:t>
            </a:r>
            <a:r>
              <a:rPr lang="fr-BE" sz="2800" dirty="0"/>
              <a:t> compare à celui-ci</a:t>
            </a:r>
          </a:p>
        </p:txBody>
      </p:sp>
      <p:sp>
        <p:nvSpPr>
          <p:cNvPr id="4" name="Code"/>
          <p:cNvSpPr txBox="1"/>
          <p:nvPr/>
        </p:nvSpPr>
        <p:spPr>
          <a:xfrm>
            <a:off x="1682751" y="4663440"/>
            <a:ext cx="8826498" cy="548640"/>
          </a:xfrm>
          <a:prstGeom prst="roundRect">
            <a:avLst>
              <a:gd name="adj" fmla="val 1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Person  &lt;---[</a:t>
            </a:r>
            <a:r>
              <a:rPr sz="1800">
                <a:solidFill>
                  <a:srgbClr val="2AACB8"/>
                </a:solidFill>
                <a:latin typeface="Consolas"/>
              </a:rPr>
              <a:t>1</a:t>
            </a:r>
            <a:r>
              <a:rPr sz="1800">
                <a:solidFill>
                  <a:srgbClr val="BCBEC4"/>
                </a:solidFill>
                <a:latin typeface="Consolas"/>
              </a:rPr>
              <a:t>]---  Vendor  ---[*]---&gt;  Sale  ---[</a:t>
            </a:r>
            <a:r>
              <a:rPr sz="1800">
                <a:solidFill>
                  <a:srgbClr val="2AACB8"/>
                </a:solidFill>
                <a:latin typeface="Consolas"/>
              </a:rPr>
              <a:t>1</a:t>
            </a:r>
            <a:r>
              <a:rPr sz="1800">
                <a:solidFill>
                  <a:srgbClr val="BCBEC4"/>
                </a:solidFill>
                <a:latin typeface="Consolas"/>
              </a:rPr>
              <a:t>]---&gt;  Car</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Ne pas stocker ce qui se déduit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Le prix </a:t>
            </a:r>
            <a:r>
              <a:rPr sz="2800" dirty="0" err="1"/>
              <a:t>réel</a:t>
            </a:r>
            <a:r>
              <a:rPr sz="2800" dirty="0"/>
              <a:t> se </a:t>
            </a:r>
            <a:r>
              <a:rPr sz="2800" dirty="0" err="1"/>
              <a:t>calcule</a:t>
            </a:r>
            <a:r>
              <a:rPr sz="2800" dirty="0"/>
              <a:t>, il ne se range pas</a:t>
            </a:r>
          </a:p>
          <a:p>
            <a:pPr marL="0" indent="0">
              <a:spcAft>
                <a:spcPts val="1000"/>
              </a:spcAft>
              <a:buNone/>
            </a:pPr>
            <a:r>
              <a:rPr sz="2800" dirty="0"/>
              <a:t>Un champ </a:t>
            </a:r>
            <a:r>
              <a:rPr sz="2800" dirty="0" err="1"/>
              <a:t>en</a:t>
            </a:r>
            <a:r>
              <a:rPr sz="2800" dirty="0"/>
              <a:t> plus, </a:t>
            </a:r>
            <a:r>
              <a:rPr sz="2800" dirty="0" err="1"/>
              <a:t>c'est</a:t>
            </a:r>
            <a:r>
              <a:rPr sz="2800" dirty="0"/>
              <a:t> </a:t>
            </a:r>
            <a:r>
              <a:rPr sz="2800" dirty="0" err="1"/>
              <a:t>une</a:t>
            </a:r>
            <a:r>
              <a:rPr sz="2800" dirty="0"/>
              <a:t> donnée qui </a:t>
            </a:r>
            <a:r>
              <a:rPr sz="2800" dirty="0" err="1"/>
              <a:t>peut</a:t>
            </a:r>
            <a:r>
              <a:rPr sz="2800" dirty="0"/>
              <a:t> se </a:t>
            </a:r>
            <a:r>
              <a:rPr sz="2800" dirty="0" err="1"/>
              <a:t>désynchroniser</a:t>
            </a:r>
            <a:endParaRPr sz="2800" dirty="0"/>
          </a:p>
          <a:p>
            <a:pPr marL="0" indent="0">
              <a:spcAft>
                <a:spcPts val="1000"/>
              </a:spcAft>
              <a:buNone/>
            </a:pPr>
            <a:r>
              <a:rPr sz="2800" dirty="0" err="1"/>
              <a:t>Même</a:t>
            </a:r>
            <a:r>
              <a:rPr sz="2800" dirty="0"/>
              <a:t> </a:t>
            </a:r>
            <a:r>
              <a:rPr sz="2800" dirty="0" err="1"/>
              <a:t>problème</a:t>
            </a:r>
            <a:r>
              <a:rPr sz="2800" dirty="0"/>
              <a:t> </a:t>
            </a:r>
            <a:r>
              <a:rPr sz="2800" dirty="0" err="1"/>
              <a:t>que</a:t>
            </a:r>
            <a:r>
              <a:rPr sz="2800" dirty="0"/>
              <a:t> le champ </a:t>
            </a:r>
            <a:r>
              <a:rPr sz="2400" dirty="0">
                <a:solidFill>
                  <a:schemeClr val="accent4"/>
                </a:solidFill>
                <a:latin typeface="Consolas"/>
              </a:rPr>
              <a:t>age</a:t>
            </a:r>
            <a:r>
              <a:rPr sz="2800" dirty="0"/>
              <a:t> de </a:t>
            </a:r>
            <a:r>
              <a:rPr sz="2400" dirty="0">
                <a:solidFill>
                  <a:schemeClr val="accent4"/>
                </a:solidFill>
                <a:latin typeface="Consolas"/>
              </a:rPr>
              <a:t>POO.3</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tableau de taille fixe dans un objet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tableau ne grandit pas : il faut décider d'un maximum</a:t>
            </a:r>
          </a:p>
          <a:p>
            <a:pPr marL="0" indent="0">
              <a:spcAft>
                <a:spcPts val="1000"/>
              </a:spcAft>
              <a:buNone/>
            </a:pPr>
            <a:r>
              <a:rPr sz="2800"/>
              <a:t>Et retenir soi-même combien de cases sont occupées</a:t>
            </a:r>
          </a:p>
          <a:p>
            <a:pPr marL="0" indent="0">
              <a:spcAft>
                <a:spcPts val="1000"/>
              </a:spcAft>
              <a:buNone/>
            </a:pPr>
            <a:r>
              <a:rPr sz="2400">
                <a:solidFill>
                  <a:schemeClr val="accent4"/>
                </a:solidFill>
                <a:latin typeface="Consolas"/>
              </a:rPr>
              <a:t>enregistrer</a:t>
            </a:r>
            <a:r>
              <a:rPr sz="2800"/>
              <a:t> retourne </a:t>
            </a:r>
            <a:r>
              <a:rPr sz="2400">
                <a:solidFill>
                  <a:schemeClr val="accent4"/>
                </a:solidFill>
                <a:latin typeface="Consolas"/>
              </a:rPr>
              <a:t>false</a:t>
            </a:r>
            <a:r>
              <a:rPr sz="2800"/>
              <a:t> quand le tableau est plein</a:t>
            </a:r>
          </a:p>
          <a:p>
            <a:pPr marL="0" indent="0">
              <a:spcAft>
                <a:spcPts val="1000"/>
              </a:spcAft>
              <a:buNone/>
            </a:pPr>
            <a:r>
              <a:rPr sz="2800"/>
              <a:t>Parcourir jusqu'au nombre enregistré, pas jusqu'à </a:t>
            </a:r>
            <a:r>
              <a:rPr sz="2400">
                <a:solidFill>
                  <a:schemeClr val="accent4"/>
                </a:solidFill>
                <a:latin typeface="Consolas"/>
              </a:rPr>
              <a:t>ventes.length</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TAB.4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Des objets qui se connaissent</a:t>
            </a:r>
          </a:p>
          <a:p>
            <a:r>
              <a:rPr sz="1400">
                <a:solidFill>
                  <a:srgbClr val="BCBEC4"/>
                </a:solidFill>
              </a:rPr>
              <a:t>fascicule TAB</a:t>
            </a:r>
          </a:p>
        </p:txBody>
      </p:sp>
      <p:sp>
        <p:nvSpPr>
          <p:cNvPr id="6" name="TextBox 5"/>
          <p:cNvSpPr txBox="1"/>
          <p:nvPr/>
        </p:nvSpPr>
        <p:spPr>
          <a:xfrm>
            <a:off x="640080" y="2651760"/>
            <a:ext cx="9326880" cy="822960"/>
          </a:xfrm>
          <a:prstGeom prst="rect">
            <a:avLst/>
          </a:prstGeom>
          <a:noFill/>
        </p:spPr>
        <p:txBody>
          <a:bodyPr wrap="square">
            <a:spAutoFit/>
          </a:bodyPr>
          <a:lstStyle/>
          <a:p>
            <a:r>
              <a:rPr sz="2400"/>
              <a:t>Quatre classes, un format de texte imposé</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qu'il faut retenir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tableau a une </a:t>
            </a:r>
            <a:r>
              <a:rPr sz="2800" b="1"/>
              <a:t>taille fixe</a:t>
            </a:r>
            <a:r>
              <a:rPr sz="2800"/>
              <a:t>, décidée au </a:t>
            </a:r>
            <a:r>
              <a:rPr sz="2400">
                <a:solidFill>
                  <a:schemeClr val="accent4"/>
                </a:solidFill>
                <a:latin typeface="Consolas"/>
              </a:rPr>
              <a:t>new</a:t>
            </a:r>
          </a:p>
          <a:p>
            <a:pPr marL="0" indent="0">
              <a:spcAft>
                <a:spcPts val="1000"/>
              </a:spcAft>
              <a:buNone/>
            </a:pPr>
            <a:r>
              <a:rPr sz="2800"/>
              <a:t>Un tableau est une </a:t>
            </a:r>
            <a:r>
              <a:rPr sz="2800" b="1"/>
              <a:t>référence</a:t>
            </a:r>
            <a:r>
              <a:rPr sz="2800"/>
              <a:t> : le passer, c'est passer son adresse</a:t>
            </a:r>
          </a:p>
          <a:p>
            <a:pPr marL="0" indent="0">
              <a:spcAft>
                <a:spcPts val="1000"/>
              </a:spcAft>
              <a:buNone/>
            </a:pPr>
            <a:r>
              <a:rPr sz="2400">
                <a:solidFill>
                  <a:schemeClr val="accent4"/>
                </a:solidFill>
                <a:latin typeface="Consolas"/>
              </a:rPr>
              <a:t>matrice[1]</a:t>
            </a:r>
            <a:r>
              <a:rPr sz="2800"/>
              <a:t> est une ligne, </a:t>
            </a:r>
            <a:r>
              <a:rPr sz="2400">
                <a:solidFill>
                  <a:schemeClr val="accent4"/>
                </a:solidFill>
                <a:latin typeface="Consolas"/>
              </a:rPr>
              <a:t>matrice[1][2]</a:t>
            </a:r>
            <a:r>
              <a:rPr sz="2800"/>
              <a:t> est un nombre</a:t>
            </a:r>
          </a:p>
          <a:p>
            <a:pPr marL="0" indent="0">
              <a:spcAft>
                <a:spcPts val="1000"/>
              </a:spcAft>
              <a:buNone/>
            </a:pPr>
            <a:r>
              <a:rPr sz="2400">
                <a:solidFill>
                  <a:schemeClr val="accent4"/>
                </a:solidFill>
                <a:latin typeface="Consolas"/>
              </a:rPr>
              <a:t>for-each</a:t>
            </a:r>
            <a:r>
              <a:rPr sz="2800"/>
              <a:t> pour lire, boucle indexée pour écrire</a:t>
            </a:r>
          </a:p>
          <a:p>
            <a:pPr marL="0" indent="0">
              <a:spcAft>
                <a:spcPts val="1000"/>
              </a:spcAft>
              <a:buNone/>
            </a:pPr>
            <a:r>
              <a:rPr sz="2800"/>
              <a:t>Le ternaire retourne une valeur ; un </a:t>
            </a:r>
            <a:r>
              <a:rPr sz="2400">
                <a:solidFill>
                  <a:schemeClr val="accent4"/>
                </a:solidFill>
                <a:latin typeface="Consolas"/>
              </a:rPr>
              <a:t>if</a:t>
            </a:r>
            <a:r>
              <a:rPr sz="2800"/>
              <a:t> non</a:t>
            </a:r>
          </a:p>
          <a:p>
            <a:pPr marL="0" indent="0">
              <a:spcAft>
                <a:spcPts val="1000"/>
              </a:spcAft>
              <a:buNone/>
            </a:pPr>
            <a:r>
              <a:rPr sz="2800"/>
              <a:t>Ce qui se déduit ne se stocke pas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115092</TotalTime>
  <Words>3544</Words>
  <Application>Microsoft Macintosh PowerPoint</Application>
  <PresentationFormat>Grand écran</PresentationFormat>
  <Paragraphs>283</Paragraphs>
  <Slides>29</Slides>
  <Notes>29</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29</vt:i4>
      </vt:variant>
    </vt:vector>
  </HeadingPairs>
  <TitlesOfParts>
    <vt:vector size="35" baseType="lpstr">
      <vt:lpstr>Aptos</vt:lpstr>
      <vt:lpstr>Arial</vt:lpstr>
      <vt:lpstr>Calibri</vt:lpstr>
      <vt:lpstr>Consolas</vt:lpstr>
      <vt:lpstr>Corbel</vt:lpstr>
      <vt:lpstr>ThemeEphec2022</vt:lpstr>
      <vt:lpstr>JAVA 2</vt:lpstr>
      <vt:lpstr>Au programme</vt:lpstr>
      <vt:lpstr>Présentation PowerPoint</vt:lpstr>
      <vt:lpstr>Démonstration</vt:lpstr>
      <vt:lpstr>Déclarer un tableau</vt:lpstr>
      <vt:lpstr>Ce que la démonstration a montré</vt:lpstr>
      <vt:lpstr>Un tableau de tableaux</vt:lpstr>
      <vt:lpstr>Présentation PowerPoint</vt:lpstr>
      <vt:lpstr>La boucle indexée</vt:lpstr>
      <vt:lpstr>La boucle for-each</vt:lpstr>
      <vt:lpstr>Laquelle choisir</vt:lpstr>
      <vt:lpstr>Deux boucles imbriquées</vt:lpstr>
      <vt:lpstr>Exercices</vt:lpstr>
      <vt:lpstr>Présentation PowerPoint</vt:lpstr>
      <vt:lpstr>Un tableau de tableaux, en image</vt:lpstr>
      <vt:lpstr>Déclarer les lignes une par une</vt:lpstr>
      <vt:lpstr>Exercices</vt:lpstr>
      <vt:lpstr>Présentation PowerPoint</vt:lpstr>
      <vt:lpstr>La syntaxe</vt:lpstr>
      <vt:lpstr>Ce qu'un if ne permet pas</vt:lpstr>
      <vt:lpstr>Un booléen se retourne tel quel</vt:lpstr>
      <vt:lpstr>Où s'arrête l'intérêt</vt:lpstr>
      <vt:lpstr>Exercices</vt:lpstr>
      <vt:lpstr>Présentation PowerPoint</vt:lpstr>
      <vt:lpstr>Un objet peut en contenir un autre</vt:lpstr>
      <vt:lpstr>Ne pas stocker ce qui se déduit</vt:lpstr>
      <vt:lpstr>Un tableau de taille fixe dans un objet</vt:lpstr>
      <vt:lpstr>Exercices</vt:lpstr>
      <vt:lpstr>Ce qu'il faut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39</cp:revision>
  <dcterms:created xsi:type="dcterms:W3CDTF">2023-01-04T13:50:20Z</dcterms:created>
  <dcterms:modified xsi:type="dcterms:W3CDTF">2026-10-22T21:58:25Z</dcterms:modified>
</cp:coreProperties>
</file>