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568" r:id="rId2"/>
    <p:sldId id="581" r:id="rId3"/>
    <p:sldId id="569" r:id="rId4"/>
    <p:sldId id="570" r:id="rId5"/>
    <p:sldId id="571" r:id="rId6"/>
    <p:sldId id="572" r:id="rId7"/>
    <p:sldId id="573" r:id="rId8"/>
    <p:sldId id="574" r:id="rId9"/>
    <p:sldId id="575" r:id="rId10"/>
    <p:sldId id="576" r:id="rId11"/>
    <p:sldId id="577" r:id="rId12"/>
    <p:sldId id="578" r:id="rId13"/>
    <p:sldId id="579" r:id="rId14"/>
    <p:sldId id="5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0432269-7AD6-524C-8227-74A9C030B4E3}">
          <p14:sldIdLst>
            <p14:sldId id="568"/>
            <p14:sldId id="581"/>
          </p14:sldIdLst>
        </p14:section>
        <p14:section name="1. Pourquoi" id="{F819876D-C7A4-5A01-82C2-E2910DDCC628}">
          <p14:sldIdLst>
            <p14:sldId id="569"/>
            <p14:sldId id="570"/>
            <p14:sldId id="571"/>
          </p14:sldIdLst>
        </p14:section>
        <p14:section name="2. Série 1" id="{F2299B80-7F5E-56A5-A601-3391C0C16516}">
          <p14:sldIdLst>
            <p14:sldId id="572"/>
            <p14:sldId id="573"/>
            <p14:sldId id="574"/>
            <p14:sldId id="575"/>
          </p14:sldIdLst>
        </p14:section>
        <p14:section name="3. Série 2" id="{B43B043C-CC79-53DA-A79C-0FF54536C6B1}">
          <p14:sldIdLst>
            <p14:sldId id="576"/>
            <p14:sldId id="577"/>
            <p14:sldId id="578"/>
            <p14:sldId id="579"/>
            <p14:sldId id="5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D1F22"/>
    <a:srgbClr val="38FF4F"/>
    <a:srgbClr val="FFDF8B"/>
    <a:srgbClr val="802C31"/>
    <a:srgbClr val="AE6B68"/>
    <a:srgbClr val="9A5239"/>
    <a:srgbClr val="6DC3FB"/>
    <a:srgbClr val="0675AE"/>
    <a:srgbClr val="286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7"/>
    <p:restoredTop sz="96301"/>
  </p:normalViewPr>
  <p:slideViewPr>
    <p:cSldViewPr snapToGrid="0">
      <p:cViewPr varScale="1">
        <p:scale>
          <a:sx n="122" d="100"/>
          <a:sy n="122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EF95896-A5CA-E0F9-6478-20C4C67B6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65C7378-3DCF-38D5-275F-80FB217DC7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26FB5-9412-C54B-AA2C-289AC0CE5DB6}" type="datetimeFigureOut">
              <a:rPr lang="en-GB" smtClean="0"/>
              <a:t>24/10/2026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7A2A70-0FFB-D89E-7D51-BFA1FA869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8B06B3-0B47-FD16-2A18-E70D0ABE4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F1A8C-C0E1-EC45-8701-F9C9A0343E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011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24/10/2026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Ce module est </a:t>
            </a:r>
            <a:r>
              <a:rPr dirty="0" err="1"/>
              <a:t>différent</a:t>
            </a:r>
            <a:r>
              <a:rPr dirty="0"/>
              <a:t> des </a:t>
            </a:r>
            <a:r>
              <a:rPr dirty="0" err="1"/>
              <a:t>autres</a:t>
            </a:r>
            <a:r>
              <a:rPr dirty="0"/>
              <a:t> : il </a:t>
            </a:r>
            <a:r>
              <a:rPr dirty="0" err="1"/>
              <a:t>n'apporte</a:t>
            </a:r>
            <a:r>
              <a:rPr dirty="0"/>
              <a:t> </a:t>
            </a:r>
            <a:r>
              <a:rPr dirty="0" err="1"/>
              <a:t>aucune</a:t>
            </a:r>
            <a:r>
              <a:rPr dirty="0"/>
              <a:t> notion. Il vous </a:t>
            </a:r>
            <a:r>
              <a:rPr dirty="0" err="1"/>
              <a:t>donne</a:t>
            </a:r>
            <a:r>
              <a:rPr dirty="0"/>
              <a:t> deux </a:t>
            </a:r>
            <a:r>
              <a:rPr dirty="0" err="1"/>
              <a:t>séries</a:t>
            </a:r>
            <a:r>
              <a:rPr dirty="0"/>
              <a:t> </a:t>
            </a:r>
            <a:r>
              <a:rPr dirty="0" err="1"/>
              <a:t>d'exercices</a:t>
            </a:r>
            <a:r>
              <a:rPr dirty="0"/>
              <a:t>, à faire chez vous pendant les </a:t>
            </a:r>
            <a:r>
              <a:rPr dirty="0" err="1"/>
              <a:t>semaines</a:t>
            </a:r>
            <a:r>
              <a:rPr dirty="0"/>
              <a:t> sans </a:t>
            </a:r>
            <a:r>
              <a:rPr dirty="0" err="1"/>
              <a:t>cours</a:t>
            </a:r>
            <a:r>
              <a:rPr dirty="0"/>
              <a:t>, et chacun </a:t>
            </a:r>
            <a:r>
              <a:rPr dirty="0" err="1"/>
              <a:t>reprend</a:t>
            </a:r>
            <a:r>
              <a:rPr dirty="0"/>
              <a:t> la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question </a:t>
            </a:r>
            <a:r>
              <a:rPr dirty="0" err="1"/>
              <a:t>d'examen</a:t>
            </a:r>
            <a:r>
              <a:rPr dirty="0"/>
              <a:t>.</a:t>
            </a:r>
          </a:p>
          <a:p>
            <a:r>
              <a:rPr dirty="0"/>
              <a:t>Le dossier compte un fascicule, des </a:t>
            </a:r>
            <a:r>
              <a:rPr dirty="0" err="1"/>
              <a:t>squelettes</a:t>
            </a:r>
            <a:r>
              <a:rPr dirty="0"/>
              <a:t>, des tests et des </a:t>
            </a:r>
            <a:r>
              <a:rPr dirty="0" err="1"/>
              <a:t>corrigés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les </a:t>
            </a:r>
            <a:r>
              <a:rPr dirty="0" err="1"/>
              <a:t>autres</a:t>
            </a:r>
            <a:r>
              <a:rPr dirty="0"/>
              <a:t> modules. Ce qui change,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attend de vous : non plus </a:t>
            </a:r>
            <a:r>
              <a:rPr dirty="0" err="1"/>
              <a:t>apprendre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chose,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reconnaître</a:t>
            </a:r>
            <a:r>
              <a:rPr dirty="0"/>
              <a:t> </a:t>
            </a:r>
            <a:r>
              <a:rPr dirty="0" err="1"/>
              <a:t>laquelle</a:t>
            </a:r>
            <a:r>
              <a:rPr dirty="0"/>
              <a:t> </a:t>
            </a:r>
            <a:r>
              <a:rPr dirty="0" err="1"/>
              <a:t>sert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module compte trois sections : 1. </a:t>
            </a:r>
            <a:r>
              <a:rPr dirty="0" err="1"/>
              <a:t>Pourquoi</a:t>
            </a:r>
            <a:r>
              <a:rPr dirty="0"/>
              <a:t> ; 2. Série 1 ; 3. Série 2.</a:t>
            </a:r>
          </a:p>
          <a:p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intercalaire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le </a:t>
            </a:r>
            <a:r>
              <a:rPr dirty="0" err="1"/>
              <a:t>numéro</a:t>
            </a:r>
            <a:r>
              <a:rPr dirty="0"/>
              <a:t> de </a:t>
            </a:r>
            <a:r>
              <a:rPr dirty="0" err="1"/>
              <a:t>sa</a:t>
            </a:r>
            <a:r>
              <a:rPr dirty="0"/>
              <a:t> section, et </a:t>
            </a:r>
            <a:r>
              <a:rPr dirty="0" err="1"/>
              <a:t>chaque</a:t>
            </a:r>
            <a:r>
              <a:rPr dirty="0"/>
              <a:t> page </a:t>
            </a:r>
            <a:r>
              <a:rPr dirty="0" err="1"/>
              <a:t>rappelle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bas à droite la section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</a:t>
            </a:r>
            <a:r>
              <a:rPr dirty="0" err="1"/>
              <a:t>exercices</a:t>
            </a:r>
            <a:r>
              <a:rPr dirty="0"/>
              <a:t> des modules vous </a:t>
            </a:r>
            <a:r>
              <a:rPr dirty="0" err="1"/>
              <a:t>ont</a:t>
            </a:r>
            <a:r>
              <a:rPr dirty="0"/>
              <a:t> fait </a:t>
            </a:r>
            <a:r>
              <a:rPr dirty="0" err="1"/>
              <a:t>pratiquer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notion à la </a:t>
            </a:r>
            <a:r>
              <a:rPr dirty="0" err="1"/>
              <a:t>fois</a:t>
            </a:r>
            <a:r>
              <a:rPr dirty="0"/>
              <a:t>, avec le </a:t>
            </a:r>
            <a:r>
              <a:rPr dirty="0" err="1"/>
              <a:t>titre</a:t>
            </a:r>
            <a:r>
              <a:rPr dirty="0"/>
              <a:t> du module au-dessus de </a:t>
            </a:r>
            <a:r>
              <a:rPr dirty="0" err="1"/>
              <a:t>l'énoncé</a:t>
            </a:r>
            <a:r>
              <a:rPr dirty="0"/>
              <a:t>. </a:t>
            </a:r>
            <a:r>
              <a:rPr dirty="0" err="1"/>
              <a:t>L'examen</a:t>
            </a:r>
            <a:r>
              <a:rPr dirty="0"/>
              <a:t> ne </a:t>
            </a:r>
            <a:r>
              <a:rPr dirty="0" err="1"/>
              <a:t>donne</a:t>
            </a:r>
            <a:r>
              <a:rPr dirty="0"/>
              <a:t> pas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titre</a:t>
            </a:r>
            <a:r>
              <a:rPr dirty="0"/>
              <a:t>. </a:t>
            </a:r>
            <a:r>
              <a:rPr dirty="0" err="1"/>
              <a:t>Chaque</a:t>
            </a:r>
            <a:r>
              <a:rPr dirty="0"/>
              <a:t> question combine deux </a:t>
            </a:r>
            <a:r>
              <a:rPr dirty="0" err="1"/>
              <a:t>ou</a:t>
            </a:r>
            <a:r>
              <a:rPr dirty="0"/>
              <a:t> trois modules, et la première </a:t>
            </a:r>
            <a:r>
              <a:rPr dirty="0" err="1"/>
              <a:t>difficulté</a:t>
            </a:r>
            <a:r>
              <a:rPr dirty="0"/>
              <a:t> est de </a:t>
            </a:r>
            <a:r>
              <a:rPr dirty="0" err="1"/>
              <a:t>reconnaître</a:t>
            </a:r>
            <a:r>
              <a:rPr dirty="0"/>
              <a:t> </a:t>
            </a:r>
            <a:r>
              <a:rPr dirty="0" err="1"/>
              <a:t>lesquels</a:t>
            </a:r>
            <a:r>
              <a:rPr dirty="0"/>
              <a:t>.</a:t>
            </a:r>
          </a:p>
          <a:p>
            <a:r>
              <a:rPr dirty="0"/>
              <a:t>Le tableau </a:t>
            </a:r>
            <a:r>
              <a:rPr dirty="0" err="1"/>
              <a:t>reprend</a:t>
            </a:r>
            <a:r>
              <a:rPr dirty="0"/>
              <a:t> les cinq </a:t>
            </a:r>
            <a:r>
              <a:rPr dirty="0" err="1"/>
              <a:t>formes</a:t>
            </a:r>
            <a:r>
              <a:rPr dirty="0"/>
              <a:t> de question. Elles </a:t>
            </a:r>
            <a:r>
              <a:rPr dirty="0" err="1"/>
              <a:t>changent</a:t>
            </a:r>
            <a:r>
              <a:rPr dirty="0"/>
              <a:t> peu </a:t>
            </a:r>
            <a:r>
              <a:rPr dirty="0" err="1"/>
              <a:t>d'une</a:t>
            </a:r>
            <a:r>
              <a:rPr dirty="0"/>
              <a:t> session à </a:t>
            </a:r>
            <a:r>
              <a:rPr dirty="0" err="1"/>
              <a:t>l'autre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la raison d'être des </a:t>
            </a:r>
            <a:r>
              <a:rPr dirty="0" err="1"/>
              <a:t>exercices</a:t>
            </a:r>
            <a:r>
              <a:rPr dirty="0"/>
              <a:t> </a:t>
            </a:r>
            <a:r>
              <a:rPr dirty="0" err="1"/>
              <a:t>récapitulatifs</a:t>
            </a:r>
            <a:r>
              <a:rPr dirty="0"/>
              <a:t>, qui les </a:t>
            </a:r>
            <a:r>
              <a:rPr dirty="0" err="1"/>
              <a:t>reprennent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.</a:t>
            </a:r>
          </a:p>
          <a:p>
            <a:r>
              <a:rPr dirty="0"/>
              <a:t>Une </a:t>
            </a:r>
            <a:r>
              <a:rPr dirty="0" err="1"/>
              <a:t>énumération</a:t>
            </a:r>
            <a:r>
              <a:rPr dirty="0"/>
              <a:t> se </a:t>
            </a:r>
            <a:r>
              <a:rPr dirty="0" err="1"/>
              <a:t>glisse</a:t>
            </a:r>
            <a:r>
              <a:rPr dirty="0"/>
              <a:t> dans </a:t>
            </a:r>
            <a:r>
              <a:rPr dirty="0" err="1"/>
              <a:t>l'une</a:t>
            </a:r>
            <a:r>
              <a:rPr dirty="0"/>
              <a:t> des trois premières questions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apparaître</a:t>
            </a:r>
            <a:r>
              <a:rPr dirty="0"/>
              <a:t> </a:t>
            </a:r>
            <a:r>
              <a:rPr dirty="0" err="1"/>
              <a:t>partout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Quatre </a:t>
            </a:r>
            <a:r>
              <a:rPr dirty="0" err="1"/>
              <a:t>consignes</a:t>
            </a:r>
            <a:r>
              <a:rPr dirty="0"/>
              <a:t>, et la première est la plus </a:t>
            </a:r>
            <a:r>
              <a:rPr dirty="0" err="1"/>
              <a:t>importante</a:t>
            </a:r>
            <a:r>
              <a:rPr dirty="0"/>
              <a:t>. À </a:t>
            </a:r>
            <a:r>
              <a:rPr dirty="0" err="1"/>
              <a:t>l'examen</a:t>
            </a:r>
            <a:r>
              <a:rPr dirty="0"/>
              <a:t>, </a:t>
            </a:r>
            <a:r>
              <a:rPr dirty="0" err="1"/>
              <a:t>chaque</a:t>
            </a:r>
            <a:r>
              <a:rPr dirty="0"/>
              <a:t> question est </a:t>
            </a:r>
            <a:r>
              <a:rPr dirty="0" err="1"/>
              <a:t>livrée</a:t>
            </a:r>
            <a:r>
              <a:rPr dirty="0"/>
              <a:t> avec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de test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dit</a:t>
            </a:r>
            <a:r>
              <a:rPr dirty="0"/>
              <a:t>, </a:t>
            </a:r>
            <a:r>
              <a:rPr dirty="0" err="1"/>
              <a:t>mieux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l'énoncé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qui sera </a:t>
            </a:r>
            <a:r>
              <a:rPr dirty="0" err="1"/>
              <a:t>vérifié</a:t>
            </a:r>
            <a:r>
              <a:rPr dirty="0"/>
              <a:t>. </a:t>
            </a:r>
            <a:r>
              <a:rPr dirty="0" err="1"/>
              <a:t>Prenez</a:t>
            </a:r>
            <a:r>
              <a:rPr dirty="0"/>
              <a:t> </a:t>
            </a:r>
            <a:r>
              <a:rPr dirty="0" err="1"/>
              <a:t>l'habitude</a:t>
            </a:r>
            <a:r>
              <a:rPr dirty="0"/>
              <a:t> de la lire </a:t>
            </a:r>
            <a:r>
              <a:rPr dirty="0" err="1"/>
              <a:t>d'abord</a:t>
            </a:r>
            <a:r>
              <a:rPr dirty="0"/>
              <a:t>, </a:t>
            </a:r>
            <a:r>
              <a:rPr dirty="0" err="1"/>
              <a:t>ici</a:t>
            </a:r>
            <a:r>
              <a:rPr dirty="0"/>
              <a:t>, </a:t>
            </a:r>
            <a:r>
              <a:rPr dirty="0" err="1"/>
              <a:t>où</a:t>
            </a:r>
            <a:r>
              <a:rPr dirty="0"/>
              <a:t> rien </a:t>
            </a:r>
            <a:r>
              <a:rPr dirty="0" err="1"/>
              <a:t>n'est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jeu.</a:t>
            </a:r>
          </a:p>
          <a:p>
            <a:r>
              <a:rPr dirty="0"/>
              <a:t>Le </a:t>
            </a:r>
            <a:r>
              <a:rPr dirty="0" err="1"/>
              <a:t>chronomètre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là</a:t>
            </a:r>
            <a:r>
              <a:rPr dirty="0"/>
              <a:t> pour vous presser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mesure</a:t>
            </a:r>
            <a:r>
              <a:rPr dirty="0"/>
              <a:t>. Un </a:t>
            </a:r>
            <a:r>
              <a:rPr dirty="0" err="1"/>
              <a:t>exercice</a:t>
            </a:r>
            <a:r>
              <a:rPr dirty="0"/>
              <a:t> qui vous </a:t>
            </a:r>
            <a:r>
              <a:rPr dirty="0" err="1"/>
              <a:t>prend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heure</a:t>
            </a:r>
            <a:r>
              <a:rPr dirty="0"/>
              <a:t> au lieu de </a:t>
            </a:r>
            <a:r>
              <a:rPr dirty="0" err="1"/>
              <a:t>trente</a:t>
            </a:r>
            <a:r>
              <a:rPr dirty="0"/>
              <a:t> minutes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 module revoir, et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précisément</a:t>
            </a:r>
            <a:r>
              <a:rPr dirty="0"/>
              <a:t> </a:t>
            </a:r>
            <a:r>
              <a:rPr dirty="0" err="1"/>
              <a:t>l'information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cherchez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révisant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corrigé</a:t>
            </a:r>
            <a:r>
              <a:rPr dirty="0"/>
              <a:t> est public, </a:t>
            </a:r>
            <a:r>
              <a:rPr dirty="0" err="1"/>
              <a:t>comme</a:t>
            </a:r>
            <a:r>
              <a:rPr dirty="0"/>
              <a:t> pour </a:t>
            </a:r>
            <a:r>
              <a:rPr dirty="0" err="1"/>
              <a:t>tous</a:t>
            </a:r>
            <a:r>
              <a:rPr dirty="0"/>
              <a:t> les modules. Il ne vous </a:t>
            </a:r>
            <a:r>
              <a:rPr dirty="0" err="1"/>
              <a:t>apprend</a:t>
            </a:r>
            <a:r>
              <a:rPr dirty="0"/>
              <a:t> rien tant </a:t>
            </a:r>
            <a:r>
              <a:rPr dirty="0" err="1"/>
              <a:t>que</a:t>
            </a:r>
            <a:r>
              <a:rPr dirty="0"/>
              <a:t> vous ne vous </a:t>
            </a:r>
            <a:r>
              <a:rPr dirty="0" err="1"/>
              <a:t>êtes</a:t>
            </a:r>
            <a:r>
              <a:rPr dirty="0"/>
              <a:t> pas </a:t>
            </a:r>
            <a:r>
              <a:rPr dirty="0" err="1"/>
              <a:t>confronté</a:t>
            </a:r>
            <a:r>
              <a:rPr dirty="0"/>
              <a:t> au </a:t>
            </a:r>
            <a:r>
              <a:rPr dirty="0" err="1"/>
              <a:t>problème</a:t>
            </a:r>
            <a:r>
              <a:rPr dirty="0"/>
              <a:t> : </a:t>
            </a:r>
            <a:r>
              <a:rPr dirty="0" err="1"/>
              <a:t>lu</a:t>
            </a:r>
            <a:r>
              <a:rPr dirty="0"/>
              <a:t> trop </a:t>
            </a:r>
            <a:r>
              <a:rPr dirty="0" err="1"/>
              <a:t>tôt</a:t>
            </a:r>
            <a:r>
              <a:rPr dirty="0"/>
              <a:t>, il </a:t>
            </a:r>
            <a:r>
              <a:rPr dirty="0" err="1"/>
              <a:t>donne</a:t>
            </a:r>
            <a:r>
              <a:rPr dirty="0"/>
              <a:t> </a:t>
            </a:r>
            <a:r>
              <a:rPr dirty="0" err="1"/>
              <a:t>l'impression</a:t>
            </a:r>
            <a:r>
              <a:rPr dirty="0"/>
              <a:t> </a:t>
            </a:r>
            <a:r>
              <a:rPr dirty="0" err="1"/>
              <a:t>d'avoir</a:t>
            </a:r>
            <a:r>
              <a:rPr dirty="0"/>
              <a:t> </a:t>
            </a:r>
            <a:r>
              <a:rPr dirty="0" err="1"/>
              <a:t>compris</a:t>
            </a:r>
            <a:r>
              <a:rPr dirty="0"/>
              <a:t>, et </a:t>
            </a:r>
            <a:r>
              <a:rPr dirty="0" err="1"/>
              <a:t>cette</a:t>
            </a:r>
            <a:r>
              <a:rPr dirty="0"/>
              <a:t> impression ne </a:t>
            </a:r>
            <a:r>
              <a:rPr dirty="0" err="1"/>
              <a:t>tient</a:t>
            </a:r>
            <a:r>
              <a:rPr dirty="0"/>
              <a:t> pas le jour de </a:t>
            </a:r>
            <a:r>
              <a:rPr dirty="0" err="1"/>
              <a:t>l'examen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mémento</a:t>
            </a:r>
            <a:r>
              <a:rPr dirty="0"/>
              <a:t> Clean Code fait </a:t>
            </a:r>
            <a:r>
              <a:rPr dirty="0" err="1"/>
              <a:t>partie</a:t>
            </a:r>
            <a:r>
              <a:rPr dirty="0"/>
              <a:t> des notes </a:t>
            </a:r>
            <a:r>
              <a:rPr dirty="0" err="1"/>
              <a:t>autorisées</a:t>
            </a:r>
            <a:r>
              <a:rPr dirty="0"/>
              <a:t>. Les </a:t>
            </a:r>
            <a:r>
              <a:rPr dirty="0" err="1"/>
              <a:t>corrigés</a:t>
            </a:r>
            <a:r>
              <a:rPr dirty="0"/>
              <a:t> y </a:t>
            </a:r>
            <a:r>
              <a:rPr dirty="0" err="1"/>
              <a:t>renvoient</a:t>
            </a:r>
            <a:r>
              <a:rPr dirty="0"/>
              <a:t> par </a:t>
            </a:r>
            <a:r>
              <a:rPr dirty="0" err="1"/>
              <a:t>leurs</a:t>
            </a:r>
            <a:r>
              <a:rPr dirty="0"/>
              <a:t> codes : </a:t>
            </a:r>
            <a:r>
              <a:rPr dirty="0" err="1"/>
              <a:t>vérifiez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savez</a:t>
            </a:r>
            <a:r>
              <a:rPr dirty="0"/>
              <a:t> </a:t>
            </a:r>
            <a:r>
              <a:rPr dirty="0" err="1"/>
              <a:t>retrouver</a:t>
            </a:r>
            <a:r>
              <a:rPr dirty="0"/>
              <a:t> </a:t>
            </a:r>
            <a:r>
              <a:rPr dirty="0">
                <a:latin typeface="Consolas"/>
              </a:rPr>
              <a:t>CC-CLS.3</a:t>
            </a:r>
            <a:r>
              <a:rPr dirty="0"/>
              <a:t> sans </a:t>
            </a:r>
            <a:r>
              <a:rPr dirty="0" err="1"/>
              <a:t>chercher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Cinq </a:t>
            </a:r>
            <a:r>
              <a:rPr dirty="0" err="1"/>
              <a:t>exercices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trentaine</a:t>
            </a:r>
            <a:r>
              <a:rPr dirty="0"/>
              <a:t> de minutes chacun : </a:t>
            </a:r>
            <a:r>
              <a:rPr dirty="0" err="1"/>
              <a:t>une</a:t>
            </a:r>
            <a:r>
              <a:rPr dirty="0"/>
              <a:t> soirée de </a:t>
            </a:r>
            <a:r>
              <a:rPr dirty="0" err="1"/>
              <a:t>révision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cinq moments </a:t>
            </a:r>
            <a:r>
              <a:rPr dirty="0" err="1"/>
              <a:t>séparés</a:t>
            </a:r>
            <a:r>
              <a:rPr dirty="0"/>
              <a:t>. </a:t>
            </a:r>
            <a:r>
              <a:rPr dirty="0" err="1"/>
              <a:t>L'ordre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imposé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>
                <a:latin typeface="Consolas"/>
              </a:rPr>
              <a:t>REC.5</a:t>
            </a:r>
            <a:r>
              <a:rPr dirty="0"/>
              <a:t> </a:t>
            </a:r>
            <a:r>
              <a:rPr dirty="0" err="1"/>
              <a:t>vient</a:t>
            </a:r>
            <a:r>
              <a:rPr dirty="0"/>
              <a:t> </a:t>
            </a:r>
            <a:r>
              <a:rPr dirty="0" err="1"/>
              <a:t>logiquement</a:t>
            </a:r>
            <a:r>
              <a:rPr dirty="0"/>
              <a:t> après </a:t>
            </a:r>
            <a:r>
              <a:rPr dirty="0">
                <a:latin typeface="Consolas"/>
              </a:rPr>
              <a:t>REC.1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, sans le </a:t>
            </a:r>
            <a:r>
              <a:rPr dirty="0" err="1"/>
              <a:t>squelette</a:t>
            </a:r>
            <a:r>
              <a:rPr dirty="0"/>
              <a:t>.</a:t>
            </a:r>
          </a:p>
          <a:p>
            <a:r>
              <a:rPr dirty="0">
                <a:latin typeface="Consolas"/>
              </a:rPr>
              <a:t>REC.3</a:t>
            </a:r>
            <a:r>
              <a:rPr dirty="0"/>
              <a:t> est </a:t>
            </a:r>
            <a:r>
              <a:rPr dirty="0" err="1"/>
              <a:t>celui</a:t>
            </a:r>
            <a:r>
              <a:rPr dirty="0"/>
              <a:t> qui </a:t>
            </a:r>
            <a:r>
              <a:rPr dirty="0" err="1"/>
              <a:t>ressemble</a:t>
            </a:r>
            <a:r>
              <a:rPr dirty="0"/>
              <a:t> le plus à </a:t>
            </a:r>
            <a:r>
              <a:rPr dirty="0" err="1"/>
              <a:t>l'examen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est </a:t>
            </a:r>
            <a:r>
              <a:rPr dirty="0" err="1"/>
              <a:t>fournie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 a l'air </a:t>
            </a:r>
            <a:r>
              <a:rPr dirty="0" err="1"/>
              <a:t>juste</a:t>
            </a:r>
            <a:r>
              <a:rPr dirty="0"/>
              <a:t>, et vous </a:t>
            </a:r>
            <a:r>
              <a:rPr dirty="0" err="1"/>
              <a:t>devez</a:t>
            </a:r>
            <a:r>
              <a:rPr dirty="0"/>
              <a:t> </a:t>
            </a:r>
            <a:r>
              <a:rPr dirty="0" err="1"/>
              <a:t>écrire</a:t>
            </a:r>
            <a:r>
              <a:rPr dirty="0"/>
              <a:t> les tests qui la </a:t>
            </a:r>
            <a:r>
              <a:rPr dirty="0" err="1"/>
              <a:t>mettent</a:t>
            </a:r>
            <a:r>
              <a:rPr dirty="0"/>
              <a:t> à </a:t>
            </a:r>
            <a:r>
              <a:rPr dirty="0" err="1"/>
              <a:t>l'épreuve</a:t>
            </a:r>
            <a:r>
              <a:rPr dirty="0"/>
              <a:t>. Il y a deux </a:t>
            </a:r>
            <a:r>
              <a:rPr dirty="0" err="1"/>
              <a:t>défauts</a:t>
            </a:r>
            <a:r>
              <a:rPr dirty="0"/>
              <a:t> à </a:t>
            </a:r>
            <a:r>
              <a:rPr dirty="0" err="1"/>
              <a:t>trouver</a:t>
            </a:r>
            <a:r>
              <a:rPr dirty="0"/>
              <a:t> ;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vos</a:t>
            </a:r>
            <a:r>
              <a:rPr dirty="0"/>
              <a:t> tests </a:t>
            </a:r>
            <a:r>
              <a:rPr dirty="0" err="1"/>
              <a:t>n'en</a:t>
            </a:r>
            <a:r>
              <a:rPr dirty="0"/>
              <a:t> </a:t>
            </a:r>
            <a:r>
              <a:rPr dirty="0" err="1"/>
              <a:t>révèlent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manque, et le fascicule </a:t>
            </a:r>
            <a:r>
              <a:rPr dirty="0" err="1"/>
              <a:t>donne</a:t>
            </a:r>
            <a:r>
              <a:rPr dirty="0"/>
              <a:t> la </a:t>
            </a:r>
            <a:r>
              <a:rPr dirty="0" err="1"/>
              <a:t>liste</a:t>
            </a:r>
            <a:r>
              <a:rPr dirty="0"/>
              <a:t>.</a:t>
            </a:r>
          </a:p>
          <a:p>
            <a:r>
              <a:rPr dirty="0">
                <a:latin typeface="Consolas"/>
              </a:rPr>
              <a:t>REC.4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 de question </a:t>
            </a:r>
            <a:r>
              <a:rPr dirty="0" err="1"/>
              <a:t>d'examen</a:t>
            </a:r>
            <a:r>
              <a:rPr dirty="0"/>
              <a:t> </a:t>
            </a:r>
            <a:r>
              <a:rPr dirty="0" err="1"/>
              <a:t>attitrée</a:t>
            </a:r>
            <a:r>
              <a:rPr dirty="0"/>
              <a:t> : il </a:t>
            </a:r>
            <a:r>
              <a:rPr dirty="0" err="1"/>
              <a:t>rassemble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se </a:t>
            </a:r>
            <a:r>
              <a:rPr dirty="0" err="1"/>
              <a:t>glisse</a:t>
            </a:r>
            <a:r>
              <a:rPr dirty="0"/>
              <a:t> dans </a:t>
            </a:r>
            <a:r>
              <a:rPr dirty="0" err="1"/>
              <a:t>n'importe</a:t>
            </a:r>
            <a:r>
              <a:rPr dirty="0"/>
              <a:t> </a:t>
            </a:r>
            <a:r>
              <a:rPr dirty="0" err="1"/>
              <a:t>laquelle</a:t>
            </a:r>
            <a:r>
              <a:rPr dirty="0"/>
              <a:t>. Le champ </a:t>
            </a:r>
            <a:r>
              <a:rPr dirty="0">
                <a:latin typeface="Consolas"/>
              </a:rPr>
              <a:t>static</a:t>
            </a:r>
            <a:r>
              <a:rPr dirty="0"/>
              <a:t>, la </a:t>
            </a:r>
            <a:r>
              <a:rPr dirty="0">
                <a:latin typeface="Consolas"/>
              </a:rPr>
              <a:t>Map</a:t>
            </a:r>
            <a:r>
              <a:rPr dirty="0"/>
              <a:t> et le tri par </a:t>
            </a:r>
            <a:r>
              <a:rPr dirty="0" err="1"/>
              <a:t>comparateur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trois points </a:t>
            </a:r>
            <a:r>
              <a:rPr dirty="0" err="1"/>
              <a:t>que</a:t>
            </a:r>
            <a:r>
              <a:rPr dirty="0"/>
              <a:t> les copies </a:t>
            </a:r>
            <a:r>
              <a:rPr dirty="0" err="1"/>
              <a:t>oublient</a:t>
            </a:r>
            <a:r>
              <a:rPr dirty="0"/>
              <a:t>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trois premiers </a:t>
            </a:r>
            <a:r>
              <a:rPr dirty="0" err="1"/>
              <a:t>exercices</a:t>
            </a:r>
            <a:r>
              <a:rPr dirty="0"/>
              <a:t> de la </a:t>
            </a:r>
            <a:r>
              <a:rPr dirty="0" err="1"/>
              <a:t>série</a:t>
            </a:r>
            <a:r>
              <a:rPr dirty="0"/>
              <a:t>, dans le fascicule REC. Les </a:t>
            </a:r>
            <a:r>
              <a:rPr dirty="0" err="1"/>
              <a:t>squelettes</a:t>
            </a:r>
            <a:r>
              <a:rPr dirty="0"/>
              <a:t> et les tests </a:t>
            </a:r>
            <a:r>
              <a:rPr dirty="0" err="1"/>
              <a:t>sont</a:t>
            </a:r>
            <a:r>
              <a:rPr dirty="0"/>
              <a:t> dans </a:t>
            </a:r>
            <a:r>
              <a:rPr dirty="0" err="1">
                <a:latin typeface="Consolas"/>
              </a:rPr>
              <a:t>be.ephec.java.rec</a:t>
            </a:r>
            <a:r>
              <a:rPr dirty="0"/>
              <a:t>, de </a:t>
            </a:r>
            <a:r>
              <a:rPr dirty="0">
                <a:latin typeface="Consolas"/>
              </a:rPr>
              <a:t>e01</a:t>
            </a:r>
            <a:r>
              <a:rPr dirty="0"/>
              <a:t> à </a:t>
            </a:r>
            <a:r>
              <a:rPr dirty="0">
                <a:latin typeface="Consolas"/>
              </a:rPr>
              <a:t>e03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dirty="0" err="1"/>
              <a:t>corrigés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publiés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même</a:t>
            </a:r>
            <a:r>
              <a:rPr dirty="0"/>
              <a:t> temps. </a:t>
            </a:r>
            <a:r>
              <a:rPr dirty="0" err="1"/>
              <a:t>Relisez</a:t>
            </a:r>
            <a:r>
              <a:rPr dirty="0"/>
              <a:t> la </a:t>
            </a:r>
            <a:r>
              <a:rPr dirty="0" err="1"/>
              <a:t>consigne</a:t>
            </a:r>
            <a:r>
              <a:rPr dirty="0"/>
              <a:t> de la slide 1.3 avant de les </a:t>
            </a:r>
            <a:r>
              <a:rPr dirty="0" err="1"/>
              <a:t>ouvrir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>
                <a:latin typeface="Consolas"/>
              </a:rPr>
              <a:t>REC.5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</a:t>
            </a:r>
            <a:r>
              <a:rPr dirty="0" err="1">
                <a:latin typeface="Consolas"/>
              </a:rPr>
              <a:t>Programme</a:t>
            </a:r>
            <a:r>
              <a:rPr dirty="0"/>
              <a:t> vide et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de test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commentaire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>
                <a:latin typeface="Consolas"/>
              </a:rPr>
              <a:t>ABS.5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l'exercice</a:t>
            </a:r>
            <a:r>
              <a:rPr dirty="0"/>
              <a:t> à faire </a:t>
            </a:r>
            <a:r>
              <a:rPr dirty="0" err="1"/>
              <a:t>en</a:t>
            </a:r>
            <a:r>
              <a:rPr dirty="0"/>
              <a:t> dernier, et à </a:t>
            </a:r>
            <a:r>
              <a:rPr dirty="0" err="1"/>
              <a:t>chronométrer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seconde</a:t>
            </a:r>
            <a:r>
              <a:rPr dirty="0"/>
              <a:t> </a:t>
            </a:r>
            <a:r>
              <a:rPr dirty="0" err="1"/>
              <a:t>série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la première : les deux </a:t>
            </a:r>
            <a:r>
              <a:rPr dirty="0" err="1"/>
              <a:t>formes</a:t>
            </a:r>
            <a:r>
              <a:rPr dirty="0"/>
              <a:t> qui </a:t>
            </a:r>
            <a:r>
              <a:rPr dirty="0" err="1"/>
              <a:t>manquaient</a:t>
            </a:r>
            <a:r>
              <a:rPr dirty="0"/>
              <a:t>,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générique</a:t>
            </a:r>
            <a:r>
              <a:rPr dirty="0"/>
              <a:t> et la </a:t>
            </a:r>
            <a:r>
              <a:rPr dirty="0" err="1"/>
              <a:t>fenêtre</a:t>
            </a:r>
            <a:r>
              <a:rPr dirty="0"/>
              <a:t>, et deux </a:t>
            </a:r>
            <a:r>
              <a:rPr dirty="0" err="1"/>
              <a:t>exercices</a:t>
            </a:r>
            <a:r>
              <a:rPr dirty="0"/>
              <a:t> sans </a:t>
            </a:r>
            <a:r>
              <a:rPr dirty="0" err="1"/>
              <a:t>squelette</a:t>
            </a:r>
            <a:r>
              <a:rPr dirty="0"/>
              <a:t> de plus.</a:t>
            </a:r>
          </a:p>
          <a:p>
            <a:r>
              <a:rPr dirty="0">
                <a:latin typeface="Consolas"/>
              </a:rPr>
              <a:t>REC.6</a:t>
            </a:r>
            <a:r>
              <a:rPr dirty="0"/>
              <a:t> </a:t>
            </a:r>
            <a:r>
              <a:rPr dirty="0" err="1"/>
              <a:t>reprend</a:t>
            </a:r>
            <a:r>
              <a:rPr dirty="0"/>
              <a:t> </a:t>
            </a:r>
            <a:r>
              <a:rPr dirty="0" err="1"/>
              <a:t>presque</a:t>
            </a:r>
            <a:r>
              <a:rPr dirty="0"/>
              <a:t> mot pour mot la question 2 de la première session 2025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volontaire</a:t>
            </a:r>
            <a:r>
              <a:rPr dirty="0"/>
              <a:t>.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blanc</a:t>
            </a:r>
            <a:r>
              <a:rPr dirty="0"/>
              <a:t>, après la </a:t>
            </a:r>
            <a:r>
              <a:rPr dirty="0" err="1"/>
              <a:t>dernière</a:t>
            </a:r>
            <a:r>
              <a:rPr dirty="0"/>
              <a:t> séance, vous </a:t>
            </a:r>
            <a:r>
              <a:rPr dirty="0" err="1"/>
              <a:t>donnera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session </a:t>
            </a:r>
            <a:r>
              <a:rPr dirty="0" err="1"/>
              <a:t>entière</a:t>
            </a:r>
            <a:r>
              <a:rPr dirty="0"/>
              <a:t> à faire dans les conditions </a:t>
            </a:r>
            <a:r>
              <a:rPr dirty="0" err="1"/>
              <a:t>réelles</a:t>
            </a:r>
            <a:r>
              <a:rPr dirty="0"/>
              <a:t> ; vous </a:t>
            </a:r>
            <a:r>
              <a:rPr dirty="0" err="1"/>
              <a:t>aurez</a:t>
            </a:r>
            <a:r>
              <a:rPr dirty="0"/>
              <a:t> </a:t>
            </a:r>
            <a:r>
              <a:rPr dirty="0" err="1"/>
              <a:t>alors</a:t>
            </a:r>
            <a:r>
              <a:rPr dirty="0"/>
              <a:t> déjà </a:t>
            </a:r>
            <a:r>
              <a:rPr dirty="0" err="1"/>
              <a:t>rencontré</a:t>
            </a:r>
            <a:r>
              <a:rPr dirty="0"/>
              <a:t> </a:t>
            </a:r>
            <a:r>
              <a:rPr dirty="0" err="1"/>
              <a:t>l'une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questions, et vous </a:t>
            </a:r>
            <a:r>
              <a:rPr dirty="0" err="1"/>
              <a:t>mesurerez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révision</a:t>
            </a:r>
            <a:r>
              <a:rPr dirty="0"/>
              <a:t> vous a </a:t>
            </a:r>
            <a:r>
              <a:rPr dirty="0" err="1"/>
              <a:t>apporté</a:t>
            </a:r>
            <a:r>
              <a:rPr dirty="0"/>
              <a:t>.</a:t>
            </a:r>
          </a:p>
          <a:p>
            <a:r>
              <a:rPr dirty="0">
                <a:latin typeface="Consolas"/>
              </a:rPr>
              <a:t>REC.9</a:t>
            </a:r>
            <a:r>
              <a:rPr dirty="0"/>
              <a:t> est la </a:t>
            </a:r>
            <a:r>
              <a:rPr dirty="0" err="1"/>
              <a:t>seule</a:t>
            </a:r>
            <a:r>
              <a:rPr dirty="0"/>
              <a:t> </a:t>
            </a:r>
            <a:r>
              <a:rPr dirty="0" err="1"/>
              <a:t>fenêtre</a:t>
            </a:r>
            <a:r>
              <a:rPr dirty="0"/>
              <a:t> JavaFX des </a:t>
            </a:r>
            <a:r>
              <a:rPr dirty="0" err="1"/>
              <a:t>séries</a:t>
            </a:r>
            <a:r>
              <a:rPr dirty="0"/>
              <a:t>. Elle </a:t>
            </a:r>
            <a:r>
              <a:rPr dirty="0" err="1"/>
              <a:t>tient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, et ne </a:t>
            </a:r>
            <a:r>
              <a:rPr dirty="0" err="1"/>
              <a:t>demande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premier deck FX a </a:t>
            </a:r>
            <a:r>
              <a:rPr dirty="0" err="1"/>
              <a:t>montré</a:t>
            </a:r>
            <a:r>
              <a:rPr dirty="0"/>
              <a:t> : un </a:t>
            </a:r>
            <a:r>
              <a:rPr dirty="0" err="1">
                <a:latin typeface="Consolas"/>
              </a:rPr>
              <a:t>TextField</a:t>
            </a:r>
            <a:r>
              <a:rPr dirty="0"/>
              <a:t>, un </a:t>
            </a:r>
            <a:r>
              <a:rPr dirty="0" err="1"/>
              <a:t>filtre</a:t>
            </a:r>
            <a:r>
              <a:rPr dirty="0"/>
              <a:t> </a:t>
            </a:r>
            <a:r>
              <a:rPr dirty="0" err="1"/>
              <a:t>d'événements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lambda.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trois premiers </a:t>
            </a:r>
            <a:r>
              <a:rPr dirty="0" err="1"/>
              <a:t>exercices</a:t>
            </a:r>
            <a:r>
              <a:rPr dirty="0"/>
              <a:t> de la </a:t>
            </a:r>
            <a:r>
              <a:rPr dirty="0" err="1"/>
              <a:t>seconde</a:t>
            </a:r>
            <a:r>
              <a:rPr dirty="0"/>
              <a:t> </a:t>
            </a:r>
            <a:r>
              <a:rPr dirty="0" err="1"/>
              <a:t>série</a:t>
            </a:r>
            <a:r>
              <a:rPr dirty="0"/>
              <a:t>, </a:t>
            </a:r>
            <a:r>
              <a:rPr dirty="0">
                <a:latin typeface="Consolas"/>
              </a:rPr>
              <a:t>e06</a:t>
            </a:r>
            <a:r>
              <a:rPr dirty="0"/>
              <a:t> à </a:t>
            </a:r>
            <a:r>
              <a:rPr dirty="0">
                <a:latin typeface="Consolas"/>
              </a:rPr>
              <a:t>e08</a:t>
            </a:r>
            <a:r>
              <a:rPr dirty="0"/>
              <a:t> dans </a:t>
            </a:r>
            <a:r>
              <a:rPr dirty="0" err="1">
                <a:latin typeface="Consolas"/>
              </a:rPr>
              <a:t>be.ephec.java.rec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>
                <a:latin typeface="Consolas"/>
              </a:rPr>
              <a:t>REC.9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 de test </a:t>
            </a:r>
            <a:r>
              <a:rPr dirty="0" err="1"/>
              <a:t>automatique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exercices</a:t>
            </a:r>
            <a:r>
              <a:rPr dirty="0"/>
              <a:t> JavaFX : le fascicule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fenêtre</a:t>
            </a:r>
            <a:r>
              <a:rPr dirty="0"/>
              <a:t> doit </a:t>
            </a:r>
            <a:r>
              <a:rPr dirty="0" err="1"/>
              <a:t>montrer</a:t>
            </a:r>
            <a:r>
              <a:rPr dirty="0"/>
              <a:t>. </a:t>
            </a:r>
            <a:r>
              <a:rPr dirty="0">
                <a:latin typeface="Consolas"/>
              </a:rPr>
              <a:t>REC.10</a:t>
            </a:r>
            <a:r>
              <a:rPr dirty="0"/>
              <a:t> 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de test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commentaire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>
                <a:latin typeface="Consolas"/>
              </a:rPr>
              <a:t>REC.5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séries</a:t>
            </a:r>
            <a:r>
              <a:rPr dirty="0"/>
              <a:t> </a:t>
            </a:r>
            <a:r>
              <a:rPr dirty="0" err="1"/>
              <a:t>préparent</a:t>
            </a:r>
            <a:r>
              <a:rPr dirty="0"/>
              <a:t> à la </a:t>
            </a:r>
            <a:r>
              <a:rPr dirty="0" err="1"/>
              <a:t>forme</a:t>
            </a:r>
            <a:r>
              <a:rPr dirty="0"/>
              <a:t> des questions ;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blanc</a:t>
            </a:r>
            <a:r>
              <a:rPr dirty="0"/>
              <a:t> </a:t>
            </a:r>
            <a:r>
              <a:rPr dirty="0" err="1"/>
              <a:t>prépare</a:t>
            </a:r>
            <a:r>
              <a:rPr dirty="0"/>
              <a:t> au temps.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l'examen</a:t>
            </a:r>
            <a:r>
              <a:rPr dirty="0"/>
              <a:t> de la première session 2025-2026, </a:t>
            </a:r>
            <a:r>
              <a:rPr dirty="0" err="1"/>
              <a:t>tel</a:t>
            </a:r>
            <a:r>
              <a:rPr dirty="0"/>
              <a:t> </a:t>
            </a:r>
            <a:r>
              <a:rPr dirty="0" err="1"/>
              <a:t>qu'il</a:t>
            </a:r>
            <a:r>
              <a:rPr dirty="0"/>
              <a:t>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donné</a:t>
            </a:r>
            <a:r>
              <a:rPr dirty="0"/>
              <a:t>, avec les </a:t>
            </a:r>
            <a:r>
              <a:rPr dirty="0" err="1"/>
              <a:t>projets</a:t>
            </a:r>
            <a:r>
              <a:rPr dirty="0"/>
              <a:t> de </a:t>
            </a:r>
            <a:r>
              <a:rPr dirty="0" err="1"/>
              <a:t>départ</a:t>
            </a:r>
            <a:r>
              <a:rPr dirty="0"/>
              <a:t> remis aux </a:t>
            </a:r>
            <a:r>
              <a:rPr dirty="0" err="1"/>
              <a:t>étudiants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jour-</a:t>
            </a:r>
            <a:r>
              <a:rPr dirty="0" err="1"/>
              <a:t>là</a:t>
            </a:r>
            <a:r>
              <a:rPr dirty="0"/>
              <a:t>. Vous le </a:t>
            </a:r>
            <a:r>
              <a:rPr dirty="0" err="1"/>
              <a:t>ferez</a:t>
            </a:r>
            <a:r>
              <a:rPr dirty="0"/>
              <a:t> chez vous,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respectant</a:t>
            </a:r>
            <a:r>
              <a:rPr dirty="0"/>
              <a:t> les 2 h 30, </a:t>
            </a:r>
            <a:r>
              <a:rPr dirty="0" err="1"/>
              <a:t>puis</a:t>
            </a:r>
            <a:r>
              <a:rPr dirty="0"/>
              <a:t> nous le </a:t>
            </a:r>
            <a:r>
              <a:rPr dirty="0" err="1"/>
              <a:t>corrigerons</a:t>
            </a:r>
            <a:r>
              <a:rPr dirty="0"/>
              <a:t> ensemble.</a:t>
            </a:r>
          </a:p>
          <a:p>
            <a:r>
              <a:rPr dirty="0"/>
              <a:t>La </a:t>
            </a:r>
            <a:r>
              <a:rPr dirty="0" err="1"/>
              <a:t>dernière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est un conseil de </a:t>
            </a:r>
            <a:r>
              <a:rPr dirty="0" err="1"/>
              <a:t>rythme</a:t>
            </a:r>
            <a:r>
              <a:rPr dirty="0"/>
              <a:t>. Entre la </a:t>
            </a:r>
            <a:r>
              <a:rPr dirty="0" err="1"/>
              <a:t>dernière</a:t>
            </a:r>
            <a:r>
              <a:rPr dirty="0"/>
              <a:t> séance et </a:t>
            </a:r>
            <a:r>
              <a:rPr dirty="0" err="1"/>
              <a:t>l'examen</a:t>
            </a:r>
            <a:r>
              <a:rPr dirty="0"/>
              <a:t>, trois </a:t>
            </a:r>
            <a:r>
              <a:rPr dirty="0" err="1"/>
              <a:t>semaines</a:t>
            </a:r>
            <a:r>
              <a:rPr dirty="0"/>
              <a:t> : </a:t>
            </a:r>
            <a:r>
              <a:rPr dirty="0" err="1"/>
              <a:t>relire</a:t>
            </a:r>
            <a:r>
              <a:rPr dirty="0"/>
              <a:t> un module par jour est </a:t>
            </a:r>
            <a:r>
              <a:rPr dirty="0" err="1"/>
              <a:t>irréaliste</a:t>
            </a:r>
            <a:r>
              <a:rPr dirty="0"/>
              <a:t>, un par </a:t>
            </a:r>
            <a:r>
              <a:rPr dirty="0" err="1"/>
              <a:t>semaine</a:t>
            </a:r>
            <a:r>
              <a:rPr dirty="0"/>
              <a:t> est trop peu. </a:t>
            </a:r>
            <a:r>
              <a:rPr dirty="0" err="1"/>
              <a:t>Prenez</a:t>
            </a:r>
            <a:r>
              <a:rPr dirty="0"/>
              <a:t> les modules par </a:t>
            </a:r>
            <a:r>
              <a:rPr dirty="0" err="1"/>
              <a:t>leur</a:t>
            </a:r>
            <a:r>
              <a:rPr dirty="0"/>
              <a:t> </a:t>
            </a:r>
            <a:r>
              <a:rPr dirty="0" err="1"/>
              <a:t>poids</a:t>
            </a:r>
            <a:r>
              <a:rPr dirty="0"/>
              <a:t> à </a:t>
            </a:r>
            <a:r>
              <a:rPr dirty="0" err="1"/>
              <a:t>l'examen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commençant</a:t>
            </a:r>
            <a:r>
              <a:rPr dirty="0"/>
              <a:t> par </a:t>
            </a:r>
            <a:r>
              <a:rPr dirty="0" err="1"/>
              <a:t>ceux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séries</a:t>
            </a:r>
            <a:r>
              <a:rPr dirty="0"/>
              <a:t> vous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montré</a:t>
            </a:r>
            <a:r>
              <a:rPr dirty="0"/>
              <a:t> </a:t>
            </a:r>
            <a:r>
              <a:rPr dirty="0" err="1"/>
              <a:t>fragiles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2026-2027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Module REC</a:t>
            </a:r>
          </a:p>
          <a:p>
            <a:r>
              <a:t>Exercices récapitulatifs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fr-FR" sz="8000" dirty="0"/>
              <a:t>JAVA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Au programme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B9A584-175E-9DC0-41FC-C472BA8C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  <p:grpSp>
        <p:nvGrpSpPr>
          <p:cNvPr id="9" name="Section 1"/>
          <p:cNvGrpSpPr/>
          <p:nvPr/>
        </p:nvGrpSpPr>
        <p:grpSpPr>
          <a:xfrm>
            <a:off x="640080" y="1463040"/>
            <a:ext cx="10972800" cy="914400"/>
            <a:chOff x="640080" y="1463040"/>
            <a:chExt cx="10972800" cy="914400"/>
          </a:xfrm>
        </p:grpSpPr>
        <p:sp>
          <p:nvSpPr>
            <p:cNvPr id="3" name="Sommaire du module"/>
            <p:cNvSpPr/>
            <p:nvPr/>
          </p:nvSpPr>
          <p:spPr>
            <a:xfrm>
              <a:off x="640080" y="1463040"/>
              <a:ext cx="1097280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Sommaire du module, texte"/>
            <p:cNvSpPr txBox="1"/>
            <p:nvPr/>
          </p:nvSpPr>
          <p:spPr>
            <a:xfrm>
              <a:off x="822959" y="1463040"/>
              <a:ext cx="1060704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1   </a:t>
              </a:r>
              <a:r>
                <a:rPr sz="2600">
                  <a:solidFill>
                    <a:srgbClr val="FFFFFF"/>
                  </a:solidFill>
                </a:rPr>
                <a:t>Pourquoi</a:t>
              </a:r>
            </a:p>
          </p:txBody>
        </p:sp>
      </p:grpSp>
      <p:grpSp>
        <p:nvGrpSpPr>
          <p:cNvPr id="10" name="Section 2"/>
          <p:cNvGrpSpPr/>
          <p:nvPr/>
        </p:nvGrpSpPr>
        <p:grpSpPr>
          <a:xfrm>
            <a:off x="640080" y="2560320"/>
            <a:ext cx="10972800" cy="914400"/>
            <a:chOff x="640080" y="2560320"/>
            <a:chExt cx="10972800" cy="914400"/>
          </a:xfrm>
        </p:grpSpPr>
        <p:sp>
          <p:nvSpPr>
            <p:cNvPr id="5" name="Sommaire du module"/>
            <p:cNvSpPr/>
            <p:nvPr/>
          </p:nvSpPr>
          <p:spPr>
            <a:xfrm>
              <a:off x="640080" y="2560320"/>
              <a:ext cx="1097280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Sommaire du module, texte"/>
            <p:cNvSpPr txBox="1"/>
            <p:nvPr/>
          </p:nvSpPr>
          <p:spPr>
            <a:xfrm>
              <a:off x="822959" y="2560320"/>
              <a:ext cx="1060704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2   </a:t>
              </a:r>
              <a:r>
                <a:rPr sz="2600">
                  <a:solidFill>
                    <a:srgbClr val="FFFFFF"/>
                  </a:solidFill>
                </a:rPr>
                <a:t>Série 1</a:t>
              </a:r>
            </a:p>
          </p:txBody>
        </p:sp>
      </p:grpSp>
      <p:grpSp>
        <p:nvGrpSpPr>
          <p:cNvPr id="11" name="Section 3"/>
          <p:cNvGrpSpPr/>
          <p:nvPr/>
        </p:nvGrpSpPr>
        <p:grpSpPr>
          <a:xfrm>
            <a:off x="640080" y="3657600"/>
            <a:ext cx="10972800" cy="914400"/>
            <a:chOff x="640080" y="3657600"/>
            <a:chExt cx="10972800" cy="914400"/>
          </a:xfrm>
        </p:grpSpPr>
        <p:sp>
          <p:nvSpPr>
            <p:cNvPr id="7" name="Sommaire du module"/>
            <p:cNvSpPr/>
            <p:nvPr/>
          </p:nvSpPr>
          <p:spPr>
            <a:xfrm>
              <a:off x="640080" y="3657600"/>
              <a:ext cx="1097280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Sommaire du module, texte"/>
            <p:cNvSpPr txBox="1"/>
            <p:nvPr/>
          </p:nvSpPr>
          <p:spPr>
            <a:xfrm>
              <a:off x="822959" y="3657600"/>
              <a:ext cx="1060704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3   </a:t>
              </a:r>
              <a:r>
                <a:rPr sz="2600">
                  <a:solidFill>
                    <a:srgbClr val="FFFFFF"/>
                  </a:solidFill>
                </a:rPr>
                <a:t>Série 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C_section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6800"/>
            <a:ext cx="10676587" cy="920879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1. Réviser dans la forme de l'examen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B9A584-175E-9DC0-41FC-C472BA8C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L'examen ne prévient pas</a:t>
            </a:r>
          </a:p>
        </p:txBody>
      </p:sp>
      <p:sp>
        <p:nvSpPr>
          <p:cNvPr id="3" name="Introduction"/>
          <p:cNvSpPr txBox="1"/>
          <p:nvPr/>
        </p:nvSpPr>
        <p:spPr>
          <a:xfrm>
            <a:off x="777240" y="1234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Chaque question d'examen mobilise plusieurs modules, sans dire lesquels.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539240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N°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0" y="2011680"/>
            <a:ext cx="6979920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Sa forme, stable d'une session à l'autre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45040" y="2011680"/>
            <a:ext cx="1539240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Modules</a:t>
            </a:r>
          </a:p>
        </p:txBody>
      </p:sp>
      <p:sp>
        <p:nvSpPr>
          <p:cNvPr id="3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  <p:sp>
        <p:nvSpPr>
          <p:cNvPr id="2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1. Pourquoi</a:t>
            </a:r>
          </a:p>
        </p:txBody>
      </p:sp>
      <p:grpSp>
        <p:nvGrpSpPr>
          <p:cNvPr id="28" name="Ligne 1"/>
          <p:cNvGrpSpPr/>
          <p:nvPr/>
        </p:nvGrpSpPr>
        <p:grpSpPr>
          <a:xfrm>
            <a:off x="640080" y="2621280"/>
            <a:ext cx="10881360" cy="536448"/>
            <a:chOff x="640080" y="2621280"/>
            <a:chExt cx="10881360" cy="536448"/>
          </a:xfrm>
        </p:grpSpPr>
        <p:sp>
          <p:nvSpPr>
            <p:cNvPr id="7" name="Rounded Rectangle 6"/>
            <p:cNvSpPr/>
            <p:nvPr/>
          </p:nvSpPr>
          <p:spPr>
            <a:xfrm>
              <a:off x="640080" y="26212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26212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90800" y="2621280"/>
              <a:ext cx="697992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Une classe simple, et son exception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845040" y="26212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POO, EXC</a:t>
              </a:r>
            </a:p>
          </p:txBody>
        </p:sp>
      </p:grpSp>
      <p:grpSp>
        <p:nvGrpSpPr>
          <p:cNvPr id="29" name="Ligne 2"/>
          <p:cNvGrpSpPr/>
          <p:nvPr/>
        </p:nvGrpSpPr>
        <p:grpSpPr>
          <a:xfrm>
            <a:off x="640080" y="3230880"/>
            <a:ext cx="10881360" cy="536448"/>
            <a:chOff x="640080" y="3230880"/>
            <a:chExt cx="10881360" cy="536448"/>
          </a:xfrm>
        </p:grpSpPr>
        <p:sp>
          <p:nvSpPr>
            <p:cNvPr id="11" name="Rounded Rectangle 10"/>
            <p:cNvSpPr/>
            <p:nvPr/>
          </p:nvSpPr>
          <p:spPr>
            <a:xfrm>
              <a:off x="640080" y="32308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32308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90800" y="3230880"/>
              <a:ext cx="697992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 type générique, et une collection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845040" y="32308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GEN, COL</a:t>
              </a:r>
            </a:p>
          </p:txBody>
        </p:sp>
      </p:grpSp>
      <p:grpSp>
        <p:nvGrpSpPr>
          <p:cNvPr id="30" name="Ligne 3"/>
          <p:cNvGrpSpPr/>
          <p:nvPr/>
        </p:nvGrpSpPr>
        <p:grpSpPr>
          <a:xfrm>
            <a:off x="640080" y="3840480"/>
            <a:ext cx="10881360" cy="536448"/>
            <a:chOff x="640080" y="3840480"/>
            <a:chExt cx="10881360" cy="536448"/>
          </a:xfrm>
        </p:grpSpPr>
        <p:sp>
          <p:nvSpPr>
            <p:cNvPr id="15" name="Rounded Rectangle 14"/>
            <p:cNvSpPr/>
            <p:nvPr/>
          </p:nvSpPr>
          <p:spPr>
            <a:xfrm>
              <a:off x="640080" y="38404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7240" y="38404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90800" y="3840480"/>
              <a:ext cx="697992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Écrire les tests, corriger la classe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38404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JUN</a:t>
              </a:r>
            </a:p>
          </p:txBody>
        </p:sp>
      </p:grpSp>
      <p:grpSp>
        <p:nvGrpSpPr>
          <p:cNvPr id="31" name="Ligne 4"/>
          <p:cNvGrpSpPr/>
          <p:nvPr/>
        </p:nvGrpSpPr>
        <p:grpSpPr>
          <a:xfrm>
            <a:off x="640080" y="4450080"/>
            <a:ext cx="10881360" cy="536448"/>
            <a:chOff x="640080" y="4450080"/>
            <a:chExt cx="10881360" cy="536448"/>
          </a:xfrm>
        </p:grpSpPr>
        <p:sp>
          <p:nvSpPr>
            <p:cNvPr id="19" name="Rounded Rectangle 18"/>
            <p:cNvSpPr/>
            <p:nvPr/>
          </p:nvSpPr>
          <p:spPr>
            <a:xfrm>
              <a:off x="640080" y="44500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7240" y="44500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0800" y="4450080"/>
              <a:ext cx="697992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Interfaces et classes abstraites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845040" y="44500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ABS, ITF</a:t>
              </a:r>
            </a:p>
          </p:txBody>
        </p:sp>
      </p:grpSp>
      <p:grpSp>
        <p:nvGrpSpPr>
          <p:cNvPr id="32" name="Ligne 5"/>
          <p:cNvGrpSpPr/>
          <p:nvPr/>
        </p:nvGrpSpPr>
        <p:grpSpPr>
          <a:xfrm>
            <a:off x="640080" y="5059680"/>
            <a:ext cx="10881360" cy="536448"/>
            <a:chOff x="640080" y="5059680"/>
            <a:chExt cx="10881360" cy="536448"/>
          </a:xfrm>
        </p:grpSpPr>
        <p:sp>
          <p:nvSpPr>
            <p:cNvPr id="23" name="Rounded Rectangle 22"/>
            <p:cNvSpPr/>
            <p:nvPr/>
          </p:nvSpPr>
          <p:spPr>
            <a:xfrm>
              <a:off x="640080" y="50596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7240" y="50596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90800" y="5059680"/>
              <a:ext cx="697992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Compléter une fenêtre JavaFX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845040" y="5059680"/>
              <a:ext cx="1539240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FX, LAM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Comment prendre une série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sz="2800"/>
              <a:t>Lisez la classe de test avant d'écrire : à l'examen, elle vous est donnée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800"/>
              <a:t>Chronométrez-vous : une question vaut une trentaine de minutes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800"/>
              <a:t>Le corrigé après le test vert, ou après avoir vraiment bloqué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800"/>
              <a:t>Le mémento Clean Code est autorisé : entraînez-vous à y retrouver une règle</a:t>
            </a:r>
          </a:p>
        </p:txBody>
      </p:sp>
      <p:sp>
        <p:nvSpPr>
          <p:cNvPr id="5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  <p:sp>
        <p:nvSpPr>
          <p:cNvPr id="4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1. Pourquoi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C_section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6800"/>
            <a:ext cx="10041366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2. Première série, après JUN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B9A584-175E-9DC0-41FC-C472BA8C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Cinq exercices, cinq formes</a:t>
            </a:r>
          </a:p>
        </p:txBody>
      </p:sp>
      <p:sp>
        <p:nvSpPr>
          <p:cNvPr id="3" name="Introduction"/>
          <p:cNvSpPr txBox="1"/>
          <p:nvPr/>
        </p:nvSpPr>
        <p:spPr>
          <a:xfrm>
            <a:off x="777240" y="1234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Tout ce qui précède JUN, à faire pendant la semaine sans cours.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399735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295" y="2011680"/>
            <a:ext cx="6756712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Ce qu'il reprend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2328" y="2011680"/>
            <a:ext cx="1901952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Modules</a:t>
            </a:r>
          </a:p>
        </p:txBody>
      </p:sp>
      <p:sp>
        <p:nvSpPr>
          <p:cNvPr id="3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  <p:sp>
        <p:nvSpPr>
          <p:cNvPr id="2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2. Série 1</a:t>
            </a:r>
          </a:p>
        </p:txBody>
      </p:sp>
      <p:grpSp>
        <p:nvGrpSpPr>
          <p:cNvPr id="28" name="Ligne 1"/>
          <p:cNvGrpSpPr/>
          <p:nvPr/>
        </p:nvGrpSpPr>
        <p:grpSpPr>
          <a:xfrm>
            <a:off x="640080" y="2621280"/>
            <a:ext cx="10881360" cy="536448"/>
            <a:chOff x="640080" y="2621280"/>
            <a:chExt cx="10881360" cy="536448"/>
          </a:xfrm>
        </p:grpSpPr>
        <p:sp>
          <p:nvSpPr>
            <p:cNvPr id="7" name="Rounded Rectangle 6"/>
            <p:cNvSpPr/>
            <p:nvPr/>
          </p:nvSpPr>
          <p:spPr>
            <a:xfrm>
              <a:off x="640080" y="26212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2621280"/>
              <a:ext cx="1399735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51295" y="2621280"/>
              <a:ext cx="675671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1 : une classe et son exception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82328" y="2621280"/>
              <a:ext cx="190195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POO, EXC</a:t>
              </a:r>
            </a:p>
          </p:txBody>
        </p:sp>
      </p:grpSp>
      <p:grpSp>
        <p:nvGrpSpPr>
          <p:cNvPr id="29" name="Ligne 2"/>
          <p:cNvGrpSpPr/>
          <p:nvPr/>
        </p:nvGrpSpPr>
        <p:grpSpPr>
          <a:xfrm>
            <a:off x="640080" y="3230880"/>
            <a:ext cx="10881360" cy="536448"/>
            <a:chOff x="640080" y="3230880"/>
            <a:chExt cx="10881360" cy="536448"/>
          </a:xfrm>
        </p:grpSpPr>
        <p:sp>
          <p:nvSpPr>
            <p:cNvPr id="11" name="Rounded Rectangle 10"/>
            <p:cNvSpPr/>
            <p:nvPr/>
          </p:nvSpPr>
          <p:spPr>
            <a:xfrm>
              <a:off x="640080" y="32308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3230880"/>
              <a:ext cx="1399735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1295" y="3230880"/>
              <a:ext cx="675671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4 : hiérarchie et énumération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82328" y="3230880"/>
              <a:ext cx="190195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ABS, ITF, ENU</a:t>
              </a:r>
            </a:p>
          </p:txBody>
        </p:sp>
      </p:grpSp>
      <p:grpSp>
        <p:nvGrpSpPr>
          <p:cNvPr id="30" name="Ligne 3"/>
          <p:cNvGrpSpPr/>
          <p:nvPr/>
        </p:nvGrpSpPr>
        <p:grpSpPr>
          <a:xfrm>
            <a:off x="640080" y="3840480"/>
            <a:ext cx="10881360" cy="536448"/>
            <a:chOff x="640080" y="3840480"/>
            <a:chExt cx="10881360" cy="536448"/>
          </a:xfrm>
        </p:grpSpPr>
        <p:sp>
          <p:nvSpPr>
            <p:cNvPr id="15" name="Rounded Rectangle 14"/>
            <p:cNvSpPr/>
            <p:nvPr/>
          </p:nvSpPr>
          <p:spPr>
            <a:xfrm>
              <a:off x="640080" y="38404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7240" y="3840480"/>
              <a:ext cx="1399735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51295" y="3840480"/>
              <a:ext cx="675671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3 : les tests, puis la correction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482328" y="3840480"/>
              <a:ext cx="190195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JUN</a:t>
              </a:r>
            </a:p>
          </p:txBody>
        </p:sp>
      </p:grpSp>
      <p:grpSp>
        <p:nvGrpSpPr>
          <p:cNvPr id="31" name="Ligne 4"/>
          <p:cNvGrpSpPr/>
          <p:nvPr/>
        </p:nvGrpSpPr>
        <p:grpSpPr>
          <a:xfrm>
            <a:off x="640080" y="4450080"/>
            <a:ext cx="10881360" cy="536448"/>
            <a:chOff x="640080" y="4450080"/>
            <a:chExt cx="10881360" cy="536448"/>
          </a:xfrm>
        </p:grpSpPr>
        <p:sp>
          <p:nvSpPr>
            <p:cNvPr id="19" name="Rounded Rectangle 18"/>
            <p:cNvSpPr/>
            <p:nvPr/>
          </p:nvSpPr>
          <p:spPr>
            <a:xfrm>
              <a:off x="640080" y="44500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7240" y="4450080"/>
              <a:ext cx="1399735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51295" y="4450080"/>
              <a:ext cx="675671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000">
                  <a:solidFill>
                    <a:schemeClr val="accent4"/>
                  </a:solidFill>
                  <a:latin typeface="Consolas"/>
                </a:rPr>
                <a:t>static</a:t>
              </a:r>
              <a:r>
                <a:rPr sz="2200">
                  <a:solidFill>
                    <a:srgbClr val="FFFFFF"/>
                  </a:solidFill>
                </a:rPr>
                <a:t>, </a:t>
              </a:r>
              <a:r>
                <a:rPr sz="2000">
                  <a:solidFill>
                    <a:schemeClr val="accent4"/>
                  </a:solidFill>
                  <a:latin typeface="Consolas"/>
                </a:rPr>
                <a:t>Map</a:t>
              </a:r>
              <a:r>
                <a:rPr sz="2200">
                  <a:solidFill>
                    <a:srgbClr val="FFFFFF"/>
                  </a:solidFill>
                </a:rPr>
                <a:t>, comparateur, exception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82328" y="4450080"/>
              <a:ext cx="190195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STA, COL, EXC</a:t>
              </a:r>
            </a:p>
          </p:txBody>
        </p:sp>
      </p:grpSp>
      <p:grpSp>
        <p:nvGrpSpPr>
          <p:cNvPr id="32" name="Ligne 5"/>
          <p:cNvGrpSpPr/>
          <p:nvPr/>
        </p:nvGrpSpPr>
        <p:grpSpPr>
          <a:xfrm>
            <a:off x="640080" y="5059680"/>
            <a:ext cx="10881360" cy="536448"/>
            <a:chOff x="640080" y="5059680"/>
            <a:chExt cx="10881360" cy="536448"/>
          </a:xfrm>
        </p:grpSpPr>
        <p:sp>
          <p:nvSpPr>
            <p:cNvPr id="23" name="Rounded Rectangle 22"/>
            <p:cNvSpPr/>
            <p:nvPr/>
          </p:nvSpPr>
          <p:spPr>
            <a:xfrm>
              <a:off x="640080" y="50596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7240" y="5059680"/>
              <a:ext cx="1399735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51295" y="5059680"/>
              <a:ext cx="675671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1 sans squelette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482328" y="5059680"/>
              <a:ext cx="1901952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POO, EXC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2. Série 1</a:t>
            </a:r>
          </a:p>
        </p:txBody>
      </p:sp>
      <p:grpSp>
        <p:nvGrpSpPr>
          <p:cNvPr id="19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1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Une horloge sur 24 heures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  <p:grpSp>
        <p:nvGrpSpPr>
          <p:cNvPr id="20" name="Exercice 2"/>
          <p:cNvGrpSpPr/>
          <p:nvPr/>
        </p:nvGrpSpPr>
        <p:grpSpPr>
          <a:xfrm>
            <a:off x="640080" y="2560320"/>
            <a:ext cx="9326880" cy="960120"/>
            <a:chOff x="640080" y="2560320"/>
            <a:chExt cx="9326880" cy="960120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 parc de véhicules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  <p:grpSp>
        <p:nvGrpSpPr>
          <p:cNvPr id="21" name="Exercice 3"/>
          <p:cNvGrpSpPr/>
          <p:nvPr/>
        </p:nvGrpSpPr>
        <p:grpSpPr>
          <a:xfrm>
            <a:off x="640080" y="3703320"/>
            <a:ext cx="9326880" cy="960120"/>
            <a:chOff x="640080" y="3703320"/>
            <a:chExt cx="9326880" cy="96012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3703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8680" y="3703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80360" y="3703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Tester, puis corriger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Exercices, suite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  <p:sp>
        <p:nvSpPr>
          <p:cNvPr id="1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2. Série 1</a:t>
            </a:r>
          </a:p>
        </p:txBody>
      </p:sp>
      <p:grpSp>
        <p:nvGrpSpPr>
          <p:cNvPr id="14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10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REC.4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Le registre des inscrits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  <p:grpSp>
        <p:nvGrpSpPr>
          <p:cNvPr id="15" name="Exercice 2"/>
          <p:cNvGrpSpPr/>
          <p:nvPr/>
        </p:nvGrpSpPr>
        <p:grpSpPr>
          <a:xfrm>
            <a:off x="640080" y="2560320"/>
            <a:ext cx="9326880" cy="960120"/>
            <a:chOff x="640080" y="2560320"/>
            <a:chExt cx="9326880" cy="960120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REC.5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 compte bancaire, à partir de rien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C_section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6800"/>
            <a:ext cx="10738382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3. Seconde série, après JavaFX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B9A584-175E-9DC0-41FC-C472BA8C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Cinq exercices, le reste du programme</a:t>
            </a:r>
          </a:p>
        </p:txBody>
      </p:sp>
      <p:sp>
        <p:nvSpPr>
          <p:cNvPr id="3" name="Introduction"/>
          <p:cNvSpPr txBox="1"/>
          <p:nvPr/>
        </p:nvSpPr>
        <p:spPr>
          <a:xfrm>
            <a:off x="777240" y="1234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Les génériques, les lambdas et une première fenêtre, à faire pendant les deux semaines sans cours.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704109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5669" y="2011680"/>
            <a:ext cx="6650181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Ce qu'il reprend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80170" y="2011680"/>
            <a:ext cx="1704109" cy="536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chemeClr val="accent4"/>
                </a:solidFill>
              </a:rPr>
              <a:t>Modules</a:t>
            </a:r>
          </a:p>
        </p:txBody>
      </p:sp>
      <p:sp>
        <p:nvSpPr>
          <p:cNvPr id="3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  <p:sp>
        <p:nvSpPr>
          <p:cNvPr id="2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3. Série 2</a:t>
            </a:r>
          </a:p>
        </p:txBody>
      </p:sp>
      <p:grpSp>
        <p:nvGrpSpPr>
          <p:cNvPr id="28" name="Ligne 1"/>
          <p:cNvGrpSpPr/>
          <p:nvPr/>
        </p:nvGrpSpPr>
        <p:grpSpPr>
          <a:xfrm>
            <a:off x="640080" y="2621280"/>
            <a:ext cx="10881360" cy="536448"/>
            <a:chOff x="640080" y="2621280"/>
            <a:chExt cx="10881360" cy="536448"/>
          </a:xfrm>
        </p:grpSpPr>
        <p:sp>
          <p:nvSpPr>
            <p:cNvPr id="7" name="Rounded Rectangle 6"/>
            <p:cNvSpPr/>
            <p:nvPr/>
          </p:nvSpPr>
          <p:spPr>
            <a:xfrm>
              <a:off x="640080" y="26212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26212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REC.6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55669" y="2621280"/>
              <a:ext cx="6650181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2 : historique générique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80170" y="26212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GEN, COL</a:t>
              </a:r>
            </a:p>
          </p:txBody>
        </p:sp>
      </p:grpSp>
      <p:grpSp>
        <p:nvGrpSpPr>
          <p:cNvPr id="29" name="Ligne 2"/>
          <p:cNvGrpSpPr/>
          <p:nvPr/>
        </p:nvGrpSpPr>
        <p:grpSpPr>
          <a:xfrm>
            <a:off x="640080" y="3230880"/>
            <a:ext cx="10881360" cy="536448"/>
            <a:chOff x="640080" y="3230880"/>
            <a:chExt cx="10881360" cy="536448"/>
          </a:xfrm>
        </p:grpSpPr>
        <p:sp>
          <p:nvSpPr>
            <p:cNvPr id="11" name="Rounded Rectangle 10"/>
            <p:cNvSpPr/>
            <p:nvPr/>
          </p:nvSpPr>
          <p:spPr>
            <a:xfrm>
              <a:off x="640080" y="32308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32308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REC.7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55669" y="3230880"/>
              <a:ext cx="6650181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Méthodes génériques et lambdas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80170" y="32308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GEN, LAM</a:t>
              </a:r>
            </a:p>
          </p:txBody>
        </p:sp>
      </p:grpSp>
      <p:grpSp>
        <p:nvGrpSpPr>
          <p:cNvPr id="30" name="Ligne 3"/>
          <p:cNvGrpSpPr/>
          <p:nvPr/>
        </p:nvGrpSpPr>
        <p:grpSpPr>
          <a:xfrm>
            <a:off x="640080" y="3840480"/>
            <a:ext cx="10881360" cy="536448"/>
            <a:chOff x="640080" y="3840480"/>
            <a:chExt cx="10881360" cy="536448"/>
          </a:xfrm>
        </p:grpSpPr>
        <p:sp>
          <p:nvSpPr>
            <p:cNvPr id="15" name="Rounded Rectangle 14"/>
            <p:cNvSpPr/>
            <p:nvPr/>
          </p:nvSpPr>
          <p:spPr>
            <a:xfrm>
              <a:off x="640080" y="38404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7240" y="38404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REC.8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55669" y="3840480"/>
              <a:ext cx="6650181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Questions 1 et 3 : classe et tests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80170" y="38404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POO, JUN</a:t>
              </a:r>
            </a:p>
          </p:txBody>
        </p:sp>
      </p:grpSp>
      <p:grpSp>
        <p:nvGrpSpPr>
          <p:cNvPr id="31" name="Ligne 4"/>
          <p:cNvGrpSpPr/>
          <p:nvPr/>
        </p:nvGrpSpPr>
        <p:grpSpPr>
          <a:xfrm>
            <a:off x="640080" y="4450080"/>
            <a:ext cx="10881360" cy="536448"/>
            <a:chOff x="640080" y="4450080"/>
            <a:chExt cx="10881360" cy="536448"/>
          </a:xfrm>
        </p:grpSpPr>
        <p:sp>
          <p:nvSpPr>
            <p:cNvPr id="19" name="Rounded Rectangle 18"/>
            <p:cNvSpPr/>
            <p:nvPr/>
          </p:nvSpPr>
          <p:spPr>
            <a:xfrm>
              <a:off x="640080" y="44500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7240" y="44500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REC.9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669" y="4450080"/>
              <a:ext cx="6650181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5 : une fenêtre qui filtre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80170" y="44500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FX, LAM</a:t>
              </a:r>
            </a:p>
          </p:txBody>
        </p:sp>
      </p:grpSp>
      <p:grpSp>
        <p:nvGrpSpPr>
          <p:cNvPr id="32" name="Ligne 5"/>
          <p:cNvGrpSpPr/>
          <p:nvPr/>
        </p:nvGrpSpPr>
        <p:grpSpPr>
          <a:xfrm>
            <a:off x="640080" y="5059680"/>
            <a:ext cx="10881360" cy="536448"/>
            <a:chOff x="640080" y="5059680"/>
            <a:chExt cx="10881360" cy="536448"/>
          </a:xfrm>
        </p:grpSpPr>
        <p:sp>
          <p:nvSpPr>
            <p:cNvPr id="23" name="Rounded Rectangle 22"/>
            <p:cNvSpPr/>
            <p:nvPr/>
          </p:nvSpPr>
          <p:spPr>
            <a:xfrm>
              <a:off x="640080" y="5059680"/>
              <a:ext cx="10881360" cy="536448"/>
            </a:xfrm>
            <a:prstGeom prst="roundRect">
              <a:avLst>
                <a:gd name="adj" fmla="val 1704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7240" y="50596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REC.10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55669" y="5059680"/>
              <a:ext cx="6650181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Question 4 sans squelette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80170" y="5059680"/>
              <a:ext cx="1704109" cy="5364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ABS, ITF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3. Série 2</a:t>
            </a:r>
          </a:p>
        </p:txBody>
      </p:sp>
      <p:grpSp>
        <p:nvGrpSpPr>
          <p:cNvPr id="19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1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REC.6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 historique générique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  <p:grpSp>
        <p:nvGrpSpPr>
          <p:cNvPr id="20" name="Exercice 2"/>
          <p:cNvGrpSpPr/>
          <p:nvPr/>
        </p:nvGrpSpPr>
        <p:grpSpPr>
          <a:xfrm>
            <a:off x="640080" y="2560320"/>
            <a:ext cx="9326880" cy="960120"/>
            <a:chOff x="640080" y="2560320"/>
            <a:chExt cx="9326880" cy="960120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REC.7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Outils génériques et lambdas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  <p:grpSp>
        <p:nvGrpSpPr>
          <p:cNvPr id="21" name="Exercice 3"/>
          <p:cNvGrpSpPr/>
          <p:nvPr/>
        </p:nvGrpSpPr>
        <p:grpSpPr>
          <a:xfrm>
            <a:off x="640080" y="3703320"/>
            <a:ext cx="9326880" cy="960120"/>
            <a:chOff x="640080" y="3703320"/>
            <a:chExt cx="9326880" cy="96012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3703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8680" y="3703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REC.8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80360" y="3703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 thermomètre, et ses tests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Exercices, suite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  <p:sp>
        <p:nvSpPr>
          <p:cNvPr id="1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3. Série 2</a:t>
            </a:r>
          </a:p>
        </p:txBody>
      </p:sp>
      <p:grpSp>
        <p:nvGrpSpPr>
          <p:cNvPr id="14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10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REC.9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Une fenêtre qui filtre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  <p:grpSp>
        <p:nvGrpSpPr>
          <p:cNvPr id="15" name="Exercice 2"/>
          <p:cNvGrpSpPr/>
          <p:nvPr/>
        </p:nvGrpSpPr>
        <p:grpSpPr>
          <a:xfrm>
            <a:off x="640080" y="2560320"/>
            <a:ext cx="9326880" cy="960120"/>
            <a:chOff x="640080" y="2560320"/>
            <a:chExt cx="9326880" cy="960120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12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REC.10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200">
                  <a:solidFill>
                    <a:srgbClr val="FFFFFF"/>
                  </a:solidFill>
                </a:rPr>
                <a:t>Une hiérarchie, à partir de rien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REC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Et après les deux séries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sz="2800"/>
              <a:t>Après la dernière séance : l'examen blanc, un vrai examen d'une session précédente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800"/>
              <a:t>À faire chez soi, en 2 h 30, avec ses projets de départ et ses tests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800"/>
              <a:t>La correction se fait ensemble, en séance ou sur Moodle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800"/>
              <a:t>D'ici là : les deux séries, et un module par semaine à relire</a:t>
            </a:r>
          </a:p>
        </p:txBody>
      </p:sp>
      <p:sp>
        <p:nvSpPr>
          <p:cNvPr id="5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  <p:sp>
        <p:nvSpPr>
          <p:cNvPr id="4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REC · </a:t>
            </a:r>
            <a:r>
              <a:rPr sz="1100" b="1">
                <a:solidFill>
                  <a:schemeClr val="accent4"/>
                </a:solidFill>
              </a:rPr>
              <a:t>3. Série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114962</TotalTime>
  <Words>1505</Words>
  <Application>Microsoft Macintosh PowerPoint</Application>
  <PresentationFormat>Grand écran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Consolas</vt:lpstr>
      <vt:lpstr>Corbel</vt:lpstr>
      <vt:lpstr>ThemeEphec2022</vt:lpstr>
      <vt:lpstr>JAVA 2</vt:lpstr>
      <vt:lpstr>Au programme</vt:lpstr>
      <vt:lpstr>Présentation PowerPoint</vt:lpstr>
      <vt:lpstr>L'examen ne prévient pas</vt:lpstr>
      <vt:lpstr>Comment prendre une série</vt:lpstr>
      <vt:lpstr>Présentation PowerPoint</vt:lpstr>
      <vt:lpstr>Cinq exercices, cinq formes</vt:lpstr>
      <vt:lpstr>Exercices</vt:lpstr>
      <vt:lpstr>Exercices, suite</vt:lpstr>
      <vt:lpstr>Présentation PowerPoint</vt:lpstr>
      <vt:lpstr>Cinq exercices, le reste du programme</vt:lpstr>
      <vt:lpstr>Exercices</vt:lpstr>
      <vt:lpstr>Exercices, suite</vt:lpstr>
      <vt:lpstr>Et après les deux séries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36</cp:revision>
  <dcterms:created xsi:type="dcterms:W3CDTF">2023-01-04T13:50:20Z</dcterms:created>
  <dcterms:modified xsi:type="dcterms:W3CDTF">2026-10-24T20:41:31Z</dcterms:modified>
</cp:coreProperties>
</file>