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60"/>
  </p:notesMasterIdLst>
  <p:handoutMasterIdLst>
    <p:handoutMasterId r:id="rId61"/>
  </p:handoutMasterIdLst>
  <p:sldIdLst>
    <p:sldId id="568" r:id="rId12"/>
    <p:sldId id="591" r:id="rId21"/>
    <p:sldId id="569" r:id="rId13"/>
    <p:sldId id="570" r:id="rId14"/>
    <p:sldId id="571" r:id="rId15"/>
    <p:sldId id="572" r:id="rId11"/>
    <p:sldId id="573" r:id="rId17"/>
    <p:sldId id="574" r:id="rId18"/>
    <p:sldId id="575" r:id="rId19"/>
    <p:sldId id="576" r:id="rId20"/>
    <p:sldId id="577" r:id="rId10"/>
    <p:sldId id="578" r:id="rId22"/>
    <p:sldId id="579" r:id="rId23"/>
    <p:sldId id="580" r:id="rId24"/>
    <p:sldId id="581" r:id="rId25"/>
    <p:sldId id="582" r:id="rId26"/>
    <p:sldId id="583" r:id="rId27"/>
    <p:sldId id="584" r:id="rId28"/>
    <p:sldId id="585" r:id="rId29"/>
    <p:sldId id="586" r:id="rId30"/>
    <p:sldId id="587" r:id="rId31"/>
    <p:sldId id="588" r:id="rId32"/>
    <p:sldId id="589" r:id="rId33"/>
    <p:sldId id="59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310C47C-C536-531A-BF2D-D4E4CB3CB5D0}">
          <p14:sldIdLst>
            <p14:sldId id="568"/>
            <p14:sldId id="591"/>
          </p14:sldIdLst>
        </p14:section>
        <p14:section name="1. Les propriétés" id="{6A268D30-B2E0-5F6E-972F-2C466EBB7583}">
          <p14:sldIdLst>
            <p14:sldId id="569"/>
            <p14:sldId id="570"/>
            <p14:sldId id="571"/>
            <p14:sldId id="572"/>
            <p14:sldId id="573"/>
            <p14:sldId id="574"/>
          </p14:sldIdLst>
        </p14:section>
        <p14:section name="2. Les bindings" id="{F0499EF8-9654-5A33-809A-9D73A78463FB}">
          <p14:sldIdLst>
            <p14:sldId id="575"/>
            <p14:sldId id="576"/>
            <p14:sldId id="577"/>
            <p14:sldId id="578"/>
            <p14:sldId id="579"/>
          </p14:sldIdLst>
        </p14:section>
        <p14:section name="3. MVC" id="{0E765E7C-62C4-5358-BF6D-EE2FAF31928C}">
          <p14:sldIdLst>
            <p14:sldId id="580"/>
            <p14:sldId id="581"/>
            <p14:sldId id="582"/>
          </p14:sldIdLst>
        </p14:section>
        <p14:section name="4. Le FXML" id="{6EE2A3DF-ED6F-5AB2-9FB6-BBAF85413F00}">
          <p14:sldIdLst>
            <p14:sldId id="583"/>
            <p14:sldId id="584"/>
            <p14:sldId id="585"/>
            <p14:sldId id="586"/>
            <p14:sldId id="587"/>
            <p14:sldId id="588"/>
            <p14:sldId id="589"/>
            <p14:sldId id="59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96301"/>
  </p:normalViewPr>
  <p:slideViewPr>
    <p:cSldViewPr snapToGrid="0">
      <p:cViewPr>
        <p:scale>
          <a:sx n="97" d="100"/>
          <a:sy n="97" d="100"/>
        </p:scale>
        <p:origin x="2344" y="736"/>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11.xml"/><Relationship Id="rId11" Type="http://schemas.openxmlformats.org/officeDocument/2006/relationships/slide" Target="slides/slide6.xml"/><Relationship Id="rId12" Type="http://schemas.openxmlformats.org/officeDocument/2006/relationships/slide" Target="slides/slide1.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2.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60" Type="http://schemas.openxmlformats.org/officeDocument/2006/relationships/notesMaster" Target="notesMasters/notesMaster1.xml"/><Relationship Id="rId61" Type="http://schemas.openxmlformats.org/officeDocument/2006/relationships/handoutMaster" Target="handoutMasters/handout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16/09/2026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16/09/2026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facultative : aucun exercice ne l'emploie.</a:t>
            </a:r>
          </a:p>
          <a:p>
            <a:r>
              <a:t>Un binding ordinaire a une source et une cible, et la cible ne s'écrit plus. Le binding bidirectionnel n'a ni l'une ni l'autre : deux propriétés sont déclarées égales, et une modification de l'une se reporte sur l'autre. C'est ce qu'on veut pour un réglage qu'on peut changer de deux endroits, ici un curseur et une valeur du programme, </a:t>
            </a:r>
            <a:r>
              <a:rPr>
                <a:latin typeface="Consolas"/>
              </a:rPr>
              <a:t>reglage</a:t>
            </a:r>
            <a:r>
              <a:t>, une </a:t>
            </a:r>
            <a:r>
              <a:rPr>
                <a:latin typeface="Consolas"/>
              </a:rPr>
              <a:t>DoubleProperty</a:t>
            </a:r>
            <a:r>
              <a:t>.</a:t>
            </a:r>
          </a:p>
          <a:p>
            <a:r>
              <a:t>Les deux propriétés doivent être du même genre : deux nombres, deux textes, deux booléens.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deck vous a appris à réagir à un geste : un clic, une touche. Celui-ci change de point de vue. Au lieu d'écouter ce que fait l'utilisateur, on observe des valeurs, et on finit par déclarer qu'une valeur dépend d'une autre, une fois pour toutes.</a:t>
            </a:r>
          </a:p>
          <a:p>
            <a:r>
              <a:t>La seconde moitié du deck prend de la hauteur. Une application qui grandit ne peut pas tout mettre dans </a:t>
            </a:r>
            <a:r>
              <a:rPr>
                <a:latin typeface="Consolas"/>
              </a:rPr>
              <a:t>start</a:t>
            </a:r>
            <a:r>
              <a:t> : on sépare ce qu'on voit de ce qui calcule, et on finit par décrire l'écran dans un fichier à part.</a:t>
            </a:r>
          </a:p>
          <a:p>
            <a:r>
              <a:t>Rien de ce deck n'est évalué à l'examen. Mais la calculatrice de FX.9 est la seule application complète du thème, et c'est en la construisant que vous verrez pourquoi une architecture compte.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Supposez qu'un libellé doive toujours afficher l'intensité de la lampe. Avec ce que vous savez, il faudrait le mettre à jour dans chaque gestionnaire qui modifie l'intensité : le bouton plus, le bouton moins, la touche flèche, et le jour où on ajoute un curseur, le curseur. Oublier un seul endroit, c'est afficher une valeur fausse.</a:t>
            </a:r>
          </a:p>
          <a:p>
            <a:r>
              <a:t>Le problème est mal posé. Ce qui compte n'est pas le geste, c'est le changement de valeur, quelle qu'en soit la cause. JavaFX permet d'observer une valeur directement : on est prévenu quand elle change, que ce soit par un clic, une saisie collée, ou une ligne de votre propre programme.</a:t>
            </a:r>
          </a:p>
          <a:p>
            <a:r>
              <a:t>C'est encore l'observateur du module ITF, appliqué cette fois à une valeur plutôt qu'à un composant.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 n'a pas de notion de propriété dans le langage. Il a une convention, plus ancienne que JavaFX : un champ privé, un accesseur </a:t>
            </a:r>
            <a:r>
              <a:rPr>
                <a:latin typeface="Consolas"/>
              </a:rPr>
              <a:t>get</a:t>
            </a:r>
            <a:r>
              <a:t> et un mutateur </a:t>
            </a:r>
            <a:r>
              <a:rPr>
                <a:latin typeface="Consolas"/>
              </a:rPr>
              <a:t>set</a:t>
            </a:r>
            <a:r>
              <a:t> qui portent son nom. C'est ce que vous écrivez depuis le module POO.</a:t>
            </a:r>
          </a:p>
          <a:p>
            <a:r>
              <a:t>JavaFX garde cette convention et y ajoute un accès : une méthode dont le nom finit par </a:t>
            </a:r>
            <a:r>
              <a:rPr>
                <a:latin typeface="Consolas"/>
              </a:rPr>
              <a:t>Property</a:t>
            </a:r>
            <a:r>
              <a:t>, et qui rend non pas la valeur, mais l'objet qui la contient. C'est sur cet objet qu'on peut s'abonner, ou qu'on peut lier une autre valeur.</a:t>
            </a:r>
          </a:p>
          <a:p>
            <a:r>
              <a:rPr>
                <a:latin typeface="Consolas"/>
              </a:rPr>
              <a:t>IntegerProperty</a:t>
            </a:r>
            <a:r>
              <a:t> est abstraite ; on instancie </a:t>
            </a:r>
            <a:r>
              <a:rPr>
                <a:latin typeface="Consolas"/>
              </a:rPr>
              <a:t>SimpleIntegerProperty</a:t>
            </a:r>
            <a:r>
              <a:t>. Le champ est </a:t>
            </a:r>
            <a:r>
              <a:rPr>
                <a:latin typeface="Consolas"/>
              </a:rPr>
              <a:t>final</a:t>
            </a:r>
            <a:r>
              <a:t> : la propriété ne change jamais, c'est sa valeur qui change. Les contrôles JavaFX sont tous écrits sur ce modèle, et c'est ce qui vous permettra de reconnaître leurs propriétés dans la Javadoc.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Consolas"/>
              </a:rPr>
              <a:t>ChangeListener</a:t>
            </a:r>
            <a:r>
              <a:t> est une interface fonctionnelle, comme </a:t>
            </a:r>
            <a:r>
              <a:rPr>
                <a:latin typeface="Consolas"/>
              </a:rPr>
              <a:t>EventHandler</a:t>
            </a:r>
            <a:r>
              <a:t> : sa méthode unique, </a:t>
            </a:r>
            <a:r>
              <a:rPr>
                <a:latin typeface="Consolas"/>
              </a:rPr>
              <a:t>changed</a:t>
            </a:r>
            <a:r>
              <a:t>, reçoit trois paramètres, d'où les trois noms de la lambda.</a:t>
            </a:r>
          </a:p>
          <a:p>
            <a:r>
              <a:t>Le premier est la propriété elle-même. On l'ignore presque toujours, parce qu'on sait à quoi on s'est abonné. Il sert quand un même listener est abonné à plusieurs propriétés, et doit savoir laquelle a changé, comme </a:t>
            </a:r>
            <a:r>
              <a:rPr>
                <a:latin typeface="Consolas"/>
              </a:rPr>
              <a:t>getSource</a:t>
            </a:r>
            <a:r>
              <a:t> pour un gestionnaire.</a:t>
            </a:r>
          </a:p>
          <a:p>
            <a:r>
              <a:t>Les deux autres ont un type qui surprend. Une </a:t>
            </a:r>
            <a:r>
              <a:rPr>
                <a:latin typeface="Consolas"/>
              </a:rPr>
              <a:t>IntegerProperty</a:t>
            </a:r>
            <a:r>
              <a:t> est observable comme </a:t>
            </a:r>
            <a:r>
              <a:rPr>
                <a:latin typeface="Consolas"/>
              </a:rPr>
              <a:t>ObservableValue&lt;Number&gt;</a:t>
            </a:r>
            <a:r>
              <a:t>, et non comme une valeur </a:t>
            </a:r>
            <a:r>
              <a:rPr>
                <a:latin typeface="Consolas"/>
              </a:rPr>
              <a:t>int</a:t>
            </a:r>
            <a:r>
              <a:t> : un type générique ne peut pas être primitif, et JavaFX a choisi un type commun à tous les nombres. Le listener reçoit donc un </a:t>
            </a:r>
            <a:r>
              <a:rPr>
                <a:latin typeface="Consolas"/>
              </a:rPr>
              <a:t>Number</a:t>
            </a:r>
            <a:r>
              <a:t>, qu'on convertit par </a:t>
            </a:r>
            <a:r>
              <a:rPr>
                <a:latin typeface="Consolas"/>
              </a:rPr>
              <a:t>intValue</a:t>
            </a:r>
            <a:r>
              <a:t> ou </a:t>
            </a:r>
            <a:r>
              <a:rPr>
                <a:latin typeface="Consolas"/>
              </a:rPr>
              <a:t>doubleValue</a:t>
            </a:r>
            <a:r>
              <a:t>.</a:t>
            </a:r>
          </a:p>
          <a:p>
            <a:r>
              <a:t>Retenez surtout la dernière puce. Un listener ne dit rien tant que rien ne change : pour afficher la valeur de départ, il faut l'afficher soi-même.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contrôles du deck précédent sont tous bâtis sur des propriétés : leur texte, leur largeur, leur visibilité, leur état coché ou désactivé. C'est ce qui permet d'observer n'importe lequel de ces attributs, sans attendre un événement particulier.</a:t>
            </a:r>
          </a:p>
          <a:p>
            <a:r>
              <a:t>Ici, la case à cocher prévient quand elle change d'état, qu'on l'ait cochée à la souris, au clavier, ou que le programme l'ait cochée par </a:t>
            </a:r>
            <a:r>
              <a:rPr>
                <a:latin typeface="Consolas"/>
              </a:rPr>
              <a:t>setSelected</a:t>
            </a:r>
            <a:r>
              <a:t>. Le paramètre </a:t>
            </a:r>
            <a:r>
              <a:rPr>
                <a:latin typeface="Consolas"/>
              </a:rPr>
              <a:t>apres</a:t>
            </a:r>
            <a:r>
              <a:t> est un </a:t>
            </a:r>
            <a:r>
              <a:rPr>
                <a:latin typeface="Consolas"/>
              </a:rPr>
              <a:t>Boolean</a:t>
            </a:r>
            <a:r>
              <a:t>, la nouvelle valeur.</a:t>
            </a:r>
          </a:p>
          <a:p>
            <a:r>
              <a:t>Pour trouver la propriété d'un contrôle, cherchez dans sa Javadoc ou dans la complétion une méthode qui finit par </a:t>
            </a:r>
            <a:r>
              <a:rPr>
                <a:latin typeface="Consolas"/>
              </a:rPr>
              <a:t>Property</a:t>
            </a:r>
            <a:r>
              <a:t>. Ctrl+Q ouvre la Javadoc sans quitter l'éditeur, voir IDE.14. C'est la démarche de FX.6.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Consolas"/>
              </a:rPr>
              <a:t>FX.6</a:t>
            </a:r>
            <a:r>
              <a:t> vous fait chercher, dans la Javadoc de </a:t>
            </a:r>
            <a:r>
              <a:rPr>
                <a:latin typeface="Consolas"/>
              </a:rPr>
              <a:t>TextField</a:t>
            </a:r>
            <a:r>
              <a:t>, la propriété à laquelle s'abonner. Ne cherchez pas ailleurs que dans l'éditeur : la démarche compte autant que la réponse.</a:t>
            </a:r>
          </a:p>
          <a:p>
            <a:r>
              <a:rPr>
                <a:latin typeface="Consolas"/>
              </a:rPr>
              <a:t>FX.7</a:t>
            </a:r>
            <a:r>
              <a:t> refait le geste sur un curseur, et vous fait rencontrer trois pièges, que l'énoncé annonce. Vous connaissez déjà deux des trois : le </a:t>
            </a:r>
            <a:r>
              <a:rPr>
                <a:latin typeface="Consolas"/>
              </a:rPr>
              <a:t>Number</a:t>
            </a:r>
            <a:r>
              <a:t>, et le listener muet à l'ouverture.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listener dit : quand ceci change, exécute ce code. Un binding dit : ceci est égal à cela. La différence paraît mince, elle ne l'est pas. Avec un listener, c'est votre code qui recopie la valeur, et il peut oublier ou se tromper. Avec un binding, il n'y a plus de code de recopie : la relation est déclarée une fois, et JavaFX la maintient.</a:t>
            </a:r>
          </a:p>
          <a:p>
            <a:r>
              <a:rPr>
                <a:latin typeface="Consolas"/>
              </a:rPr>
              <a:t>asString</a:t>
            </a:r>
            <a:r>
              <a:t> fabrique, à partir de l'intensité, un texte observable qui la suit. C'est ce texte qu'on lie au libellé. Le libellé affiche la bonne valeur dès la création du lien, et la suivra tant qu'il existe.</a:t>
            </a:r>
          </a:p>
          <a:p>
            <a:r>
              <a:t>La dernière puce est une conséquence. Si le texte du libellé est égal à l'intensité, le modifier à la main n'a plus de sens. La méthode </a:t>
            </a:r>
            <a:r>
              <a:rPr>
                <a:latin typeface="Consolas"/>
              </a:rPr>
              <a:t>unbind</a:t>
            </a:r>
            <a:r>
              <a:t> défait le lien quand il le faut.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propriété ne se lie pas seulement à une autre propriété. Elle se lie à une expression, et chaque méthode du tableau fabrique une nouvelle valeur observable, qui se recalcule quand ce dont elle dépend change. Les expressions s'enchaînent : </a:t>
            </a:r>
            <a:r>
              <a:rPr>
                <a:latin typeface="Consolas"/>
              </a:rPr>
              <a:t>intensite.multiply(2).greaterThan(100)</a:t>
            </a:r>
            <a:r>
              <a:t> est un booléen qui suit l'intensité.</a:t>
            </a:r>
          </a:p>
          <a:p>
            <a:r>
              <a:t>C'est ainsi qu'on désactive un bouton sans écrire de condition dans aucun gestionnaire : </a:t>
            </a:r>
            <a:r>
              <a:rPr>
                <a:latin typeface="Consolas"/>
              </a:rPr>
              <a:t>plus.disableProperty().bind(intensite.greaterThan(99))</a:t>
            </a:r>
            <a:r>
              <a:t>. Le bouton se grise de lui-même quand la lampe est au maximum, et se réactive quand elle redescend, quel que soit le chemin qui l'y a menée.</a:t>
            </a:r>
          </a:p>
          <a:p>
            <a:r>
              <a:rPr>
                <a:latin typeface="Consolas"/>
              </a:rPr>
              <a:t>asString</a:t>
            </a:r>
            <a:r>
              <a:t> accepte aussi un format, comme </a:t>
            </a:r>
            <a:r>
              <a:rPr>
                <a:latin typeface="Consolas"/>
              </a:rPr>
              <a:t>String.format</a:t>
            </a:r>
            <a:r>
              <a:t> : </a:t>
            </a:r>
            <a:r>
              <a:rPr>
                <a:latin typeface="Consolas"/>
              </a:rPr>
              <a:t>intensite.asString("%d %%")</a:t>
            </a:r>
            <a:r>
              <a:t> affiche « 80 % ». Pour assembler plusieurs morceaux de texte, la classe </a:t>
            </a:r>
            <a:r>
              <a:rPr>
                <a:latin typeface="Consolas"/>
              </a:rPr>
              <a:t>Bindings</a:t>
            </a:r>
            <a:r>
              <a:t> offre </a:t>
            </a:r>
            <a:r>
              <a:rPr>
                <a:latin typeface="Consolas"/>
              </a:rPr>
              <a:t>concat</a:t>
            </a:r>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Consolas"/>
              </a:rPr>
              <a:t>FX.8</a:t>
            </a:r>
            <a:r>
              <a:t> impose une contrainte : aucun listener, aucun gestionnaire de clavier. Trois composants dépendent d'un champ de saisie, et chaque dépendance s'écrit en une instruction.</a:t>
            </a:r>
          </a:p>
          <a:p>
            <a:r>
              <a:t>Comparez votre code à celui de </a:t>
            </a:r>
            <a:r>
              <a:rPr>
                <a:latin typeface="Consolas"/>
              </a:rPr>
              <a:t>FX.7</a:t>
            </a:r>
            <a:r>
              <a:t> une fois fini. La question de fin vous demande ce que le binding fait disparaître, et ce qu'il vous fait perdre : les deux réponses comptent.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Jusqu'ici, tout tenait dans une classe : les composants, les gestionnaires, et la règle elle-même, ce que fait un clic sur l'interrupteur. Ça suffit pour un compteur. Dès qu'une application contient une vraie logique, une calculatrice, un jeu, ce mélange coûte cher.</a:t>
            </a:r>
          </a:p>
          <a:p>
            <a:r>
              <a:t>On sépare alors trois rôles, sous le nom de MVC, modèle, vue, contrôleur. Le gain le plus visible tient dans la dernière puce. Vous avez vu au module JUN combien un test JUnit est rapide à écrire et à relancer, et au début de ce thème pourquoi on ne teste pas une fenêtre. Un modèle qui n'importe rien de JavaFX se teste comme n'importe quelle classe.</a:t>
            </a:r>
          </a:p>
          <a:p>
            <a:r>
              <a:t>Le second gain est que le modèle survit à son écran. C'est exactement ce que montrait l'incrément G.33 : la pile, les règles et les stratégies du Nim sont passées de la console à une fenêtre sans une ligne changée. Seul </a:t>
            </a:r>
            <a:r>
              <a:rPr>
                <a:latin typeface="Consolas"/>
              </a:rPr>
              <a:t>JeuNim</a:t>
            </a:r>
            <a:r>
              <a:t>, qui mêlait la boucle de partie et l'affichage, n'a pas suivi.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règle tient dans les dépendances. Le modèle ne connaît ni les boutons ni les libellés : il dit seulement si la lampe est allumée, et sait la basculer. Le contrôleur reçoit le clic, demande au modèle d'agir, puis lit son état pour mettre la vue à jour.</a:t>
            </a:r>
          </a:p>
          <a:p>
            <a:r>
              <a:t>Comparez au deck FX1. La méthode </a:t>
            </a:r>
            <a:r>
              <a:rPr>
                <a:latin typeface="Consolas"/>
              </a:rPr>
              <a:t>basculer</a:t>
            </a:r>
            <a:r>
              <a:t> du contrôleur porte le même nom que celle de la lampe, mais elle ne décide plus de rien : elle transmet, puis affiche. Si demain la lampe a trois états au lieu de deux, c'est le modèle qui change, et le contrôleur n'aura qu'à afficher.</a:t>
            </a:r>
          </a:p>
          <a:p>
            <a:r>
              <a:t>Remarquez aussi que le modèle ne contient pas de propriété JavaFX. Ce serait tentant, pour le lier directement à la vue ; ce serait aussi importer JavaFX dans le modèle. Le modèle de FX.9 n'en contient pas.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module compte quatre sections : 1. Les propriétés ; 2. Les bindings ; 3. MVC ; 4. Le FXML.</a:t>
            </a:r>
          </a:p>
          <a:p>
            <a:r>
              <a:t>Chaque intercalaire porte le numéro de sa section, et chaque page rappelle en bas à droite la section en cours.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vue construite en Java mélange deux choses : la structure de l'écran, quels conteneurs, quels contrôles, et la façon de la construire, les </a:t>
            </a:r>
            <a:r>
              <a:rPr>
                <a:latin typeface="Consolas"/>
              </a:rPr>
              <a:t>new</a:t>
            </a:r>
            <a:r>
              <a:t> et les </a:t>
            </a:r>
            <a:r>
              <a:rPr>
                <a:latin typeface="Consolas"/>
              </a:rPr>
              <a:t>getChildren</a:t>
            </a:r>
            <a:r>
              <a:t>. Le FXML ne garde que la structure, dans un fichier XML que JavaFX transforme en objets au chargement.</a:t>
            </a:r>
          </a:p>
          <a:p>
            <a:r>
              <a:t>On y gagne une séparation de plus : le fichier décrit ce qu'on voit, le contrôleur ce qui se passe. On peut aussi le modifier sans recompiler, et le dessiner avec Scene Builder, un éditeur visuel facultatif. Son installation est décrite en IDE.29 du guide IntelliJ.</a:t>
            </a:r>
          </a:p>
          <a:p>
            <a:r>
              <a:t>Le FXML n'est pas au programme de l'examen : la question JavaFX se résout toujours en Java. Il vous sert à comprendre comment se construisent les vraies applications, et à faire FX.9, dont la vue vous est fournie.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XML est un format de texte fait de balises. Un élément s'ouvre et se ferme, </a:t>
            </a:r>
            <a:r>
              <a:rPr>
                <a:latin typeface="Consolas"/>
              </a:rPr>
              <a:t>&lt;VBox&gt;</a:t>
            </a:r>
            <a:r>
              <a:t> puis </a:t>
            </a:r>
            <a:r>
              <a:rPr>
                <a:latin typeface="Consolas"/>
              </a:rPr>
              <a:t>&lt;/VBox&gt;</a:t>
            </a:r>
            <a:r>
              <a:t>, ou se ferme aussitôt, </a:t>
            </a:r>
            <a:r>
              <a:rPr>
                <a:latin typeface="Consolas"/>
              </a:rPr>
              <a:t>&lt;Label/&gt;</a:t>
            </a:r>
            <a:r>
              <a:t>, quand il n'a pas de contenu. Il porte des attributs, des paires nom et valeur entre guillemets.</a:t>
            </a:r>
          </a:p>
          <a:p>
            <a:r>
              <a:t>Le FXML donne un sens précis à chaque morceau. Ce fichier crée une </a:t>
            </a:r>
            <a:r>
              <a:rPr>
                <a:latin typeface="Consolas"/>
              </a:rPr>
              <a:t>VBox</a:t>
            </a:r>
            <a:r>
              <a:t>, lui fixe un espacement de 10 et un alignement centré, puis lui donne deux enfants. C'est mot pour mot le code que vous écriviez dans </a:t>
            </a:r>
            <a:r>
              <a:rPr>
                <a:latin typeface="Consolas"/>
              </a:rPr>
              <a:t>start</a:t>
            </a:r>
            <a:r>
              <a:t>, sans les </a:t>
            </a:r>
            <a:r>
              <a:rPr>
                <a:latin typeface="Consolas"/>
              </a:rPr>
              <a:t>new</a:t>
            </a:r>
            <a:r>
              <a:t> ni les appels.</a:t>
            </a:r>
          </a:p>
          <a:p>
            <a:r>
              <a:t>Pour savoir quels attributs un élément accepte, lisez la Javadoc de sa classe : chaque méthode qui commence par </a:t>
            </a:r>
            <a:r>
              <a:rPr>
                <a:latin typeface="Consolas"/>
              </a:rPr>
              <a:t>set</a:t>
            </a:r>
            <a:r>
              <a:t> correspond à un attribut.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fichier FXML n'est pas du code : Maven le range dans les ressources, qui sont copiées à côté des classes compilées. La méthode </a:t>
            </a:r>
            <a:r>
              <a:rPr>
                <a:latin typeface="Consolas"/>
              </a:rPr>
              <a:t>getResource</a:t>
            </a:r>
            <a:r>
              <a:t> le retrouve à partir de la classe, dans le même package.</a:t>
            </a:r>
          </a:p>
          <a:p>
            <a:r>
              <a:t>Le </a:t>
            </a:r>
            <a:r>
              <a:rPr>
                <a:latin typeface="Consolas"/>
              </a:rPr>
              <a:t>FXMLLoader</a:t>
            </a:r>
            <a:r>
              <a:t> lit le fichier, crée tous les objets qu'il décrit, et rend la racine. Il peut échouer, si le fichier est absent ou mal écrit : la méthode </a:t>
            </a:r>
            <a:r>
              <a:rPr>
                <a:latin typeface="Consolas"/>
              </a:rPr>
              <a:t>load</a:t>
            </a:r>
            <a:r>
              <a:t> déclare une </a:t>
            </a:r>
            <a:r>
              <a:rPr>
                <a:latin typeface="Consolas"/>
              </a:rPr>
              <a:t>IOException</a:t>
            </a:r>
            <a:r>
              <a:t>, contrôlée, que </a:t>
            </a:r>
            <a:r>
              <a:rPr>
                <a:latin typeface="Consolas"/>
              </a:rPr>
              <a:t>start</a:t>
            </a:r>
            <a:r>
              <a:t> laisse passer par son </a:t>
            </a:r>
            <a:r>
              <a:rPr>
                <a:latin typeface="Consolas"/>
              </a:rPr>
              <a:t>throws</a:t>
            </a:r>
            <a:r>
              <a:t>. Vous retrouverez ces exceptions au module FIC.</a:t>
            </a:r>
          </a:p>
          <a:p>
            <a:r>
              <a:t>C'est exactement ce que fait la classe </a:t>
            </a:r>
            <a:r>
              <a:rPr>
                <a:latin typeface="Consolas"/>
              </a:rPr>
              <a:t>ApplicationCalculatrice</a:t>
            </a:r>
            <a:r>
              <a:t> de FX.9, qui vous est fournie. Elle ne crée aucun composant et ne branche aucun gestionnaire : tout est dans le fichier et dans le contrôleur.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fichier, la vue de la lampe porte trois ajouts : </a:t>
            </a:r>
            <a:r>
              <a:rPr>
                <a:latin typeface="Consolas"/>
              </a:rPr>
              <a:t>fx:controller</a:t>
            </a:r>
            <a:r>
              <a:t> sur la racine, </a:t>
            </a:r>
            <a:r>
              <a:rPr>
                <a:latin typeface="Consolas"/>
              </a:rPr>
              <a:t>fx:id="etat"</a:t>
            </a:r>
            <a:r>
              <a:t> sur le libellé, </a:t>
            </a:r>
            <a:r>
              <a:rPr>
                <a:latin typeface="Consolas"/>
              </a:rPr>
              <a:t>onAction="#basculer"</a:t>
            </a:r>
            <a:r>
              <a:t> sur le bouton.</a:t>
            </a:r>
          </a:p>
          <a:p>
            <a:r>
              <a:t>Au chargement, le </a:t>
            </a:r>
            <a:r>
              <a:rPr>
                <a:latin typeface="Consolas"/>
              </a:rPr>
              <a:t>FXMLLoader</a:t>
            </a:r>
            <a:r>
              <a:t> crée un objet de la classe désignée par </a:t>
            </a:r>
            <a:r>
              <a:rPr>
                <a:latin typeface="Consolas"/>
              </a:rPr>
              <a:t>fx:controller</a:t>
            </a:r>
            <a:r>
              <a:t>. Puis, pour chaque élément qui porte un </a:t>
            </a:r>
            <a:r>
              <a:rPr>
                <a:latin typeface="Consolas"/>
              </a:rPr>
              <a:t>fx:id</a:t>
            </a:r>
            <a:r>
              <a:t>, il range l'objet créé dans le champ du contrôleur qui porte ce nom. C'est ce qu'on appelle l'injection : le contrôleur ne crée pas ses composants, il les reçoit.</a:t>
            </a:r>
          </a:p>
          <a:p>
            <a:r>
              <a:t>L'annotation </a:t>
            </a:r>
            <a:r>
              <a:rPr>
                <a:latin typeface="Consolas"/>
              </a:rPr>
              <a:t>@FXML</a:t>
            </a:r>
            <a:r>
              <a:t> autorise cet accès à un membre privé. Sans elle, le champ resterait vide, et la méthode introuvable. Le nom et le type doivent correspondre exactement à ceux du fichier.</a:t>
            </a:r>
          </a:p>
          <a:p>
            <a:r>
              <a:rPr>
                <a:latin typeface="Consolas"/>
              </a:rPr>
              <a:t>onAction</a:t>
            </a:r>
            <a:r>
              <a:t> remplace le </a:t>
            </a:r>
            <a:r>
              <a:rPr>
                <a:latin typeface="Consolas"/>
              </a:rPr>
              <a:t>setOnAction</a:t>
            </a:r>
            <a:r>
              <a:t> du deck FX1 : le dièse désigne une méthode du contrôleur. Elle reçoit l'événement, et </a:t>
            </a:r>
            <a:r>
              <a:rPr>
                <a:latin typeface="Consolas"/>
              </a:rPr>
              <a:t>getSource</a:t>
            </a:r>
            <a:r>
              <a:t> reste disponible. C'est ce qui permettra à FX.9 de brancher dix boutons sur une seule méthode.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Consolas"/>
              </a:rPr>
              <a:t>FX.9</a:t>
            </a:r>
            <a:r>
              <a:t> est la seule application complète du thème. La vue et la classe d'application sont fournies ; vous écrivez le modèle, puis le contrôleur.</a:t>
            </a:r>
          </a:p>
          <a:p>
            <a:r>
              <a:t>Commencez par le modèle, et vérifiez-le avant de toucher au contrôleur : la première question de fin vous demande d'écrire sa classe de test, et c'est le bon moment. Un contrôleur qui appelle un modèle juste est bien plus simple à mettre au point.</a:t>
            </a:r>
          </a:p>
          <a:p>
            <a:r>
              <a:t>Lisez le fichier FXML avant d'écrire le contrôleur. Il vous dit les noms de champs et de méthodes que le contrôleur doit porter.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démineur est un projet à part, livré séparément du recueil. Il applique exactement ce que la section 3 a posé : toute la logique du jeu tient dans une classe </a:t>
            </a:r>
            <a:r>
              <a:rPr>
                <a:latin typeface="Consolas"/>
              </a:rPr>
              <a:t>Grille</a:t>
            </a:r>
            <a:r>
              <a:t>, qui ne connaît rien à JavaFX, et que des tests JUnit vérifient. L'interface, elle, vous est donnée.</a:t>
            </a:r>
          </a:p>
          <a:p>
            <a:r>
              <a:t>C'est un travail facultatif, à faire à votre rythme, et un bon entraînement à la frontière entre modèle et vue : les tests vous disent si votre grille est juste avant même que vous ne lanciez une partie.</a:t>
            </a:r>
          </a:p>
          <a:p>
            <a:r>
              <a:t>Le thème compte un dixième exercice, </a:t>
            </a:r>
            <a:r>
              <a:rPr>
                <a:latin typeface="Consolas"/>
              </a:rPr>
              <a:t>FX.10</a:t>
            </a:r>
            <a:r>
              <a:t>, sur les threads d'une application graphique. Il est hors examen et n'est pas traité en séance.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deck FX1 se terminait sur une question : les boutons qui prendraient plus d'allumettes qu'il n'en reste devraient être désactivés, mais où écrire cette règle, et combien de fois ?</a:t>
            </a:r>
          </a:p>
          <a:p>
            <a:r>
              <a:rPr>
                <a:latin typeface="Consolas"/>
              </a:rPr>
              <a:t>G.34</a:t>
            </a:r>
            <a:r>
              <a:t> y répond par un binding. La fenêtre du Nim tient une </a:t>
            </a:r>
            <a:r>
              <a:rPr>
                <a:latin typeface="Consolas"/>
              </a:rPr>
              <a:t>IntegerProperty</a:t>
            </a:r>
            <a:r>
              <a:t> qui suit la taille de la pile, et chaque bouton se désactive par une seule instruction : celui qui prend trois allumettes, quand il en reste moins de trois. À la fin, tous sont grisés, sans aucune condition « partie finie ». Les classes du Nim, elles, ne changent toujours pas.</a:t>
            </a:r>
          </a:p>
          <a:p>
            <a:r>
              <a:t>Avant d'écrire une ligne, demandez-vous qui met cette propriété à jour, et pourquoi elle vit dans la fenêtre plutôt que dans la pile.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6.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17.xml"/><Relationship Id="rId4"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3.xml"/><Relationship Id="rId4"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27.xml"/><Relationship Id="rId4"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FX - seconde partie</a:t>
            </a:r>
          </a:p>
          <a:p>
            <a:r>
              <a:rPr/>
              <a:t>Propriétés et architecture</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Au programme</a:t>
            </a: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7</a:t>
            </a:fld>
            <a:endParaRPr lang="fr-FR"/>
          </a:p>
        </p:txBody>
      </p:sp>
      <p:grpSp>
        <p:nvGrpSpPr>
          <p:cNvPr id="12" name="Section 1"/>
          <p:cNvGrpSpPr/>
          <p:nvPr/>
        </p:nvGrpSpPr>
        <p:grpSpPr>
          <a:xfrm>
            <a:off x="640080" y="1463040"/>
            <a:ext cx="10972800" cy="914400"/>
            <a:chOff x="640080" y="1463040"/>
            <a:chExt cx="10972800" cy="914400"/>
          </a:xfrm>
        </p:grpSpPr>
        <p:sp>
          <p:nvSpPr>
            <p:cNvPr id="3" name="Sommaire du module"/>
            <p:cNvSpPr/>
            <p:nvPr/>
          </p:nvSpPr>
          <p:spPr>
            <a:xfrm>
              <a:off x="640080" y="1463040"/>
              <a:ext cx="1097280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Les propriétés</a:t>
              </a:r>
            </a:p>
          </p:txBody>
        </p:sp>
      </p:grpSp>
      <p:grpSp>
        <p:nvGrpSpPr>
          <p:cNvPr id="13" name="Section 2"/>
          <p:cNvGrpSpPr/>
          <p:nvPr/>
        </p:nvGrpSpPr>
        <p:grpSpPr>
          <a:xfrm>
            <a:off x="640080" y="2560320"/>
            <a:ext cx="10972800" cy="914400"/>
            <a:chOff x="640080" y="2560320"/>
            <a:chExt cx="10972800" cy="914400"/>
          </a:xfrm>
        </p:grpSpPr>
        <p:sp>
          <p:nvSpPr>
            <p:cNvPr id="5" name="Sommaire du module"/>
            <p:cNvSpPr/>
            <p:nvPr/>
          </p:nvSpPr>
          <p:spPr>
            <a:xfrm>
              <a:off x="640080" y="2560320"/>
              <a:ext cx="1097280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Les bindings</a:t>
              </a:r>
            </a:p>
          </p:txBody>
        </p:sp>
      </p:grpSp>
      <p:grpSp>
        <p:nvGrpSpPr>
          <p:cNvPr id="14" name="Section 3"/>
          <p:cNvGrpSpPr/>
          <p:nvPr/>
        </p:nvGrpSpPr>
        <p:grpSpPr>
          <a:xfrm>
            <a:off x="640080" y="3657600"/>
            <a:ext cx="10972800" cy="914400"/>
            <a:chOff x="640080" y="3657600"/>
            <a:chExt cx="10972800" cy="914400"/>
          </a:xfrm>
        </p:grpSpPr>
        <p:sp>
          <p:nvSpPr>
            <p:cNvPr id="7" name="Sommaire du module"/>
            <p:cNvSpPr/>
            <p:nvPr/>
          </p:nvSpPr>
          <p:spPr>
            <a:xfrm>
              <a:off x="640080" y="3657600"/>
              <a:ext cx="1097280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MVC</a:t>
              </a:r>
            </a:p>
          </p:txBody>
        </p:sp>
      </p:grpSp>
      <p:grpSp>
        <p:nvGrpSpPr>
          <p:cNvPr id="15" name="Section 4"/>
          <p:cNvGrpSpPr/>
          <p:nvPr/>
        </p:nvGrpSpPr>
        <p:grpSpPr>
          <a:xfrm>
            <a:off x="640080" y="4754879"/>
            <a:ext cx="10972800" cy="914400"/>
            <a:chOff x="640080" y="4754879"/>
            <a:chExt cx="10972800" cy="914400"/>
          </a:xfrm>
        </p:grpSpPr>
        <p:sp>
          <p:nvSpPr>
            <p:cNvPr id="9" name="Sommaire du module"/>
            <p:cNvSpPr/>
            <p:nvPr/>
          </p:nvSpPr>
          <p:spPr>
            <a:xfrm>
              <a:off x="640080" y="4754879"/>
              <a:ext cx="1097280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ommaire du module, texte"/>
            <p:cNvSpPr txBox="1"/>
            <p:nvPr/>
          </p:nvSpPr>
          <p:spPr>
            <a:xfrm>
              <a:off x="822959" y="4754879"/>
              <a:ext cx="10607040" cy="914400"/>
            </a:xfrm>
            <a:prstGeom prst="rect">
              <a:avLst/>
            </a:prstGeom>
            <a:noFill/>
          </p:spPr>
          <p:txBody>
            <a:bodyPr wrap="none" anchor="ctr">
              <a:spAutoFit/>
            </a:bodyPr>
            <a:lstStyle/>
            <a:p>
              <a:r>
                <a:rPr sz="3000" b="1">
                  <a:solidFill>
                    <a:schemeClr val="accent4"/>
                  </a:solidFill>
                </a:rPr>
                <a:t>4   </a:t>
              </a:r>
              <a:r>
                <a:rPr sz="2600">
                  <a:solidFill>
                    <a:srgbClr val="FFFFFF"/>
                  </a:solidFill>
                </a:rPr>
                <a:t>Le FXML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7" name="Picture 2" descr="FX2_section1.jpg"/>
          <p:cNvPicPr>
            <a:picLocks noChangeAspect="1"/>
          </p:cNvPicPr>
          <p:nvPr/>
        </p:nvPicPr>
        <p:blipFill>
          <a:blip r:embed="rId4"/>
          <a:stretch>
            <a:fillRect/>
          </a:stretch>
        </p:blipFill>
        <p:spPr>
          <a:xfrm>
            <a:off x="3001" y="-1"/>
            <a:ext cx="12185998" cy="6858001"/>
          </a:xfrm>
          <a:prstGeom prst="rect">
            <a:avLst/>
          </a:prstGeom>
        </p:spPr>
      </p:pic>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9292409" cy="1105200"/>
          </a:xfrm>
          <a:prstGeom prst="rect">
            <a:avLst/>
          </a:prstGeom>
          <a:solidFill>
            <a:srgbClr val="53A6D5">
              <a:alpha val="75294"/>
            </a:srgb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1. Une valeur qui prévient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7</a:t>
            </a:fld>
            <a:endParaRPr lang="fr-F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Réagir à un geste, ou à une valeur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gestionnaire réagit à un geste de l'utilisateur</a:t>
            </a:r>
          </a:p>
          <a:p>
            <a:pPr marL="0" indent="0">
              <a:spcAft>
                <a:spcPts val="1000"/>
              </a:spcAft>
              <a:buNone/>
            </a:pPr>
            <a:r>
              <a:rPr sz="2800"/>
              <a:t>Une valeur peut changer sans aucun geste : un collage, un calcul, le programme lui-même</a:t>
            </a:r>
          </a:p>
          <a:p>
            <a:pPr marL="0" indent="0">
              <a:spcAft>
                <a:spcPts val="1000"/>
              </a:spcAft>
              <a:buNone/>
            </a:pPr>
            <a:r>
              <a:rPr sz="2800"/>
              <a:t>Ce qu'on veut souvent savoir, c'est que la valeur a changé</a:t>
            </a:r>
          </a:p>
          <a:p>
            <a:pPr marL="0" indent="0">
              <a:spcAft>
                <a:spcPts val="1000"/>
              </a:spcAft>
              <a:buNone/>
            </a:pPr>
            <a:r>
              <a:rPr sz="2800"/>
              <a:t>JavaFX rend les valeurs observables : ce sont les propriétés</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Une propriété est un objet</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 champ ordinaire a un accesseur et un mutateur</a:t>
            </a:r>
          </a:p>
          <a:p>
            <a:pPr marL="0" indent="0">
              <a:spcAft>
                <a:spcPts val="1000"/>
              </a:spcAft>
              <a:buNone/>
            </a:pPr>
            <a:r>
              <a:rPr sz="2600"/>
              <a:t>Une propriété JavaFX y ajoute un troisième accès, qui rend l'objet lui-même</a:t>
            </a:r>
          </a:p>
          <a:p>
            <a:pPr marL="0" indent="0">
              <a:spcAft>
                <a:spcPts val="1000"/>
              </a:spcAft>
              <a:buNone/>
            </a:pPr>
            <a:r>
              <a:rPr sz="2600"/>
              <a:t>Il existe une classe par type : </a:t>
            </a:r>
            <a:r>
              <a:rPr sz="2200">
                <a:solidFill>
                  <a:schemeClr val="accent4"/>
                </a:solidFill>
                <a:latin typeface="Consolas"/>
              </a:rPr>
              <a:t>IntegerProperty</a:t>
            </a:r>
            <a:r>
              <a:rPr sz="2600"/>
              <a:t>, </a:t>
            </a:r>
            <a:r>
              <a:rPr sz="2200">
                <a:solidFill>
                  <a:schemeClr val="accent4"/>
                </a:solidFill>
                <a:latin typeface="Consolas"/>
              </a:rPr>
              <a:t>DoubleProperty</a:t>
            </a:r>
            <a:r>
              <a:rPr sz="2600"/>
              <a:t>, </a:t>
            </a:r>
            <a:r>
              <a:rPr sz="2200">
                <a:solidFill>
                  <a:schemeClr val="accent4"/>
                </a:solidFill>
                <a:latin typeface="Consolas"/>
              </a:rPr>
              <a:t>StringProperty</a:t>
            </a:r>
            <a:r>
              <a:rPr sz="2600"/>
              <a:t>, </a:t>
            </a:r>
            <a:r>
              <a:rPr sz="2200">
                <a:solidFill>
                  <a:schemeClr val="accent4"/>
                </a:solidFill>
                <a:latin typeface="Consolas"/>
              </a:rPr>
              <a:t>BooleanProperty</a:t>
            </a:r>
          </a:p>
        </p:txBody>
      </p:sp>
      <p:sp>
        <p:nvSpPr>
          <p:cNvPr id="4" name="Code"/>
          <p:cNvSpPr txBox="1"/>
          <p:nvPr/>
        </p:nvSpPr>
        <p:spPr>
          <a:xfrm>
            <a:off x="640080" y="4008119"/>
            <a:ext cx="1088136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BCBEC4"/>
                </a:solidFill>
                <a:latin typeface="Consolas"/>
              </a:rPr>
              <a:t>IntegerProperty</a:t>
            </a:r>
            <a:r>
              <a:rPr sz="1800">
                <a:solidFill>
                  <a:srgbClr val="BCBEC4"/>
                </a:solidFill>
                <a:latin typeface="Consolas"/>
              </a:rPr>
              <a:t> </a:t>
            </a:r>
            <a:r>
              <a:rPr sz="1800">
                <a:solidFill>
                  <a:srgbClr val="BCBEC4"/>
                </a:solidFill>
                <a:latin typeface="Consolas"/>
              </a:rPr>
              <a:t>intensite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SimpleIntegerProperty</a:t>
            </a:r>
            <a:r>
              <a:rPr sz="1800">
                <a:solidFill>
                  <a:srgbClr val="BCBEC4"/>
                </a:solidFill>
                <a:latin typeface="Consolas"/>
              </a:rPr>
              <a:t>(</a:t>
            </a:r>
            <a:r>
              <a:rPr sz="1800">
                <a:solidFill>
                  <a:srgbClr val="2AACB8"/>
                </a:solidFill>
                <a:latin typeface="Consolas"/>
              </a:rPr>
              <a:t>50</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getIntensite</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BCBEC4"/>
                </a:solidFill>
                <a:latin typeface="Consolas"/>
              </a:rPr>
              <a:t>intensite</a:t>
            </a:r>
            <a:r>
              <a:rPr sz="1800">
                <a:solidFill>
                  <a:srgbClr val="BCBEC4"/>
                </a:solidFill>
                <a:latin typeface="Consolas"/>
              </a:rPr>
              <a:t>.</a:t>
            </a:r>
            <a:r>
              <a:rPr sz="1800">
                <a:solidFill>
                  <a:srgbClr val="56A8F5"/>
                </a:solidFill>
                <a:latin typeface="Consolas"/>
              </a:rPr>
              <a:t>get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setIntensite</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a:t>
            </a:r>
            <a:r>
              <a:rPr sz="1800">
                <a:solidFill>
                  <a:srgbClr val="BCBEC4"/>
                </a:solidFill>
                <a:latin typeface="Consolas"/>
              </a:rPr>
              <a:t>valeur</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intensite</a:t>
            </a:r>
            <a:r>
              <a:rPr sz="1800">
                <a:solidFill>
                  <a:srgbClr val="BCBEC4"/>
                </a:solidFill>
                <a:latin typeface="Consolas"/>
              </a:rPr>
              <a:t>.</a:t>
            </a:r>
            <a:r>
              <a:rPr sz="1800">
                <a:solidFill>
                  <a:srgbClr val="56A8F5"/>
                </a:solidFill>
                <a:latin typeface="Consolas"/>
              </a:rPr>
              <a:t>set</a:t>
            </a:r>
            <a:r>
              <a:rPr sz="1800">
                <a:solidFill>
                  <a:srgbClr val="BCBEC4"/>
                </a:solidFill>
                <a:latin typeface="Consolas"/>
              </a:rPr>
              <a:t>(</a:t>
            </a:r>
            <a:r>
              <a:rPr sz="1800">
                <a:solidFill>
                  <a:srgbClr val="BCBEC4"/>
                </a:solidFill>
                <a:latin typeface="Consolas"/>
              </a:rPr>
              <a:t>valeur</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BCBEC4"/>
                </a:solidFill>
                <a:latin typeface="Consolas"/>
              </a:rPr>
              <a:t>IntegerProperty</a:t>
            </a:r>
            <a:r>
              <a:rPr sz="1800">
                <a:solidFill>
                  <a:srgbClr val="BCBEC4"/>
                </a:solidFill>
                <a:latin typeface="Consolas"/>
              </a:rPr>
              <a:t> </a:t>
            </a:r>
            <a:r>
              <a:rPr sz="1800">
                <a:solidFill>
                  <a:srgbClr val="56A8F5"/>
                </a:solidFill>
                <a:latin typeface="Consolas"/>
              </a:rPr>
              <a:t>intensiteProperty</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BCBEC4"/>
                </a:solidFill>
                <a:latin typeface="Consolas"/>
              </a:rPr>
              <a:t>intensite</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S'abonner à un changement</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La méthode </a:t>
            </a:r>
            <a:r>
              <a:rPr sz="2400">
                <a:solidFill>
                  <a:schemeClr val="accent4"/>
                </a:solidFill>
                <a:latin typeface="Consolas"/>
              </a:rPr>
              <a:t>addListener</a:t>
            </a:r>
            <a:r>
              <a:rPr sz="2800"/>
              <a:t> abonne un </a:t>
            </a:r>
            <a:r>
              <a:rPr sz="2400">
                <a:solidFill>
                  <a:schemeClr val="accent4"/>
                </a:solidFill>
                <a:latin typeface="Consolas"/>
              </a:rPr>
              <a:t>ChangeListener</a:t>
            </a:r>
            <a:r>
              <a:rPr sz="2800"/>
              <a:t> à la propriété</a:t>
            </a:r>
          </a:p>
          <a:p>
            <a:pPr marL="0" indent="0">
              <a:spcAft>
                <a:spcPts val="1000"/>
              </a:spcAft>
              <a:buNone/>
            </a:pPr>
            <a:r>
              <a:rPr sz="2800"/>
              <a:t>Il reçoit trois choses : la propriété, l'ancienne valeur, la nouvelle</a:t>
            </a:r>
          </a:p>
          <a:p>
            <a:pPr marL="0" indent="0">
              <a:spcAft>
                <a:spcPts val="1000"/>
              </a:spcAft>
              <a:buNone/>
            </a:pPr>
            <a:r>
              <a:rPr sz="2800"/>
              <a:t>Il n'est appelé qu'aux changements, jamais à l'abonnement</a:t>
            </a:r>
          </a:p>
        </p:txBody>
      </p:sp>
      <p:sp>
        <p:nvSpPr>
          <p:cNvPr id="4" name="Code"/>
          <p:cNvSpPr txBox="1"/>
          <p:nvPr/>
        </p:nvSpPr>
        <p:spPr>
          <a:xfrm>
            <a:off x="1529468" y="4587240"/>
            <a:ext cx="9133063"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750">
                <a:solidFill>
                  <a:srgbClr val="BCBEC4"/>
                </a:solidFill>
                <a:latin typeface="Consolas"/>
              </a:rPr>
              <a:t>intensite</a:t>
            </a:r>
            <a:r>
              <a:rPr sz="1750">
                <a:solidFill>
                  <a:srgbClr val="BCBEC4"/>
                </a:solidFill>
                <a:latin typeface="Consolas"/>
              </a:rPr>
              <a:t>.</a:t>
            </a:r>
            <a:r>
              <a:rPr sz="1750">
                <a:solidFill>
                  <a:srgbClr val="56A8F5"/>
                </a:solidFill>
                <a:latin typeface="Consolas"/>
              </a:rPr>
              <a:t>addListener</a:t>
            </a:r>
            <a:r>
              <a:rPr sz="1750">
                <a:solidFill>
                  <a:srgbClr val="BCBEC4"/>
                </a:solidFill>
                <a:latin typeface="Consolas"/>
              </a:rPr>
              <a:t>(</a:t>
            </a:r>
            <a:r>
              <a:rPr sz="1750">
                <a:solidFill>
                  <a:srgbClr val="BCBEC4"/>
                </a:solidFill>
                <a:latin typeface="Consolas"/>
              </a:rPr>
              <a:t>(</a:t>
            </a:r>
            <a:r>
              <a:rPr sz="1750">
                <a:solidFill>
                  <a:srgbClr val="BCBEC4"/>
                </a:solidFill>
                <a:latin typeface="Consolas"/>
              </a:rPr>
              <a:t>propriete</a:t>
            </a:r>
            <a:r>
              <a:rPr sz="1750">
                <a:solidFill>
                  <a:srgbClr val="BCBEC4"/>
                </a:solidFill>
                <a:latin typeface="Consolas"/>
              </a:rPr>
              <a:t>,</a:t>
            </a:r>
            <a:r>
              <a:rPr sz="1750">
                <a:solidFill>
                  <a:srgbClr val="BCBEC4"/>
                </a:solidFill>
                <a:latin typeface="Consolas"/>
              </a:rPr>
              <a:t> </a:t>
            </a:r>
            <a:r>
              <a:rPr sz="1750">
                <a:solidFill>
                  <a:srgbClr val="BCBEC4"/>
                </a:solidFill>
                <a:latin typeface="Consolas"/>
              </a:rPr>
              <a:t>ancienne</a:t>
            </a:r>
            <a:r>
              <a:rPr sz="1750">
                <a:solidFill>
                  <a:srgbClr val="BCBEC4"/>
                </a:solidFill>
                <a:latin typeface="Consolas"/>
              </a:rPr>
              <a:t>,</a:t>
            </a:r>
            <a:r>
              <a:rPr sz="1750">
                <a:solidFill>
                  <a:srgbClr val="BCBEC4"/>
                </a:solidFill>
                <a:latin typeface="Consolas"/>
              </a:rPr>
              <a:t> </a:t>
            </a:r>
            <a:r>
              <a:rPr sz="1750">
                <a:solidFill>
                  <a:srgbClr val="BCBEC4"/>
                </a:solidFill>
                <a:latin typeface="Consolas"/>
              </a:rPr>
              <a:t>nouvelle</a:t>
            </a:r>
            <a:r>
              <a:rPr sz="1750">
                <a:solidFill>
                  <a:srgbClr val="BCBEC4"/>
                </a:solidFill>
                <a:latin typeface="Consolas"/>
              </a:rPr>
              <a:t>)</a:t>
            </a:r>
            <a:r>
              <a:rPr sz="1750">
                <a:solidFill>
                  <a:srgbClr val="BCBEC4"/>
                </a:solidFill>
                <a:latin typeface="Consolas"/>
              </a:rPr>
              <a:t> </a:t>
            </a:r>
            <a:r>
              <a:rPr sz="1750">
                <a:solidFill>
                  <a:srgbClr val="BCBEC4"/>
                </a:solidFill>
                <a:latin typeface="Consolas"/>
              </a:rPr>
              <a:t>-</a:t>
            </a:r>
            <a:r>
              <a:rPr sz="1750">
                <a:solidFill>
                  <a:srgbClr val="BCBEC4"/>
                </a:solidFill>
                <a:latin typeface="Consolas"/>
              </a:rPr>
              <a:t>&gt;</a:t>
            </a:r>
          </a:p>
          <a:p>
            <a:pPr>
              <a:lnSpc>
                <a:spcPct val="100000"/>
              </a:lnSpc>
              <a:spcBef>
                <a:spcPts val="0"/>
              </a:spcBef>
              <a:spcAft>
                <a:spcPts val="0"/>
              </a:spcAft>
            </a:pP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System</a:t>
            </a:r>
            <a:r>
              <a:rPr sz="1750">
                <a:solidFill>
                  <a:srgbClr val="BCBEC4"/>
                </a:solidFill>
                <a:latin typeface="Consolas"/>
              </a:rPr>
              <a:t>.</a:t>
            </a:r>
            <a:r>
              <a:rPr sz="1750">
                <a:solidFill>
                  <a:srgbClr val="BCBEC4"/>
                </a:solidFill>
                <a:latin typeface="Consolas"/>
              </a:rPr>
              <a:t>out</a:t>
            </a:r>
            <a:r>
              <a:rPr sz="1750">
                <a:solidFill>
                  <a:srgbClr val="BCBEC4"/>
                </a:solidFill>
                <a:latin typeface="Consolas"/>
              </a:rPr>
              <a:t>.</a:t>
            </a:r>
            <a:r>
              <a:rPr sz="1750">
                <a:solidFill>
                  <a:srgbClr val="56A8F5"/>
                </a:solidFill>
                <a:latin typeface="Consolas"/>
              </a:rPr>
              <a:t>println</a:t>
            </a:r>
            <a:r>
              <a:rPr sz="1750">
                <a:solidFill>
                  <a:srgbClr val="BCBEC4"/>
                </a:solidFill>
                <a:latin typeface="Consolas"/>
              </a:rPr>
              <a:t>(</a:t>
            </a:r>
            <a:r>
              <a:rPr sz="1750">
                <a:solidFill>
                  <a:srgbClr val="BCBEC4"/>
                </a:solidFill>
                <a:latin typeface="Consolas"/>
              </a:rPr>
              <a:t>ancienne</a:t>
            </a:r>
            <a:r>
              <a:rPr sz="1750">
                <a:solidFill>
                  <a:srgbClr val="BCBEC4"/>
                </a:solidFill>
                <a:latin typeface="Consolas"/>
              </a:rPr>
              <a:t> </a:t>
            </a:r>
            <a:r>
              <a:rPr sz="1750">
                <a:solidFill>
                  <a:srgbClr val="BCBEC4"/>
                </a:solidFill>
                <a:latin typeface="Consolas"/>
              </a:rPr>
              <a:t>+</a:t>
            </a:r>
            <a:r>
              <a:rPr sz="1750">
                <a:solidFill>
                  <a:srgbClr val="BCBEC4"/>
                </a:solidFill>
                <a:latin typeface="Consolas"/>
              </a:rPr>
              <a:t> </a:t>
            </a:r>
            <a:r>
              <a:rPr sz="1750">
                <a:solidFill>
                  <a:srgbClr val="6AAB73"/>
                </a:solidFill>
                <a:latin typeface="Consolas"/>
              </a:rPr>
              <a:t>" -&gt; "</a:t>
            </a:r>
            <a:r>
              <a:rPr sz="1750">
                <a:solidFill>
                  <a:srgbClr val="BCBEC4"/>
                </a:solidFill>
                <a:latin typeface="Consolas"/>
              </a:rPr>
              <a:t> </a:t>
            </a:r>
            <a:r>
              <a:rPr sz="1750">
                <a:solidFill>
                  <a:srgbClr val="BCBEC4"/>
                </a:solidFill>
                <a:latin typeface="Consolas"/>
              </a:rPr>
              <a:t>+</a:t>
            </a:r>
            <a:r>
              <a:rPr sz="1750">
                <a:solidFill>
                  <a:srgbClr val="BCBEC4"/>
                </a:solidFill>
                <a:latin typeface="Consolas"/>
              </a:rPr>
              <a:t> </a:t>
            </a:r>
            <a:r>
              <a:rPr sz="1750">
                <a:solidFill>
                  <a:srgbClr val="BCBEC4"/>
                </a:solidFill>
                <a:latin typeface="Consolas"/>
              </a:rPr>
              <a:t>nouvelle</a:t>
            </a:r>
            <a:r>
              <a:rPr sz="1750">
                <a:solidFill>
                  <a:srgbClr val="BCBEC4"/>
                </a:solidFill>
                <a:latin typeface="Consolas"/>
              </a:rPr>
              <a:t>)</a:t>
            </a:r>
            <a:r>
              <a:rPr sz="1750">
                <a:solidFill>
                  <a:srgbClr val="BCBEC4"/>
                </a:solidFill>
                <a:latin typeface="Consolas"/>
              </a:rPr>
              <a:t>)</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intensite</a:t>
            </a:r>
            <a:r>
              <a:rPr sz="1750">
                <a:solidFill>
                  <a:srgbClr val="BCBEC4"/>
                </a:solidFill>
                <a:latin typeface="Consolas"/>
              </a:rPr>
              <a:t>.</a:t>
            </a:r>
            <a:r>
              <a:rPr sz="1750">
                <a:solidFill>
                  <a:srgbClr val="56A8F5"/>
                </a:solidFill>
                <a:latin typeface="Consolas"/>
              </a:rPr>
              <a:t>set</a:t>
            </a:r>
            <a:r>
              <a:rPr sz="1750">
                <a:solidFill>
                  <a:srgbClr val="BCBEC4"/>
                </a:solidFill>
                <a:latin typeface="Consolas"/>
              </a:rPr>
              <a:t>(</a:t>
            </a:r>
            <a:r>
              <a:rPr sz="1750">
                <a:solidFill>
                  <a:srgbClr val="2AACB8"/>
                </a:solidFill>
                <a:latin typeface="Consolas"/>
              </a:rPr>
              <a:t>80</a:t>
            </a:r>
            <a:r>
              <a:rPr sz="1750">
                <a:solidFill>
                  <a:srgbClr val="BCBEC4"/>
                </a:solidFill>
                <a:latin typeface="Consolas"/>
              </a:rPr>
              <a:t>)</a:t>
            </a:r>
            <a:r>
              <a:rPr sz="1750">
                <a:solidFill>
                  <a:srgbClr val="BCBEC4"/>
                </a:solidFill>
                <a:latin typeface="Consolas"/>
              </a:rPr>
              <a:t>;</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7A7E85"/>
                </a:solidFill>
                <a:latin typeface="Consolas"/>
              </a:rPr>
              <a:t>// affiche 50 -&gt; 80</a:t>
            </a:r>
          </a:p>
          <a:p>
            <a:pPr>
              <a:lnSpc>
                <a:spcPct val="100000"/>
              </a:lnSpc>
              <a:spcBef>
                <a:spcPts val="0"/>
              </a:spcBef>
              <a:spcAft>
                <a:spcPts val="0"/>
              </a:spcAft>
            </a:pPr>
            <a:r>
              <a:rPr sz="1750">
                <a:solidFill>
                  <a:srgbClr val="BCBEC4"/>
                </a:solidFill>
                <a:latin typeface="Consolas"/>
              </a:rPr>
              <a:t>intensite</a:t>
            </a:r>
            <a:r>
              <a:rPr sz="1750">
                <a:solidFill>
                  <a:srgbClr val="BCBEC4"/>
                </a:solidFill>
                <a:latin typeface="Consolas"/>
              </a:rPr>
              <a:t>.</a:t>
            </a:r>
            <a:r>
              <a:rPr sz="1750">
                <a:solidFill>
                  <a:srgbClr val="56A8F5"/>
                </a:solidFill>
                <a:latin typeface="Consolas"/>
              </a:rPr>
              <a:t>set</a:t>
            </a:r>
            <a:r>
              <a:rPr sz="1750">
                <a:solidFill>
                  <a:srgbClr val="BCBEC4"/>
                </a:solidFill>
                <a:latin typeface="Consolas"/>
              </a:rPr>
              <a:t>(</a:t>
            </a:r>
            <a:r>
              <a:rPr sz="1750">
                <a:solidFill>
                  <a:srgbClr val="2AACB8"/>
                </a:solidFill>
                <a:latin typeface="Consolas"/>
              </a:rPr>
              <a:t>80</a:t>
            </a:r>
            <a:r>
              <a:rPr sz="1750">
                <a:solidFill>
                  <a:srgbClr val="BCBEC4"/>
                </a:solidFill>
                <a:latin typeface="Consolas"/>
              </a:rPr>
              <a:t>)</a:t>
            </a:r>
            <a:r>
              <a:rPr sz="1750">
                <a:solidFill>
                  <a:srgbClr val="BCBEC4"/>
                </a:solidFill>
                <a:latin typeface="Consolas"/>
              </a:rPr>
              <a:t>;</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7A7E85"/>
                </a:solidFill>
                <a:latin typeface="Consolas"/>
              </a:rPr>
              <a:t>// n'affiche rien : la valeur n'a pas change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Les contrôles en ont aussi</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Presque tout ce qu'affiche un contrôle est une propriété</a:t>
            </a:r>
          </a:p>
          <a:p>
            <a:pPr marL="0" indent="0">
              <a:spcAft>
                <a:spcPts val="1000"/>
              </a:spcAft>
              <a:buNone/>
            </a:pPr>
            <a:r>
              <a:rPr sz="2800"/>
              <a:t>Une </a:t>
            </a:r>
            <a:r>
              <a:rPr sz="2400">
                <a:solidFill>
                  <a:schemeClr val="accent4"/>
                </a:solidFill>
                <a:latin typeface="Consolas"/>
              </a:rPr>
              <a:t>CheckBox</a:t>
            </a:r>
            <a:r>
              <a:rPr sz="2800"/>
              <a:t> a une </a:t>
            </a:r>
            <a:r>
              <a:rPr sz="2400">
                <a:solidFill>
                  <a:schemeClr val="accent4"/>
                </a:solidFill>
                <a:latin typeface="Consolas"/>
              </a:rPr>
              <a:t>selectedProperty</a:t>
            </a:r>
            <a:r>
              <a:rPr sz="2800"/>
              <a:t>, un </a:t>
            </a:r>
            <a:r>
              <a:rPr sz="2400">
                <a:solidFill>
                  <a:schemeClr val="accent4"/>
                </a:solidFill>
                <a:latin typeface="Consolas"/>
              </a:rPr>
              <a:t>Label</a:t>
            </a:r>
            <a:r>
              <a:rPr sz="2800"/>
              <a:t> une </a:t>
            </a:r>
            <a:r>
              <a:rPr sz="2400">
                <a:solidFill>
                  <a:schemeClr val="accent4"/>
                </a:solidFill>
                <a:latin typeface="Consolas"/>
              </a:rPr>
              <a:t>textProperty</a:t>
            </a:r>
          </a:p>
          <a:p>
            <a:pPr marL="0" indent="0">
              <a:spcAft>
                <a:spcPts val="1000"/>
              </a:spcAft>
              <a:buNone/>
            </a:pPr>
            <a:r>
              <a:rPr sz="2800"/>
              <a:t>On s'y abonne exactement comme à la sienne</a:t>
            </a:r>
          </a:p>
        </p:txBody>
      </p:sp>
      <p:sp>
        <p:nvSpPr>
          <p:cNvPr id="4" name="Code"/>
          <p:cNvSpPr txBox="1"/>
          <p:nvPr/>
        </p:nvSpPr>
        <p:spPr>
          <a:xfrm>
            <a:off x="1543050" y="4160520"/>
            <a:ext cx="91059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CheckBox</a:t>
            </a:r>
            <a:r>
              <a:rPr sz="1800">
                <a:solidFill>
                  <a:srgbClr val="BCBEC4"/>
                </a:solidFill>
                <a:latin typeface="Consolas"/>
              </a:rPr>
              <a:t> </a:t>
            </a:r>
            <a:r>
              <a:rPr sz="1800">
                <a:solidFill>
                  <a:srgbClr val="BCBEC4"/>
                </a:solidFill>
                <a:latin typeface="Consolas"/>
              </a:rPr>
              <a:t>veilleuse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CheckBox</a:t>
            </a:r>
            <a:r>
              <a:rPr sz="1800">
                <a:solidFill>
                  <a:srgbClr val="BCBEC4"/>
                </a:solidFill>
                <a:latin typeface="Consolas"/>
              </a:rPr>
              <a:t>(</a:t>
            </a:r>
            <a:r>
              <a:rPr sz="1800">
                <a:solidFill>
                  <a:srgbClr val="6AAB73"/>
                </a:solidFill>
                <a:latin typeface="Consolas"/>
              </a:rPr>
              <a:t>"Veilleuse"</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veilleuse</a:t>
            </a:r>
            <a:r>
              <a:rPr sz="1800">
                <a:solidFill>
                  <a:srgbClr val="BCBEC4"/>
                </a:solidFill>
                <a:latin typeface="Consolas"/>
              </a:rPr>
              <a:t>.</a:t>
            </a:r>
            <a:r>
              <a:rPr sz="1800">
                <a:solidFill>
                  <a:srgbClr val="56A8F5"/>
                </a:solidFill>
                <a:latin typeface="Consolas"/>
              </a:rPr>
              <a:t>selectedProperty</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56A8F5"/>
                </a:solidFill>
                <a:latin typeface="Consolas"/>
              </a:rPr>
              <a:t>addListener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propriete</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avant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apres</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&gt;</a:t>
            </a:r>
            <a:r>
              <a:rPr sz="1800">
                <a:solidFill>
                  <a:srgbClr val="BCBEC4"/>
                </a:solidFill>
                <a:latin typeface="Consolas"/>
              </a:rPr>
              <a:t> </a:t>
            </a:r>
            <a:r>
              <a:rPr sz="1800">
                <a:solidFill>
                  <a:srgbClr val="56A8F5"/>
                </a:solidFill>
                <a:latin typeface="Consolas"/>
              </a:rPr>
              <a:t>passerEnVeilleuse</a:t>
            </a:r>
            <a:r>
              <a:rPr sz="1800">
                <a:solidFill>
                  <a:srgbClr val="BCBEC4"/>
                </a:solidFill>
                <a:latin typeface="Consolas"/>
              </a:rPr>
              <a:t>(</a:t>
            </a:r>
            <a:r>
              <a:rPr sz="1800">
                <a:solidFill>
                  <a:srgbClr val="BCBEC4"/>
                </a:solidFill>
                <a:latin typeface="Consolas"/>
              </a:rPr>
              <a:t>apres</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Exercices</a:t>
            </a:r>
          </a:p>
        </p:txBody>
      </p:sp>
      <p:pic>
        <p:nvPicPr>
          <p:cNvPr id="9" name="Picture 8" descr="image.png"/>
          <p:cNvPicPr>
            <a:picLocks noChangeAspect="1"/>
          </p:cNvPicPr>
          <p:nvPr/>
        </p:nvPicPr>
        <p:blipFill>
          <a:blip r:embed="rId2"/>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grpSp>
        <p:nvGrpSpPr>
          <p:cNvPr id="13" name="Exercice 1"/>
          <p:cNvGrpSpPr/>
          <p:nvPr/>
        </p:nvGrpSpPr>
        <p:grpSpPr>
          <a:xfrm>
            <a:off x="640080" y="1417320"/>
            <a:ext cx="9326880" cy="960120"/>
            <a:chOff x="640080" y="1417320"/>
            <a:chExt cx="9326880" cy="96012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17320"/>
              <a:ext cx="1920240" cy="960120"/>
            </a:xfrm>
            <a:prstGeom prst="rect">
              <a:avLst/>
            </a:prstGeom>
            <a:noFill/>
          </p:spPr>
          <p:txBody>
            <a:bodyPr wrap="none" anchor="ctr">
              <a:spAutoFit/>
            </a:bodyPr>
            <a:lstStyle/>
            <a:p>
              <a:r>
                <a:rPr b="1" sz="3000">
                  <a:solidFill>
                    <a:schemeClr val="accent4"/>
                  </a:solidFill>
                  <a:latin typeface="Consolas"/>
                </a:rPr>
                <a:t>FX.6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Écouter une propriété</a:t>
              </a:r>
            </a:p>
            <a:p>
              <a:r>
                <a:rPr sz="1400">
                  <a:solidFill>
                    <a:srgbClr val="BCBEC4"/>
                  </a:solidFill>
                </a:rPr>
                <a:t>fascicule FX</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560320"/>
              <a:ext cx="1920240" cy="960120"/>
            </a:xfrm>
            <a:prstGeom prst="rect">
              <a:avLst/>
            </a:prstGeom>
            <a:noFill/>
          </p:spPr>
          <p:txBody>
            <a:bodyPr wrap="none" anchor="ctr">
              <a:spAutoFit/>
            </a:bodyPr>
            <a:lstStyle/>
            <a:p>
              <a:r>
                <a:rPr b="1" sz="3000">
                  <a:solidFill>
                    <a:schemeClr val="accent4"/>
                  </a:solidFill>
                  <a:latin typeface="Consolas"/>
                </a:rPr>
                <a:t>FX.7</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Un Slider et un Label</a:t>
              </a:r>
            </a:p>
            <a:p>
              <a:r>
                <a:rPr sz="1400">
                  <a:solidFill>
                    <a:srgbClr val="BCBEC4"/>
                  </a:solidFill>
                </a:rPr>
                <a:t>fascicule FX</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7" name="Picture 2" descr="FX2_section2.jpg"/>
          <p:cNvPicPr>
            <a:picLocks noChangeAspect="1"/>
          </p:cNvPicPr>
          <p:nvPr/>
        </p:nvPicPr>
        <p:blipFill>
          <a:blip r:embed="rId4"/>
          <a:stretch>
            <a:fillRect/>
          </a:stretch>
        </p:blipFill>
        <p:spPr>
          <a:xfrm>
            <a:off x="3001" y="-1"/>
            <a:ext cx="12185998" cy="6858001"/>
          </a:xfrm>
          <a:prstGeom prst="rect">
            <a:avLst/>
          </a:prstGeom>
        </p:spPr>
      </p:pic>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8665409" cy="1105200"/>
          </a:xfrm>
          <a:prstGeom prst="rect">
            <a:avLst/>
          </a:prstGeom>
          <a:solidFill>
            <a:srgbClr val="53A6D5">
              <a:alpha val="75294"/>
            </a:srgb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2. Lier plutôt qu'écouter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7</a:t>
            </a:fld>
            <a:endParaRPr lang="fr-F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Une dépendance déclarée</a:t>
            </a:r>
          </a:p>
        </p:txBody>
      </p:sp>
      <p:sp>
        <p:nvSpPr>
          <p:cNvPr id="3" name="Content Placeholder 2"/>
          <p:cNvSpPr>
            <a:spLocks noGrp="1"/>
          </p:cNvSpPr>
          <p:nvPr>
            <p:ph idx="1"/>
          </p:nvPr>
        </p:nvSpPr>
        <p:spPr>
          <a:xfrm>
            <a:off x="640080" y="1371600"/>
            <a:ext cx="10881360" cy="3022599"/>
          </a:xfrm>
        </p:spPr>
        <p:txBody>
          <a:bodyPr/>
          <a:lstStyle/>
          <a:p>
            <a:pPr marL="0" indent="0">
              <a:spcAft>
                <a:spcPts val="1000"/>
              </a:spcAft>
              <a:buNone/>
            </a:pPr>
            <a:r>
              <a:rPr sz="2600"/>
              <a:t>La méthode </a:t>
            </a:r>
            <a:r>
              <a:rPr sz="2200">
                <a:solidFill>
                  <a:schemeClr val="accent4"/>
                </a:solidFill>
                <a:latin typeface="Consolas"/>
              </a:rPr>
              <a:t>bind</a:t>
            </a:r>
            <a:r>
              <a:rPr sz="2600"/>
              <a:t> lie une propriété à une valeur observable</a:t>
            </a:r>
          </a:p>
          <a:p>
            <a:pPr marL="0" indent="0">
              <a:spcAft>
                <a:spcPts val="1000"/>
              </a:spcAft>
              <a:buNone/>
            </a:pPr>
            <a:r>
              <a:rPr sz="2600"/>
              <a:t>La propriété suit cette valeur, à chaque changement, pour toujours</a:t>
            </a:r>
          </a:p>
          <a:p>
            <a:pPr marL="0" indent="0">
              <a:spcAft>
                <a:spcPts val="1000"/>
              </a:spcAft>
              <a:buNone/>
            </a:pPr>
            <a:r>
              <a:rPr sz="2600"/>
              <a:t>Rien à afficher au départ : le lien s'applique dès qu'il est posé</a:t>
            </a:r>
          </a:p>
          <a:p>
            <a:pPr marL="0" indent="0">
              <a:spcAft>
                <a:spcPts val="1000"/>
              </a:spcAft>
              <a:buNone/>
            </a:pPr>
            <a:r>
              <a:rPr sz="2600"/>
              <a:t>Une propriété liée ne s'écrit plus que par son lien</a:t>
            </a:r>
          </a:p>
        </p:txBody>
      </p:sp>
      <p:sp>
        <p:nvSpPr>
          <p:cNvPr id="4" name="Code"/>
          <p:cNvSpPr txBox="1"/>
          <p:nvPr/>
        </p:nvSpPr>
        <p:spPr>
          <a:xfrm>
            <a:off x="1543050" y="4531360"/>
            <a:ext cx="9105900" cy="1640839"/>
          </a:xfrm>
          <a:prstGeom prst="roundRect">
            <a:avLst>
              <a:gd name="adj" fmla="val 5572"/>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Label</a:t>
            </a:r>
            <a:r>
              <a:rPr sz="1800">
                <a:solidFill>
                  <a:srgbClr val="BCBEC4"/>
                </a:solidFill>
                <a:latin typeface="Consolas"/>
              </a:rPr>
              <a:t> </a:t>
            </a:r>
            <a:r>
              <a:rPr sz="1800">
                <a:solidFill>
                  <a:srgbClr val="BCBEC4"/>
                </a:solidFill>
                <a:latin typeface="Consolas"/>
              </a:rPr>
              <a:t>affichage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Label</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affichage</a:t>
            </a:r>
            <a:r>
              <a:rPr sz="1800">
                <a:solidFill>
                  <a:srgbClr val="BCBEC4"/>
                </a:solidFill>
                <a:latin typeface="Consolas"/>
              </a:rPr>
              <a:t>.</a:t>
            </a:r>
            <a:r>
              <a:rPr sz="1800">
                <a:solidFill>
                  <a:srgbClr val="56A8F5"/>
                </a:solidFill>
                <a:latin typeface="Consolas"/>
              </a:rPr>
              <a:t>textProperty</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56A8F5"/>
                </a:solidFill>
                <a:latin typeface="Consolas"/>
              </a:rPr>
              <a:t>bind</a:t>
            </a:r>
            <a:r>
              <a:rPr sz="1800">
                <a:solidFill>
                  <a:srgbClr val="BCBEC4"/>
                </a:solidFill>
                <a:latin typeface="Consolas"/>
              </a:rPr>
              <a:t>(</a:t>
            </a:r>
            <a:r>
              <a:rPr sz="1800">
                <a:solidFill>
                  <a:srgbClr val="BCBEC4"/>
                </a:solidFill>
                <a:latin typeface="Consolas"/>
              </a:rPr>
              <a:t>intensite</a:t>
            </a:r>
            <a:r>
              <a:rPr sz="1800">
                <a:solidFill>
                  <a:srgbClr val="BCBEC4"/>
                </a:solidFill>
                <a:latin typeface="Consolas"/>
              </a:rPr>
              <a:t>.</a:t>
            </a:r>
            <a:r>
              <a:rPr sz="1800">
                <a:solidFill>
                  <a:srgbClr val="56A8F5"/>
                </a:solidFill>
                <a:latin typeface="Consolas"/>
              </a:rPr>
              <a:t>asString</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intensite</a:t>
            </a:r>
            <a:r>
              <a:rPr sz="1800">
                <a:solidFill>
                  <a:srgbClr val="BCBEC4"/>
                </a:solidFill>
                <a:latin typeface="Consolas"/>
              </a:rPr>
              <a:t>.</a:t>
            </a:r>
            <a:r>
              <a:rPr sz="1800">
                <a:solidFill>
                  <a:srgbClr val="56A8F5"/>
                </a:solidFill>
                <a:latin typeface="Consolas"/>
              </a:rPr>
              <a:t>set</a:t>
            </a:r>
            <a:r>
              <a:rPr sz="1800">
                <a:solidFill>
                  <a:srgbClr val="BCBEC4"/>
                </a:solidFill>
                <a:latin typeface="Consolas"/>
              </a:rPr>
              <a:t>(</a:t>
            </a:r>
            <a:r>
              <a:rPr sz="1800">
                <a:solidFill>
                  <a:srgbClr val="2AACB8"/>
                </a:solidFill>
                <a:latin typeface="Consolas"/>
              </a:rPr>
              <a:t>80</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7A7E85"/>
                </a:solidFill>
                <a:latin typeface="Consolas"/>
              </a:rPr>
              <a:t>// le libelle affiche 80, sans autre ligne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2. Les bindings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Des valeurs qui se calculent</a:t>
            </a:r>
          </a:p>
        </p:txBody>
      </p:sp>
      <p:sp>
        <p:nvSpPr>
          <p:cNvPr id="3" name="TextBox 2"/>
          <p:cNvSpPr txBox="1"/>
          <p:nvPr/>
        </p:nvSpPr>
        <p:spPr>
          <a:xfrm>
            <a:off x="777240" y="1371600"/>
            <a:ext cx="1818249" cy="585216"/>
          </a:xfrm>
          <a:prstGeom prst="rect">
            <a:avLst/>
          </a:prstGeom>
          <a:noFill/>
        </p:spPr>
        <p:txBody>
          <a:bodyPr wrap="square" anchor="ctr">
            <a:spAutoFit/>
          </a:bodyPr>
          <a:lstStyle/>
          <a:p>
            <a:r>
              <a:rPr sz="2000" b="1">
                <a:solidFill>
                  <a:schemeClr val="accent4"/>
                </a:solidFill>
              </a:rPr>
              <a:t>Sur</a:t>
            </a:r>
          </a:p>
        </p:txBody>
      </p:sp>
      <p:sp>
        <p:nvSpPr>
          <p:cNvPr id="4" name="TextBox 3"/>
          <p:cNvSpPr txBox="1"/>
          <p:nvPr/>
        </p:nvSpPr>
        <p:spPr>
          <a:xfrm>
            <a:off x="2869809" y="1371600"/>
            <a:ext cx="4120075" cy="585216"/>
          </a:xfrm>
          <a:prstGeom prst="rect">
            <a:avLst/>
          </a:prstGeom>
          <a:noFill/>
        </p:spPr>
        <p:txBody>
          <a:bodyPr wrap="square" anchor="ctr">
            <a:spAutoFit/>
          </a:bodyPr>
          <a:lstStyle/>
          <a:p>
            <a:r>
              <a:rPr sz="2000" b="1">
                <a:solidFill>
                  <a:schemeClr val="accent4"/>
                </a:solidFill>
              </a:rPr>
              <a:t>La méthode</a:t>
            </a:r>
          </a:p>
        </p:txBody>
      </p:sp>
      <p:sp>
        <p:nvSpPr>
          <p:cNvPr id="5" name="TextBox 4"/>
          <p:cNvSpPr txBox="1"/>
          <p:nvPr/>
        </p:nvSpPr>
        <p:spPr>
          <a:xfrm>
            <a:off x="7264204" y="1371600"/>
            <a:ext cx="4120075" cy="585216"/>
          </a:xfrm>
          <a:prstGeom prst="rect">
            <a:avLst/>
          </a:prstGeom>
          <a:noFill/>
        </p:spPr>
        <p:txBody>
          <a:bodyPr wrap="square" anchor="ctr">
            <a:spAutoFit/>
          </a:bodyPr>
          <a:lstStyle/>
          <a:p>
            <a:r>
              <a:rPr sz="2000" b="1">
                <a:solidFill>
                  <a:schemeClr val="accent4"/>
                </a:solidFill>
              </a:rPr>
              <a:t>Produit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2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2. Les bindings</a:t>
            </a:r>
          </a:p>
        </p:txBody>
      </p:sp>
      <p:grpSp>
        <p:nvGrpSpPr>
          <p:cNvPr id="27"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7"/>
              <a:ext cx="1818249" cy="585216"/>
            </a:xfrm>
            <a:prstGeom prst="rect">
              <a:avLst/>
            </a:prstGeom>
            <a:noFill/>
          </p:spPr>
          <p:txBody>
            <a:bodyPr wrap="square" anchor="ctr">
              <a:spAutoFit/>
            </a:bodyPr>
            <a:lstStyle/>
            <a:p>
              <a:r>
                <a:rPr sz="2200">
                  <a:solidFill>
                    <a:srgbClr val="FFFFFF"/>
                  </a:solidFill>
                </a:rPr>
                <a:t>un nombre</a:t>
              </a:r>
            </a:p>
          </p:txBody>
        </p:sp>
        <p:sp>
          <p:nvSpPr>
            <p:cNvPr id="8" name="TextBox 7"/>
            <p:cNvSpPr txBox="1"/>
            <p:nvPr/>
          </p:nvSpPr>
          <p:spPr>
            <a:xfrm>
              <a:off x="2869809" y="2029967"/>
              <a:ext cx="4120075" cy="585216"/>
            </a:xfrm>
            <a:prstGeom prst="rect">
              <a:avLst/>
            </a:prstGeom>
            <a:noFill/>
          </p:spPr>
          <p:txBody>
            <a:bodyPr wrap="square" anchor="ctr">
              <a:spAutoFit/>
            </a:bodyPr>
            <a:lstStyle/>
            <a:p>
              <a:r>
                <a:rPr sz="1900">
                  <a:solidFill>
                    <a:schemeClr val="accent4"/>
                  </a:solidFill>
                  <a:latin typeface="Consolas"/>
                </a:rPr>
                <a:t>add</a:t>
              </a:r>
              <a:r>
                <a:rPr sz="2200">
                  <a:solidFill>
                    <a:srgbClr val="FFFFFF"/>
                  </a:solidFill>
                </a:rPr>
                <a:t>, </a:t>
              </a:r>
              <a:r>
                <a:rPr sz="1900">
                  <a:solidFill>
                    <a:schemeClr val="accent4"/>
                  </a:solidFill>
                  <a:latin typeface="Consolas"/>
                </a:rPr>
                <a:t>multiply</a:t>
              </a:r>
            </a:p>
          </p:txBody>
        </p:sp>
        <p:sp>
          <p:nvSpPr>
            <p:cNvPr id="9" name="TextBox 8"/>
            <p:cNvSpPr txBox="1"/>
            <p:nvPr/>
          </p:nvSpPr>
          <p:spPr>
            <a:xfrm>
              <a:off x="7264204" y="2029967"/>
              <a:ext cx="4120075" cy="585216"/>
            </a:xfrm>
            <a:prstGeom prst="rect">
              <a:avLst/>
            </a:prstGeom>
            <a:noFill/>
          </p:spPr>
          <p:txBody>
            <a:bodyPr wrap="square" anchor="ctr">
              <a:spAutoFit/>
            </a:bodyPr>
            <a:lstStyle/>
            <a:p>
              <a:r>
                <a:rPr sz="2200">
                  <a:solidFill>
                    <a:srgbClr val="FFFFFF"/>
                  </a:solidFill>
                </a:rPr>
                <a:t>un nombre</a:t>
              </a:r>
            </a:p>
          </p:txBody>
        </p:sp>
      </p:grpSp>
      <p:grpSp>
        <p:nvGrpSpPr>
          <p:cNvPr id="28"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688335"/>
              <a:ext cx="1818249" cy="585216"/>
            </a:xfrm>
            <a:prstGeom prst="rect">
              <a:avLst/>
            </a:prstGeom>
            <a:noFill/>
          </p:spPr>
          <p:txBody>
            <a:bodyPr wrap="square" anchor="ctr">
              <a:spAutoFit/>
            </a:bodyPr>
            <a:lstStyle/>
            <a:p>
              <a:r>
                <a:rPr sz="2200">
                  <a:solidFill>
                    <a:srgbClr val="FFFFFF"/>
                  </a:solidFill>
                </a:rPr>
                <a:t>un nombre</a:t>
              </a:r>
            </a:p>
          </p:txBody>
        </p:sp>
        <p:sp>
          <p:nvSpPr>
            <p:cNvPr id="12" name="TextBox 11"/>
            <p:cNvSpPr txBox="1"/>
            <p:nvPr/>
          </p:nvSpPr>
          <p:spPr>
            <a:xfrm>
              <a:off x="2869809" y="2688335"/>
              <a:ext cx="4120075" cy="585216"/>
            </a:xfrm>
            <a:prstGeom prst="rect">
              <a:avLst/>
            </a:prstGeom>
            <a:noFill/>
          </p:spPr>
          <p:txBody>
            <a:bodyPr wrap="square" anchor="ctr">
              <a:spAutoFit/>
            </a:bodyPr>
            <a:lstStyle/>
            <a:p>
              <a:r>
                <a:rPr sz="1900">
                  <a:solidFill>
                    <a:schemeClr val="accent4"/>
                  </a:solidFill>
                  <a:latin typeface="Consolas"/>
                </a:rPr>
                <a:t>greaterThan</a:t>
              </a:r>
              <a:r>
                <a:rPr sz="2200">
                  <a:solidFill>
                    <a:srgbClr val="FFFFFF"/>
                  </a:solidFill>
                </a:rPr>
                <a:t>, </a:t>
              </a:r>
              <a:r>
                <a:rPr sz="1900">
                  <a:solidFill>
                    <a:schemeClr val="accent4"/>
                  </a:solidFill>
                  <a:latin typeface="Consolas"/>
                </a:rPr>
                <a:t>lessThan</a:t>
              </a:r>
            </a:p>
          </p:txBody>
        </p:sp>
        <p:sp>
          <p:nvSpPr>
            <p:cNvPr id="13" name="TextBox 12"/>
            <p:cNvSpPr txBox="1"/>
            <p:nvPr/>
          </p:nvSpPr>
          <p:spPr>
            <a:xfrm>
              <a:off x="7264204" y="2688335"/>
              <a:ext cx="4120075" cy="585216"/>
            </a:xfrm>
            <a:prstGeom prst="rect">
              <a:avLst/>
            </a:prstGeom>
            <a:noFill/>
          </p:spPr>
          <p:txBody>
            <a:bodyPr wrap="square" anchor="ctr">
              <a:spAutoFit/>
            </a:bodyPr>
            <a:lstStyle/>
            <a:p>
              <a:r>
                <a:rPr sz="2200">
                  <a:solidFill>
                    <a:srgbClr val="FFFFFF"/>
                  </a:solidFill>
                </a:rPr>
                <a:t>un booléen</a:t>
              </a:r>
            </a:p>
          </p:txBody>
        </p:sp>
      </p:grpSp>
      <p:grpSp>
        <p:nvGrpSpPr>
          <p:cNvPr id="29"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346703"/>
              <a:ext cx="1818249" cy="585216"/>
            </a:xfrm>
            <a:prstGeom prst="rect">
              <a:avLst/>
            </a:prstGeom>
            <a:noFill/>
          </p:spPr>
          <p:txBody>
            <a:bodyPr wrap="square" anchor="ctr">
              <a:spAutoFit/>
            </a:bodyPr>
            <a:lstStyle/>
            <a:p>
              <a:r>
                <a:rPr sz="2200">
                  <a:solidFill>
                    <a:srgbClr val="FFFFFF"/>
                  </a:solidFill>
                </a:rPr>
                <a:t>un nombre</a:t>
              </a:r>
            </a:p>
          </p:txBody>
        </p:sp>
        <p:sp>
          <p:nvSpPr>
            <p:cNvPr id="16" name="TextBox 15"/>
            <p:cNvSpPr txBox="1"/>
            <p:nvPr/>
          </p:nvSpPr>
          <p:spPr>
            <a:xfrm>
              <a:off x="2869809" y="3346703"/>
              <a:ext cx="4120075" cy="585216"/>
            </a:xfrm>
            <a:prstGeom prst="rect">
              <a:avLst/>
            </a:prstGeom>
            <a:noFill/>
          </p:spPr>
          <p:txBody>
            <a:bodyPr wrap="square" anchor="ctr">
              <a:spAutoFit/>
            </a:bodyPr>
            <a:lstStyle/>
            <a:p>
              <a:r>
                <a:rPr sz="1900">
                  <a:solidFill>
                    <a:schemeClr val="accent4"/>
                  </a:solidFill>
                  <a:latin typeface="Consolas"/>
                </a:rPr>
                <a:t>asString</a:t>
              </a:r>
            </a:p>
          </p:txBody>
        </p:sp>
        <p:sp>
          <p:nvSpPr>
            <p:cNvPr id="17" name="TextBox 16"/>
            <p:cNvSpPr txBox="1"/>
            <p:nvPr/>
          </p:nvSpPr>
          <p:spPr>
            <a:xfrm>
              <a:off x="7264204" y="3346703"/>
              <a:ext cx="4120075" cy="585216"/>
            </a:xfrm>
            <a:prstGeom prst="rect">
              <a:avLst/>
            </a:prstGeom>
            <a:noFill/>
          </p:spPr>
          <p:txBody>
            <a:bodyPr wrap="square" anchor="ctr">
              <a:spAutoFit/>
            </a:bodyPr>
            <a:lstStyle/>
            <a:p>
              <a:r>
                <a:rPr sz="2200">
                  <a:solidFill>
                    <a:srgbClr val="FFFFFF"/>
                  </a:solidFill>
                </a:rPr>
                <a:t>un texte</a:t>
              </a:r>
            </a:p>
          </p:txBody>
        </p:sp>
      </p:grpSp>
      <p:grpSp>
        <p:nvGrpSpPr>
          <p:cNvPr id="30"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005071"/>
              <a:ext cx="1818249" cy="585216"/>
            </a:xfrm>
            <a:prstGeom prst="rect">
              <a:avLst/>
            </a:prstGeom>
            <a:noFill/>
          </p:spPr>
          <p:txBody>
            <a:bodyPr wrap="square" anchor="ctr">
              <a:spAutoFit/>
            </a:bodyPr>
            <a:lstStyle/>
            <a:p>
              <a:r>
                <a:rPr sz="2200">
                  <a:solidFill>
                    <a:srgbClr val="FFFFFF"/>
                  </a:solidFill>
                </a:rPr>
                <a:t>un texte</a:t>
              </a:r>
            </a:p>
          </p:txBody>
        </p:sp>
        <p:sp>
          <p:nvSpPr>
            <p:cNvPr id="20" name="TextBox 19"/>
            <p:cNvSpPr txBox="1"/>
            <p:nvPr/>
          </p:nvSpPr>
          <p:spPr>
            <a:xfrm>
              <a:off x="2869809" y="4005071"/>
              <a:ext cx="4120075" cy="585216"/>
            </a:xfrm>
            <a:prstGeom prst="rect">
              <a:avLst/>
            </a:prstGeom>
            <a:noFill/>
          </p:spPr>
          <p:txBody>
            <a:bodyPr wrap="square" anchor="ctr">
              <a:spAutoFit/>
            </a:bodyPr>
            <a:lstStyle/>
            <a:p>
              <a:r>
                <a:rPr sz="1900">
                  <a:solidFill>
                    <a:schemeClr val="accent4"/>
                  </a:solidFill>
                  <a:latin typeface="Consolas"/>
                </a:rPr>
                <a:t>length</a:t>
              </a:r>
              <a:r>
                <a:rPr sz="2200">
                  <a:solidFill>
                    <a:srgbClr val="FFFFFF"/>
                  </a:solidFill>
                </a:rPr>
                <a:t>, </a:t>
              </a:r>
              <a:r>
                <a:rPr sz="1900">
                  <a:solidFill>
                    <a:schemeClr val="accent4"/>
                  </a:solidFill>
                  <a:latin typeface="Consolas"/>
                </a:rPr>
                <a:t>isEmpty</a:t>
              </a:r>
            </a:p>
          </p:txBody>
        </p:sp>
        <p:sp>
          <p:nvSpPr>
            <p:cNvPr id="21" name="TextBox 20"/>
            <p:cNvSpPr txBox="1"/>
            <p:nvPr/>
          </p:nvSpPr>
          <p:spPr>
            <a:xfrm>
              <a:off x="7264204" y="4005071"/>
              <a:ext cx="4120075" cy="585216"/>
            </a:xfrm>
            <a:prstGeom prst="rect">
              <a:avLst/>
            </a:prstGeom>
            <a:noFill/>
          </p:spPr>
          <p:txBody>
            <a:bodyPr wrap="square" anchor="ctr">
              <a:spAutoFit/>
            </a:bodyPr>
            <a:lstStyle/>
            <a:p>
              <a:r>
                <a:rPr sz="2200">
                  <a:solidFill>
                    <a:srgbClr val="FFFFFF"/>
                  </a:solidFill>
                </a:rPr>
                <a:t>un nombre, un booléen</a:t>
              </a:r>
            </a:p>
          </p:txBody>
        </p:sp>
      </p:grpSp>
      <p:grpSp>
        <p:nvGrpSpPr>
          <p:cNvPr id="31" name="Ligne 5"/>
          <p:cNvGrpSpPr/>
          <p:nvPr/>
        </p:nvGrpSpPr>
        <p:grpSpPr>
          <a:xfrm>
            <a:off x="640080" y="4663439"/>
            <a:ext cx="10881360" cy="585216"/>
            <a:chOff x="640080" y="4663439"/>
            <a:chExt cx="10881360" cy="585216"/>
          </a:xfrm>
        </p:grpSpPr>
        <p:sp>
          <p:nvSpPr>
            <p:cNvPr id="22" name="Rounded Rectangle 21"/>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663439"/>
              <a:ext cx="1818249" cy="585216"/>
            </a:xfrm>
            <a:prstGeom prst="rect">
              <a:avLst/>
            </a:prstGeom>
            <a:noFill/>
          </p:spPr>
          <p:txBody>
            <a:bodyPr wrap="square" anchor="ctr">
              <a:spAutoFit/>
            </a:bodyPr>
            <a:lstStyle/>
            <a:p>
              <a:r>
                <a:rPr sz="2200">
                  <a:solidFill>
                    <a:srgbClr val="FFFFFF"/>
                  </a:solidFill>
                </a:rPr>
                <a:t>un booléen</a:t>
              </a:r>
            </a:p>
          </p:txBody>
        </p:sp>
        <p:sp>
          <p:nvSpPr>
            <p:cNvPr id="24" name="TextBox 23"/>
            <p:cNvSpPr txBox="1"/>
            <p:nvPr/>
          </p:nvSpPr>
          <p:spPr>
            <a:xfrm>
              <a:off x="2869809" y="4663439"/>
              <a:ext cx="4120075" cy="585216"/>
            </a:xfrm>
            <a:prstGeom prst="rect">
              <a:avLst/>
            </a:prstGeom>
            <a:noFill/>
          </p:spPr>
          <p:txBody>
            <a:bodyPr wrap="square" anchor="ctr">
              <a:spAutoFit/>
            </a:bodyPr>
            <a:lstStyle/>
            <a:p>
              <a:r>
                <a:rPr sz="1900">
                  <a:solidFill>
                    <a:schemeClr val="accent4"/>
                  </a:solidFill>
                  <a:latin typeface="Consolas"/>
                </a:rPr>
                <a:t>not</a:t>
              </a:r>
              <a:r>
                <a:rPr sz="2200">
                  <a:solidFill>
                    <a:srgbClr val="FFFFFF"/>
                  </a:solidFill>
                </a:rPr>
                <a:t>, </a:t>
              </a:r>
              <a:r>
                <a:rPr sz="1900">
                  <a:solidFill>
                    <a:schemeClr val="accent4"/>
                  </a:solidFill>
                  <a:latin typeface="Consolas"/>
                </a:rPr>
                <a:t>and</a:t>
              </a:r>
              <a:r>
                <a:rPr sz="2200">
                  <a:solidFill>
                    <a:srgbClr val="FFFFFF"/>
                  </a:solidFill>
                </a:rPr>
                <a:t>, </a:t>
              </a:r>
              <a:r>
                <a:rPr sz="1900">
                  <a:solidFill>
                    <a:schemeClr val="accent4"/>
                  </a:solidFill>
                  <a:latin typeface="Consolas"/>
                </a:rPr>
                <a:t>or</a:t>
              </a:r>
            </a:p>
          </p:txBody>
        </p:sp>
        <p:sp>
          <p:nvSpPr>
            <p:cNvPr id="25" name="TextBox 24"/>
            <p:cNvSpPr txBox="1"/>
            <p:nvPr/>
          </p:nvSpPr>
          <p:spPr>
            <a:xfrm>
              <a:off x="7264204" y="4663439"/>
              <a:ext cx="4120075" cy="585216"/>
            </a:xfrm>
            <a:prstGeom prst="rect">
              <a:avLst/>
            </a:prstGeom>
            <a:noFill/>
          </p:spPr>
          <p:txBody>
            <a:bodyPr wrap="square" anchor="ctr">
              <a:spAutoFit/>
            </a:bodyPr>
            <a:lstStyle/>
            <a:p>
              <a:r>
                <a:rPr sz="2200">
                  <a:solidFill>
                    <a:srgbClr val="FFFFFF"/>
                  </a:solidFill>
                </a:rPr>
                <a:t>un booléen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left)">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Dans les deux sens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La méthode </a:t>
            </a:r>
            <a:r>
              <a:rPr sz="2400">
                <a:solidFill>
                  <a:schemeClr val="accent4"/>
                </a:solidFill>
                <a:latin typeface="Consolas"/>
              </a:rPr>
              <a:t>bind</a:t>
            </a:r>
            <a:r>
              <a:rPr sz="2800"/>
              <a:t> fait suivre une propriété, dans un seul sens</a:t>
            </a:r>
          </a:p>
          <a:p>
            <a:pPr marL="0" indent="0">
              <a:spcAft>
                <a:spcPts val="1000"/>
              </a:spcAft>
              <a:buNone/>
            </a:pPr>
            <a:r>
              <a:rPr sz="2800"/>
              <a:t>La méthode </a:t>
            </a:r>
            <a:r>
              <a:rPr sz="2400">
                <a:solidFill>
                  <a:schemeClr val="accent4"/>
                </a:solidFill>
                <a:latin typeface="Consolas"/>
              </a:rPr>
              <a:t>bindBidirectional</a:t>
            </a:r>
            <a:r>
              <a:rPr sz="2800"/>
              <a:t> garde deux propriétés égales, dans les deux sens</a:t>
            </a:r>
          </a:p>
          <a:p>
            <a:pPr marL="0" indent="0">
              <a:spcAft>
                <a:spcPts val="1000"/>
              </a:spcAft>
              <a:buNone/>
            </a:pPr>
            <a:r>
              <a:rPr sz="2800"/>
              <a:t>Chacune peut alors être modifiée, et l'autre suit</a:t>
            </a:r>
          </a:p>
        </p:txBody>
      </p:sp>
      <p:sp>
        <p:nvSpPr>
          <p:cNvPr id="4" name="Code"/>
          <p:cNvSpPr txBox="1"/>
          <p:nvPr/>
        </p:nvSpPr>
        <p:spPr>
          <a:xfrm>
            <a:off x="1892300" y="4160520"/>
            <a:ext cx="84074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Slider</a:t>
            </a:r>
            <a:r>
              <a:rPr sz="1800">
                <a:solidFill>
                  <a:srgbClr val="BCBEC4"/>
                </a:solidFill>
                <a:latin typeface="Consolas"/>
              </a:rPr>
              <a:t> </a:t>
            </a:r>
            <a:r>
              <a:rPr sz="1800">
                <a:solidFill>
                  <a:srgbClr val="BCBEC4"/>
                </a:solidFill>
                <a:latin typeface="Consolas"/>
              </a:rPr>
              <a:t>curseur</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Slider</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a:t>
            </a:r>
            <a:r>
              <a:rPr sz="1800">
                <a:solidFill>
                  <a:srgbClr val="BCBEC4"/>
                </a:solidFill>
                <a:latin typeface="Consolas"/>
              </a:rPr>
              <a:t> </a:t>
            </a:r>
            <a:r>
              <a:rPr sz="1800">
                <a:solidFill>
                  <a:srgbClr val="2AACB8"/>
                </a:solidFill>
                <a:latin typeface="Consolas"/>
              </a:rPr>
              <a:t>100</a:t>
            </a:r>
            <a:r>
              <a:rPr sz="1800">
                <a:solidFill>
                  <a:srgbClr val="BCBEC4"/>
                </a:solidFill>
                <a:latin typeface="Consolas"/>
              </a:rPr>
              <a:t>,</a:t>
            </a:r>
            <a:r>
              <a:rPr sz="1800">
                <a:solidFill>
                  <a:srgbClr val="BCBEC4"/>
                </a:solidFill>
                <a:latin typeface="Consolas"/>
              </a:rPr>
              <a:t> </a:t>
            </a:r>
            <a:r>
              <a:rPr sz="1800">
                <a:solidFill>
                  <a:srgbClr val="2AACB8"/>
                </a:solidFill>
                <a:latin typeface="Consolas"/>
              </a:rPr>
              <a:t>50</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curseur</a:t>
            </a:r>
            <a:r>
              <a:rPr sz="1800">
                <a:solidFill>
                  <a:srgbClr val="BCBEC4"/>
                </a:solidFill>
                <a:latin typeface="Consolas"/>
              </a:rPr>
              <a:t>.</a:t>
            </a:r>
            <a:r>
              <a:rPr sz="1800">
                <a:solidFill>
                  <a:srgbClr val="56A8F5"/>
                </a:solidFill>
                <a:latin typeface="Consolas"/>
              </a:rPr>
              <a:t>valueProperty</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56A8F5"/>
                </a:solidFill>
                <a:latin typeface="Consolas"/>
              </a:rPr>
              <a:t>bindBidirectional</a:t>
            </a:r>
            <a:r>
              <a:rPr sz="1800">
                <a:solidFill>
                  <a:srgbClr val="BCBEC4"/>
                </a:solidFill>
                <a:latin typeface="Consolas"/>
              </a:rPr>
              <a:t>(</a:t>
            </a:r>
            <a:r>
              <a:rPr sz="1800">
                <a:solidFill>
                  <a:srgbClr val="BCBEC4"/>
                </a:solidFill>
                <a:latin typeface="Consolas"/>
              </a:rPr>
              <a:t>reglage</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reglage</a:t>
            </a:r>
            <a:r>
              <a:rPr sz="1800">
                <a:solidFill>
                  <a:srgbClr val="BCBEC4"/>
                </a:solidFill>
                <a:latin typeface="Consolas"/>
              </a:rPr>
              <a:t>.</a:t>
            </a:r>
            <a:r>
              <a:rPr sz="1800">
                <a:solidFill>
                  <a:srgbClr val="56A8F5"/>
                </a:solidFill>
                <a:latin typeface="Consolas"/>
              </a:rPr>
              <a:t>set</a:t>
            </a:r>
            <a:r>
              <a:rPr sz="1800">
                <a:solidFill>
                  <a:srgbClr val="BCBEC4"/>
                </a:solidFill>
                <a:latin typeface="Consolas"/>
              </a:rPr>
              <a:t>(</a:t>
            </a:r>
            <a:r>
              <a:rPr sz="1800">
                <a:solidFill>
                  <a:srgbClr val="2AACB8"/>
                </a:solidFill>
                <a:latin typeface="Consolas"/>
              </a:rPr>
              <a:t>75</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7A7E85"/>
                </a:solidFill>
                <a:latin typeface="Consolas"/>
              </a:rPr>
              <a:t>// le curseur se place sur 75</a:t>
            </a:r>
          </a:p>
          <a:p>
            <a:pPr>
              <a:lnSpc>
                <a:spcPct val="100000"/>
              </a:lnSpc>
              <a:spcBef>
                <a:spcPts val="0"/>
              </a:spcBef>
              <a:spcAft>
                <a:spcPts val="0"/>
              </a:spcAft>
            </a:pPr>
            <a:r>
              <a:rPr sz="1800">
                <a:solidFill>
                  <a:srgbClr val="7A7E85"/>
                </a:solidFill>
                <a:latin typeface="Consolas"/>
              </a:rPr>
              <a:t>// et si l'utilisateur deplace le curseur, reglage le suit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2. Les bindings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17320"/>
            <a:ext cx="1920240" cy="960120"/>
          </a:xfrm>
          <a:prstGeom prst="rect">
            <a:avLst/>
          </a:prstGeom>
          <a:noFill/>
        </p:spPr>
        <p:txBody>
          <a:bodyPr wrap="none" anchor="ctr">
            <a:spAutoFit/>
          </a:bodyPr>
          <a:lstStyle/>
          <a:p>
            <a:r>
              <a:rPr b="1" sz="3000">
                <a:solidFill>
                  <a:schemeClr val="accent4"/>
                </a:solidFill>
                <a:latin typeface="Consolas"/>
              </a:rPr>
              <a:t>FX.8</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Lier plutôt qu'écouter</a:t>
            </a:r>
          </a:p>
          <a:p>
            <a:r>
              <a:rPr sz="1400">
                <a:solidFill>
                  <a:srgbClr val="BCBEC4"/>
                </a:solidFill>
              </a:rPr>
              <a:t>fascicule FX</a:t>
            </a:r>
          </a:p>
        </p:txBody>
      </p:sp>
      <p:pic>
        <p:nvPicPr>
          <p:cNvPr id="6" name="Picture 5" descr="image.png"/>
          <p:cNvPicPr>
            <a:picLocks noChangeAspect="1"/>
          </p:cNvPicPr>
          <p:nvPr/>
        </p:nvPicPr>
        <p:blipFill>
          <a:blip r:embed="rId2"/>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2. Les bindings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7" name="Picture 2" descr="FX2_section3.jpg"/>
          <p:cNvPicPr>
            <a:picLocks noChangeAspect="1"/>
          </p:cNvPicPr>
          <p:nvPr/>
        </p:nvPicPr>
        <p:blipFill>
          <a:blip r:embed="rId4"/>
          <a:stretch>
            <a:fillRect/>
          </a:stretch>
        </p:blipFill>
        <p:spPr>
          <a:xfrm>
            <a:off x="3001" y="-1"/>
            <a:ext cx="12185998" cy="6858001"/>
          </a:xfrm>
          <a:prstGeom prst="rect">
            <a:avLst/>
          </a:prstGeom>
        </p:spPr>
      </p:pic>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9560069" cy="1105200"/>
          </a:xfrm>
          <a:prstGeom prst="rect">
            <a:avLst/>
          </a:prstGeom>
          <a:solidFill>
            <a:srgbClr val="53A6D5">
              <a:alpha val="75294"/>
            </a:srgb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3. Séparer l'écran du calcul</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7</a:t>
            </a:fld>
            <a:endParaRPr lang="fr-F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Trois responsabilités</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modèle tient les données et les règles, et ignore tout de l'écran</a:t>
            </a:r>
          </a:p>
          <a:p>
            <a:pPr marL="0" indent="0">
              <a:spcAft>
                <a:spcPts val="1000"/>
              </a:spcAft>
              <a:buNone/>
            </a:pPr>
            <a:r>
              <a:rPr sz="2800"/>
              <a:t>La vue montre, et ne décide de rien</a:t>
            </a:r>
          </a:p>
          <a:p>
            <a:pPr marL="0" indent="0">
              <a:spcAft>
                <a:spcPts val="1000"/>
              </a:spcAft>
              <a:buNone/>
            </a:pPr>
            <a:r>
              <a:rPr sz="2800"/>
              <a:t>Le contrôleur écoute la vue, interroge le modèle, met la vue à jour</a:t>
            </a:r>
          </a:p>
          <a:p>
            <a:pPr marL="0" indent="0">
              <a:spcAft>
                <a:spcPts val="1000"/>
              </a:spcAft>
              <a:buNone/>
            </a:pPr>
            <a:r>
              <a:rPr sz="2800"/>
              <a:t>Le modèle se teste par JUnit ; une fenêtre ne se teste pas</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3. MVC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Qui connaît qui</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contrôleur connaît le modèle et la vue</a:t>
            </a:r>
          </a:p>
          <a:p>
            <a:pPr marL="0" indent="0">
              <a:spcAft>
                <a:spcPts val="1000"/>
              </a:spcAft>
              <a:buNone/>
            </a:pPr>
            <a:r>
              <a:rPr sz="2800"/>
              <a:t>Le modèle ne connaît personne</a:t>
            </a:r>
          </a:p>
          <a:p>
            <a:pPr marL="0" indent="0">
              <a:spcAft>
                <a:spcPts val="1000"/>
              </a:spcAft>
              <a:buNone/>
            </a:pPr>
            <a:r>
              <a:rPr sz="2800"/>
              <a:t>La vue ne connaît pas le modèle</a:t>
            </a:r>
          </a:p>
        </p:txBody>
      </p:sp>
      <p:sp>
        <p:nvSpPr>
          <p:cNvPr id="4" name="Code"/>
          <p:cNvSpPr txBox="1"/>
          <p:nvPr/>
        </p:nvSpPr>
        <p:spPr>
          <a:xfrm>
            <a:off x="1853494" y="3307080"/>
            <a:ext cx="8485011"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a:t>
            </a:r>
            <a:r>
              <a:rPr sz="1700">
                <a:solidFill>
                  <a:srgbClr val="BCBEC4"/>
                </a:solidFill>
                <a:latin typeface="Consolas"/>
              </a:rPr>
              <a:t>Lampe</a:t>
            </a:r>
            <a:r>
              <a:rPr sz="1700">
                <a:solidFill>
                  <a:srgbClr val="BCBEC4"/>
                </a:solidFill>
                <a:latin typeface="Consolas"/>
              </a:rPr>
              <a:t> </a:t>
            </a:r>
            <a:r>
              <a:rPr sz="1700">
                <a:solidFill>
                  <a:srgbClr val="BCBEC4"/>
                </a:solidFill>
                <a:latin typeface="Consolas"/>
              </a:rPr>
              <a:t>{</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7A7E85"/>
                </a:solidFill>
                <a:latin typeface="Consolas"/>
              </a:rPr>
              <a:t>// le modele, sans JavaFX</a:t>
            </a:r>
          </a:p>
          <a:p>
            <a:pPr>
              <a:lnSpc>
                <a:spcPct val="100000"/>
              </a:lnSpc>
              <a:spcBef>
                <a:spcPts val="0"/>
              </a:spcBef>
              <a:spcAft>
                <a:spcPts val="0"/>
              </a:spcAft>
            </a:pP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boolean</a:t>
            </a:r>
            <a:r>
              <a:rPr sz="1700">
                <a:solidFill>
                  <a:srgbClr val="BCBEC4"/>
                </a:solidFill>
                <a:latin typeface="Consolas"/>
              </a:rPr>
              <a:t> </a:t>
            </a:r>
            <a:r>
              <a:rPr sz="1700">
                <a:solidFill>
                  <a:srgbClr val="BCBEC4"/>
                </a:solidFill>
                <a:latin typeface="Consolas"/>
              </a:rPr>
              <a:t>allumee</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basculer</a:t>
            </a:r>
            <a:r>
              <a:rPr sz="1700">
                <a:solidFill>
                  <a:srgbClr val="BCBEC4"/>
                </a:solidFill>
                <a:latin typeface="Consolas"/>
              </a:rPr>
              <a:t>(</a:t>
            </a:r>
            <a:r>
              <a:rPr sz="1700">
                <a:solidFill>
                  <a:srgbClr val="BCBEC4"/>
                </a:solidFill>
                <a:latin typeface="Consolas"/>
              </a:rPr>
              <a:t>)</a:t>
            </a:r>
            <a:r>
              <a:rPr sz="1700">
                <a:solidFill>
                  <a:srgbClr val="BCBEC4"/>
                </a:solidFill>
                <a:latin typeface="Consolas"/>
              </a:rPr>
              <a:t> </a:t>
            </a:r>
            <a:r>
              <a:rPr sz="1700">
                <a:solidFill>
                  <a:srgbClr val="BCBEC4"/>
                </a:solidFill>
                <a:latin typeface="Consolas"/>
              </a:rPr>
              <a:t>{</a:t>
            </a:r>
            <a:r>
              <a:rPr sz="1700">
                <a:solidFill>
                  <a:srgbClr val="BCBEC4"/>
                </a:solidFill>
                <a:latin typeface="Consolas"/>
              </a:rPr>
              <a:t> </a:t>
            </a:r>
            <a:r>
              <a:rPr sz="1700">
                <a:solidFill>
                  <a:srgbClr val="BCBEC4"/>
                </a:solidFill>
                <a:latin typeface="Consolas"/>
              </a:rPr>
              <a:t>allumee</a:t>
            </a:r>
            <a:r>
              <a:rPr sz="1700">
                <a:solidFill>
                  <a:srgbClr val="BCBEC4"/>
                </a:solidFill>
                <a:latin typeface="Consolas"/>
              </a:rPr>
              <a:t> </a:t>
            </a:r>
            <a:r>
              <a:rPr sz="1700">
                <a:solidFill>
                  <a:srgbClr val="BCBEC4"/>
                </a:solidFill>
                <a:latin typeface="Consolas"/>
              </a:rPr>
              <a:t>=</a:t>
            </a:r>
            <a:r>
              <a:rPr sz="1700">
                <a:solidFill>
                  <a:srgbClr val="BCBEC4"/>
                </a:solidFill>
                <a:latin typeface="Consolas"/>
              </a:rPr>
              <a:t> </a:t>
            </a:r>
            <a:r>
              <a:rPr sz="1700">
                <a:solidFill>
                  <a:srgbClr val="BCBEC4"/>
                </a:solidFill>
                <a:latin typeface="Consolas"/>
              </a:rPr>
              <a:t>!</a:t>
            </a:r>
            <a:r>
              <a:rPr sz="1700">
                <a:solidFill>
                  <a:srgbClr val="BCBEC4"/>
                </a:solidFill>
                <a:latin typeface="Consolas"/>
              </a:rPr>
              <a:t>allumee</a:t>
            </a:r>
            <a:r>
              <a:rPr sz="1700">
                <a:solidFill>
                  <a:srgbClr val="BCBEC4"/>
                </a:solidFill>
                <a:latin typeface="Consolas"/>
              </a:rPr>
              <a:t>;</a:t>
            </a:r>
            <a:r>
              <a:rPr sz="1700">
                <a:solidFill>
                  <a:srgbClr val="BCBEC4"/>
                </a:solidFill>
                <a:latin typeface="Consolas"/>
              </a:rPr>
              <a:t> </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boolean</a:t>
            </a:r>
            <a:r>
              <a:rPr sz="1700">
                <a:solidFill>
                  <a:srgbClr val="BCBEC4"/>
                </a:solidFill>
                <a:latin typeface="Consolas"/>
              </a:rPr>
              <a:t> </a:t>
            </a:r>
            <a:r>
              <a:rPr sz="1700">
                <a:solidFill>
                  <a:srgbClr val="56A8F5"/>
                </a:solidFill>
                <a:latin typeface="Consolas"/>
              </a:rPr>
              <a:t>estAllumee</a:t>
            </a:r>
            <a:r>
              <a:rPr sz="1700">
                <a:solidFill>
                  <a:srgbClr val="BCBEC4"/>
                </a:solidFill>
                <a:latin typeface="Consolas"/>
              </a:rPr>
              <a:t>(</a:t>
            </a:r>
            <a:r>
              <a:rPr sz="1700">
                <a:solidFill>
                  <a:srgbClr val="BCBEC4"/>
                </a:solidFill>
                <a:latin typeface="Consolas"/>
              </a:rPr>
              <a:t>)</a:t>
            </a:r>
            <a:r>
              <a:rPr sz="1700">
                <a:solidFill>
                  <a:srgbClr val="BCBEC4"/>
                </a:solidFill>
                <a:latin typeface="Consolas"/>
              </a:rPr>
              <a:t> </a:t>
            </a:r>
            <a:r>
              <a:rPr sz="1700">
                <a:solidFill>
                  <a:srgbClr val="BCBEC4"/>
                </a:solidFill>
                <a:latin typeface="Consolas"/>
              </a:rPr>
              <a:t>{</a:t>
            </a:r>
            <a:r>
              <a:rPr sz="1700">
                <a:solidFill>
                  <a:srgbClr val="BCBEC4"/>
                </a:solidFill>
                <a:latin typeface="Consolas"/>
              </a:rPr>
              <a:t> </a:t>
            </a:r>
            <a:r>
              <a:rPr sz="1700">
                <a:solidFill>
                  <a:srgbClr val="CF8E6D"/>
                </a:solidFill>
                <a:latin typeface="Consolas"/>
              </a:rPr>
              <a:t>return</a:t>
            </a:r>
            <a:r>
              <a:rPr sz="1700">
                <a:solidFill>
                  <a:srgbClr val="BCBEC4"/>
                </a:solidFill>
                <a:latin typeface="Consolas"/>
              </a:rPr>
              <a:t> </a:t>
            </a:r>
            <a:r>
              <a:rPr sz="1700">
                <a:solidFill>
                  <a:srgbClr val="BCBEC4"/>
                </a:solidFill>
                <a:latin typeface="Consolas"/>
              </a:rPr>
              <a:t>allumee</a:t>
            </a:r>
            <a:r>
              <a:rPr sz="1700">
                <a:solidFill>
                  <a:srgbClr val="BCBEC4"/>
                </a:solidFill>
                <a:latin typeface="Consolas"/>
              </a:rPr>
              <a:t>;</a:t>
            </a:r>
            <a:r>
              <a:rPr sz="1700">
                <a:solidFill>
                  <a:srgbClr val="BCBEC4"/>
                </a:solidFill>
                <a:latin typeface="Consolas"/>
              </a:rPr>
              <a:t> </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basculer</a:t>
            </a:r>
            <a:r>
              <a:rPr sz="1700">
                <a:solidFill>
                  <a:srgbClr val="BCBEC4"/>
                </a:solidFill>
                <a:latin typeface="Consolas"/>
              </a:rPr>
              <a:t>(</a:t>
            </a:r>
            <a:r>
              <a:rPr sz="1700">
                <a:solidFill>
                  <a:srgbClr val="BCBEC4"/>
                </a:solidFill>
                <a:latin typeface="Consolas"/>
              </a:rPr>
              <a:t>)</a:t>
            </a:r>
            <a:r>
              <a:rPr sz="1700">
                <a:solidFill>
                  <a:srgbClr val="BCBEC4"/>
                </a:solidFill>
                <a:latin typeface="Consolas"/>
              </a:rPr>
              <a:t> </a:t>
            </a:r>
            <a:r>
              <a:rPr sz="1700">
                <a:solidFill>
                  <a:srgbClr val="BCBEC4"/>
                </a:solidFill>
                <a:latin typeface="Consolas"/>
              </a:rPr>
              <a:t>{</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7A7E85"/>
                </a:solidFill>
                <a:latin typeface="Consolas"/>
              </a:rPr>
              <a:t>// dans le controleur</a:t>
            </a:r>
          </a:p>
          <a:p>
            <a:pPr>
              <a:lnSpc>
                <a:spcPct val="100000"/>
              </a:lnSpc>
              <a:spcBef>
                <a:spcPts val="0"/>
              </a:spcBef>
              <a:spcAft>
                <a:spcPts val="0"/>
              </a:spcAft>
            </a:pP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lampe</a:t>
            </a:r>
            <a:r>
              <a:rPr sz="1700">
                <a:solidFill>
                  <a:srgbClr val="BCBEC4"/>
                </a:solidFill>
                <a:latin typeface="Consolas"/>
              </a:rPr>
              <a:t>.</a:t>
            </a:r>
            <a:r>
              <a:rPr sz="1700">
                <a:solidFill>
                  <a:srgbClr val="56A8F5"/>
                </a:solidFill>
                <a:latin typeface="Consolas"/>
              </a:rPr>
              <a:t>basculer</a:t>
            </a:r>
            <a:r>
              <a:rPr sz="1700">
                <a:solidFill>
                  <a:srgbClr val="BCBEC4"/>
                </a:solidFill>
                <a:latin typeface="Consolas"/>
              </a:rPr>
              <a:t>(</a:t>
            </a:r>
            <a:r>
              <a:rPr sz="1700">
                <a:solidFill>
                  <a:srgbClr val="BCBEC4"/>
                </a:solidFill>
                <a:latin typeface="Consolas"/>
              </a:rPr>
              <a:t>)</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 </a:t>
            </a:r>
            <a:r>
              <a:rPr sz="1700">
                <a:solidFill>
                  <a:srgbClr val="BCBEC4"/>
                </a:solidFill>
                <a:latin typeface="Consolas"/>
              </a:rPr>
              <a:t>etat</a:t>
            </a:r>
            <a:r>
              <a:rPr sz="1700">
                <a:solidFill>
                  <a:srgbClr val="BCBEC4"/>
                </a:solidFill>
                <a:latin typeface="Consolas"/>
              </a:rPr>
              <a:t>.</a:t>
            </a:r>
            <a:r>
              <a:rPr sz="1700">
                <a:solidFill>
                  <a:srgbClr val="56A8F5"/>
                </a:solidFill>
                <a:latin typeface="Consolas"/>
              </a:rPr>
              <a:t>setText</a:t>
            </a:r>
            <a:r>
              <a:rPr sz="1700">
                <a:solidFill>
                  <a:srgbClr val="BCBEC4"/>
                </a:solidFill>
                <a:latin typeface="Consolas"/>
              </a:rPr>
              <a:t>(</a:t>
            </a:r>
            <a:r>
              <a:rPr sz="1700">
                <a:solidFill>
                  <a:srgbClr val="BCBEC4"/>
                </a:solidFill>
                <a:latin typeface="Consolas"/>
              </a:rPr>
              <a:t>lampe</a:t>
            </a:r>
            <a:r>
              <a:rPr sz="1700">
                <a:solidFill>
                  <a:srgbClr val="BCBEC4"/>
                </a:solidFill>
                <a:latin typeface="Consolas"/>
              </a:rPr>
              <a:t>.</a:t>
            </a:r>
            <a:r>
              <a:rPr sz="1700">
                <a:solidFill>
                  <a:srgbClr val="56A8F5"/>
                </a:solidFill>
                <a:latin typeface="Consolas"/>
              </a:rPr>
              <a:t>estAllumee</a:t>
            </a:r>
            <a:r>
              <a:rPr sz="1700">
                <a:solidFill>
                  <a:srgbClr val="BCBEC4"/>
                </a:solidFill>
                <a:latin typeface="Consolas"/>
              </a:rPr>
              <a:t>(</a:t>
            </a:r>
            <a:r>
              <a:rPr sz="1700">
                <a:solidFill>
                  <a:srgbClr val="BCBEC4"/>
                </a:solidFill>
                <a:latin typeface="Consolas"/>
              </a:rPr>
              <a:t>)</a:t>
            </a:r>
            <a:r>
              <a:rPr sz="1700">
                <a:solidFill>
                  <a:srgbClr val="BCBEC4"/>
                </a:solidFill>
                <a:latin typeface="Consolas"/>
              </a:rPr>
              <a:t> </a:t>
            </a:r>
            <a:r>
              <a:rPr sz="1700">
                <a:solidFill>
                  <a:srgbClr val="BCBEC4"/>
                </a:solidFill>
                <a:latin typeface="Consolas"/>
              </a:rPr>
              <a:t>?</a:t>
            </a:r>
            <a:r>
              <a:rPr sz="1700">
                <a:solidFill>
                  <a:srgbClr val="BCBEC4"/>
                </a:solidFill>
                <a:latin typeface="Consolas"/>
              </a:rPr>
              <a:t> </a:t>
            </a:r>
            <a:r>
              <a:rPr sz="1700">
                <a:solidFill>
                  <a:srgbClr val="6AAB73"/>
                </a:solidFill>
                <a:latin typeface="Consolas"/>
              </a:rPr>
              <a:t>"Allumee"</a:t>
            </a:r>
            <a:r>
              <a:rPr sz="1700">
                <a:solidFill>
                  <a:srgbClr val="BCBEC4"/>
                </a:solidFill>
                <a:latin typeface="Consolas"/>
              </a:rPr>
              <a:t> </a:t>
            </a:r>
            <a:r>
              <a:rPr sz="1700">
                <a:solidFill>
                  <a:srgbClr val="BCBEC4"/>
                </a:solidFill>
                <a:latin typeface="Consolas"/>
              </a:rPr>
              <a:t>:</a:t>
            </a:r>
            <a:r>
              <a:rPr sz="1700">
                <a:solidFill>
                  <a:srgbClr val="BCBEC4"/>
                </a:solidFill>
                <a:latin typeface="Consolas"/>
              </a:rPr>
              <a:t> </a:t>
            </a:r>
            <a:r>
              <a:rPr sz="1700">
                <a:solidFill>
                  <a:srgbClr val="6AAB73"/>
                </a:solidFill>
                <a:latin typeface="Consolas"/>
              </a:rPr>
              <a:t>"Eteinte"</a:t>
            </a:r>
            <a:r>
              <a:rPr sz="1700">
                <a:solidFill>
                  <a:srgbClr val="BCBEC4"/>
                </a:solidFill>
                <a:latin typeface="Consolas"/>
              </a:rPr>
              <a:t>)</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3. MVC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7" name="Picture 2" descr="FX2_section4.jpg"/>
          <p:cNvPicPr>
            <a:picLocks noChangeAspect="1"/>
          </p:cNvPicPr>
          <p:nvPr/>
        </p:nvPicPr>
        <p:blipFill>
          <a:blip r:embed="rId4"/>
          <a:stretch>
            <a:fillRect/>
          </a:stretch>
        </p:blipFill>
        <p:spPr>
          <a:xfrm>
            <a:off x="3001" y="-1"/>
            <a:ext cx="12185998" cy="6858001"/>
          </a:xfrm>
          <a:prstGeom prst="rect">
            <a:avLst/>
          </a:prstGeom>
        </p:spPr>
      </p:pic>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9308780" cy="1105200"/>
          </a:xfrm>
          <a:prstGeom prst="rect">
            <a:avLst/>
          </a:prstGeom>
          <a:solidFill>
            <a:srgbClr val="53A6D5">
              <a:alpha val="75294"/>
            </a:srgb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4. Décrire l'écran en FXML</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7</a:t>
            </a:fld>
            <a:endParaRPr lang="fr-F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Écrire l'écran, ou le décrire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Jusqu'ici, la vue était du code Java, dans </a:t>
            </a:r>
            <a:r>
              <a:rPr sz="2400">
                <a:solidFill>
                  <a:schemeClr val="accent4"/>
                </a:solidFill>
                <a:latin typeface="Consolas"/>
              </a:rPr>
              <a:t>start</a:t>
            </a:r>
          </a:p>
          <a:p>
            <a:pPr marL="0" indent="0">
              <a:spcAft>
                <a:spcPts val="1000"/>
              </a:spcAft>
              <a:buNone/>
            </a:pPr>
            <a:r>
              <a:rPr sz="2800"/>
              <a:t>Elle peut aussi se décrire dans un fichier </a:t>
            </a:r>
            <a:r>
              <a:rPr sz="2400">
                <a:solidFill>
                  <a:schemeClr val="accent4"/>
                </a:solidFill>
                <a:latin typeface="Consolas"/>
              </a:rPr>
              <a:t>.fxml</a:t>
            </a:r>
            <a:r>
              <a:rPr sz="2800"/>
              <a:t>, à part</a:t>
            </a:r>
          </a:p>
          <a:p>
            <a:pPr marL="0" indent="0">
              <a:spcAft>
                <a:spcPts val="1000"/>
              </a:spcAft>
              <a:buNone/>
            </a:pPr>
            <a:r>
              <a:rPr sz="2800"/>
              <a:t>Scene Builder dessine ce fichier à la souris</a:t>
            </a:r>
          </a:p>
          <a:p>
            <a:pPr marL="0" indent="0">
              <a:spcAft>
                <a:spcPts val="1000"/>
              </a:spcAft>
              <a:buNone/>
            </a:pPr>
            <a:r>
              <a:rPr sz="2800"/>
              <a:t>Le FXML n'est pas à l'examen</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Un élément, un objet</a:t>
            </a:r>
          </a:p>
        </p:txBody>
      </p:sp>
      <p:sp>
        <p:nvSpPr>
          <p:cNvPr id="3" name="Content Placeholder 2"/>
          <p:cNvSpPr>
            <a:spLocks noGrp="1"/>
          </p:cNvSpPr>
          <p:nvPr>
            <p:ph idx="1"/>
          </p:nvPr>
        </p:nvSpPr>
        <p:spPr>
          <a:xfrm>
            <a:off x="640080" y="1371600"/>
            <a:ext cx="4389120" cy="4800600"/>
          </a:xfrm>
        </p:spPr>
        <p:txBody>
          <a:bodyPr/>
          <a:lstStyle/>
          <a:p>
            <a:pPr marL="0" indent="0">
              <a:spcAft>
                <a:spcPts val="1000"/>
              </a:spcAft>
              <a:buNone/>
            </a:pPr>
            <a:r>
              <a:rPr sz="2400"/>
              <a:t>Un élément crée un objet de la classe du même nom</a:t>
            </a:r>
          </a:p>
          <a:p>
            <a:pPr marL="0" indent="0">
              <a:spcAft>
                <a:spcPts val="1000"/>
              </a:spcAft>
              <a:buNone/>
            </a:pPr>
            <a:r>
              <a:rPr sz="2400"/>
              <a:t>Un attribut appelle le mutateur du même nom : </a:t>
            </a:r>
            <a:r>
              <a:rPr sz="2100">
                <a:solidFill>
                  <a:schemeClr val="accent4"/>
                </a:solidFill>
                <a:latin typeface="Consolas"/>
              </a:rPr>
              <a:t>spacing</a:t>
            </a:r>
            <a:r>
              <a:rPr sz="2400"/>
              <a:t> appelle </a:t>
            </a:r>
            <a:r>
              <a:rPr sz="2100">
                <a:solidFill>
                  <a:schemeClr val="accent4"/>
                </a:solidFill>
                <a:latin typeface="Consolas"/>
              </a:rPr>
              <a:t>setSpacing</a:t>
            </a:r>
          </a:p>
          <a:p>
            <a:pPr marL="0" indent="0">
              <a:spcAft>
                <a:spcPts val="1000"/>
              </a:spcAft>
              <a:buNone/>
            </a:pPr>
            <a:r>
              <a:rPr sz="2400"/>
              <a:t>Les éléments imbriqués deviennent les enfants</a:t>
            </a:r>
          </a:p>
          <a:p>
            <a:pPr marL="0" indent="0">
              <a:spcAft>
                <a:spcPts val="1000"/>
              </a:spcAft>
              <a:buNone/>
            </a:pPr>
            <a:r>
              <a:rPr sz="2400"/>
              <a:t>Les classes s'importent, comme en Java</a:t>
            </a:r>
          </a:p>
        </p:txBody>
      </p:sp>
      <p:sp>
        <p:nvSpPr>
          <p:cNvPr id="4" name="Code"/>
          <p:cNvSpPr txBox="1"/>
          <p:nvPr/>
        </p:nvSpPr>
        <p:spPr>
          <a:xfrm>
            <a:off x="5257800" y="1371600"/>
            <a:ext cx="5797296"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&lt;</a:t>
            </a:r>
            <a:r>
              <a:rPr sz="1800">
                <a:solidFill>
                  <a:srgbClr val="BCBEC4"/>
                </a:solidFill>
                <a:latin typeface="Consolas"/>
              </a:rPr>
              <a:t>?</a:t>
            </a:r>
            <a:r>
              <a:rPr sz="1800">
                <a:solidFill>
                  <a:srgbClr val="CF8E6D"/>
                </a:solidFill>
                <a:latin typeface="Consolas"/>
              </a:rPr>
              <a:t>import</a:t>
            </a:r>
            <a:r>
              <a:rPr sz="1800">
                <a:solidFill>
                  <a:srgbClr val="BCBEC4"/>
                </a:solidFill>
                <a:latin typeface="Consolas"/>
              </a:rPr>
              <a:t> </a:t>
            </a:r>
            <a:r>
              <a:rPr sz="1800">
                <a:solidFill>
                  <a:srgbClr val="BCBEC4"/>
                </a:solidFill>
                <a:latin typeface="Consolas"/>
              </a:rPr>
              <a:t>javafx</a:t>
            </a:r>
            <a:r>
              <a:rPr sz="1800">
                <a:solidFill>
                  <a:srgbClr val="BCBEC4"/>
                </a:solidFill>
                <a:latin typeface="Consolas"/>
              </a:rPr>
              <a:t>.</a:t>
            </a:r>
            <a:r>
              <a:rPr sz="1800">
                <a:solidFill>
                  <a:srgbClr val="BCBEC4"/>
                </a:solidFill>
                <a:latin typeface="Consolas"/>
              </a:rPr>
              <a:t>scene</a:t>
            </a:r>
            <a:r>
              <a:rPr sz="1800">
                <a:solidFill>
                  <a:srgbClr val="BCBEC4"/>
                </a:solidFill>
                <a:latin typeface="Consolas"/>
              </a:rPr>
              <a:t>.</a:t>
            </a:r>
            <a:r>
              <a:rPr sz="1800">
                <a:solidFill>
                  <a:srgbClr val="BCBEC4"/>
                </a:solidFill>
                <a:latin typeface="Consolas"/>
              </a:rPr>
              <a:t>control</a:t>
            </a:r>
            <a:r>
              <a:rPr sz="1800">
                <a:solidFill>
                  <a:srgbClr val="BCBEC4"/>
                </a:solidFill>
                <a:latin typeface="Consolas"/>
              </a:rPr>
              <a:t>.</a:t>
            </a:r>
            <a:r>
              <a:rPr sz="1800">
                <a:solidFill>
                  <a:srgbClr val="BCBEC4"/>
                </a:solidFill>
                <a:latin typeface="Consolas"/>
              </a:rPr>
              <a:t>Button</a:t>
            </a:r>
            <a:r>
              <a:rPr sz="1800">
                <a:solidFill>
                  <a:srgbClr val="BCBEC4"/>
                </a:solidFill>
                <a:latin typeface="Consolas"/>
              </a:rPr>
              <a:t>?</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a:t>
            </a:r>
            <a:r>
              <a:rPr sz="1800">
                <a:solidFill>
                  <a:srgbClr val="BCBEC4"/>
                </a:solidFill>
                <a:latin typeface="Consolas"/>
              </a:rPr>
              <a:t>?</a:t>
            </a:r>
            <a:r>
              <a:rPr sz="1800">
                <a:solidFill>
                  <a:srgbClr val="CF8E6D"/>
                </a:solidFill>
                <a:latin typeface="Consolas"/>
              </a:rPr>
              <a:t>import</a:t>
            </a:r>
            <a:r>
              <a:rPr sz="1800">
                <a:solidFill>
                  <a:srgbClr val="BCBEC4"/>
                </a:solidFill>
                <a:latin typeface="Consolas"/>
              </a:rPr>
              <a:t> </a:t>
            </a:r>
            <a:r>
              <a:rPr sz="1800">
                <a:solidFill>
                  <a:srgbClr val="BCBEC4"/>
                </a:solidFill>
                <a:latin typeface="Consolas"/>
              </a:rPr>
              <a:t>javafx</a:t>
            </a:r>
            <a:r>
              <a:rPr sz="1800">
                <a:solidFill>
                  <a:srgbClr val="BCBEC4"/>
                </a:solidFill>
                <a:latin typeface="Consolas"/>
              </a:rPr>
              <a:t>.</a:t>
            </a:r>
            <a:r>
              <a:rPr sz="1800">
                <a:solidFill>
                  <a:srgbClr val="BCBEC4"/>
                </a:solidFill>
                <a:latin typeface="Consolas"/>
              </a:rPr>
              <a:t>scene</a:t>
            </a:r>
            <a:r>
              <a:rPr sz="1800">
                <a:solidFill>
                  <a:srgbClr val="BCBEC4"/>
                </a:solidFill>
                <a:latin typeface="Consolas"/>
              </a:rPr>
              <a:t>.</a:t>
            </a:r>
            <a:r>
              <a:rPr sz="1800">
                <a:solidFill>
                  <a:srgbClr val="BCBEC4"/>
                </a:solidFill>
                <a:latin typeface="Consolas"/>
              </a:rPr>
              <a:t>control</a:t>
            </a:r>
            <a:r>
              <a:rPr sz="1800">
                <a:solidFill>
                  <a:srgbClr val="BCBEC4"/>
                </a:solidFill>
                <a:latin typeface="Consolas"/>
              </a:rPr>
              <a:t>.</a:t>
            </a:r>
            <a:r>
              <a:rPr sz="1800">
                <a:solidFill>
                  <a:srgbClr val="BCBEC4"/>
                </a:solidFill>
                <a:latin typeface="Consolas"/>
              </a:rPr>
              <a:t>Label</a:t>
            </a:r>
            <a:r>
              <a:rPr sz="1800">
                <a:solidFill>
                  <a:srgbClr val="BCBEC4"/>
                </a:solidFill>
                <a:latin typeface="Consolas"/>
              </a:rPr>
              <a:t>?</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a:t>
            </a:r>
            <a:r>
              <a:rPr sz="1800">
                <a:solidFill>
                  <a:srgbClr val="BCBEC4"/>
                </a:solidFill>
                <a:latin typeface="Consolas"/>
              </a:rPr>
              <a:t>?</a:t>
            </a:r>
            <a:r>
              <a:rPr sz="1800">
                <a:solidFill>
                  <a:srgbClr val="CF8E6D"/>
                </a:solidFill>
                <a:latin typeface="Consolas"/>
              </a:rPr>
              <a:t>import</a:t>
            </a:r>
            <a:r>
              <a:rPr sz="1800">
                <a:solidFill>
                  <a:srgbClr val="BCBEC4"/>
                </a:solidFill>
                <a:latin typeface="Consolas"/>
              </a:rPr>
              <a:t> </a:t>
            </a:r>
            <a:r>
              <a:rPr sz="1800">
                <a:solidFill>
                  <a:srgbClr val="BCBEC4"/>
                </a:solidFill>
                <a:latin typeface="Consolas"/>
              </a:rPr>
              <a:t>javafx</a:t>
            </a:r>
            <a:r>
              <a:rPr sz="1800">
                <a:solidFill>
                  <a:srgbClr val="BCBEC4"/>
                </a:solidFill>
                <a:latin typeface="Consolas"/>
              </a:rPr>
              <a:t>.</a:t>
            </a:r>
            <a:r>
              <a:rPr sz="1800">
                <a:solidFill>
                  <a:srgbClr val="BCBEC4"/>
                </a:solidFill>
                <a:latin typeface="Consolas"/>
              </a:rPr>
              <a:t>scene</a:t>
            </a:r>
            <a:r>
              <a:rPr sz="1800">
                <a:solidFill>
                  <a:srgbClr val="BCBEC4"/>
                </a:solidFill>
                <a:latin typeface="Consolas"/>
              </a:rPr>
              <a:t>.</a:t>
            </a:r>
            <a:r>
              <a:rPr sz="1800">
                <a:solidFill>
                  <a:srgbClr val="BCBEC4"/>
                </a:solidFill>
                <a:latin typeface="Consolas"/>
              </a:rPr>
              <a:t>layout</a:t>
            </a:r>
            <a:r>
              <a:rPr sz="1800">
                <a:solidFill>
                  <a:srgbClr val="BCBEC4"/>
                </a:solidFill>
                <a:latin typeface="Consolas"/>
              </a:rPr>
              <a:t>.</a:t>
            </a:r>
            <a:r>
              <a:rPr sz="1800">
                <a:solidFill>
                  <a:srgbClr val="BCBEC4"/>
                </a:solidFill>
                <a:latin typeface="Consolas"/>
              </a:rPr>
              <a:t>VBox</a:t>
            </a:r>
            <a:r>
              <a:rPr sz="1800">
                <a:solidFill>
                  <a:srgbClr val="BCBEC4"/>
                </a:solidFill>
                <a:latin typeface="Consolas"/>
              </a:rPr>
              <a:t>?</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&lt;</a:t>
            </a:r>
            <a:r>
              <a:rPr sz="1800">
                <a:solidFill>
                  <a:srgbClr val="BCBEC4"/>
                </a:solidFill>
                <a:latin typeface="Consolas"/>
              </a:rPr>
              <a:t>VBox</a:t>
            </a:r>
            <a:r>
              <a:rPr sz="1800">
                <a:solidFill>
                  <a:srgbClr val="BCBEC4"/>
                </a:solidFill>
                <a:latin typeface="Consolas"/>
              </a:rPr>
              <a:t> </a:t>
            </a:r>
            <a:r>
              <a:rPr sz="1800">
                <a:solidFill>
                  <a:srgbClr val="BCBEC4"/>
                </a:solidFill>
                <a:latin typeface="Consolas"/>
              </a:rPr>
              <a:t>spacing</a:t>
            </a:r>
            <a:r>
              <a:rPr sz="1800">
                <a:solidFill>
                  <a:srgbClr val="BCBEC4"/>
                </a:solidFill>
                <a:latin typeface="Consolas"/>
              </a:rPr>
              <a:t>=</a:t>
            </a:r>
            <a:r>
              <a:rPr sz="1800">
                <a:solidFill>
                  <a:srgbClr val="6AAB73"/>
                </a:solidFill>
                <a:latin typeface="Consolas"/>
              </a:rPr>
              <a:t>"10"</a:t>
            </a:r>
            <a:r>
              <a:rPr sz="1800">
                <a:solidFill>
                  <a:srgbClr val="BCBEC4"/>
                </a:solidFill>
                <a:latin typeface="Consolas"/>
              </a:rPr>
              <a:t> </a:t>
            </a:r>
            <a:r>
              <a:rPr sz="1800">
                <a:solidFill>
                  <a:srgbClr val="BCBEC4"/>
                </a:solidFill>
                <a:latin typeface="Consolas"/>
              </a:rPr>
              <a:t>alignment</a:t>
            </a:r>
            <a:r>
              <a:rPr sz="1800">
                <a:solidFill>
                  <a:srgbClr val="BCBEC4"/>
                </a:solidFill>
                <a:latin typeface="Consolas"/>
              </a:rPr>
              <a:t>=</a:t>
            </a:r>
            <a:r>
              <a:rPr sz="1800">
                <a:solidFill>
                  <a:srgbClr val="6AAB73"/>
                </a:solidFill>
                <a:latin typeface="Consolas"/>
              </a:rPr>
              <a:t>"CENTER"</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&lt;</a:t>
            </a:r>
            <a:r>
              <a:rPr sz="1800">
                <a:solidFill>
                  <a:srgbClr val="BCBEC4"/>
                </a:solidFill>
                <a:latin typeface="Consolas"/>
              </a:rPr>
              <a:t>Label</a:t>
            </a:r>
            <a:r>
              <a:rPr sz="1800">
                <a:solidFill>
                  <a:srgbClr val="BCBEC4"/>
                </a:solidFill>
                <a:latin typeface="Consolas"/>
              </a:rPr>
              <a:t> </a:t>
            </a:r>
            <a:r>
              <a:rPr sz="1800">
                <a:solidFill>
                  <a:srgbClr val="BCBEC4"/>
                </a:solidFill>
                <a:latin typeface="Consolas"/>
              </a:rPr>
              <a:t>text</a:t>
            </a:r>
            <a:r>
              <a:rPr sz="1800">
                <a:solidFill>
                  <a:srgbClr val="BCBEC4"/>
                </a:solidFill>
                <a:latin typeface="Consolas"/>
              </a:rPr>
              <a:t>=</a:t>
            </a:r>
            <a:r>
              <a:rPr sz="1800">
                <a:solidFill>
                  <a:srgbClr val="6AAB73"/>
                </a:solidFill>
                <a:latin typeface="Consolas"/>
              </a:rPr>
              <a:t>"Eteinte"</a:t>
            </a:r>
            <a:r>
              <a:rPr sz="1800">
                <a:solidFill>
                  <a:srgbClr val="BCBEC4"/>
                </a:solidFill>
                <a:latin typeface="Consolas"/>
              </a:rPr>
              <a:t>/</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&lt;</a:t>
            </a:r>
            <a:r>
              <a:rPr sz="1800">
                <a:solidFill>
                  <a:srgbClr val="BCBEC4"/>
                </a:solidFill>
                <a:latin typeface="Consolas"/>
              </a:rPr>
              <a:t>Button</a:t>
            </a:r>
            <a:r>
              <a:rPr sz="1800">
                <a:solidFill>
                  <a:srgbClr val="BCBEC4"/>
                </a:solidFill>
                <a:latin typeface="Consolas"/>
              </a:rPr>
              <a:t> </a:t>
            </a:r>
            <a:r>
              <a:rPr sz="1800">
                <a:solidFill>
                  <a:srgbClr val="BCBEC4"/>
                </a:solidFill>
                <a:latin typeface="Consolas"/>
              </a:rPr>
              <a:t>text</a:t>
            </a:r>
            <a:r>
              <a:rPr sz="1800">
                <a:solidFill>
                  <a:srgbClr val="BCBEC4"/>
                </a:solidFill>
                <a:latin typeface="Consolas"/>
              </a:rPr>
              <a:t>=</a:t>
            </a:r>
            <a:r>
              <a:rPr sz="1800">
                <a:solidFill>
                  <a:srgbClr val="6AAB73"/>
                </a:solidFill>
                <a:latin typeface="Consolas"/>
              </a:rPr>
              <a:t>"Interrupteur"</a:t>
            </a:r>
            <a:r>
              <a:rPr sz="1800">
                <a:solidFill>
                  <a:srgbClr val="BCBEC4"/>
                </a:solidFill>
                <a:latin typeface="Consolas"/>
              </a:rPr>
              <a:t>/</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a:t>
            </a:r>
            <a:r>
              <a:rPr sz="1800">
                <a:solidFill>
                  <a:srgbClr val="BCBEC4"/>
                </a:solidFill>
                <a:latin typeface="Consolas"/>
              </a:rPr>
              <a:t>/</a:t>
            </a:r>
            <a:r>
              <a:rPr sz="1800">
                <a:solidFill>
                  <a:srgbClr val="BCBEC4"/>
                </a:solidFill>
                <a:latin typeface="Consolas"/>
              </a:rPr>
              <a:t>VBox</a:t>
            </a:r>
            <a:r>
              <a:rPr sz="1800">
                <a:solidFill>
                  <a:srgbClr val="BCBEC4"/>
                </a:solidFill>
                <a:latin typeface="Consolas"/>
              </a:rPr>
              <a:t>&gt;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Charger une vue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Le fichier se range dans </a:t>
            </a:r>
            <a:r>
              <a:rPr sz="2400">
                <a:solidFill>
                  <a:schemeClr val="accent4"/>
                </a:solidFill>
                <a:latin typeface="Consolas"/>
              </a:rPr>
              <a:t>src/main/resources</a:t>
            </a:r>
            <a:r>
              <a:rPr sz="2800"/>
              <a:t>, dans le même package que la classe</a:t>
            </a:r>
          </a:p>
          <a:p>
            <a:pPr marL="0" indent="0">
              <a:spcAft>
                <a:spcPts val="1000"/>
              </a:spcAft>
              <a:buNone/>
            </a:pPr>
            <a:r>
              <a:rPr sz="2800"/>
              <a:t>Un </a:t>
            </a:r>
            <a:r>
              <a:rPr sz="2400">
                <a:solidFill>
                  <a:schemeClr val="accent4"/>
                </a:solidFill>
                <a:latin typeface="Consolas"/>
              </a:rPr>
              <a:t>FXMLLoader</a:t>
            </a:r>
            <a:r>
              <a:rPr sz="2800"/>
              <a:t> le lit et rend la racine qu'il décrit</a:t>
            </a:r>
          </a:p>
          <a:p>
            <a:pPr marL="0" indent="0">
              <a:spcAft>
                <a:spcPts val="1000"/>
              </a:spcAft>
              <a:buNone/>
            </a:pPr>
            <a:r>
              <a:rPr sz="2800"/>
              <a:t>Le reste ne change pas : une scène, une fenêtre</a:t>
            </a:r>
          </a:p>
        </p:txBody>
      </p:sp>
      <p:sp>
        <p:nvSpPr>
          <p:cNvPr id="4" name="Code"/>
          <p:cNvSpPr txBox="1"/>
          <p:nvPr/>
        </p:nvSpPr>
        <p:spPr>
          <a:xfrm>
            <a:off x="1612901" y="3733799"/>
            <a:ext cx="8966198"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3AE60"/>
                </a:solidFill>
                <a:latin typeface="Consolas"/>
              </a:rPr>
              <a:t>@Override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start</a:t>
            </a:r>
            <a:r>
              <a:rPr sz="1800">
                <a:solidFill>
                  <a:srgbClr val="BCBEC4"/>
                </a:solidFill>
                <a:latin typeface="Consolas"/>
              </a:rPr>
              <a:t>(</a:t>
            </a:r>
            <a:r>
              <a:rPr sz="1800">
                <a:solidFill>
                  <a:srgbClr val="BCBEC4"/>
                </a:solidFill>
                <a:latin typeface="Consolas"/>
              </a:rPr>
              <a:t>Stage</a:t>
            </a:r>
            <a:r>
              <a:rPr sz="1800">
                <a:solidFill>
                  <a:srgbClr val="BCBEC4"/>
                </a:solidFill>
                <a:latin typeface="Consolas"/>
              </a:rPr>
              <a:t> </a:t>
            </a:r>
            <a:r>
              <a:rPr sz="1800">
                <a:solidFill>
                  <a:srgbClr val="BCBEC4"/>
                </a:solidFill>
                <a:latin typeface="Consolas"/>
              </a:rPr>
              <a:t>fenetre</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throws</a:t>
            </a:r>
            <a:r>
              <a:rPr sz="1800">
                <a:solidFill>
                  <a:srgbClr val="BCBEC4"/>
                </a:solidFill>
                <a:latin typeface="Consolas"/>
              </a:rPr>
              <a:t> </a:t>
            </a:r>
            <a:r>
              <a:rPr sz="1800">
                <a:solidFill>
                  <a:srgbClr val="BCBEC4"/>
                </a:solidFill>
                <a:latin typeface="Consolas"/>
              </a:rPr>
              <a:t>IOException</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FXMLLoader</a:t>
            </a:r>
            <a:r>
              <a:rPr sz="1800">
                <a:solidFill>
                  <a:srgbClr val="BCBEC4"/>
                </a:solidFill>
                <a:latin typeface="Consolas"/>
              </a:rPr>
              <a:t> </a:t>
            </a:r>
            <a:r>
              <a:rPr sz="1800">
                <a:solidFill>
                  <a:srgbClr val="BCBEC4"/>
                </a:solidFill>
                <a:latin typeface="Consolas"/>
              </a:rPr>
              <a:t>chargeur</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FXMLLoader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ApplicationLampe</a:t>
            </a:r>
            <a:r>
              <a:rPr sz="1800">
                <a:solidFill>
                  <a:srgbClr val="BCBEC4"/>
                </a:solidFill>
                <a:latin typeface="Consolas"/>
              </a:rPr>
              <a:t>.</a:t>
            </a:r>
            <a:r>
              <a:rPr sz="1800">
                <a:solidFill>
                  <a:srgbClr val="CF8E6D"/>
                </a:solidFill>
                <a:latin typeface="Consolas"/>
              </a:rPr>
              <a:t>class</a:t>
            </a:r>
            <a:r>
              <a:rPr sz="1800">
                <a:solidFill>
                  <a:srgbClr val="BCBEC4"/>
                </a:solidFill>
                <a:latin typeface="Consolas"/>
              </a:rPr>
              <a:t>.</a:t>
            </a:r>
            <a:r>
              <a:rPr sz="1800">
                <a:solidFill>
                  <a:srgbClr val="56A8F5"/>
                </a:solidFill>
                <a:latin typeface="Consolas"/>
              </a:rPr>
              <a:t>getResource</a:t>
            </a:r>
            <a:r>
              <a:rPr sz="1800">
                <a:solidFill>
                  <a:srgbClr val="BCBEC4"/>
                </a:solidFill>
                <a:latin typeface="Consolas"/>
              </a:rPr>
              <a:t>(</a:t>
            </a:r>
            <a:r>
              <a:rPr sz="1800">
                <a:solidFill>
                  <a:srgbClr val="6AAB73"/>
                </a:solidFill>
                <a:latin typeface="Consolas"/>
              </a:rPr>
              <a:t>"lampe.fxml"</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fenetre</a:t>
            </a:r>
            <a:r>
              <a:rPr sz="1800">
                <a:solidFill>
                  <a:srgbClr val="BCBEC4"/>
                </a:solidFill>
                <a:latin typeface="Consolas"/>
              </a:rPr>
              <a:t>.</a:t>
            </a:r>
            <a:r>
              <a:rPr sz="1800">
                <a:solidFill>
                  <a:srgbClr val="56A8F5"/>
                </a:solidFill>
                <a:latin typeface="Consolas"/>
              </a:rPr>
              <a:t>setScene</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Scene</a:t>
            </a:r>
            <a:r>
              <a:rPr sz="1800">
                <a:solidFill>
                  <a:srgbClr val="BCBEC4"/>
                </a:solidFill>
                <a:latin typeface="Consolas"/>
              </a:rPr>
              <a:t>(</a:t>
            </a:r>
            <a:r>
              <a:rPr sz="1800">
                <a:solidFill>
                  <a:srgbClr val="BCBEC4"/>
                </a:solidFill>
                <a:latin typeface="Consolas"/>
              </a:rPr>
              <a:t>chargeur</a:t>
            </a:r>
            <a:r>
              <a:rPr sz="1800">
                <a:solidFill>
                  <a:srgbClr val="BCBEC4"/>
                </a:solidFill>
                <a:latin typeface="Consolas"/>
              </a:rPr>
              <a:t>.</a:t>
            </a:r>
            <a:r>
              <a:rPr sz="1800">
                <a:solidFill>
                  <a:srgbClr val="56A8F5"/>
                </a:solidFill>
                <a:latin typeface="Consolas"/>
              </a:rPr>
              <a:t>load</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fenetre</a:t>
            </a:r>
            <a:r>
              <a:rPr sz="1800">
                <a:solidFill>
                  <a:srgbClr val="BCBEC4"/>
                </a:solidFill>
                <a:latin typeface="Consolas"/>
              </a:rPr>
              <a:t>.</a:t>
            </a:r>
            <a:r>
              <a:rPr sz="1800">
                <a:solidFill>
                  <a:srgbClr val="56A8F5"/>
                </a:solidFill>
                <a:latin typeface="Consolas"/>
              </a:rPr>
              <a:t>show</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La vue et son contrôleur</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L'attribut </a:t>
            </a:r>
            <a:r>
              <a:rPr sz="2400">
                <a:solidFill>
                  <a:schemeClr val="accent4"/>
                </a:solidFill>
                <a:latin typeface="Consolas"/>
              </a:rPr>
              <a:t>fx:controller</a:t>
            </a:r>
            <a:r>
              <a:rPr sz="2800"/>
              <a:t> nomme le contrôleur</a:t>
            </a:r>
          </a:p>
          <a:p>
            <a:pPr marL="0" indent="0">
              <a:spcAft>
                <a:spcPts val="1000"/>
              </a:spcAft>
              <a:buNone/>
            </a:pPr>
            <a:r>
              <a:rPr sz="2800"/>
              <a:t>Un </a:t>
            </a:r>
            <a:r>
              <a:rPr sz="2400">
                <a:solidFill>
                  <a:schemeClr val="accent4"/>
                </a:solidFill>
                <a:latin typeface="Consolas"/>
              </a:rPr>
              <a:t>fx:id</a:t>
            </a:r>
            <a:r>
              <a:rPr sz="2800"/>
              <a:t> remplit le champ </a:t>
            </a:r>
            <a:r>
              <a:rPr sz="2400">
                <a:solidFill>
                  <a:schemeClr val="accent4"/>
                </a:solidFill>
                <a:latin typeface="Consolas"/>
              </a:rPr>
              <a:t>@FXML</a:t>
            </a:r>
            <a:r>
              <a:rPr sz="2800"/>
              <a:t> de même nom</a:t>
            </a:r>
          </a:p>
          <a:p>
            <a:pPr marL="0" indent="0">
              <a:spcAft>
                <a:spcPts val="1000"/>
              </a:spcAft>
              <a:buNone/>
            </a:pPr>
            <a:r>
              <a:rPr sz="2800"/>
              <a:t>Un </a:t>
            </a:r>
            <a:r>
              <a:rPr sz="2400">
                <a:solidFill>
                  <a:schemeClr val="accent4"/>
                </a:solidFill>
                <a:latin typeface="Consolas"/>
              </a:rPr>
              <a:t>onAction</a:t>
            </a:r>
            <a:r>
              <a:rPr sz="2800"/>
              <a:t> appelle la méthode </a:t>
            </a:r>
            <a:r>
              <a:rPr sz="2400">
                <a:solidFill>
                  <a:schemeClr val="accent4"/>
                </a:solidFill>
                <a:latin typeface="Consolas"/>
              </a:rPr>
              <a:t>@FXML</a:t>
            </a:r>
            <a:r>
              <a:rPr sz="2800"/>
              <a:t> désignée</a:t>
            </a:r>
          </a:p>
        </p:txBody>
      </p:sp>
      <p:sp>
        <p:nvSpPr>
          <p:cNvPr id="4" name="Code"/>
          <p:cNvSpPr txBox="1"/>
          <p:nvPr/>
        </p:nvSpPr>
        <p:spPr>
          <a:xfrm>
            <a:off x="2033941" y="3307080"/>
            <a:ext cx="8124118"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550">
                <a:solidFill>
                  <a:srgbClr val="CF8E6D"/>
                </a:solidFill>
                <a:latin typeface="Consolas"/>
              </a:rPr>
              <a:t>public</a:t>
            </a:r>
            <a:r>
              <a:rPr sz="1550">
                <a:solidFill>
                  <a:srgbClr val="BCBEC4"/>
                </a:solidFill>
                <a:latin typeface="Consolas"/>
              </a:rPr>
              <a:t> </a:t>
            </a:r>
            <a:r>
              <a:rPr sz="1550">
                <a:solidFill>
                  <a:srgbClr val="CF8E6D"/>
                </a:solidFill>
                <a:latin typeface="Consolas"/>
              </a:rPr>
              <a:t>class</a:t>
            </a:r>
            <a:r>
              <a:rPr sz="1550">
                <a:solidFill>
                  <a:srgbClr val="BCBEC4"/>
                </a:solidFill>
                <a:latin typeface="Consolas"/>
              </a:rPr>
              <a:t> </a:t>
            </a:r>
            <a:r>
              <a:rPr sz="1550">
                <a:solidFill>
                  <a:srgbClr val="BCBEC4"/>
                </a:solidFill>
                <a:latin typeface="Consolas"/>
              </a:rPr>
              <a:t>ControleurLampe</a:t>
            </a:r>
            <a:r>
              <a:rPr sz="1550">
                <a:solidFill>
                  <a:srgbClr val="BCBEC4"/>
                </a:solidFill>
                <a:latin typeface="Consolas"/>
              </a:rPr>
              <a:t> </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CF8E6D"/>
                </a:solidFill>
                <a:latin typeface="Consolas"/>
              </a:rPr>
              <a:t>private</a:t>
            </a:r>
            <a:r>
              <a:rPr sz="1550">
                <a:solidFill>
                  <a:srgbClr val="BCBEC4"/>
                </a:solidFill>
                <a:latin typeface="Consolas"/>
              </a:rPr>
              <a:t> </a:t>
            </a:r>
            <a:r>
              <a:rPr sz="1550">
                <a:solidFill>
                  <a:srgbClr val="CF8E6D"/>
                </a:solidFill>
                <a:latin typeface="Consolas"/>
              </a:rPr>
              <a:t>final</a:t>
            </a:r>
            <a:r>
              <a:rPr sz="1550">
                <a:solidFill>
                  <a:srgbClr val="BCBEC4"/>
                </a:solidFill>
                <a:latin typeface="Consolas"/>
              </a:rPr>
              <a:t> </a:t>
            </a:r>
            <a:r>
              <a:rPr sz="1550">
                <a:solidFill>
                  <a:srgbClr val="BCBEC4"/>
                </a:solidFill>
                <a:latin typeface="Consolas"/>
              </a:rPr>
              <a:t>Lampe</a:t>
            </a:r>
            <a:r>
              <a:rPr sz="1550">
                <a:solidFill>
                  <a:srgbClr val="BCBEC4"/>
                </a:solidFill>
                <a:latin typeface="Consolas"/>
              </a:rPr>
              <a:t> </a:t>
            </a:r>
            <a:r>
              <a:rPr sz="1550">
                <a:solidFill>
                  <a:srgbClr val="BCBEC4"/>
                </a:solidFill>
                <a:latin typeface="Consolas"/>
              </a:rPr>
              <a:t>lampe</a:t>
            </a:r>
            <a:r>
              <a:rPr sz="1550">
                <a:solidFill>
                  <a:srgbClr val="BCBEC4"/>
                </a:solidFill>
                <a:latin typeface="Consolas"/>
              </a:rPr>
              <a:t> </a:t>
            </a:r>
            <a:r>
              <a:rPr sz="1550">
                <a:solidFill>
                  <a:srgbClr val="BCBEC4"/>
                </a:solidFill>
                <a:latin typeface="Consolas"/>
              </a:rPr>
              <a:t>=</a:t>
            </a:r>
            <a:r>
              <a:rPr sz="1550">
                <a:solidFill>
                  <a:srgbClr val="BCBEC4"/>
                </a:solidFill>
                <a:latin typeface="Consolas"/>
              </a:rPr>
              <a:t> </a:t>
            </a:r>
            <a:r>
              <a:rPr sz="1550">
                <a:solidFill>
                  <a:srgbClr val="CF8E6D"/>
                </a:solidFill>
                <a:latin typeface="Consolas"/>
              </a:rPr>
              <a:t>new</a:t>
            </a:r>
            <a:r>
              <a:rPr sz="1550">
                <a:solidFill>
                  <a:srgbClr val="BCBEC4"/>
                </a:solidFill>
                <a:latin typeface="Consolas"/>
              </a:rPr>
              <a:t> </a:t>
            </a:r>
            <a:r>
              <a:rPr sz="1550">
                <a:solidFill>
                  <a:srgbClr val="56A8F5"/>
                </a:solidFill>
                <a:latin typeface="Consolas"/>
              </a:rPr>
              <a:t>Lampe</a:t>
            </a:r>
            <a:r>
              <a:rPr sz="1550">
                <a:solidFill>
                  <a:srgbClr val="BCBEC4"/>
                </a:solidFill>
                <a:latin typeface="Consolas"/>
              </a:rPr>
              <a:t>(</a:t>
            </a:r>
            <a:r>
              <a:rPr sz="1550">
                <a:solidFill>
                  <a:srgbClr val="BCBEC4"/>
                </a:solidFill>
                <a:latin typeface="Consolas"/>
              </a:rPr>
              <a:t>)</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3AE60"/>
                </a:solidFill>
                <a:latin typeface="Consolas"/>
              </a:rPr>
              <a:t>@FXML</a:t>
            </a:r>
            <a:r>
              <a:rPr sz="1550">
                <a:solidFill>
                  <a:srgbClr val="BCBEC4"/>
                </a:solidFill>
                <a:latin typeface="Consolas"/>
              </a:rPr>
              <a:t> </a:t>
            </a:r>
            <a:r>
              <a:rPr sz="1550">
                <a:solidFill>
                  <a:srgbClr val="CF8E6D"/>
                </a:solidFill>
                <a:latin typeface="Consolas"/>
              </a:rPr>
              <a:t>private</a:t>
            </a:r>
            <a:r>
              <a:rPr sz="1550">
                <a:solidFill>
                  <a:srgbClr val="BCBEC4"/>
                </a:solidFill>
                <a:latin typeface="Consolas"/>
              </a:rPr>
              <a:t> </a:t>
            </a:r>
            <a:r>
              <a:rPr sz="1550">
                <a:solidFill>
                  <a:srgbClr val="BCBEC4"/>
                </a:solidFill>
                <a:latin typeface="Consolas"/>
              </a:rPr>
              <a:t>Label</a:t>
            </a:r>
            <a:r>
              <a:rPr sz="1550">
                <a:solidFill>
                  <a:srgbClr val="BCBEC4"/>
                </a:solidFill>
                <a:latin typeface="Consolas"/>
              </a:rPr>
              <a:t> </a:t>
            </a:r>
            <a:r>
              <a:rPr sz="1550">
                <a:solidFill>
                  <a:srgbClr val="BCBEC4"/>
                </a:solidFill>
                <a:latin typeface="Consolas"/>
              </a:rPr>
              <a:t>etat</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3AE60"/>
                </a:solidFill>
                <a:latin typeface="Consolas"/>
              </a:rPr>
              <a:t>@FXML</a:t>
            </a:r>
          </a:p>
          <a:p>
            <a:pPr>
              <a:lnSpc>
                <a:spcPct val="100000"/>
              </a:lnSpc>
              <a:spcBef>
                <a:spcPts val="0"/>
              </a:spcBef>
              <a:spcAft>
                <a:spcPts val="0"/>
              </a:spcAft>
            </a:pP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CF8E6D"/>
                </a:solidFill>
                <a:latin typeface="Consolas"/>
              </a:rPr>
              <a:t>private</a:t>
            </a:r>
            <a:r>
              <a:rPr sz="1550">
                <a:solidFill>
                  <a:srgbClr val="BCBEC4"/>
                </a:solidFill>
                <a:latin typeface="Consolas"/>
              </a:rPr>
              <a:t> </a:t>
            </a:r>
            <a:r>
              <a:rPr sz="1550">
                <a:solidFill>
                  <a:srgbClr val="CF8E6D"/>
                </a:solidFill>
                <a:latin typeface="Consolas"/>
              </a:rPr>
              <a:t>void</a:t>
            </a:r>
            <a:r>
              <a:rPr sz="1550">
                <a:solidFill>
                  <a:srgbClr val="BCBEC4"/>
                </a:solidFill>
                <a:latin typeface="Consolas"/>
              </a:rPr>
              <a:t> </a:t>
            </a:r>
            <a:r>
              <a:rPr sz="1550">
                <a:solidFill>
                  <a:srgbClr val="56A8F5"/>
                </a:solidFill>
                <a:latin typeface="Consolas"/>
              </a:rPr>
              <a:t>basculer</a:t>
            </a:r>
            <a:r>
              <a:rPr sz="1550">
                <a:solidFill>
                  <a:srgbClr val="BCBEC4"/>
                </a:solidFill>
                <a:latin typeface="Consolas"/>
              </a:rPr>
              <a:t>(</a:t>
            </a:r>
            <a:r>
              <a:rPr sz="1550">
                <a:solidFill>
                  <a:srgbClr val="BCBEC4"/>
                </a:solidFill>
                <a:latin typeface="Consolas"/>
              </a:rPr>
              <a:t>ActionEvent</a:t>
            </a:r>
            <a:r>
              <a:rPr sz="1550">
                <a:solidFill>
                  <a:srgbClr val="BCBEC4"/>
                </a:solidFill>
                <a:latin typeface="Consolas"/>
              </a:rPr>
              <a:t> </a:t>
            </a:r>
            <a:r>
              <a:rPr sz="1550">
                <a:solidFill>
                  <a:srgbClr val="BCBEC4"/>
                </a:solidFill>
                <a:latin typeface="Consolas"/>
              </a:rPr>
              <a:t>evenement</a:t>
            </a:r>
            <a:r>
              <a:rPr sz="1550">
                <a:solidFill>
                  <a:srgbClr val="BCBEC4"/>
                </a:solidFill>
                <a:latin typeface="Consolas"/>
              </a:rPr>
              <a:t>)</a:t>
            </a:r>
            <a:r>
              <a:rPr sz="1550">
                <a:solidFill>
                  <a:srgbClr val="BCBEC4"/>
                </a:solidFill>
                <a:latin typeface="Consolas"/>
              </a:rPr>
              <a:t> </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lampe</a:t>
            </a:r>
            <a:r>
              <a:rPr sz="1550">
                <a:solidFill>
                  <a:srgbClr val="BCBEC4"/>
                </a:solidFill>
                <a:latin typeface="Consolas"/>
              </a:rPr>
              <a:t>.</a:t>
            </a:r>
            <a:r>
              <a:rPr sz="1550">
                <a:solidFill>
                  <a:srgbClr val="56A8F5"/>
                </a:solidFill>
                <a:latin typeface="Consolas"/>
              </a:rPr>
              <a:t>basculer</a:t>
            </a:r>
            <a:r>
              <a:rPr sz="1550">
                <a:solidFill>
                  <a:srgbClr val="BCBEC4"/>
                </a:solidFill>
                <a:latin typeface="Consolas"/>
              </a:rPr>
              <a:t>(</a:t>
            </a:r>
            <a:r>
              <a:rPr sz="1550">
                <a:solidFill>
                  <a:srgbClr val="BCBEC4"/>
                </a:solidFill>
                <a:latin typeface="Consolas"/>
              </a:rPr>
              <a:t>)</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etat</a:t>
            </a:r>
            <a:r>
              <a:rPr sz="1550">
                <a:solidFill>
                  <a:srgbClr val="BCBEC4"/>
                </a:solidFill>
                <a:latin typeface="Consolas"/>
              </a:rPr>
              <a:t>.</a:t>
            </a:r>
            <a:r>
              <a:rPr sz="1550">
                <a:solidFill>
                  <a:srgbClr val="56A8F5"/>
                </a:solidFill>
                <a:latin typeface="Consolas"/>
              </a:rPr>
              <a:t>setText</a:t>
            </a:r>
            <a:r>
              <a:rPr sz="1550">
                <a:solidFill>
                  <a:srgbClr val="BCBEC4"/>
                </a:solidFill>
                <a:latin typeface="Consolas"/>
              </a:rPr>
              <a:t>(</a:t>
            </a:r>
            <a:r>
              <a:rPr sz="1550">
                <a:solidFill>
                  <a:srgbClr val="BCBEC4"/>
                </a:solidFill>
                <a:latin typeface="Consolas"/>
              </a:rPr>
              <a:t>lampe</a:t>
            </a:r>
            <a:r>
              <a:rPr sz="1550">
                <a:solidFill>
                  <a:srgbClr val="BCBEC4"/>
                </a:solidFill>
                <a:latin typeface="Consolas"/>
              </a:rPr>
              <a:t>.</a:t>
            </a:r>
            <a:r>
              <a:rPr sz="1550">
                <a:solidFill>
                  <a:srgbClr val="56A8F5"/>
                </a:solidFill>
                <a:latin typeface="Consolas"/>
              </a:rPr>
              <a:t>estAllumee</a:t>
            </a:r>
            <a:r>
              <a:rPr sz="1550">
                <a:solidFill>
                  <a:srgbClr val="BCBEC4"/>
                </a:solidFill>
                <a:latin typeface="Consolas"/>
              </a:rPr>
              <a:t>(</a:t>
            </a:r>
            <a:r>
              <a:rPr sz="1550">
                <a:solidFill>
                  <a:srgbClr val="BCBEC4"/>
                </a:solidFill>
                <a:latin typeface="Consolas"/>
              </a:rPr>
              <a:t>)</a:t>
            </a:r>
            <a:r>
              <a:rPr sz="1550">
                <a:solidFill>
                  <a:srgbClr val="BCBEC4"/>
                </a:solidFill>
                <a:latin typeface="Consolas"/>
              </a:rPr>
              <a:t> </a:t>
            </a:r>
            <a:r>
              <a:rPr sz="1550">
                <a:solidFill>
                  <a:srgbClr val="BCBEC4"/>
                </a:solidFill>
                <a:latin typeface="Consolas"/>
              </a:rPr>
              <a:t>?</a:t>
            </a:r>
            <a:r>
              <a:rPr sz="1550">
                <a:solidFill>
                  <a:srgbClr val="BCBEC4"/>
                </a:solidFill>
                <a:latin typeface="Consolas"/>
              </a:rPr>
              <a:t> </a:t>
            </a:r>
            <a:r>
              <a:rPr sz="1550">
                <a:solidFill>
                  <a:srgbClr val="6AAB73"/>
                </a:solidFill>
                <a:latin typeface="Consolas"/>
              </a:rPr>
              <a:t>"Allumee"</a:t>
            </a:r>
            <a:r>
              <a:rPr sz="1550">
                <a:solidFill>
                  <a:srgbClr val="BCBEC4"/>
                </a:solidFill>
                <a:latin typeface="Consolas"/>
              </a:rPr>
              <a:t> </a:t>
            </a:r>
            <a:r>
              <a:rPr sz="1550">
                <a:solidFill>
                  <a:srgbClr val="BCBEC4"/>
                </a:solidFill>
                <a:latin typeface="Consolas"/>
              </a:rPr>
              <a:t>:</a:t>
            </a:r>
            <a:r>
              <a:rPr sz="1550">
                <a:solidFill>
                  <a:srgbClr val="BCBEC4"/>
                </a:solidFill>
                <a:latin typeface="Consolas"/>
              </a:rPr>
              <a:t> </a:t>
            </a:r>
            <a:r>
              <a:rPr sz="1550">
                <a:solidFill>
                  <a:srgbClr val="6AAB73"/>
                </a:solidFill>
                <a:latin typeface="Consolas"/>
              </a:rPr>
              <a:t>"Eteinte"</a:t>
            </a:r>
            <a:r>
              <a:rPr sz="1550">
                <a:solidFill>
                  <a:srgbClr val="BCBEC4"/>
                </a:solidFill>
                <a:latin typeface="Consolas"/>
              </a:rPr>
              <a:t>)</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 </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17320"/>
            <a:ext cx="1920240" cy="960120"/>
          </a:xfrm>
          <a:prstGeom prst="rect">
            <a:avLst/>
          </a:prstGeom>
          <a:noFill/>
        </p:spPr>
        <p:txBody>
          <a:bodyPr wrap="none" anchor="ctr">
            <a:spAutoFit/>
          </a:bodyPr>
          <a:lstStyle/>
          <a:p>
            <a:r>
              <a:rPr b="1" sz="3000">
                <a:solidFill>
                  <a:schemeClr val="accent4"/>
                </a:solidFill>
                <a:latin typeface="Consolas"/>
              </a:rPr>
              <a:t>FX.9</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calculatrice, en MVC</a:t>
            </a:r>
          </a:p>
          <a:p>
            <a:r>
              <a:rPr sz="1400">
                <a:solidFill>
                  <a:srgbClr val="BCBEC4"/>
                </a:solidFill>
              </a:rPr>
              <a:t>fascicule FX</a:t>
            </a:r>
          </a:p>
        </p:txBody>
      </p:sp>
      <p:pic>
        <p:nvPicPr>
          <p:cNvPr id="6" name="Picture 5" descr="image.png"/>
          <p:cNvPicPr>
            <a:picLocks noChangeAspect="1"/>
          </p:cNvPicPr>
          <p:nvPr/>
        </p:nvPicPr>
        <p:blipFill>
          <a:blip r:embed="rId2"/>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Pour aller plus loin</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démineur : un projet JavaFX complet, facultatif</a:t>
            </a:r>
          </a:p>
          <a:p>
            <a:pPr marL="0" indent="0">
              <a:spcAft>
                <a:spcPts val="1000"/>
              </a:spcAft>
              <a:buNone/>
            </a:pPr>
            <a:r>
              <a:rPr sz="2800"/>
              <a:t>Vous écrivez la grille et ses règles ; la fenêtre est fournie</a:t>
            </a:r>
          </a:p>
          <a:p>
            <a:pPr marL="0" indent="0">
              <a:spcAft>
                <a:spcPts val="1000"/>
              </a:spcAft>
              <a:buNone/>
            </a:pPr>
            <a:r>
              <a:rPr sz="2800"/>
              <a:t>Onze tests JUnit vérifient votre grille, sans ouvrir de fenêtre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17320"/>
            <a:ext cx="1920240" cy="960120"/>
          </a:xfrm>
          <a:prstGeom prst="rect">
            <a:avLst/>
          </a:prstGeom>
          <a:noFill/>
        </p:spPr>
        <p:txBody>
          <a:bodyPr wrap="none" anchor="ctr">
            <a:spAutoFit/>
          </a:bodyPr>
          <a:lstStyle/>
          <a:p>
            <a:r>
              <a:rPr b="1" sz="3000">
                <a:solidFill>
                  <a:schemeClr val="accent4"/>
                </a:solidFill>
                <a:latin typeface="Consolas"/>
              </a:rPr>
              <a:t>G.34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Des boutons qui savent quand se taire</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Relire la question de fin du deck FX1</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pic>
        <p:nvPicPr>
          <p:cNvPr id="9" name="iconGameHub" descr="gamehub.jpg"/>
          <p:cNvPicPr>
            <a:picLocks noChangeAspect="1"/>
          </p:cNvPicPr>
          <p:nvPr/>
        </p:nvPicPr>
        <p:blipFill>
          <a:blip r:embed="rId4"/>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114961</TotalTime>
  <Words>8279</Words>
  <Application>Microsoft Macintosh PowerPoint</Application>
  <PresentationFormat>Grand écran</PresentationFormat>
  <Paragraphs>952</Paragraphs>
  <Slides>58</Slides>
  <Notes>58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58</vt:i4>
      </vt:variant>
    </vt:vector>
  </HeadingPairs>
  <TitlesOfParts>
    <vt:vector size="64" baseType="lpstr">
      <vt:lpstr>Aptos</vt:lpstr>
      <vt:lpstr>Arial</vt:lpstr>
      <vt:lpstr>Calibri</vt:lpstr>
      <vt:lpstr>Consolas</vt:lpstr>
      <vt:lpstr>Corbel</vt:lpstr>
      <vt:lpstr>ThemeEphec2022</vt:lpstr>
      <vt:lpstr>JAVA 2</vt:lpstr>
      <vt:lpstr>Présentation PowerPoint</vt:lpstr>
      <vt:lpstr>Pas de grosses différences niveau langage</vt:lpstr>
      <vt:lpstr>Structuration des classes</vt:lpstr>
      <vt:lpstr>Conventions de nommage différentes</vt:lpstr>
      <vt:lpstr>Lien entre fichier et classe</vt:lpstr>
      <vt:lpstr>Classes du Framework différentes</vt:lpstr>
      <vt:lpstr>Méthode main rend la classe exécutable</vt:lpstr>
      <vt:lpstr>Classe Java et Programme (exécutable) Java</vt:lpstr>
      <vt:lpstr>Du code source au programme</vt:lpstr>
      <vt:lpstr>En résumé…</vt:lpstr>
      <vt:lpstr>Présentation PowerPoint</vt:lpstr>
      <vt:lpstr>Les quatre principes de la POO</vt:lpstr>
      <vt:lpstr>Classe et objet</vt:lpstr>
      <vt:lpstr>Démonstration</vt:lpstr>
      <vt:lpstr>Le constructeur</vt:lpstr>
      <vt:lpstr>Le mot-clé this</vt:lpstr>
      <vt:lpstr>Un champ final</vt:lpstr>
      <vt:lpstr>La méthode toString</vt:lpstr>
      <vt:lpstr>Exercices</vt:lpstr>
      <vt:lpstr>Présentation PowerPoint</vt:lpstr>
      <vt:lpstr>Le problème d'un champ public</vt:lpstr>
      <vt:lpstr>Fermer les champs, ouvrir des accesseurs</vt:lpstr>
      <vt:lpstr>Ce que le détour permet</vt:lpstr>
      <vt:lpstr>Un accesseur n'est pas une obligation</vt:lpstr>
      <vt:lpstr>La donnée qui n'existe pas</vt:lpstr>
      <vt:lpstr>Exercices</vt:lpstr>
      <vt:lpstr>Présentation PowerPoint</vt:lpstr>
      <vt:lpstr>Champs et méthodes de classe</vt:lpstr>
      <vt:lpstr>Champs d’objets</vt:lpstr>
      <vt:lpstr>Champ de classe</vt:lpstr>
      <vt:lpstr>Nommer un champ de classe</vt:lpstr>
      <vt:lpstr>Démonstration</vt:lpstr>
      <vt:lpstr>Un compteur d'instances</vt:lpstr>
      <vt:lpstr>Méthodes de classe</vt:lpstr>
      <vt:lpstr>Une méthode statique n'a pas de this</vt:lpstr>
      <vt:lpstr>Les constantes</vt:lpstr>
      <vt:lpstr>À quoi servent les méthodes de classe</vt:lpstr>
      <vt:lpstr>Les fabriques</vt:lpstr>
      <vt:lpstr>Exercices</vt:lpstr>
      <vt:lpstr>Présentation PowerPoint</vt:lpstr>
      <vt:lpstr>Pour les entrées au clavier, on utilise la classe Scanner…</vt:lpstr>
      <vt:lpstr>La Javadoc</vt:lpstr>
      <vt:lpstr>Les méthodes de Scanner qui nous intéressent</vt:lpstr>
      <vt:lpstr>Les principales méthodes de Scanner</vt:lpstr>
      <vt:lpstr>Un piège : nextInt suivi de nextLine</vt:lpstr>
      <vt:lpstr>Exercices</vt:lpstr>
      <vt:lpstr>Présentation PowerPoint</vt:lpstr>
      <vt:lpstr>Types primitifs vs Objets</vt:lpstr>
      <vt:lpstr>Deux noms, un seul objet</vt:lpstr>
      <vt:lpstr>Exercice</vt:lpstr>
      <vt:lpstr>Ce que vous avez observé</vt:lpstr>
      <vt:lpstr>Présentation PowerPoint</vt:lpstr>
      <vt:lpstr>Types primitifs et Wrappers</vt:lpstr>
      <vt:lpstr>Ce qu'offrent les wrappers</vt:lpstr>
      <vt:lpstr>Séparer le calcul du dialogue</vt:lpstr>
      <vt:lpstr>Exercice</vt:lpstr>
      <vt:lpstr>En résumé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35</cp:revision>
  <dcterms:created xsi:type="dcterms:W3CDTF">2023-01-04T13:50:20Z</dcterms:created>
  <dcterms:modified xsi:type="dcterms:W3CDTF">2026-09-16T19:25:42Z</dcterms:modified>
</cp:coreProperties>
</file>